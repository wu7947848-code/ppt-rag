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embeddings/oleObject1.xlsx" ContentType="application/vnd.openxmlformats-officedocument.spreadsheetml.sheet"/>
  <Override PartName="/ppt/embeddings/oleObject2.xlsx" ContentType="application/vnd.openxmlformats-officedocument.spreadsheetml.sheet"/>
  <Override PartName="/ppt/embeddings/oleObject3.xlsx" ContentType="application/vnd.openxmlformats-officedocument.spreadsheetml.sheet"/>
  <Override PartName="/ppt/embeddings/oleObject4.xlsx" ContentType="application/vnd.openxmlformats-officedocument.spreadsheetml.sheet"/>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6257588" cy="9144000"/>
  <p:notesSz cx="9144000" cy="16257588"/>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
          <p:cNvSpPr/>
          <p:nvPr/>
        </p:nvSpPr>
        <p:spPr>
          <a:xfrm>
            <a:off x="0" y="0"/>
            <a:ext cx="9144000" cy="16257600"/>
          </a:xfrm>
          <a:prstGeom prst="rect">
            <a:avLst/>
          </a:prstGeom>
          <a:solidFill>
            <a:srgbClr val="FFFFFF"/>
          </a:solidFill>
          <a:ln w="0">
            <a:noFill/>
          </a:ln>
        </p:spPr>
        <p:txBody>
          <a:bodyPr lIns="90000" tIns="45000" rIns="90000" bIns="45000" anchor="ctr" anchorCtr="1">
            <a:noAutofit/>
          </a:bodyPr>
          <a:p>
            <a:endParaRPr lang="en-US" sz="1800" b="0" u="none" strike="noStrike">
              <a:solidFill>
                <a:srgbClr val="000000"/>
              </a:solidFill>
              <a:effectLst/>
              <a:uFillTx/>
              <a:latin typeface="Calibri"/>
            </a:endParaRPr>
          </a:p>
        </p:txBody>
      </p:sp>
      <p:sp>
        <p:nvSpPr>
          <p:cNvPr id="3" name="PlaceHolder 1"/>
          <p:cNvSpPr>
            <a:spLocks noGrp="1"/>
          </p:cNvSpPr>
          <p:nvPr>
            <p:ph type="sldImg"/>
          </p:nvPr>
        </p:nvSpPr>
        <p:spPr>
          <a:xfrm>
            <a:off x="0" y="1712160"/>
            <a:ext cx="9143640" cy="5142600"/>
          </a:xfrm>
          <a:prstGeom prst="rect">
            <a:avLst/>
          </a:prstGeom>
          <a:noFill/>
          <a:ln w="0">
            <a:noFill/>
          </a:ln>
        </p:spPr>
        <p:txBody>
          <a:bodyPr lIns="0" tIns="0" rIns="0" bIns="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000000"/>
                </a:solidFill>
                <a:effectLst/>
                <a:uFillTx/>
                <a:latin typeface="Calibri Light"/>
              </a:rPr>
              <a:t>单击以移动幻灯片</a:t>
            </a:r>
            <a:endParaRPr lang="en-US" sz="4400" b="0" u="none" strike="noStrike">
              <a:solidFill>
                <a:srgbClr val="000000"/>
              </a:solidFill>
              <a:effectLst/>
              <a:uFillTx/>
              <a:latin typeface="Calibri Light"/>
            </a:endParaRPr>
          </a:p>
        </p:txBody>
      </p:sp>
      <p:sp>
        <p:nvSpPr>
          <p:cNvPr id="4" name="PlaceHolder 2"/>
          <p:cNvSpPr>
            <a:spLocks noGrp="1"/>
          </p:cNvSpPr>
          <p:nvPr>
            <p:ph type="body"/>
          </p:nvPr>
        </p:nvSpPr>
        <p:spPr>
          <a:xfrm>
            <a:off x="914400" y="7722360"/>
            <a:ext cx="7314840" cy="73155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200" b="0" u="none" strike="noStrike">
                <a:solidFill>
                  <a:srgbClr val="000000"/>
                </a:solidFill>
                <a:effectLst/>
                <a:uFillTx/>
                <a:latin typeface="等线"/>
              </a:rPr>
              <a:t>点击编辑备注格式</a:t>
            </a:r>
            <a:endParaRPr lang="en-US" sz="1200" b="0" u="none" strike="noStrike">
              <a:solidFill>
                <a:srgbClr val="000000"/>
              </a:solidFill>
              <a:effectLst/>
              <a:uFillTx/>
              <a:latin typeface="等线"/>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2147483056" y="2147483056"/>
            <a:ext cx="0" cy="0"/>
          </a:xfrm>
          <a:prstGeom prst="rect">
            <a:avLst/>
          </a:prstGeom>
          <a:ln w="0">
            <a:noFill/>
          </a:ln>
        </p:spPr>
      </p:sp>
      <p:sp>
        <p:nvSpPr>
          <p:cNvPr id="423"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24"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CDD0EB5-AEF3-4E12-B608-419E95FAAE38}"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2147483056" y="2147483056"/>
            <a:ext cx="0" cy="0"/>
          </a:xfrm>
          <a:prstGeom prst="rect">
            <a:avLst/>
          </a:prstGeom>
          <a:ln w="0">
            <a:noFill/>
          </a:ln>
        </p:spPr>
      </p:sp>
      <p:sp>
        <p:nvSpPr>
          <p:cNvPr id="426"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27"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772EAD2-7356-4B90-81D8-3C23BDA08E4C}"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2147483056" y="2147483056"/>
            <a:ext cx="0" cy="0"/>
          </a:xfrm>
          <a:prstGeom prst="rect">
            <a:avLst/>
          </a:prstGeom>
          <a:ln w="0">
            <a:noFill/>
          </a:ln>
        </p:spPr>
      </p:sp>
      <p:sp>
        <p:nvSpPr>
          <p:cNvPr id="429"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30"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7E83318-6A94-46FD-A710-AA1C4B7F0442}"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2147483056" y="2147483056"/>
            <a:ext cx="0" cy="0"/>
          </a:xfrm>
          <a:prstGeom prst="rect">
            <a:avLst/>
          </a:prstGeom>
          <a:ln w="0">
            <a:noFill/>
          </a:ln>
        </p:spPr>
      </p:sp>
      <p:sp>
        <p:nvSpPr>
          <p:cNvPr id="432"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33"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DCDD5C5-BDDF-4EBA-9FD8-7F2C649B1385}"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2147483056" y="2147483056"/>
            <a:ext cx="0" cy="0"/>
          </a:xfrm>
          <a:prstGeom prst="rect">
            <a:avLst/>
          </a:prstGeom>
          <a:ln w="0">
            <a:noFill/>
          </a:ln>
        </p:spPr>
      </p:sp>
      <p:sp>
        <p:nvSpPr>
          <p:cNvPr id="435"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36"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1B0A757-F4F5-4E01-9A74-42E2542E5C56}"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2147483056" y="2147483056"/>
            <a:ext cx="0" cy="0"/>
          </a:xfrm>
          <a:prstGeom prst="rect">
            <a:avLst/>
          </a:prstGeom>
          <a:ln w="0">
            <a:noFill/>
          </a:ln>
        </p:spPr>
      </p:sp>
      <p:sp>
        <p:nvSpPr>
          <p:cNvPr id="438"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39"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4FF0888-3417-4F5E-AB8B-15FCA83976CF}"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2147483056" y="2147483056"/>
            <a:ext cx="0" cy="0"/>
          </a:xfrm>
          <a:prstGeom prst="rect">
            <a:avLst/>
          </a:prstGeom>
          <a:ln w="0">
            <a:noFill/>
          </a:ln>
        </p:spPr>
      </p:sp>
      <p:sp>
        <p:nvSpPr>
          <p:cNvPr id="441"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42"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69EF687-F815-44FB-B8AD-CD49F4CF8BB1}"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2147483056" y="2147483056"/>
            <a:ext cx="0" cy="0"/>
          </a:xfrm>
          <a:prstGeom prst="rect">
            <a:avLst/>
          </a:prstGeom>
          <a:ln w="0">
            <a:noFill/>
          </a:ln>
        </p:spPr>
      </p:sp>
      <p:sp>
        <p:nvSpPr>
          <p:cNvPr id="444"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45"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2F2FF82-A474-4721-9E8F-2CE4A96A429E}"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2147483056" y="2147483056"/>
            <a:ext cx="0" cy="0"/>
          </a:xfrm>
          <a:prstGeom prst="rect">
            <a:avLst/>
          </a:prstGeom>
          <a:ln w="0">
            <a:noFill/>
          </a:ln>
        </p:spPr>
      </p:sp>
      <p:sp>
        <p:nvSpPr>
          <p:cNvPr id="447"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48"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90833AB-2E27-4906-807B-5C66C22234A2}"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2147483056" y="2147483056"/>
            <a:ext cx="0" cy="0"/>
          </a:xfrm>
          <a:prstGeom prst="rect">
            <a:avLst/>
          </a:prstGeom>
          <a:ln w="0">
            <a:noFill/>
          </a:ln>
        </p:spPr>
      </p:sp>
      <p:sp>
        <p:nvSpPr>
          <p:cNvPr id="450"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51"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3CC9B09-4FD3-4E7D-8703-CE10B58BA7A3}"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2147483056" y="2147483056"/>
            <a:ext cx="0" cy="0"/>
          </a:xfrm>
          <a:prstGeom prst="rect">
            <a:avLst/>
          </a:prstGeom>
          <a:ln w="0">
            <a:noFill/>
          </a:ln>
        </p:spPr>
      </p:sp>
      <p:sp>
        <p:nvSpPr>
          <p:cNvPr id="453"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54"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30494E4-3B43-4199-993E-6C49154C906C}"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2147483056" y="2147483056"/>
            <a:ext cx="0" cy="0"/>
          </a:xfrm>
          <a:prstGeom prst="rect">
            <a:avLst/>
          </a:prstGeom>
          <a:ln w="0">
            <a:noFill/>
          </a:ln>
        </p:spPr>
      </p:sp>
      <p:sp>
        <p:nvSpPr>
          <p:cNvPr id="456"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57"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9A0C2B9-3589-493D-925D-203105CCC957}"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2147483056" y="2147483056"/>
            <a:ext cx="0" cy="0"/>
          </a:xfrm>
          <a:prstGeom prst="rect">
            <a:avLst/>
          </a:prstGeom>
          <a:ln w="0">
            <a:noFill/>
          </a:ln>
        </p:spPr>
      </p:sp>
      <p:sp>
        <p:nvSpPr>
          <p:cNvPr id="459"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60"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E15887B-A5E9-41F5-A877-24A3A7BB4505}"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2147483056" y="2147483056"/>
            <a:ext cx="0" cy="0"/>
          </a:xfrm>
          <a:prstGeom prst="rect">
            <a:avLst/>
          </a:prstGeom>
          <a:ln w="0">
            <a:noFill/>
          </a:ln>
        </p:spPr>
      </p:sp>
      <p:sp>
        <p:nvSpPr>
          <p:cNvPr id="462"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63"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EEEBD93-2ADB-4FB7-BF8D-4BB756BB65A9}"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2147483056" y="2147483056"/>
            <a:ext cx="0" cy="0"/>
          </a:xfrm>
          <a:prstGeom prst="rect">
            <a:avLst/>
          </a:prstGeom>
          <a:ln w="0">
            <a:noFill/>
          </a:ln>
        </p:spPr>
      </p:sp>
      <p:sp>
        <p:nvSpPr>
          <p:cNvPr id="465"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66"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CE54B01-A787-456A-B688-C8CC4B2C73C9}"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2147483056" y="2147483056"/>
            <a:ext cx="0" cy="0"/>
          </a:xfrm>
          <a:prstGeom prst="rect">
            <a:avLst/>
          </a:prstGeom>
          <a:ln w="0">
            <a:noFill/>
          </a:ln>
        </p:spPr>
      </p:sp>
      <p:sp>
        <p:nvSpPr>
          <p:cNvPr id="468"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69"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DD9A3A3-D3E9-46C6-ADF3-028154D3FF5B}"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2147483056" y="2147483056"/>
            <a:ext cx="0" cy="0"/>
          </a:xfrm>
          <a:prstGeom prst="rect">
            <a:avLst/>
          </a:prstGeom>
          <a:ln w="0">
            <a:noFill/>
          </a:ln>
        </p:spPr>
      </p:sp>
      <p:sp>
        <p:nvSpPr>
          <p:cNvPr id="471"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72"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8961E26-C646-42E3-B451-0C30D01F9518}"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2147483056" y="2147483056"/>
            <a:ext cx="0" cy="0"/>
          </a:xfrm>
          <a:prstGeom prst="rect">
            <a:avLst/>
          </a:prstGeom>
          <a:ln w="0">
            <a:noFill/>
          </a:ln>
        </p:spPr>
      </p:sp>
      <p:sp>
        <p:nvSpPr>
          <p:cNvPr id="474"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75"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7F51868-C192-460E-824C-29FBA1B7FF77}"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2147483056" y="2147483056"/>
            <a:ext cx="0" cy="0"/>
          </a:xfrm>
          <a:prstGeom prst="rect">
            <a:avLst/>
          </a:prstGeom>
          <a:ln w="0">
            <a:noFill/>
          </a:ln>
        </p:spPr>
      </p:sp>
      <p:sp>
        <p:nvSpPr>
          <p:cNvPr id="477"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78"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82E3319-6A2B-4BC1-8CDF-E11730CB5D20}"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2147483056" y="2147483056"/>
            <a:ext cx="0" cy="0"/>
          </a:xfrm>
          <a:prstGeom prst="rect">
            <a:avLst/>
          </a:prstGeom>
          <a:ln w="0">
            <a:noFill/>
          </a:ln>
        </p:spPr>
      </p:sp>
      <p:sp>
        <p:nvSpPr>
          <p:cNvPr id="480"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81"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CB16EE2-8244-429B-9C68-CC12BF083B77}"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2147483056" y="2147483056"/>
            <a:ext cx="0" cy="0"/>
          </a:xfrm>
          <a:prstGeom prst="rect">
            <a:avLst/>
          </a:prstGeom>
          <a:ln w="0">
            <a:noFill/>
          </a:ln>
        </p:spPr>
      </p:sp>
      <p:sp>
        <p:nvSpPr>
          <p:cNvPr id="483"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84"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C212DA1-7A6B-4530-82BB-79EA5FF2B891}"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2147483056" y="2147483056"/>
            <a:ext cx="0" cy="0"/>
          </a:xfrm>
          <a:prstGeom prst="rect">
            <a:avLst/>
          </a:prstGeom>
          <a:ln w="0">
            <a:noFill/>
          </a:ln>
        </p:spPr>
      </p:sp>
      <p:sp>
        <p:nvSpPr>
          <p:cNvPr id="486"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87"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0B4DB11-07F1-4C16-A4DC-010DBCEFC465}"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2147483056" y="2147483056"/>
            <a:ext cx="0" cy="0"/>
          </a:xfrm>
          <a:prstGeom prst="rect">
            <a:avLst/>
          </a:prstGeom>
          <a:ln w="0">
            <a:noFill/>
          </a:ln>
        </p:spPr>
      </p:sp>
      <p:sp>
        <p:nvSpPr>
          <p:cNvPr id="489"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90"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56F44E7-7543-4CD6-9F57-6F013BAFFF45}"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2147483056" y="2147483056"/>
            <a:ext cx="0" cy="0"/>
          </a:xfrm>
          <a:prstGeom prst="rect">
            <a:avLst/>
          </a:prstGeom>
          <a:ln w="0">
            <a:noFill/>
          </a:ln>
        </p:spPr>
      </p:sp>
      <p:sp>
        <p:nvSpPr>
          <p:cNvPr id="492"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93"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2173CA3-17B1-4D45-93A8-8601908C3594}"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2147483056" y="2147483056"/>
            <a:ext cx="0" cy="0"/>
          </a:xfrm>
          <a:prstGeom prst="rect">
            <a:avLst/>
          </a:prstGeom>
          <a:ln w="0">
            <a:noFill/>
          </a:ln>
        </p:spPr>
      </p:sp>
      <p:sp>
        <p:nvSpPr>
          <p:cNvPr id="495"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96"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D8A9D11-888B-4277-92CC-5A741D94FFC2}"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2147483056" y="2147483056"/>
            <a:ext cx="0" cy="0"/>
          </a:xfrm>
          <a:prstGeom prst="rect">
            <a:avLst/>
          </a:prstGeom>
          <a:ln w="0">
            <a:noFill/>
          </a:ln>
        </p:spPr>
      </p:sp>
      <p:sp>
        <p:nvSpPr>
          <p:cNvPr id="498"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99"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F9D99EE-1BD1-45CC-A22D-971727A3915D}"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2147483056" y="2147483056"/>
            <a:ext cx="0" cy="0"/>
          </a:xfrm>
          <a:prstGeom prst="rect">
            <a:avLst/>
          </a:prstGeom>
          <a:ln w="0">
            <a:noFill/>
          </a:ln>
        </p:spPr>
      </p:sp>
      <p:sp>
        <p:nvSpPr>
          <p:cNvPr id="501"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502"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A994233-B1E4-4ED2-BAD7-5410A44E263D}"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2147483056" y="2147483056"/>
            <a:ext cx="0" cy="0"/>
          </a:xfrm>
          <a:prstGeom prst="rect">
            <a:avLst/>
          </a:prstGeom>
          <a:ln w="0">
            <a:noFill/>
          </a:ln>
        </p:spPr>
      </p:sp>
      <p:sp>
        <p:nvSpPr>
          <p:cNvPr id="504"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505"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79EDDA1-6E2B-4B86-A238-C1A4F687104F}"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默认">
    <p:bg>
      <p:bgPr>
        <a:solidFill>
          <a:srgbClr val="FFFFFF"/>
        </a:solidFill>
      </p:bgPr>
    </p:bg>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package" Target="../embeddings/oleObject2.xlsx"/><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package" Target="../embeddings/oleObject3.xlsx"/><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package" Target="../embeddings/oleObject4.xlsx"/><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 name="Image 0" descr="https://kimi-img.moonshot.cn/pub/slides/okc/gkmdzig5jggc2/mnt/agents/output/digital_sovereignty_2026/images/2_World_Map_Background_In_Navy_Blue.png"/>
          <p:cNvPicPr/>
          <p:nvPr/>
        </p:nvPicPr>
        <p:blipFill>
          <a:blip r:embed="rId1"/>
          <a:srcRect l="0" t="15863" r="0" b="15863"/>
          <a:stretch/>
        </p:blipFill>
        <p:spPr>
          <a:xfrm>
            <a:off x="0" y="0"/>
            <a:ext cx="16256160" cy="9144000"/>
          </a:xfrm>
          <a:prstGeom prst="rect">
            <a:avLst/>
          </a:prstGeom>
          <a:noFill/>
          <a:ln w="0">
            <a:noFill/>
          </a:ln>
        </p:spPr>
      </p:pic>
      <p:grpSp>
        <p:nvGrpSpPr>
          <p:cNvPr id="6" name="Shape 0"/>
          <p:cNvGrpSpPr/>
          <p:nvPr/>
        </p:nvGrpSpPr>
        <p:grpSpPr>
          <a:xfrm>
            <a:off x="-12600" y="-12600"/>
            <a:ext cx="16281360" cy="9169200"/>
            <a:chOff x="-12600" y="-12600"/>
            <a:chExt cx="16281360" cy="9169200"/>
          </a:xfrm>
        </p:grpSpPr>
        <p:pic>
          <p:nvPicPr>
            <p:cNvPr id="7" name="Shape 0"/>
            <p:cNvPicPr/>
            <p:nvPr/>
          </p:nvPicPr>
          <p:blipFill>
            <a:blip r:embed="rId2"/>
            <a:stretch/>
          </p:blipFill>
          <p:spPr>
            <a:xfrm>
              <a:off x="-12600" y="-12600"/>
              <a:ext cx="16281360" cy="9169200"/>
            </a:xfrm>
            <a:prstGeom prst="rect">
              <a:avLst/>
            </a:prstGeom>
            <a:noFill/>
            <a:ln w="0">
              <a:noFill/>
            </a:ln>
          </p:spPr>
        </p:pic>
        <p:sp>
          <p:nvSpPr>
            <p:cNvPr id="8" name=""/>
            <p:cNvSpPr/>
            <p:nvPr/>
          </p:nvSpPr>
          <p:spPr>
            <a:xfrm>
              <a:off x="0" y="0"/>
              <a:ext cx="16256160" cy="9144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pSp>
      <p:sp>
        <p:nvSpPr>
          <p:cNvPr id="9" name="Shape 1"/>
          <p:cNvSpPr/>
          <p:nvPr/>
        </p:nvSpPr>
        <p:spPr>
          <a:xfrm>
            <a:off x="762120" y="2540160"/>
            <a:ext cx="1015920" cy="50760"/>
          </a:xfrm>
          <a:prstGeom prst="rect">
            <a:avLst/>
          </a:prstGeom>
          <a:solidFill>
            <a:srgbClr val="C5A55A"/>
          </a:solidFill>
          <a:ln w="0">
            <a:noFill/>
          </a:ln>
        </p:spPr>
        <p:style>
          <a:lnRef idx="0"/>
          <a:fillRef idx="0"/>
          <a:effectRef idx="0"/>
          <a:fontRef idx="minor"/>
        </p:style>
        <p:txBody>
          <a:bodyPr lIns="90000" tIns="3960" rIns="90000" bIns="396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0" name="Text 2"/>
          <p:cNvSpPr/>
          <p:nvPr/>
        </p:nvSpPr>
        <p:spPr>
          <a:xfrm>
            <a:off x="762120" y="2793960"/>
            <a:ext cx="8889840" cy="2032200"/>
          </a:xfrm>
          <a:prstGeom prst="rect">
            <a:avLst/>
          </a:prstGeom>
          <a:noFill/>
          <a:ln w="0">
            <a:noFill/>
          </a:ln>
        </p:spPr>
        <p:style>
          <a:lnRef idx="0"/>
          <a:fillRef idx="0"/>
          <a:effectRef idx="0"/>
          <a:fontRef idx="minor"/>
        </p:style>
        <p:txBody>
          <a:bodyPr lIns="0" tIns="0" rIns="0" bIns="0" anchor="t">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F0EDE8"/>
                </a:solidFill>
                <a:effectLst/>
                <a:uFillTx/>
                <a:latin typeface="Liter"/>
                <a:ea typeface="Liter"/>
              </a:rPr>
              <a:t>全球数字主权、跨洲际</a:t>
            </a:r>
            <a:endParaRPr lang="en-US" sz="4400" b="0" u="none" strike="noStrike">
              <a:solidFill>
                <a:srgbClr val="000000"/>
              </a:solidFill>
              <a:effectLst/>
              <a:uFillTx/>
              <a:latin typeface="Calibri"/>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F0EDE8"/>
                </a:solidFill>
                <a:effectLst/>
                <a:uFillTx/>
                <a:latin typeface="Liter"/>
                <a:ea typeface="Liter"/>
              </a:rPr>
              <a:t>数据隐私协议与科技外交</a:t>
            </a:r>
            <a:endParaRPr lang="en-US" sz="4400" b="0" u="none" strike="noStrike">
              <a:solidFill>
                <a:srgbClr val="000000"/>
              </a:solidFill>
              <a:effectLst/>
              <a:uFillTx/>
              <a:latin typeface="Calibri"/>
            </a:endParaRPr>
          </a:p>
        </p:txBody>
      </p:sp>
      <p:sp>
        <p:nvSpPr>
          <p:cNvPr id="11" name="Text 3"/>
          <p:cNvSpPr/>
          <p:nvPr/>
        </p:nvSpPr>
        <p:spPr>
          <a:xfrm>
            <a:off x="762120" y="4952880"/>
            <a:ext cx="380988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5200" b="0" u="none" strike="noStrike">
                <a:solidFill>
                  <a:srgbClr val="C5A55A"/>
                </a:solidFill>
                <a:effectLst/>
                <a:uFillTx/>
                <a:latin typeface="Liter"/>
                <a:ea typeface="Liter"/>
              </a:rPr>
              <a:t></a:t>
            </a:r>
            <a:endParaRPr lang="en-US" sz="5200" b="0" u="none" strike="noStrike">
              <a:solidFill>
                <a:srgbClr val="000000"/>
              </a:solidFill>
              <a:effectLst/>
              <a:uFillTx/>
              <a:latin typeface="Calibri"/>
            </a:endParaRPr>
          </a:p>
        </p:txBody>
      </p:sp>
      <p:sp>
        <p:nvSpPr>
          <p:cNvPr id="12" name="Text 4"/>
          <p:cNvSpPr/>
          <p:nvPr/>
        </p:nvSpPr>
        <p:spPr>
          <a:xfrm>
            <a:off x="762120" y="5842080"/>
            <a:ext cx="8254800" cy="63504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B0A99F"/>
                </a:solidFill>
                <a:effectLst/>
                <a:uFillTx/>
                <a:latin typeface="Liter"/>
                <a:ea typeface="Liter"/>
              </a:rPr>
              <a:t>地缘政治博弈框架下的跨境数据流动治理与法律风险概率模型</a:t>
            </a:r>
            <a:endParaRPr lang="en-US" sz="1800" b="0" u="none" strike="noStrike">
              <a:solidFill>
                <a:srgbClr val="000000"/>
              </a:solidFill>
              <a:effectLst/>
              <a:uFillTx/>
              <a:latin typeface="Calibri"/>
            </a:endParaRPr>
          </a:p>
        </p:txBody>
      </p:sp>
      <p:sp>
        <p:nvSpPr>
          <p:cNvPr id="13" name="Text 5"/>
          <p:cNvSpPr/>
          <p:nvPr/>
        </p:nvSpPr>
        <p:spPr>
          <a:xfrm>
            <a:off x="762120" y="6603840"/>
            <a:ext cx="825480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8A8075"/>
                </a:solidFill>
                <a:effectLst/>
                <a:uFillTx/>
                <a:latin typeface="Liter"/>
                <a:ea typeface="Liter"/>
              </a:rPr>
              <a:t></a:t>
            </a:r>
            <a:endParaRPr lang="en-US" sz="1400" b="0" u="none" strike="noStrike">
              <a:solidFill>
                <a:srgbClr val="000000"/>
              </a:solidFill>
              <a:effectLst/>
              <a:uFillTx/>
              <a:latin typeface="Calibri"/>
            </a:endParaRPr>
          </a:p>
        </p:txBody>
      </p:sp>
      <p:sp>
        <p:nvSpPr>
          <p:cNvPr id="14" name="Shape 6"/>
          <p:cNvSpPr/>
          <p:nvPr/>
        </p:nvSpPr>
        <p:spPr>
          <a:xfrm>
            <a:off x="762120" y="8128080"/>
            <a:ext cx="14731920" cy="12600"/>
          </a:xfrm>
          <a:prstGeom prst="rect">
            <a:avLst/>
          </a:prstGeom>
          <a:solidFill>
            <a:srgbClr val="4A5568">
              <a:alpha val="38000"/>
            </a:srgbClr>
          </a:solidFill>
          <a:ln w="0">
            <a:noFill/>
          </a:ln>
        </p:spPr>
        <p:style>
          <a:lnRef idx="0"/>
          <a:fillRef idx="0"/>
          <a:effectRef idx="0"/>
          <a:fontRef idx="minor"/>
        </p:style>
        <p:txBody>
          <a:bodyPr lIns="90000" tIns="-34200" rIns="90000" bIns="-342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5" name="Text 7"/>
          <p:cNvSpPr/>
          <p:nvPr/>
        </p:nvSpPr>
        <p:spPr>
          <a:xfrm>
            <a:off x="762120" y="8255160"/>
            <a:ext cx="507996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8A8075"/>
                </a:solidFill>
                <a:effectLst/>
                <a:uFillTx/>
                <a:latin typeface="Liter"/>
                <a:ea typeface="Liter"/>
              </a:rPr>
              <a:t>战略白皮书</a:t>
            </a:r>
            <a:endParaRPr lang="en-US" sz="1300" b="0" u="none" strike="noStrike">
              <a:solidFill>
                <a:srgbClr val="000000"/>
              </a:solidFill>
              <a:effectLst/>
              <a:uFillTx/>
              <a:latin typeface="Calibri"/>
            </a:endParaRPr>
          </a:p>
        </p:txBody>
      </p:sp>
      <p:sp>
        <p:nvSpPr>
          <p:cNvPr id="16" name="Text 8"/>
          <p:cNvSpPr/>
          <p:nvPr/>
        </p:nvSpPr>
        <p:spPr>
          <a:xfrm>
            <a:off x="12192120" y="8255160"/>
            <a:ext cx="3301920" cy="380880"/>
          </a:xfrm>
          <a:prstGeom prst="rect">
            <a:avLst/>
          </a:prstGeom>
          <a:noFill/>
          <a:ln w="0">
            <a:noFill/>
          </a:ln>
        </p:spPr>
        <p:style>
          <a:lnRef idx="0"/>
          <a:fillRef idx="0"/>
          <a:effectRef idx="0"/>
          <a:fontRef idx="minor"/>
        </p:style>
        <p:txBody>
          <a:bodyPr wrap="none" lIns="0" tIns="0" rIns="0" bIns="0" anchor="ctr">
            <a:no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8A8075"/>
                </a:solidFill>
                <a:effectLst/>
                <a:uFillTx/>
                <a:latin typeface="Liter"/>
                <a:ea typeface="Liter"/>
              </a:rPr>
              <a:t></a:t>
            </a:r>
            <a:endParaRPr lang="en-US" sz="1300" b="0" u="none" strike="noStrike">
              <a:solidFill>
                <a:srgbClr val="000000"/>
              </a:solidFill>
              <a:effectLst/>
              <a:uFillTx/>
              <a:latin typeface="Calibri"/>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17" name="Shape 0"/>
          <p:cNvSpPr/>
          <p:nvPr/>
        </p:nvSpPr>
        <p:spPr>
          <a:xfrm>
            <a:off x="0" y="0"/>
            <a:ext cx="5079960" cy="9144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 name="Text 1"/>
          <p:cNvSpPr/>
          <p:nvPr/>
        </p:nvSpPr>
        <p:spPr>
          <a:xfrm>
            <a:off x="762120" y="1523880"/>
            <a:ext cx="355572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5A55A"/>
                </a:solidFill>
                <a:effectLst/>
                <a:uFillTx/>
                <a:latin typeface="Liter"/>
                <a:ea typeface="Liter"/>
              </a:rPr>
              <a:t></a:t>
            </a:r>
            <a:endParaRPr lang="en-US" sz="1400" b="0" u="none" strike="noStrike">
              <a:solidFill>
                <a:srgbClr val="000000"/>
              </a:solidFill>
              <a:effectLst/>
              <a:uFillTx/>
              <a:latin typeface="Calibri"/>
            </a:endParaRPr>
          </a:p>
        </p:txBody>
      </p:sp>
      <p:sp>
        <p:nvSpPr>
          <p:cNvPr id="19" name="Text 2"/>
          <p:cNvSpPr/>
          <p:nvPr/>
        </p:nvSpPr>
        <p:spPr>
          <a:xfrm>
            <a:off x="762120" y="2031840"/>
            <a:ext cx="355572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800" b="0" u="none" strike="noStrike">
                <a:solidFill>
                  <a:srgbClr val="F0EDE8"/>
                </a:solidFill>
                <a:effectLst/>
                <a:uFillTx/>
                <a:latin typeface="Liter"/>
                <a:ea typeface="Liter"/>
              </a:rPr>
              <a:t>目录</a:t>
            </a:r>
            <a:endParaRPr lang="en-US" sz="4800" b="0" u="none" strike="noStrike">
              <a:solidFill>
                <a:srgbClr val="000000"/>
              </a:solidFill>
              <a:effectLst/>
              <a:uFillTx/>
              <a:latin typeface="Calibri"/>
            </a:endParaRPr>
          </a:p>
        </p:txBody>
      </p:sp>
      <p:sp>
        <p:nvSpPr>
          <p:cNvPr id="20" name="Shape 3"/>
          <p:cNvSpPr/>
          <p:nvPr/>
        </p:nvSpPr>
        <p:spPr>
          <a:xfrm>
            <a:off x="762120" y="3048120"/>
            <a:ext cx="761760" cy="50760"/>
          </a:xfrm>
          <a:prstGeom prst="rect">
            <a:avLst/>
          </a:prstGeom>
          <a:solidFill>
            <a:srgbClr val="C5A55A"/>
          </a:solidFill>
          <a:ln w="0">
            <a:noFill/>
          </a:ln>
        </p:spPr>
        <p:style>
          <a:lnRef idx="0"/>
          <a:fillRef idx="0"/>
          <a:effectRef idx="0"/>
          <a:fontRef idx="minor"/>
        </p:style>
        <p:txBody>
          <a:bodyPr lIns="90000" tIns="3960" rIns="90000" bIns="396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 name="Text 4"/>
          <p:cNvSpPr/>
          <p:nvPr/>
        </p:nvSpPr>
        <p:spPr>
          <a:xfrm>
            <a:off x="762120" y="3429000"/>
            <a:ext cx="3555720" cy="1523880"/>
          </a:xfrm>
          <a:prstGeom prst="rect">
            <a:avLst/>
          </a:prstGeom>
          <a:noFill/>
          <a:ln w="0">
            <a:noFill/>
          </a:ln>
        </p:spPr>
        <p:style>
          <a:lnRef idx="0"/>
          <a:fillRef idx="0"/>
          <a:effectRef idx="0"/>
          <a:fontRef idx="minor"/>
        </p:style>
        <p:txBody>
          <a:bodyPr lIns="0" tIns="0" rIns="0" bIns="0" anchor="t">
            <a:noAutofit/>
          </a:bodyPr>
          <a:p>
            <a:pPr>
              <a:lnSpc>
                <a:spcPct val="1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8A8075"/>
                </a:solidFill>
                <a:effectLst/>
                <a:uFillTx/>
                <a:latin typeface="Liter"/>
                <a:ea typeface="Liter"/>
              </a:rPr>
              <a:t>本白皮书涵盖全球数字主权格局、跨境数据流动治理、数字服务税对标、地缘冲突模拟与供应链韧性、以及法律风险概率模型五大核心模块。</a:t>
            </a:r>
            <a:endParaRPr lang="en-US" sz="1400" b="0" u="none" strike="noStrike">
              <a:solidFill>
                <a:srgbClr val="000000"/>
              </a:solidFill>
              <a:effectLst/>
              <a:uFillTx/>
              <a:latin typeface="Calibri"/>
            </a:endParaRPr>
          </a:p>
        </p:txBody>
      </p:sp>
      <p:sp>
        <p:nvSpPr>
          <p:cNvPr id="22" name="Shape 5"/>
          <p:cNvSpPr/>
          <p:nvPr/>
        </p:nvSpPr>
        <p:spPr>
          <a:xfrm>
            <a:off x="5587920" y="1015920"/>
            <a:ext cx="4572000" cy="152424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 name="Text 6"/>
          <p:cNvSpPr/>
          <p:nvPr/>
        </p:nvSpPr>
        <p:spPr>
          <a:xfrm>
            <a:off x="5842080" y="1143000"/>
            <a:ext cx="76176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5A55A"/>
                </a:solidFill>
                <a:effectLst/>
                <a:uFillTx/>
                <a:latin typeface="Liter"/>
                <a:ea typeface="Liter"/>
              </a:rPr>
              <a:t></a:t>
            </a:r>
            <a:endParaRPr lang="en-US" sz="3200" b="0" u="none" strike="noStrike">
              <a:solidFill>
                <a:srgbClr val="000000"/>
              </a:solidFill>
              <a:effectLst/>
              <a:uFillTx/>
              <a:latin typeface="Calibri"/>
            </a:endParaRPr>
          </a:p>
        </p:txBody>
      </p:sp>
      <p:sp>
        <p:nvSpPr>
          <p:cNvPr id="24" name="Text 7"/>
          <p:cNvSpPr/>
          <p:nvPr/>
        </p:nvSpPr>
        <p:spPr>
          <a:xfrm>
            <a:off x="5842080" y="1714680"/>
            <a:ext cx="4064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0EDE8"/>
                </a:solidFill>
                <a:effectLst/>
                <a:uFillTx/>
                <a:latin typeface="Liter"/>
                <a:ea typeface="Liter"/>
              </a:rPr>
              <a:t>全球数字主权格局总览</a:t>
            </a:r>
            <a:endParaRPr lang="en-US" sz="1800" b="0" u="none" strike="noStrike">
              <a:solidFill>
                <a:srgbClr val="000000"/>
              </a:solidFill>
              <a:effectLst/>
              <a:uFillTx/>
              <a:latin typeface="Calibri"/>
            </a:endParaRPr>
          </a:p>
        </p:txBody>
      </p:sp>
      <p:sp>
        <p:nvSpPr>
          <p:cNvPr id="25" name="Text 8"/>
          <p:cNvSpPr/>
          <p:nvPr/>
        </p:nvSpPr>
        <p:spPr>
          <a:xfrm>
            <a:off x="5842080" y="2133720"/>
            <a:ext cx="4064040" cy="2538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A8075"/>
                </a:solidFill>
                <a:effectLst/>
                <a:uFillTx/>
                <a:latin typeface="Liter"/>
                <a:ea typeface="Liter"/>
              </a:rPr>
              <a:t></a:t>
            </a:r>
            <a:endParaRPr lang="en-US" sz="1200" b="0" u="none" strike="noStrike">
              <a:solidFill>
                <a:srgbClr val="000000"/>
              </a:solidFill>
              <a:effectLst/>
              <a:uFillTx/>
              <a:latin typeface="Calibri"/>
            </a:endParaRPr>
          </a:p>
        </p:txBody>
      </p:sp>
      <p:sp>
        <p:nvSpPr>
          <p:cNvPr id="26" name="Shape 9"/>
          <p:cNvSpPr/>
          <p:nvPr/>
        </p:nvSpPr>
        <p:spPr>
          <a:xfrm>
            <a:off x="10667880" y="1015920"/>
            <a:ext cx="4572000" cy="152424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7" name="Text 10"/>
          <p:cNvSpPr/>
          <p:nvPr/>
        </p:nvSpPr>
        <p:spPr>
          <a:xfrm>
            <a:off x="10922040" y="1143000"/>
            <a:ext cx="7621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5A55A"/>
                </a:solidFill>
                <a:effectLst/>
                <a:uFillTx/>
                <a:latin typeface="Liter"/>
                <a:ea typeface="Liter"/>
              </a:rPr>
              <a:t></a:t>
            </a:r>
            <a:endParaRPr lang="en-US" sz="3200" b="0" u="none" strike="noStrike">
              <a:solidFill>
                <a:srgbClr val="000000"/>
              </a:solidFill>
              <a:effectLst/>
              <a:uFillTx/>
              <a:latin typeface="Calibri"/>
            </a:endParaRPr>
          </a:p>
        </p:txBody>
      </p:sp>
      <p:sp>
        <p:nvSpPr>
          <p:cNvPr id="28" name="Text 11"/>
          <p:cNvSpPr/>
          <p:nvPr/>
        </p:nvSpPr>
        <p:spPr>
          <a:xfrm>
            <a:off x="10922040" y="1714680"/>
            <a:ext cx="4064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0EDE8"/>
                </a:solidFill>
                <a:effectLst/>
                <a:uFillTx/>
                <a:latin typeface="Liter"/>
                <a:ea typeface="Liter"/>
              </a:rPr>
              <a:t>跨境数据流动治理体系</a:t>
            </a:r>
            <a:endParaRPr lang="en-US" sz="1800" b="0" u="none" strike="noStrike">
              <a:solidFill>
                <a:srgbClr val="000000"/>
              </a:solidFill>
              <a:effectLst/>
              <a:uFillTx/>
              <a:latin typeface="Calibri"/>
            </a:endParaRPr>
          </a:p>
        </p:txBody>
      </p:sp>
      <p:sp>
        <p:nvSpPr>
          <p:cNvPr id="29" name="Text 12"/>
          <p:cNvSpPr/>
          <p:nvPr/>
        </p:nvSpPr>
        <p:spPr>
          <a:xfrm>
            <a:off x="10922040" y="2133720"/>
            <a:ext cx="4064040" cy="2538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A8075"/>
                </a:solidFill>
                <a:effectLst/>
                <a:uFillTx/>
                <a:latin typeface="Liter"/>
                <a:ea typeface="Liter"/>
              </a:rPr>
              <a:t></a:t>
            </a:r>
            <a:endParaRPr lang="en-US" sz="1200" b="0" u="none" strike="noStrike">
              <a:solidFill>
                <a:srgbClr val="000000"/>
              </a:solidFill>
              <a:effectLst/>
              <a:uFillTx/>
              <a:latin typeface="Calibri"/>
            </a:endParaRPr>
          </a:p>
        </p:txBody>
      </p:sp>
      <p:sp>
        <p:nvSpPr>
          <p:cNvPr id="30" name="Shape 13"/>
          <p:cNvSpPr/>
          <p:nvPr/>
        </p:nvSpPr>
        <p:spPr>
          <a:xfrm>
            <a:off x="5587920" y="3048120"/>
            <a:ext cx="4572000" cy="15238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 name="Text 14"/>
          <p:cNvSpPr/>
          <p:nvPr/>
        </p:nvSpPr>
        <p:spPr>
          <a:xfrm>
            <a:off x="5842080" y="3174840"/>
            <a:ext cx="761760" cy="508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5A55A"/>
                </a:solidFill>
                <a:effectLst/>
                <a:uFillTx/>
                <a:latin typeface="Liter"/>
                <a:ea typeface="Liter"/>
              </a:rPr>
              <a:t></a:t>
            </a:r>
            <a:endParaRPr lang="en-US" sz="3200" b="0" u="none" strike="noStrike">
              <a:solidFill>
                <a:srgbClr val="000000"/>
              </a:solidFill>
              <a:effectLst/>
              <a:uFillTx/>
              <a:latin typeface="Calibri"/>
            </a:endParaRPr>
          </a:p>
        </p:txBody>
      </p:sp>
      <p:sp>
        <p:nvSpPr>
          <p:cNvPr id="32" name="Text 15"/>
          <p:cNvSpPr/>
          <p:nvPr/>
        </p:nvSpPr>
        <p:spPr>
          <a:xfrm>
            <a:off x="5842080" y="3746520"/>
            <a:ext cx="4064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0EDE8"/>
                </a:solidFill>
                <a:effectLst/>
                <a:uFillTx/>
                <a:latin typeface="Liter"/>
                <a:ea typeface="Liter"/>
              </a:rPr>
              <a:t>数字服务税（）全球对标</a:t>
            </a:r>
            <a:endParaRPr lang="en-US" sz="1800" b="0" u="none" strike="noStrike">
              <a:solidFill>
                <a:srgbClr val="000000"/>
              </a:solidFill>
              <a:effectLst/>
              <a:uFillTx/>
              <a:latin typeface="Calibri"/>
            </a:endParaRPr>
          </a:p>
        </p:txBody>
      </p:sp>
      <p:sp>
        <p:nvSpPr>
          <p:cNvPr id="33" name="Text 16"/>
          <p:cNvSpPr/>
          <p:nvPr/>
        </p:nvSpPr>
        <p:spPr>
          <a:xfrm>
            <a:off x="5842080" y="4165560"/>
            <a:ext cx="4064040" cy="2541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A8075"/>
                </a:solidFill>
                <a:effectLst/>
                <a:uFillTx/>
                <a:latin typeface="Liter"/>
                <a:ea typeface="Liter"/>
              </a:rPr>
              <a:t></a:t>
            </a:r>
            <a:endParaRPr lang="en-US" sz="1200" b="0" u="none" strike="noStrike">
              <a:solidFill>
                <a:srgbClr val="000000"/>
              </a:solidFill>
              <a:effectLst/>
              <a:uFillTx/>
              <a:latin typeface="Calibri"/>
            </a:endParaRPr>
          </a:p>
        </p:txBody>
      </p:sp>
      <p:sp>
        <p:nvSpPr>
          <p:cNvPr id="34" name="Shape 17"/>
          <p:cNvSpPr/>
          <p:nvPr/>
        </p:nvSpPr>
        <p:spPr>
          <a:xfrm>
            <a:off x="10667880" y="3048120"/>
            <a:ext cx="4572000" cy="15238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5" name="Text 18"/>
          <p:cNvSpPr/>
          <p:nvPr/>
        </p:nvSpPr>
        <p:spPr>
          <a:xfrm>
            <a:off x="10922040" y="3174840"/>
            <a:ext cx="762120" cy="508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5A55A"/>
                </a:solidFill>
                <a:effectLst/>
                <a:uFillTx/>
                <a:latin typeface="Liter"/>
                <a:ea typeface="Liter"/>
              </a:rPr>
              <a:t></a:t>
            </a:r>
            <a:endParaRPr lang="en-US" sz="3200" b="0" u="none" strike="noStrike">
              <a:solidFill>
                <a:srgbClr val="000000"/>
              </a:solidFill>
              <a:effectLst/>
              <a:uFillTx/>
              <a:latin typeface="Calibri"/>
            </a:endParaRPr>
          </a:p>
        </p:txBody>
      </p:sp>
      <p:sp>
        <p:nvSpPr>
          <p:cNvPr id="36" name="Text 19"/>
          <p:cNvSpPr/>
          <p:nvPr/>
        </p:nvSpPr>
        <p:spPr>
          <a:xfrm>
            <a:off x="10922040" y="3746520"/>
            <a:ext cx="4064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0EDE8"/>
                </a:solidFill>
                <a:effectLst/>
                <a:uFillTx/>
                <a:latin typeface="Liter"/>
                <a:ea typeface="Liter"/>
              </a:rPr>
              <a:t>地缘冲突模拟与供应链韧性</a:t>
            </a:r>
            <a:endParaRPr lang="en-US" sz="1800" b="0" u="none" strike="noStrike">
              <a:solidFill>
                <a:srgbClr val="000000"/>
              </a:solidFill>
              <a:effectLst/>
              <a:uFillTx/>
              <a:latin typeface="Calibri"/>
            </a:endParaRPr>
          </a:p>
        </p:txBody>
      </p:sp>
      <p:sp>
        <p:nvSpPr>
          <p:cNvPr id="37" name="Text 20"/>
          <p:cNvSpPr/>
          <p:nvPr/>
        </p:nvSpPr>
        <p:spPr>
          <a:xfrm>
            <a:off x="10922040" y="4165560"/>
            <a:ext cx="4064040" cy="2541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A8075"/>
                </a:solidFill>
                <a:effectLst/>
                <a:uFillTx/>
                <a:latin typeface="Liter"/>
                <a:ea typeface="Liter"/>
              </a:rPr>
              <a:t></a:t>
            </a:r>
            <a:endParaRPr lang="en-US" sz="1200" b="0" u="none" strike="noStrike">
              <a:solidFill>
                <a:srgbClr val="000000"/>
              </a:solidFill>
              <a:effectLst/>
              <a:uFillTx/>
              <a:latin typeface="Calibri"/>
            </a:endParaRPr>
          </a:p>
        </p:txBody>
      </p:sp>
      <p:sp>
        <p:nvSpPr>
          <p:cNvPr id="38" name="Shape 21"/>
          <p:cNvSpPr/>
          <p:nvPr/>
        </p:nvSpPr>
        <p:spPr>
          <a:xfrm>
            <a:off x="5587920" y="5079960"/>
            <a:ext cx="9651960" cy="15238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9" name="Text 22"/>
          <p:cNvSpPr/>
          <p:nvPr/>
        </p:nvSpPr>
        <p:spPr>
          <a:xfrm>
            <a:off x="5842080" y="5207040"/>
            <a:ext cx="76176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5A55A"/>
                </a:solidFill>
                <a:effectLst/>
                <a:uFillTx/>
                <a:latin typeface="Liter"/>
                <a:ea typeface="Liter"/>
              </a:rPr>
              <a:t></a:t>
            </a:r>
            <a:endParaRPr lang="en-US" sz="3200" b="0" u="none" strike="noStrike">
              <a:solidFill>
                <a:srgbClr val="000000"/>
              </a:solidFill>
              <a:effectLst/>
              <a:uFillTx/>
              <a:latin typeface="Calibri"/>
            </a:endParaRPr>
          </a:p>
        </p:txBody>
      </p:sp>
      <p:sp>
        <p:nvSpPr>
          <p:cNvPr id="40" name="Text 23"/>
          <p:cNvSpPr/>
          <p:nvPr/>
        </p:nvSpPr>
        <p:spPr>
          <a:xfrm>
            <a:off x="5842080" y="5778360"/>
            <a:ext cx="914400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0EDE8"/>
                </a:solidFill>
                <a:effectLst/>
                <a:uFillTx/>
                <a:latin typeface="Liter"/>
                <a:ea typeface="Liter"/>
              </a:rPr>
              <a:t>法律风险概率模型与战略建议</a:t>
            </a:r>
            <a:endParaRPr lang="en-US" sz="1800" b="0" u="none" strike="noStrike">
              <a:solidFill>
                <a:srgbClr val="000000"/>
              </a:solidFill>
              <a:effectLst/>
              <a:uFillTx/>
              <a:latin typeface="Calibri"/>
            </a:endParaRPr>
          </a:p>
        </p:txBody>
      </p:sp>
      <p:sp>
        <p:nvSpPr>
          <p:cNvPr id="41" name="Text 24"/>
          <p:cNvSpPr/>
          <p:nvPr/>
        </p:nvSpPr>
        <p:spPr>
          <a:xfrm>
            <a:off x="5842080" y="6197760"/>
            <a:ext cx="9144000" cy="2538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A8075"/>
                </a:solidFill>
                <a:effectLst/>
                <a:uFillTx/>
                <a:latin typeface="Liter"/>
                <a:ea typeface="Liter"/>
              </a:rPr>
              <a:t></a:t>
            </a:r>
            <a:endParaRPr lang="en-US" sz="1200" b="0" u="none" strike="noStrike">
              <a:solidFill>
                <a:srgbClr val="000000"/>
              </a:solidFill>
              <a:effectLst/>
              <a:uFillTx/>
              <a:latin typeface="Calibri"/>
            </a:endParaRPr>
          </a:p>
        </p:txBody>
      </p:sp>
      <p:sp>
        <p:nvSpPr>
          <p:cNvPr id="42" name="Shape 25"/>
          <p:cNvSpPr/>
          <p:nvPr/>
        </p:nvSpPr>
        <p:spPr>
          <a:xfrm>
            <a:off x="5587920" y="7365960"/>
            <a:ext cx="9651960" cy="12600"/>
          </a:xfrm>
          <a:prstGeom prst="rect">
            <a:avLst/>
          </a:prstGeom>
          <a:solidFill>
            <a:srgbClr val="D1D5DB"/>
          </a:solidFill>
          <a:ln w="0">
            <a:noFill/>
          </a:ln>
        </p:spPr>
        <p:style>
          <a:lnRef idx="0"/>
          <a:fillRef idx="0"/>
          <a:effectRef idx="0"/>
          <a:fontRef idx="minor"/>
        </p:style>
        <p:txBody>
          <a:bodyPr lIns="90000" tIns="-34200" rIns="90000" bIns="-342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3" name="Text 26"/>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44" name="Shape 0"/>
          <p:cNvSpPr/>
          <p:nvPr/>
        </p:nvSpPr>
        <p:spPr>
          <a:xfrm>
            <a:off x="0" y="0"/>
            <a:ext cx="8128080" cy="9144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45" name="Image 0" descr="https://kimi-img.moonshot.cn/pub/slides/okc/gkmdzig5jggc2/mnt/agents/output/digital_sovereignty_2026/images/5_Futuristic_wave_of_blue_lines_digital.png"/>
          <p:cNvPicPr/>
          <p:nvPr/>
        </p:nvPicPr>
        <p:blipFill>
          <a:blip r:embed="rId1"/>
          <a:srcRect l="25014" t="0" r="25014" b="0"/>
          <a:stretch/>
        </p:blipFill>
        <p:spPr>
          <a:xfrm>
            <a:off x="8128080" y="0"/>
            <a:ext cx="8128080" cy="9144000"/>
          </a:xfrm>
          <a:prstGeom prst="rect">
            <a:avLst/>
          </a:prstGeom>
          <a:noFill/>
          <a:ln w="0">
            <a:noFill/>
          </a:ln>
        </p:spPr>
      </p:pic>
      <p:grpSp>
        <p:nvGrpSpPr>
          <p:cNvPr id="46" name="Shape 1"/>
          <p:cNvGrpSpPr/>
          <p:nvPr/>
        </p:nvGrpSpPr>
        <p:grpSpPr>
          <a:xfrm>
            <a:off x="8115480" y="0"/>
            <a:ext cx="8153280" cy="9144000"/>
            <a:chOff x="8115480" y="0"/>
            <a:chExt cx="8153280" cy="9144000"/>
          </a:xfrm>
        </p:grpSpPr>
        <p:pic>
          <p:nvPicPr>
            <p:cNvPr id="47" name="Shape 1"/>
            <p:cNvPicPr/>
            <p:nvPr/>
          </p:nvPicPr>
          <p:blipFill>
            <a:blip r:embed="rId2"/>
            <a:stretch/>
          </p:blipFill>
          <p:spPr>
            <a:xfrm>
              <a:off x="8115480" y="0"/>
              <a:ext cx="8153280" cy="9144000"/>
            </a:xfrm>
            <a:prstGeom prst="rect">
              <a:avLst/>
            </a:prstGeom>
            <a:noFill/>
            <a:ln w="0">
              <a:noFill/>
            </a:ln>
          </p:spPr>
        </p:pic>
        <p:sp>
          <p:nvSpPr>
            <p:cNvPr id="48" name=""/>
            <p:cNvSpPr/>
            <p:nvPr/>
          </p:nvSpPr>
          <p:spPr>
            <a:xfrm>
              <a:off x="8128080" y="0"/>
              <a:ext cx="8128080" cy="9144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pSp>
      <p:sp>
        <p:nvSpPr>
          <p:cNvPr id="49" name="Text 2"/>
          <p:cNvSpPr/>
          <p:nvPr/>
        </p:nvSpPr>
        <p:spPr>
          <a:xfrm>
            <a:off x="1015920" y="2540160"/>
            <a:ext cx="2540160" cy="1015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7200" b="0" u="none" strike="noStrike">
                <a:solidFill>
                  <a:srgbClr val="C5A55A"/>
                </a:solidFill>
                <a:effectLst/>
                <a:uFillTx/>
                <a:latin typeface="Liter"/>
                <a:ea typeface="Liter"/>
              </a:rPr>
              <a:t></a:t>
            </a:r>
            <a:endParaRPr lang="en-US" sz="7200" b="0" u="none" strike="noStrike">
              <a:solidFill>
                <a:srgbClr val="000000"/>
              </a:solidFill>
              <a:effectLst/>
              <a:uFillTx/>
              <a:latin typeface="Calibri"/>
            </a:endParaRPr>
          </a:p>
        </p:txBody>
      </p:sp>
      <p:sp>
        <p:nvSpPr>
          <p:cNvPr id="50" name="Shape 3"/>
          <p:cNvSpPr/>
          <p:nvPr/>
        </p:nvSpPr>
        <p:spPr>
          <a:xfrm>
            <a:off x="1015920" y="3683160"/>
            <a:ext cx="762120" cy="50760"/>
          </a:xfrm>
          <a:prstGeom prst="rect">
            <a:avLst/>
          </a:prstGeom>
          <a:solidFill>
            <a:srgbClr val="C5A55A"/>
          </a:solidFill>
          <a:ln w="0">
            <a:noFill/>
          </a:ln>
        </p:spPr>
        <p:style>
          <a:lnRef idx="0"/>
          <a:fillRef idx="0"/>
          <a:effectRef idx="0"/>
          <a:fontRef idx="minor"/>
        </p:style>
        <p:txBody>
          <a:bodyPr lIns="90000" tIns="3960" rIns="90000" bIns="396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51" name="Text 4"/>
          <p:cNvSpPr/>
          <p:nvPr/>
        </p:nvSpPr>
        <p:spPr>
          <a:xfrm>
            <a:off x="1015920" y="3936960"/>
            <a:ext cx="6350040" cy="76212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0EDE8"/>
                </a:solidFill>
                <a:effectLst/>
                <a:uFillTx/>
                <a:latin typeface="Liter"/>
                <a:ea typeface="Liter"/>
              </a:rPr>
              <a:t>全球数字主权格局总览</a:t>
            </a:r>
            <a:endParaRPr lang="en-US" sz="3600" b="0" u="none" strike="noStrike">
              <a:solidFill>
                <a:srgbClr val="000000"/>
              </a:solidFill>
              <a:effectLst/>
              <a:uFillTx/>
              <a:latin typeface="Calibri"/>
            </a:endParaRPr>
          </a:p>
        </p:txBody>
      </p:sp>
      <p:sp>
        <p:nvSpPr>
          <p:cNvPr id="52" name="Text 5"/>
          <p:cNvSpPr/>
          <p:nvPr/>
        </p:nvSpPr>
        <p:spPr>
          <a:xfrm>
            <a:off x="1015920" y="4826160"/>
            <a:ext cx="6350040" cy="761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a:t>
            </a:r>
            <a:endParaRPr lang="en-US" sz="16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主权国家数据治理体系的分化与竞合</a:t>
            </a:r>
            <a:endParaRPr lang="en-US" sz="1600" b="0" u="none" strike="noStrike">
              <a:solidFill>
                <a:srgbClr val="000000"/>
              </a:solidFill>
              <a:effectLst/>
              <a:uFillTx/>
              <a:latin typeface="Calibri"/>
            </a:endParaRPr>
          </a:p>
        </p:txBody>
      </p:sp>
      <p:sp>
        <p:nvSpPr>
          <p:cNvPr id="53" name="Shape 6"/>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54" name="Shape 7"/>
          <p:cNvSpPr/>
          <p:nvPr/>
        </p:nvSpPr>
        <p:spPr>
          <a:xfrm>
            <a:off x="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55"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56" name="Shape 1"/>
          <p:cNvSpPr/>
          <p:nvPr/>
        </p:nvSpPr>
        <p:spPr>
          <a:xfrm>
            <a:off x="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57"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58"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F1F3D"/>
                </a:solidFill>
                <a:effectLst/>
                <a:uFillTx/>
                <a:latin typeface="Liter"/>
                <a:ea typeface="Liter"/>
              </a:rPr>
              <a:t>数字主权三维评估框架：控制力开放度执法强度</a:t>
            </a:r>
            <a:endParaRPr lang="en-US" sz="2800" b="0" u="none" strike="noStrike">
              <a:solidFill>
                <a:srgbClr val="000000"/>
              </a:solidFill>
              <a:effectLst/>
              <a:uFillTx/>
              <a:latin typeface="Calibri"/>
            </a:endParaRPr>
          </a:p>
        </p:txBody>
      </p:sp>
      <p:sp>
        <p:nvSpPr>
          <p:cNvPr id="59" name="Shape 4"/>
          <p:cNvSpPr/>
          <p:nvPr/>
        </p:nvSpPr>
        <p:spPr>
          <a:xfrm>
            <a:off x="762120" y="1397160"/>
            <a:ext cx="3301920" cy="11430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0" name="Text 5"/>
          <p:cNvSpPr/>
          <p:nvPr/>
        </p:nvSpPr>
        <p:spPr>
          <a:xfrm>
            <a:off x="952560" y="1460520"/>
            <a:ext cx="2921040" cy="571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5A55A"/>
                </a:solidFill>
                <a:effectLst/>
                <a:uFillTx/>
                <a:latin typeface="Liter"/>
                <a:ea typeface="Liter"/>
              </a:rPr>
              <a:t></a:t>
            </a:r>
            <a:endParaRPr lang="en-US" sz="3600" b="0" u="none" strike="noStrike">
              <a:solidFill>
                <a:srgbClr val="000000"/>
              </a:solidFill>
              <a:effectLst/>
              <a:uFillTx/>
              <a:latin typeface="Calibri"/>
            </a:endParaRPr>
          </a:p>
        </p:txBody>
      </p:sp>
      <p:sp>
        <p:nvSpPr>
          <p:cNvPr id="61" name="Text 6"/>
          <p:cNvSpPr/>
          <p:nvPr/>
        </p:nvSpPr>
        <p:spPr>
          <a:xfrm>
            <a:off x="952560" y="2057400"/>
            <a:ext cx="2921040" cy="3175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纳入评估国家数</a:t>
            </a:r>
            <a:endParaRPr lang="en-US" sz="1200" b="0" u="none" strike="noStrike">
              <a:solidFill>
                <a:srgbClr val="000000"/>
              </a:solidFill>
              <a:effectLst/>
              <a:uFillTx/>
              <a:latin typeface="Calibri"/>
            </a:endParaRPr>
          </a:p>
        </p:txBody>
      </p:sp>
      <p:sp>
        <p:nvSpPr>
          <p:cNvPr id="62" name="Shape 7"/>
          <p:cNvSpPr/>
          <p:nvPr/>
        </p:nvSpPr>
        <p:spPr>
          <a:xfrm>
            <a:off x="4317840" y="1397160"/>
            <a:ext cx="3302280" cy="11430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3" name="Text 8"/>
          <p:cNvSpPr/>
          <p:nvPr/>
        </p:nvSpPr>
        <p:spPr>
          <a:xfrm>
            <a:off x="4508640" y="1460520"/>
            <a:ext cx="2921040" cy="571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5A55A"/>
                </a:solidFill>
                <a:effectLst/>
                <a:uFillTx/>
                <a:latin typeface="Liter"/>
                <a:ea typeface="Liter"/>
              </a:rPr>
              <a:t></a:t>
            </a:r>
            <a:endParaRPr lang="en-US" sz="3600" b="0" u="none" strike="noStrike">
              <a:solidFill>
                <a:srgbClr val="000000"/>
              </a:solidFill>
              <a:effectLst/>
              <a:uFillTx/>
              <a:latin typeface="Calibri"/>
            </a:endParaRPr>
          </a:p>
        </p:txBody>
      </p:sp>
      <p:sp>
        <p:nvSpPr>
          <p:cNvPr id="64" name="Text 9"/>
          <p:cNvSpPr/>
          <p:nvPr/>
        </p:nvSpPr>
        <p:spPr>
          <a:xfrm>
            <a:off x="4508640" y="2057400"/>
            <a:ext cx="2921040" cy="3175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极度限制国家</a:t>
            </a:r>
            <a:endParaRPr lang="en-US" sz="1200" b="0" u="none" strike="noStrike">
              <a:solidFill>
                <a:srgbClr val="000000"/>
              </a:solidFill>
              <a:effectLst/>
              <a:uFillTx/>
              <a:latin typeface="Calibri"/>
            </a:endParaRPr>
          </a:p>
        </p:txBody>
      </p:sp>
      <p:sp>
        <p:nvSpPr>
          <p:cNvPr id="65" name="Shape 10"/>
          <p:cNvSpPr/>
          <p:nvPr/>
        </p:nvSpPr>
        <p:spPr>
          <a:xfrm>
            <a:off x="7873920" y="1397160"/>
            <a:ext cx="3301920" cy="11430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6" name="Text 11"/>
          <p:cNvSpPr/>
          <p:nvPr/>
        </p:nvSpPr>
        <p:spPr>
          <a:xfrm>
            <a:off x="8064360" y="1460520"/>
            <a:ext cx="2921040" cy="571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5A55A"/>
                </a:solidFill>
                <a:effectLst/>
                <a:uFillTx/>
                <a:latin typeface="Liter"/>
                <a:ea typeface="Liter"/>
              </a:rPr>
              <a:t></a:t>
            </a:r>
            <a:endParaRPr lang="en-US" sz="3600" b="0" u="none" strike="noStrike">
              <a:solidFill>
                <a:srgbClr val="000000"/>
              </a:solidFill>
              <a:effectLst/>
              <a:uFillTx/>
              <a:latin typeface="Calibri"/>
            </a:endParaRPr>
          </a:p>
        </p:txBody>
      </p:sp>
      <p:sp>
        <p:nvSpPr>
          <p:cNvPr id="67" name="Text 12"/>
          <p:cNvSpPr/>
          <p:nvPr/>
        </p:nvSpPr>
        <p:spPr>
          <a:xfrm>
            <a:off x="8064360" y="2057400"/>
            <a:ext cx="2921040" cy="3175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高度限制国家</a:t>
            </a:r>
            <a:endParaRPr lang="en-US" sz="1200" b="0" u="none" strike="noStrike">
              <a:solidFill>
                <a:srgbClr val="000000"/>
              </a:solidFill>
              <a:effectLst/>
              <a:uFillTx/>
              <a:latin typeface="Calibri"/>
            </a:endParaRPr>
          </a:p>
        </p:txBody>
      </p:sp>
      <p:sp>
        <p:nvSpPr>
          <p:cNvPr id="68" name="Shape 13"/>
          <p:cNvSpPr/>
          <p:nvPr/>
        </p:nvSpPr>
        <p:spPr>
          <a:xfrm>
            <a:off x="11430000" y="1397160"/>
            <a:ext cx="4064040" cy="11430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9" name="Text 14"/>
          <p:cNvSpPr/>
          <p:nvPr/>
        </p:nvSpPr>
        <p:spPr>
          <a:xfrm>
            <a:off x="11620440" y="1460520"/>
            <a:ext cx="3683160" cy="571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5A55A"/>
                </a:solidFill>
                <a:effectLst/>
                <a:uFillTx/>
                <a:latin typeface="Liter"/>
                <a:ea typeface="Liter"/>
              </a:rPr>
              <a:t></a:t>
            </a:r>
            <a:endParaRPr lang="en-US" sz="3600" b="0" u="none" strike="noStrike">
              <a:solidFill>
                <a:srgbClr val="000000"/>
              </a:solidFill>
              <a:effectLst/>
              <a:uFillTx/>
              <a:latin typeface="Calibri"/>
            </a:endParaRPr>
          </a:p>
        </p:txBody>
      </p:sp>
      <p:sp>
        <p:nvSpPr>
          <p:cNvPr id="70" name="Text 15"/>
          <p:cNvSpPr/>
          <p:nvPr/>
        </p:nvSpPr>
        <p:spPr>
          <a:xfrm>
            <a:off x="11620440" y="2057400"/>
            <a:ext cx="3683160" cy="3175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评分下降国家</a:t>
            </a:r>
            <a:endParaRPr lang="en-US" sz="1200" b="0" u="none" strike="noStrike">
              <a:solidFill>
                <a:srgbClr val="000000"/>
              </a:solidFill>
              <a:effectLst/>
              <a:uFillTx/>
              <a:latin typeface="Calibri"/>
            </a:endParaRPr>
          </a:p>
        </p:txBody>
      </p:sp>
      <p:sp>
        <p:nvSpPr>
          <p:cNvPr id="71" name="Text 16"/>
          <p:cNvSpPr/>
          <p:nvPr/>
        </p:nvSpPr>
        <p:spPr>
          <a:xfrm>
            <a:off x="762120" y="2793960"/>
            <a:ext cx="7111800" cy="39369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C5A55A"/>
                </a:solidFill>
                <a:effectLst/>
                <a:uFillTx/>
                <a:latin typeface="Liter"/>
                <a:ea typeface="Liter"/>
              </a:rPr>
              <a:t>数据控制力</a:t>
            </a:r>
            <a:r>
              <a:rPr lang="en-US" sz="1600" b="0" u="none" strike="noStrike">
                <a:solidFill>
                  <a:srgbClr val="1A1A2E"/>
                </a:solidFill>
                <a:effectLst/>
                <a:uFillTx/>
                <a:latin typeface="Liter"/>
                <a:ea typeface="Liter"/>
              </a:rPr>
              <a:t>：数据本地化要求强度、跨境传输审批机制、政府数据访问权限。中国《数据安全法》《个人信息保护法》构建全面控制体系。</a:t>
            </a:r>
            <a:endParaRPr lang="en-US" sz="1600" b="0" u="none" strike="noStrike">
              <a:solidFill>
                <a:srgbClr val="000000"/>
              </a:solidFill>
              <a:effectLst/>
              <a:uFillTx/>
              <a:latin typeface="Calibri"/>
            </a:endParaRPr>
          </a:p>
          <a:p>
            <a:pPr>
              <a:lnSpc>
                <a:spcPct val="17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C5A55A"/>
                </a:solidFill>
                <a:effectLst/>
                <a:uFillTx/>
                <a:latin typeface="Liter"/>
                <a:ea typeface="Liter"/>
              </a:rPr>
              <a:t>市场开放度</a:t>
            </a:r>
            <a:r>
              <a:rPr lang="en-US" sz="1600" b="0" u="none" strike="noStrike">
                <a:solidFill>
                  <a:srgbClr val="1A1A2E"/>
                </a:solidFill>
                <a:effectLst/>
                <a:uFillTx/>
                <a:latin typeface="Liter"/>
                <a:ea typeface="Liter"/>
              </a:rPr>
              <a:t>：外资云服务准入、数字贸易协定覆盖率、数据端口开放程度。欧盟因年月生效导致开放度评分下降。</a:t>
            </a:r>
            <a:endParaRPr lang="en-US" sz="1600" b="0" u="none" strike="noStrike">
              <a:solidFill>
                <a:srgbClr val="000000"/>
              </a:solidFill>
              <a:effectLst/>
              <a:uFillTx/>
              <a:latin typeface="Calibri"/>
            </a:endParaRPr>
          </a:p>
          <a:p>
            <a:pPr>
              <a:lnSpc>
                <a:spcPct val="17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C5A55A"/>
                </a:solidFill>
                <a:effectLst/>
                <a:uFillTx/>
                <a:latin typeface="Liter"/>
                <a:ea typeface="Liter"/>
              </a:rPr>
              <a:t>执法强度</a:t>
            </a:r>
            <a:r>
              <a:rPr lang="en-US" sz="1600" b="0" u="none" strike="noStrike">
                <a:solidFill>
                  <a:srgbClr val="1A1A2E"/>
                </a:solidFill>
                <a:effectLst/>
                <a:uFillTx/>
                <a:latin typeface="Liter"/>
                <a:ea typeface="Liter"/>
              </a:rPr>
              <a:t>：罚金上限、违规追溯期、监管技术能力。最高罚金达全球营收（€纪录）。</a:t>
            </a:r>
            <a:endParaRPr lang="en-US" sz="1600" b="0" u="none" strike="noStrike">
              <a:solidFill>
                <a:srgbClr val="000000"/>
              </a:solidFill>
              <a:effectLst/>
              <a:uFillTx/>
              <a:latin typeface="Calibri"/>
            </a:endParaRPr>
          </a:p>
        </p:txBody>
      </p:sp>
      <p:sp>
        <p:nvSpPr>
          <p:cNvPr id="72" name="Text 17"/>
          <p:cNvSpPr/>
          <p:nvPr/>
        </p:nvSpPr>
        <p:spPr>
          <a:xfrm>
            <a:off x="8381880" y="2793960"/>
            <a:ext cx="711216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全球数据主权限制等级分布</a:t>
            </a:r>
            <a:endParaRPr lang="en-US" sz="1600" b="0" u="none" strike="noStrike">
              <a:solidFill>
                <a:srgbClr val="000000"/>
              </a:solidFill>
              <a:effectLst/>
              <a:uFillTx/>
              <a:latin typeface="Calibri"/>
            </a:endParaRPr>
          </a:p>
        </p:txBody>
      </p:sp>
      <p:graphicFrame>
        <p:nvGraphicFramePr>
          <p:cNvPr id="73" name="Chart 0"/>
          <p:cNvGraphicFramePr/>
          <p:nvPr/>
        </p:nvGraphicFramePr>
        <p:xfrm>
          <a:off x="8331120" y="3187800"/>
          <a:ext cx="7213680" cy="3530520"/>
        </p:xfrm>
        <a:graphic>
          <a:graphicData uri="http://schemas.openxmlformats.org/presentationml/2006/ole">
            <p:oleObj progId="Excel.Sheet.12" r:id="rId1" spid="">
              <p:embed/>
              <p:pic>
                <p:nvPicPr>
                  <p:cNvPr id="74" name="Chart 0"/>
                  <p:cNvPicPr/>
                  <p:nvPr/>
                </p:nvPicPr>
                <p:blipFill>
                  <a:blip r:embed="rId2"/>
                  <a:stretch/>
                </p:blipFill>
                <p:spPr>
                  <a:xfrm>
                    <a:off x="8331120" y="3187800"/>
                    <a:ext cx="7213680" cy="3530520"/>
                  </a:xfrm>
                  <a:prstGeom prst="rect">
                    <a:avLst/>
                  </a:prstGeom>
                  <a:noFill/>
                  <a:ln w="0">
                    <a:noFill/>
                  </a:ln>
                </p:spPr>
              </p:pic>
            </p:oleObj>
          </a:graphicData>
        </a:graphic>
      </p:graphicFrame>
      <p:sp>
        <p:nvSpPr>
          <p:cNvPr id="75" name="Text 18"/>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76" name="Text 19"/>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77"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78" name="Shape 1"/>
          <p:cNvSpPr/>
          <p:nvPr/>
        </p:nvSpPr>
        <p:spPr>
          <a:xfrm>
            <a:off x="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79"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0"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地缘冲突模拟：格局下的科技阵营分化与对抗升级</a:t>
            </a:r>
            <a:endParaRPr lang="en-US" sz="2400" b="0" u="none" strike="noStrike">
              <a:solidFill>
                <a:srgbClr val="000000"/>
              </a:solidFill>
              <a:effectLst/>
              <a:uFillTx/>
              <a:latin typeface="Calibri"/>
            </a:endParaRPr>
          </a:p>
        </p:txBody>
      </p:sp>
      <p:sp>
        <p:nvSpPr>
          <p:cNvPr id="81" name="Shape 4"/>
          <p:cNvSpPr/>
          <p:nvPr/>
        </p:nvSpPr>
        <p:spPr>
          <a:xfrm>
            <a:off x="12573000" y="698400"/>
            <a:ext cx="2921040" cy="355680"/>
          </a:xfrm>
          <a:prstGeom prst="rect">
            <a:avLst/>
          </a:prstGeom>
          <a:solidFill>
            <a:srgbClr val="C5A55A">
              <a:alpha val="13000"/>
            </a:srgbClr>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2" name="Text 5"/>
          <p:cNvSpPr/>
          <p:nvPr/>
        </p:nvSpPr>
        <p:spPr>
          <a:xfrm>
            <a:off x="12573000" y="698400"/>
            <a:ext cx="2921040" cy="35568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→驱动供应链成本模型</a:t>
            </a:r>
            <a:endParaRPr lang="en-US" sz="1200" b="0" u="none" strike="noStrike">
              <a:solidFill>
                <a:srgbClr val="000000"/>
              </a:solidFill>
              <a:effectLst/>
              <a:uFillTx/>
              <a:latin typeface="Calibri"/>
            </a:endParaRPr>
          </a:p>
        </p:txBody>
      </p:sp>
      <p:sp>
        <p:nvSpPr>
          <p:cNvPr id="83" name="Shape 6"/>
          <p:cNvSpPr/>
          <p:nvPr/>
        </p:nvSpPr>
        <p:spPr>
          <a:xfrm>
            <a:off x="762120" y="1397160"/>
            <a:ext cx="4698720" cy="330192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4" name="Shape 7"/>
          <p:cNvSpPr/>
          <p:nvPr/>
        </p:nvSpPr>
        <p:spPr>
          <a:xfrm>
            <a:off x="762120" y="1397160"/>
            <a:ext cx="469872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5" name="Text 8"/>
          <p:cNvSpPr/>
          <p:nvPr/>
        </p:nvSpPr>
        <p:spPr>
          <a:xfrm>
            <a:off x="952560" y="1397160"/>
            <a:ext cx="431784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中美科技冷战</a:t>
            </a:r>
            <a:endParaRPr lang="en-US" sz="1400" b="0" u="none" strike="noStrike">
              <a:solidFill>
                <a:srgbClr val="000000"/>
              </a:solidFill>
              <a:effectLst/>
              <a:uFillTx/>
              <a:latin typeface="Calibri"/>
            </a:endParaRPr>
          </a:p>
        </p:txBody>
      </p:sp>
      <p:sp>
        <p:nvSpPr>
          <p:cNvPr id="86" name="Text 9"/>
          <p:cNvSpPr/>
          <p:nvPr/>
        </p:nvSpPr>
        <p:spPr>
          <a:xfrm>
            <a:off x="952560" y="1981080"/>
            <a:ext cx="4317840" cy="25401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•半导体关税战延长至</a:t>
            </a:r>
            <a:r>
              <a:rPr lang="en-US" sz="1300" b="1" u="none" strike="noStrike">
                <a:solidFill>
                  <a:srgbClr val="1A1A2E"/>
                </a:solidFill>
                <a:effectLst/>
                <a:uFillTx/>
                <a:latin typeface="Liter"/>
                <a:ea typeface="Liter"/>
              </a:rPr>
              <a:t>年月</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•算力出口管制扩大至</a:t>
            </a:r>
            <a:r>
              <a:rPr lang="en-US" sz="1300" b="1" u="none" strike="noStrike">
                <a:solidFill>
                  <a:srgbClr val="1A1A2E"/>
                </a:solidFill>
                <a:effectLst/>
                <a:uFillTx/>
                <a:latin typeface="Liter"/>
                <a:ea typeface="Liter"/>
              </a:rPr>
              <a:t>国</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•号行政令生效</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•禁止向中国等</a:t>
            </a:r>
            <a:r>
              <a:rPr lang="en-US" sz="1300" b="1" u="none" strike="noStrike">
                <a:solidFill>
                  <a:srgbClr val="1A1A2E"/>
                </a:solidFill>
                <a:effectLst/>
                <a:uFillTx/>
                <a:latin typeface="Liter"/>
                <a:ea typeface="Liter"/>
              </a:rPr>
              <a:t>国</a:t>
            </a:r>
            <a:r>
              <a:rPr lang="en-US" sz="1300" b="0" u="none" strike="noStrike">
                <a:solidFill>
                  <a:srgbClr val="1A1A2E"/>
                </a:solidFill>
                <a:effectLst/>
                <a:uFillTx/>
                <a:latin typeface="Liter"/>
                <a:ea typeface="Liter"/>
              </a:rPr>
              <a:t>传输敏感数据</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•台积电亚利桑那厂建设成本超支</a:t>
            </a:r>
            <a:r>
              <a:rPr lang="en-US" sz="1300" b="1" u="none" strike="noStrike">
                <a:solidFill>
                  <a:srgbClr val="1A1A2E"/>
                </a:solidFill>
                <a:effectLst/>
                <a:uFillTx/>
                <a:latin typeface="Liter"/>
                <a:ea typeface="Liter"/>
              </a:rPr>
              <a:t></a:t>
            </a:r>
            <a:endParaRPr lang="en-US" sz="1300" b="0" u="none" strike="noStrike">
              <a:solidFill>
                <a:srgbClr val="000000"/>
              </a:solidFill>
              <a:effectLst/>
              <a:uFillTx/>
              <a:latin typeface="Calibri"/>
            </a:endParaRPr>
          </a:p>
        </p:txBody>
      </p:sp>
      <p:sp>
        <p:nvSpPr>
          <p:cNvPr id="87" name="Shape 10"/>
          <p:cNvSpPr/>
          <p:nvPr/>
        </p:nvSpPr>
        <p:spPr>
          <a:xfrm>
            <a:off x="5715000" y="1397160"/>
            <a:ext cx="4699080" cy="330192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8" name="Shape 11"/>
          <p:cNvSpPr/>
          <p:nvPr/>
        </p:nvSpPr>
        <p:spPr>
          <a:xfrm>
            <a:off x="5715000" y="1397160"/>
            <a:ext cx="469908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9" name="Text 12"/>
          <p:cNvSpPr/>
          <p:nvPr/>
        </p:nvSpPr>
        <p:spPr>
          <a:xfrm>
            <a:off x="5905440" y="1397160"/>
            <a:ext cx="431820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欧盟战略转向</a:t>
            </a:r>
            <a:endParaRPr lang="en-US" sz="1400" b="0" u="none" strike="noStrike">
              <a:solidFill>
                <a:srgbClr val="000000"/>
              </a:solidFill>
              <a:effectLst/>
              <a:uFillTx/>
              <a:latin typeface="Calibri"/>
            </a:endParaRPr>
          </a:p>
        </p:txBody>
      </p:sp>
      <p:sp>
        <p:nvSpPr>
          <p:cNvPr id="90" name="Text 13"/>
          <p:cNvSpPr/>
          <p:nvPr/>
        </p:nvSpPr>
        <p:spPr>
          <a:xfrm>
            <a:off x="5905440" y="1981080"/>
            <a:ext cx="4318200" cy="25401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•发布《国际数字战略》</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•从价值观外交→</a:t>
            </a:r>
            <a:r>
              <a:rPr lang="en-US" sz="1300" b="1" u="none" strike="noStrike">
                <a:solidFill>
                  <a:srgbClr val="1A1A2E"/>
                </a:solidFill>
                <a:effectLst/>
                <a:uFillTx/>
                <a:latin typeface="Liter"/>
                <a:ea typeface="Liter"/>
              </a:rPr>
              <a:t>经济安全导向</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•调查处罚力度全球最强</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•生效限制跨境流动</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•芯片法案</a:t>
            </a:r>
            <a:r>
              <a:rPr lang="en-US" sz="1300" b="1" u="none" strike="noStrike">
                <a:solidFill>
                  <a:srgbClr val="1A1A2E"/>
                </a:solidFill>
                <a:effectLst/>
                <a:uFillTx/>
                <a:latin typeface="Liter"/>
                <a:ea typeface="Liter"/>
              </a:rPr>
              <a:t>€</a:t>
            </a:r>
            <a:r>
              <a:rPr lang="en-US" sz="1300" b="0" u="none" strike="noStrike">
                <a:solidFill>
                  <a:srgbClr val="1A1A2E"/>
                </a:solidFill>
                <a:effectLst/>
                <a:uFillTx/>
                <a:latin typeface="Liter"/>
                <a:ea typeface="Liter"/>
              </a:rPr>
              <a:t>补贴</a:t>
            </a:r>
            <a:endParaRPr lang="en-US" sz="1300" b="0" u="none" strike="noStrike">
              <a:solidFill>
                <a:srgbClr val="000000"/>
              </a:solidFill>
              <a:effectLst/>
              <a:uFillTx/>
              <a:latin typeface="Calibri"/>
            </a:endParaRPr>
          </a:p>
        </p:txBody>
      </p:sp>
      <p:sp>
        <p:nvSpPr>
          <p:cNvPr id="91" name="Shape 14"/>
          <p:cNvSpPr/>
          <p:nvPr/>
        </p:nvSpPr>
        <p:spPr>
          <a:xfrm>
            <a:off x="10667880" y="1397160"/>
            <a:ext cx="4826160" cy="330192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2" name="Shape 15"/>
          <p:cNvSpPr/>
          <p:nvPr/>
        </p:nvSpPr>
        <p:spPr>
          <a:xfrm>
            <a:off x="10667880" y="1397160"/>
            <a:ext cx="482616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3" name="Text 16"/>
          <p:cNvSpPr/>
          <p:nvPr/>
        </p:nvSpPr>
        <p:spPr>
          <a:xfrm>
            <a:off x="10858680" y="1397160"/>
            <a:ext cx="444492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俄英边缘化关键节点</a:t>
            </a:r>
            <a:endParaRPr lang="en-US" sz="1400" b="0" u="none" strike="noStrike">
              <a:solidFill>
                <a:srgbClr val="000000"/>
              </a:solidFill>
              <a:effectLst/>
              <a:uFillTx/>
              <a:latin typeface="Calibri"/>
            </a:endParaRPr>
          </a:p>
        </p:txBody>
      </p:sp>
      <p:sp>
        <p:nvSpPr>
          <p:cNvPr id="94" name="Text 17"/>
          <p:cNvSpPr/>
          <p:nvPr/>
        </p:nvSpPr>
        <p:spPr>
          <a:xfrm>
            <a:off x="10858680" y="1981080"/>
            <a:ext cx="4444920" cy="25401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•俄罗斯被排除在数字治理主流外</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•英国脱欧后规则影响力下降</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a:t>
            </a:r>
            <a:r>
              <a:rPr lang="en-US" sz="1300" b="1" u="none" strike="noStrike">
                <a:solidFill>
                  <a:srgbClr val="1A1A2E"/>
                </a:solidFill>
                <a:effectLst/>
                <a:uFillTx/>
                <a:latin typeface="Liter"/>
                <a:ea typeface="Liter"/>
              </a:rPr>
              <a:t>年审议</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•支柱一谈判停滞</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•特朗普退出数字税谈判</a:t>
            </a:r>
            <a:endParaRPr lang="en-US" sz="1300" b="0" u="none" strike="noStrike">
              <a:solidFill>
                <a:srgbClr val="000000"/>
              </a:solidFill>
              <a:effectLst/>
              <a:uFillTx/>
              <a:latin typeface="Calibri"/>
            </a:endParaRPr>
          </a:p>
        </p:txBody>
      </p:sp>
      <p:sp>
        <p:nvSpPr>
          <p:cNvPr id="95" name="Text 18"/>
          <p:cNvSpPr/>
          <p:nvPr/>
        </p:nvSpPr>
        <p:spPr>
          <a:xfrm>
            <a:off x="762120" y="4952880"/>
            <a:ext cx="507996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冲突传导效应：→供应链成本</a:t>
            </a:r>
            <a:endParaRPr lang="en-US" sz="1600" b="0" u="none" strike="noStrike">
              <a:solidFill>
                <a:srgbClr val="000000"/>
              </a:solidFill>
              <a:effectLst/>
              <a:uFillTx/>
              <a:latin typeface="Calibri"/>
            </a:endParaRPr>
          </a:p>
        </p:txBody>
      </p:sp>
      <p:sp>
        <p:nvSpPr>
          <p:cNvPr id="96" name="Shape 19"/>
          <p:cNvSpPr/>
          <p:nvPr/>
        </p:nvSpPr>
        <p:spPr>
          <a:xfrm>
            <a:off x="762120" y="5460840"/>
            <a:ext cx="14731920" cy="76212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7" name="Text 20"/>
          <p:cNvSpPr/>
          <p:nvPr/>
        </p:nvSpPr>
        <p:spPr>
          <a:xfrm>
            <a:off x="1015920" y="5460840"/>
            <a:ext cx="1422396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5A55A"/>
                </a:solidFill>
                <a:effectLst/>
                <a:uFillTx/>
                <a:latin typeface="Liter"/>
                <a:ea typeface="Liter"/>
              </a:rPr>
              <a:t>①地缘冲突升级</a:t>
            </a:r>
            <a:r>
              <a:rPr lang="en-US" sz="1400" b="0" u="none" strike="noStrike">
                <a:solidFill>
                  <a:srgbClr val="F0EDE8"/>
                </a:solidFill>
                <a:effectLst/>
                <a:uFillTx/>
                <a:latin typeface="Liter"/>
                <a:ea typeface="Liter"/>
              </a:rPr>
              <a:t>→</a:t>
            </a:r>
            <a:r>
              <a:rPr lang="en-US" sz="1400" b="0" u="none" strike="noStrike">
                <a:solidFill>
                  <a:srgbClr val="C5A55A"/>
                </a:solidFill>
                <a:effectLst/>
                <a:uFillTx/>
                <a:latin typeface="Liter"/>
                <a:ea typeface="Liter"/>
              </a:rPr>
              <a:t>②半导体出口管制扩大</a:t>
            </a:r>
            <a:r>
              <a:rPr lang="en-US" sz="1400" b="0" u="none" strike="noStrike">
                <a:solidFill>
                  <a:srgbClr val="F0EDE8"/>
                </a:solidFill>
                <a:effectLst/>
                <a:uFillTx/>
                <a:latin typeface="Liter"/>
                <a:ea typeface="Liter"/>
              </a:rPr>
              <a:t>→</a:t>
            </a:r>
            <a:r>
              <a:rPr lang="en-US" sz="1400" b="0" u="none" strike="noStrike">
                <a:solidFill>
                  <a:srgbClr val="C5A55A"/>
                </a:solidFill>
                <a:effectLst/>
                <a:uFillTx/>
                <a:latin typeface="Liter"/>
                <a:ea typeface="Liter"/>
              </a:rPr>
              <a:t>③芯片进口成本↑</a:t>
            </a:r>
            <a:r>
              <a:rPr lang="en-US" sz="1400" b="0" u="none" strike="noStrike">
                <a:solidFill>
                  <a:srgbClr val="F0EDE8"/>
                </a:solidFill>
                <a:effectLst/>
                <a:uFillTx/>
                <a:latin typeface="Liter"/>
                <a:ea typeface="Liter"/>
              </a:rPr>
              <a:t>→</a:t>
            </a:r>
            <a:r>
              <a:rPr lang="en-US" sz="1400" b="0" u="none" strike="noStrike">
                <a:solidFill>
                  <a:srgbClr val="C5A55A"/>
                </a:solidFill>
                <a:effectLst/>
                <a:uFillTx/>
                <a:latin typeface="Liter"/>
                <a:ea typeface="Liter"/>
              </a:rPr>
              <a:t>④云基础设施重复建设</a:t>
            </a:r>
            <a:r>
              <a:rPr lang="en-US" sz="1400" b="0" u="none" strike="noStrike">
                <a:solidFill>
                  <a:srgbClr val="F0EDE8"/>
                </a:solidFill>
                <a:effectLst/>
                <a:uFillTx/>
                <a:latin typeface="Liter"/>
                <a:ea typeface="Liter"/>
              </a:rPr>
              <a:t>→</a:t>
            </a:r>
            <a:r>
              <a:rPr lang="en-US" sz="1400" b="0" u="none" strike="noStrike">
                <a:solidFill>
                  <a:srgbClr val="C5A55A"/>
                </a:solidFill>
                <a:effectLst/>
                <a:uFillTx/>
                <a:latin typeface="Liter"/>
                <a:ea typeface="Liter"/>
              </a:rPr>
              <a:t>⑤供应链备份总成本年</a:t>
            </a:r>
            <a:endParaRPr lang="en-US" sz="1400" b="0" u="none" strike="noStrike">
              <a:solidFill>
                <a:srgbClr val="000000"/>
              </a:solidFill>
              <a:effectLst/>
              <a:uFillTx/>
              <a:latin typeface="Calibri"/>
            </a:endParaRPr>
          </a:p>
        </p:txBody>
      </p:sp>
      <p:sp>
        <p:nvSpPr>
          <p:cNvPr id="98" name="Text 21"/>
          <p:cNvSpPr/>
          <p:nvPr/>
        </p:nvSpPr>
        <p:spPr>
          <a:xfrm>
            <a:off x="762120" y="6477120"/>
            <a:ext cx="14731920" cy="1523880"/>
          </a:xfrm>
          <a:prstGeom prst="rect">
            <a:avLst/>
          </a:prstGeom>
          <a:noFill/>
          <a:ln w="0">
            <a:noFill/>
          </a:ln>
        </p:spPr>
        <p:style>
          <a:lnRef idx="0"/>
          <a:fillRef idx="0"/>
          <a:effectRef idx="0"/>
          <a:fontRef idx="minor"/>
        </p:style>
        <p:txBody>
          <a:bodyPr lIns="0" tIns="0" rIns="0" bIns="0" anchor="t">
            <a:noAutofit/>
          </a:bodyPr>
          <a:p>
            <a:pPr>
              <a:lnSpc>
                <a:spcPct val="1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冲突烈度指数</a:t>
            </a:r>
            <a:r>
              <a:rPr lang="en-US" sz="1400" b="0" u="none" strike="noStrike">
                <a:solidFill>
                  <a:srgbClr val="1A1A2E"/>
                </a:solidFill>
                <a:effectLst/>
                <a:uFillTx/>
                <a:latin typeface="Liter"/>
                <a:ea typeface="Liter"/>
              </a:rPr>
              <a:t>：中美科技对抗</a:t>
            </a:r>
            <a:r>
              <a:rPr lang="en-US" sz="2000" b="1" u="none" strike="noStrike">
                <a:solidFill>
                  <a:srgbClr val="C5A55A"/>
                </a:solidFill>
                <a:effectLst/>
                <a:uFillTx/>
                <a:latin typeface="Liter"/>
                <a:ea typeface="Liter"/>
              </a:rPr>
              <a:t></a:t>
            </a:r>
            <a:r>
              <a:rPr lang="en-US" sz="1400" b="0" u="none" strike="noStrike">
                <a:solidFill>
                  <a:srgbClr val="1A1A2E"/>
                </a:solidFill>
                <a:effectLst/>
                <a:uFillTx/>
                <a:latin typeface="Liter"/>
                <a:ea typeface="Liter"/>
              </a:rPr>
              <a:t>　美欧数字分歧</a:t>
            </a:r>
            <a:r>
              <a:rPr lang="en-US" sz="2000" b="1" u="none" strike="noStrike">
                <a:solidFill>
                  <a:srgbClr val="C5A55A"/>
                </a:solidFill>
                <a:effectLst/>
                <a:uFillTx/>
                <a:latin typeface="Liter"/>
                <a:ea typeface="Liter"/>
              </a:rPr>
              <a:t></a:t>
            </a:r>
            <a:r>
              <a:rPr lang="en-US" sz="1400" b="0" u="none" strike="noStrike">
                <a:solidFill>
                  <a:srgbClr val="1A1A2E"/>
                </a:solidFill>
                <a:effectLst/>
                <a:uFillTx/>
                <a:latin typeface="Liter"/>
                <a:ea typeface="Liter"/>
              </a:rPr>
              <a:t>　俄乌外溢效应</a:t>
            </a:r>
            <a:r>
              <a:rPr lang="en-US" sz="2000" b="1" u="none" strike="noStrike">
                <a:solidFill>
                  <a:srgbClr val="C5A55A"/>
                </a:solidFill>
                <a:effectLst/>
                <a:uFillTx/>
                <a:latin typeface="Liter"/>
                <a:ea typeface="Liter"/>
              </a:rPr>
              <a:t></a:t>
            </a:r>
            <a:endParaRPr lang="en-US" sz="2000" b="0" u="none" strike="noStrike">
              <a:solidFill>
                <a:srgbClr val="000000"/>
              </a:solidFill>
              <a:effectLst/>
              <a:uFillTx/>
              <a:latin typeface="Calibri"/>
            </a:endParaRPr>
          </a:p>
          <a:p>
            <a:pPr>
              <a:lnSpc>
                <a:spcPct val="18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年关键时间节点</a:t>
            </a:r>
            <a:r>
              <a:rPr lang="en-US" sz="1400" b="0" u="none" strike="noStrike">
                <a:solidFill>
                  <a:srgbClr val="1A1A2E"/>
                </a:solidFill>
                <a:effectLst/>
                <a:uFillTx/>
                <a:latin typeface="Liter"/>
                <a:ea typeface="Liter"/>
              </a:rPr>
              <a:t>：审议启动｜支柱一最后期限｜欧盟首批执法｜美国大选后政策转向风险</a:t>
            </a:r>
            <a:endParaRPr lang="en-US" sz="1400" b="0" u="none" strike="noStrike">
              <a:solidFill>
                <a:srgbClr val="000000"/>
              </a:solidFill>
              <a:effectLst/>
              <a:uFillTx/>
              <a:latin typeface="Calibri"/>
            </a:endParaRPr>
          </a:p>
        </p:txBody>
      </p:sp>
      <p:sp>
        <p:nvSpPr>
          <p:cNvPr id="99" name="Text 22"/>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100" name="Text 23"/>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101"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02" name="Shape 1"/>
          <p:cNvSpPr/>
          <p:nvPr/>
        </p:nvSpPr>
        <p:spPr>
          <a:xfrm>
            <a:off x="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03"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04"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国家级防火墙效能评分与网络主权实践</a:t>
            </a:r>
            <a:endParaRPr lang="en-US" sz="2400" b="0" u="none" strike="noStrike">
              <a:solidFill>
                <a:srgbClr val="000000"/>
              </a:solidFill>
              <a:effectLst/>
              <a:uFillTx/>
              <a:latin typeface="Calibri"/>
            </a:endParaRPr>
          </a:p>
        </p:txBody>
      </p:sp>
      <p:graphicFrame>
        <p:nvGraphicFramePr>
          <p:cNvPr id="105" name=""/>
          <p:cNvGraphicFramePr/>
          <p:nvPr/>
        </p:nvGraphicFramePr>
        <p:xfrm>
          <a:off x="762120" y="1397160"/>
          <a:ext cx="14731920" cy="4825800"/>
        </p:xfrm>
        <a:graphic>
          <a:graphicData uri="http://schemas.openxmlformats.org/drawingml/2006/table">
            <a:tbl>
              <a:tblPr/>
              <a:tblGrid>
                <a:gridCol w="2062080"/>
                <a:gridCol w="1473120"/>
                <a:gridCol w="1768680"/>
                <a:gridCol w="2651040"/>
                <a:gridCol w="2652480"/>
                <a:gridCol w="2062440"/>
                <a:gridCol w="2062080"/>
              </a:tblGrid>
              <a:tr h="5824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国家地区</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综合效能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技术封锁率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核心技术架构</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法律基础</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穿透率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国际影响</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849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污染指纹拦截</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网络安全法数据安全法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全球最高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847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俄罗斯</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深度过滤隔离</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主权互联网法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区域性强</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849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伊朗</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国家信息网物理隔离</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网络空间犯罪法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中等</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847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印度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间歇性封锁断网</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区域性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849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欧盟对比组</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无</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内容治理</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规则输出型</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sp>
        <p:nvSpPr>
          <p:cNvPr id="106" name="Text 4"/>
          <p:cNvSpPr/>
          <p:nvPr/>
        </p:nvSpPr>
        <p:spPr>
          <a:xfrm>
            <a:off x="762120" y="6477120"/>
            <a:ext cx="14731920" cy="152388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评分维度权重</a:t>
            </a:r>
            <a:r>
              <a:rPr lang="en-US" sz="1400" b="0" u="none" strike="noStrike">
                <a:solidFill>
                  <a:srgbClr val="1A1A2E"/>
                </a:solidFill>
                <a:effectLst/>
                <a:uFillTx/>
                <a:latin typeface="Liter"/>
                <a:ea typeface="Liter"/>
              </a:rPr>
              <a:t>：技术封锁能力法律完备度执法一致性绕过难度国际影响</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关键趋势</a:t>
            </a:r>
            <a:r>
              <a:rPr lang="en-US" sz="1400" b="0" u="none" strike="noStrike">
                <a:solidFill>
                  <a:srgbClr val="1A1A2E"/>
                </a:solidFill>
                <a:effectLst/>
                <a:uFillTx/>
                <a:latin typeface="Liter"/>
                <a:ea typeface="Liter"/>
              </a:rPr>
              <a:t>：年全球个国家新增或升级网络边界控制措施，主权互联网概念从威权国家向民主国家扩散（如欧盟数据本地化要求、印度断网策略）。</a:t>
            </a:r>
            <a:endParaRPr lang="en-US" sz="1400" b="0" u="none" strike="noStrike">
              <a:solidFill>
                <a:srgbClr val="000000"/>
              </a:solidFill>
              <a:effectLst/>
              <a:uFillTx/>
              <a:latin typeface="Calibri"/>
            </a:endParaRPr>
          </a:p>
        </p:txBody>
      </p:sp>
      <p:sp>
        <p:nvSpPr>
          <p:cNvPr id="107" name="Text 5"/>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108" name="Text 6"/>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109"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10" name="Shape 1"/>
          <p:cNvSpPr/>
          <p:nvPr/>
        </p:nvSpPr>
        <p:spPr>
          <a:xfrm>
            <a:off x="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11"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12"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兼容性矩阵与合规成本分析</a:t>
            </a:r>
            <a:endParaRPr lang="en-US" sz="2400" b="0" u="none" strike="noStrike">
              <a:solidFill>
                <a:srgbClr val="000000"/>
              </a:solidFill>
              <a:effectLst/>
              <a:uFillTx/>
              <a:latin typeface="Calibri"/>
            </a:endParaRPr>
          </a:p>
        </p:txBody>
      </p:sp>
      <p:graphicFrame>
        <p:nvGraphicFramePr>
          <p:cNvPr id="113" name=""/>
          <p:cNvGraphicFramePr/>
          <p:nvPr/>
        </p:nvGraphicFramePr>
        <p:xfrm>
          <a:off x="762120" y="1397160"/>
          <a:ext cx="14731920" cy="3682800"/>
        </p:xfrm>
        <a:graphic>
          <a:graphicData uri="http://schemas.openxmlformats.org/drawingml/2006/table">
            <a:tbl>
              <a:tblPr/>
              <a:tblGrid>
                <a:gridCol w="2357280"/>
                <a:gridCol w="2062080"/>
                <a:gridCol w="2062440"/>
                <a:gridCol w="2062080"/>
                <a:gridCol w="2063520"/>
                <a:gridCol w="2062440"/>
                <a:gridCol w="2062080"/>
              </a:tblGrid>
              <a:tr h="583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对比维度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欧盟</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加州</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印度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巴西</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中国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日本</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774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域外效力</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最广（无门槛）</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中等（门槛）</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广（政府豁免大）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中等</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广（安全审查）</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有限</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774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罚金上限</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€营收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次</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营收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营收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亿</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774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通知</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小时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小时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合理时间</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监管机构个人</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知得た時</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774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核心差异</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大法律基础</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机制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大法律基础</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安全评估前置</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同意</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bl>
          </a:graphicData>
        </a:graphic>
      </p:graphicFrame>
      <p:sp>
        <p:nvSpPr>
          <p:cNvPr id="114" name="Text 4"/>
          <p:cNvSpPr/>
          <p:nvPr/>
        </p:nvSpPr>
        <p:spPr>
          <a:xfrm>
            <a:off x="762120" y="5334120"/>
            <a:ext cx="507996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法域兼容性百分比</a:t>
            </a:r>
            <a:endParaRPr lang="en-US" sz="1600" b="0" u="none" strike="noStrike">
              <a:solidFill>
                <a:srgbClr val="000000"/>
              </a:solidFill>
              <a:effectLst/>
              <a:uFillTx/>
              <a:latin typeface="Calibri"/>
            </a:endParaRPr>
          </a:p>
        </p:txBody>
      </p:sp>
      <p:graphicFrame>
        <p:nvGraphicFramePr>
          <p:cNvPr id="115" name="Chart 0"/>
          <p:cNvGraphicFramePr/>
          <p:nvPr/>
        </p:nvGraphicFramePr>
        <p:xfrm>
          <a:off x="711360" y="5727600"/>
          <a:ext cx="6959520" cy="2387880"/>
        </p:xfrm>
        <a:graphic>
          <a:graphicData uri="http://schemas.openxmlformats.org/presentationml/2006/ole">
            <p:oleObj progId="Excel.Sheet.12" r:id="rId1" spid="">
              <p:embed/>
              <p:pic>
                <p:nvPicPr>
                  <p:cNvPr id="116" name="Chart 0"/>
                  <p:cNvPicPr/>
                  <p:nvPr/>
                </p:nvPicPr>
                <p:blipFill>
                  <a:blip r:embed="rId2"/>
                  <a:stretch/>
                </p:blipFill>
                <p:spPr>
                  <a:xfrm>
                    <a:off x="711360" y="5727600"/>
                    <a:ext cx="6959520" cy="2387880"/>
                  </a:xfrm>
                  <a:prstGeom prst="rect">
                    <a:avLst/>
                  </a:prstGeom>
                  <a:noFill/>
                  <a:ln w="0">
                    <a:noFill/>
                  </a:ln>
                </p:spPr>
              </p:pic>
            </p:oleObj>
          </a:graphicData>
        </a:graphic>
      </p:graphicFrame>
      <p:sp>
        <p:nvSpPr>
          <p:cNvPr id="117" name="Text 5"/>
          <p:cNvSpPr/>
          <p:nvPr/>
        </p:nvSpPr>
        <p:spPr>
          <a:xfrm>
            <a:off x="8128080" y="5334120"/>
            <a:ext cx="507996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多法域合规成本</a:t>
            </a:r>
            <a:endParaRPr lang="en-US" sz="1600" b="0" u="none" strike="noStrike">
              <a:solidFill>
                <a:srgbClr val="000000"/>
              </a:solidFill>
              <a:effectLst/>
              <a:uFillTx/>
              <a:latin typeface="Calibri"/>
            </a:endParaRPr>
          </a:p>
        </p:txBody>
      </p:sp>
      <p:sp>
        <p:nvSpPr>
          <p:cNvPr id="118" name="Shape 6"/>
          <p:cNvSpPr/>
          <p:nvPr/>
        </p:nvSpPr>
        <p:spPr>
          <a:xfrm>
            <a:off x="8128080" y="5778360"/>
            <a:ext cx="7365960" cy="24768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19" name="Text 7"/>
          <p:cNvSpPr/>
          <p:nvPr/>
        </p:nvSpPr>
        <p:spPr>
          <a:xfrm>
            <a:off x="8381880" y="5905440"/>
            <a:ext cx="6858000" cy="234972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年营收企业平均合规支出</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C5A55A"/>
                </a:solidFill>
                <a:effectLst/>
                <a:uFillTx/>
                <a:latin typeface="Liter"/>
                <a:ea typeface="Liter"/>
              </a:rPr>
              <a:t></a:t>
            </a:r>
            <a:r>
              <a:rPr lang="en-US" sz="1400" b="0" u="none" strike="noStrike">
                <a:solidFill>
                  <a:srgbClr val="1A1A2E"/>
                </a:solidFill>
                <a:effectLst/>
                <a:uFillTx/>
                <a:latin typeface="Liter"/>
                <a:ea typeface="Liter"/>
              </a:rPr>
              <a:t>年</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•数据映射与：</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•自动化：</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•跨境传输评估：</a:t>
            </a:r>
            <a:endParaRPr lang="en-US" sz="1400" b="0" u="none" strike="noStrike">
              <a:solidFill>
                <a:srgbClr val="000000"/>
              </a:solidFill>
              <a:effectLst/>
              <a:uFillTx/>
              <a:latin typeface="Calibri"/>
            </a:endParaRPr>
          </a:p>
        </p:txBody>
      </p:sp>
      <p:sp>
        <p:nvSpPr>
          <p:cNvPr id="120" name="Text 8"/>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121" name="Text 9"/>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22" name="Shape 0"/>
          <p:cNvSpPr/>
          <p:nvPr/>
        </p:nvSpPr>
        <p:spPr>
          <a:xfrm>
            <a:off x="0" y="0"/>
            <a:ext cx="8128080" cy="9144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123" name="Image 0" descr="https://kimi-img.moonshot.cn/pub/slides/okc/gkmdzig5jggc2/mnt/agents/output/digital_sovereignty_2026/images/4_16_398_Blue_Cyber_Security_Servers.png"/>
          <p:cNvPicPr/>
          <p:nvPr/>
        </p:nvPicPr>
        <p:blipFill>
          <a:blip r:embed="rId1"/>
          <a:srcRect l="24965" t="0" r="24965" b="0"/>
          <a:stretch/>
        </p:blipFill>
        <p:spPr>
          <a:xfrm>
            <a:off x="8128080" y="0"/>
            <a:ext cx="8128080" cy="9144000"/>
          </a:xfrm>
          <a:prstGeom prst="rect">
            <a:avLst/>
          </a:prstGeom>
          <a:noFill/>
          <a:ln w="0">
            <a:noFill/>
          </a:ln>
        </p:spPr>
      </p:pic>
      <p:grpSp>
        <p:nvGrpSpPr>
          <p:cNvPr id="124" name="Shape 1"/>
          <p:cNvGrpSpPr/>
          <p:nvPr/>
        </p:nvGrpSpPr>
        <p:grpSpPr>
          <a:xfrm>
            <a:off x="8115480" y="0"/>
            <a:ext cx="8153280" cy="9144000"/>
            <a:chOff x="8115480" y="0"/>
            <a:chExt cx="8153280" cy="9144000"/>
          </a:xfrm>
        </p:grpSpPr>
        <p:pic>
          <p:nvPicPr>
            <p:cNvPr id="125" name="Shape 1"/>
            <p:cNvPicPr/>
            <p:nvPr/>
          </p:nvPicPr>
          <p:blipFill>
            <a:blip r:embed="rId2"/>
            <a:stretch/>
          </p:blipFill>
          <p:spPr>
            <a:xfrm>
              <a:off x="8115480" y="0"/>
              <a:ext cx="8153280" cy="9144000"/>
            </a:xfrm>
            <a:prstGeom prst="rect">
              <a:avLst/>
            </a:prstGeom>
            <a:noFill/>
            <a:ln w="0">
              <a:noFill/>
            </a:ln>
          </p:spPr>
        </p:pic>
        <p:sp>
          <p:nvSpPr>
            <p:cNvPr id="126" name=""/>
            <p:cNvSpPr/>
            <p:nvPr/>
          </p:nvSpPr>
          <p:spPr>
            <a:xfrm>
              <a:off x="8128080" y="0"/>
              <a:ext cx="8128080" cy="9144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pSp>
      <p:sp>
        <p:nvSpPr>
          <p:cNvPr id="127" name="Text 2"/>
          <p:cNvSpPr/>
          <p:nvPr/>
        </p:nvSpPr>
        <p:spPr>
          <a:xfrm>
            <a:off x="1015920" y="2540160"/>
            <a:ext cx="2540160" cy="1015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7200" b="0" u="none" strike="noStrike">
                <a:solidFill>
                  <a:srgbClr val="C5A55A"/>
                </a:solidFill>
                <a:effectLst/>
                <a:uFillTx/>
                <a:latin typeface="Liter"/>
                <a:ea typeface="Liter"/>
              </a:rPr>
              <a:t></a:t>
            </a:r>
            <a:endParaRPr lang="en-US" sz="7200" b="0" u="none" strike="noStrike">
              <a:solidFill>
                <a:srgbClr val="000000"/>
              </a:solidFill>
              <a:effectLst/>
              <a:uFillTx/>
              <a:latin typeface="Calibri"/>
            </a:endParaRPr>
          </a:p>
        </p:txBody>
      </p:sp>
      <p:sp>
        <p:nvSpPr>
          <p:cNvPr id="128" name="Shape 3"/>
          <p:cNvSpPr/>
          <p:nvPr/>
        </p:nvSpPr>
        <p:spPr>
          <a:xfrm>
            <a:off x="1015920" y="3683160"/>
            <a:ext cx="762120" cy="50760"/>
          </a:xfrm>
          <a:prstGeom prst="rect">
            <a:avLst/>
          </a:prstGeom>
          <a:solidFill>
            <a:srgbClr val="C5A55A"/>
          </a:solidFill>
          <a:ln w="0">
            <a:noFill/>
          </a:ln>
        </p:spPr>
        <p:style>
          <a:lnRef idx="0"/>
          <a:fillRef idx="0"/>
          <a:effectRef idx="0"/>
          <a:fontRef idx="minor"/>
        </p:style>
        <p:txBody>
          <a:bodyPr lIns="90000" tIns="3960" rIns="90000" bIns="396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29" name="Text 4"/>
          <p:cNvSpPr/>
          <p:nvPr/>
        </p:nvSpPr>
        <p:spPr>
          <a:xfrm>
            <a:off x="1015920" y="3936960"/>
            <a:ext cx="6350040" cy="76212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0EDE8"/>
                </a:solidFill>
                <a:effectLst/>
                <a:uFillTx/>
                <a:latin typeface="Liter"/>
                <a:ea typeface="Liter"/>
              </a:rPr>
              <a:t>跨境数据流动治理体系</a:t>
            </a:r>
            <a:endParaRPr lang="en-US" sz="3600" b="0" u="none" strike="noStrike">
              <a:solidFill>
                <a:srgbClr val="000000"/>
              </a:solidFill>
              <a:effectLst/>
              <a:uFillTx/>
              <a:latin typeface="Calibri"/>
            </a:endParaRPr>
          </a:p>
        </p:txBody>
      </p:sp>
      <p:sp>
        <p:nvSpPr>
          <p:cNvPr id="130" name="Text 5"/>
          <p:cNvSpPr/>
          <p:nvPr/>
        </p:nvSpPr>
        <p:spPr>
          <a:xfrm>
            <a:off x="1015920" y="4826160"/>
            <a:ext cx="6350040" cy="761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a:t>
            </a:r>
            <a:endParaRPr lang="en-US" sz="16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从碎片化管制到洲际协议博弈</a:t>
            </a:r>
            <a:endParaRPr lang="en-US" sz="1600" b="0" u="none" strike="noStrike">
              <a:solidFill>
                <a:srgbClr val="000000"/>
              </a:solidFill>
              <a:effectLst/>
              <a:uFillTx/>
              <a:latin typeface="Calibri"/>
            </a:endParaRPr>
          </a:p>
        </p:txBody>
      </p:sp>
      <p:sp>
        <p:nvSpPr>
          <p:cNvPr id="131" name="Shape 6"/>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32" name="Shape 7"/>
          <p:cNvSpPr/>
          <p:nvPr/>
        </p:nvSpPr>
        <p:spPr>
          <a:xfrm>
            <a:off x="325116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133"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34" name="Shape 1"/>
          <p:cNvSpPr/>
          <p:nvPr/>
        </p:nvSpPr>
        <p:spPr>
          <a:xfrm>
            <a:off x="325116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35"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36"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跨境数据流动指数：全球国分级评估</a:t>
            </a:r>
            <a:endParaRPr lang="en-US" sz="2400" b="0" u="none" strike="noStrike">
              <a:solidFill>
                <a:srgbClr val="000000"/>
              </a:solidFill>
              <a:effectLst/>
              <a:uFillTx/>
              <a:latin typeface="Calibri"/>
            </a:endParaRPr>
          </a:p>
        </p:txBody>
      </p:sp>
      <p:graphicFrame>
        <p:nvGraphicFramePr>
          <p:cNvPr id="137" name=""/>
          <p:cNvGraphicFramePr/>
          <p:nvPr/>
        </p:nvGraphicFramePr>
        <p:xfrm>
          <a:off x="762120" y="1397160"/>
          <a:ext cx="14731920" cy="5079960"/>
        </p:xfrm>
        <a:graphic>
          <a:graphicData uri="http://schemas.openxmlformats.org/drawingml/2006/table">
            <a:tbl>
              <a:tblPr/>
              <a:tblGrid>
                <a:gridCol w="1473120"/>
                <a:gridCol w="1473120"/>
                <a:gridCol w="1473120"/>
                <a:gridCol w="3241800"/>
                <a:gridCol w="3240000"/>
                <a:gridCol w="2062080"/>
                <a:gridCol w="1768680"/>
              </a:tblGrid>
              <a:tr h="5601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等级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评分</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国家数</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代表国家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核心特征</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本地化要求</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趋势</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90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极度自由</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C5A55A">
                        <a:alpha val="8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新加坡、爱沙尼亚、荷兰、爱尔兰</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零本地化要求，充分性认定国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无</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稳定</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905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适度开放</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日本、韩国、英国、澳大利亚</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特定行业本地化金融电信</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部分行业</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轻微收紧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90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中度限制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巴西、墨西哥、南非、阿联酋</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关键行业本地化要求</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关键行业</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收紧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905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高度限制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8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印度、印尼、越南、沙特、土耳其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多行业本地化政府审批</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广泛</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加速收紧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90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极度限制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9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中国、俄罗斯</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全面系统化限制国家安全理由</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全面</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极化</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sp>
        <p:nvSpPr>
          <p:cNvPr id="138" name="Text 4"/>
          <p:cNvSpPr/>
          <p:nvPr/>
        </p:nvSpPr>
        <p:spPr>
          <a:xfrm>
            <a:off x="762120" y="6730920"/>
            <a:ext cx="14731920" cy="127008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全球趋势</a:t>
            </a:r>
            <a:r>
              <a:rPr lang="en-US" sz="1400" b="0" u="none" strike="noStrike">
                <a:solidFill>
                  <a:srgbClr val="1A1A2E"/>
                </a:solidFill>
                <a:effectLst/>
                <a:uFillTx/>
                <a:latin typeface="Liter"/>
                <a:ea typeface="Liter"/>
              </a:rPr>
              <a:t>：年间国评分下降，治理差距扩大。欧盟因生效从降级；中国、俄罗斯持续强化全面控制；印度、沙特等新兴经济体加速数据本地化立法。</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评估方法论</a:t>
            </a:r>
            <a:r>
              <a:rPr lang="en-US" sz="1400" b="0" u="none" strike="noStrike">
                <a:solidFill>
                  <a:srgbClr val="1A1A2E"/>
                </a:solidFill>
                <a:effectLst/>
                <a:uFillTx/>
                <a:latin typeface="Liter"/>
                <a:ea typeface="Liter"/>
              </a:rPr>
              <a:t>：融合全球创新评分卡（维度）与跨境数据政策指数，按数据本地化强度、跨境传输机制、外资准入、执法力度四维度加权计算。</a:t>
            </a:r>
            <a:endParaRPr lang="en-US" sz="1400" b="0" u="none" strike="noStrike">
              <a:solidFill>
                <a:srgbClr val="000000"/>
              </a:solidFill>
              <a:effectLst/>
              <a:uFillTx/>
              <a:latin typeface="Calibri"/>
            </a:endParaRPr>
          </a:p>
        </p:txBody>
      </p:sp>
      <p:sp>
        <p:nvSpPr>
          <p:cNvPr id="139" name="Text 5"/>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140" name="Text 6"/>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141"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42" name="Shape 1"/>
          <p:cNvSpPr/>
          <p:nvPr/>
        </p:nvSpPr>
        <p:spPr>
          <a:xfrm>
            <a:off x="325116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43"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44"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欧盟《数据法案》：非个人数据跨境传输新规解析</a:t>
            </a:r>
            <a:endParaRPr lang="en-US" sz="2400" b="0" u="none" strike="noStrike">
              <a:solidFill>
                <a:srgbClr val="000000"/>
              </a:solidFill>
              <a:effectLst/>
              <a:uFillTx/>
              <a:latin typeface="Calibri"/>
            </a:endParaRPr>
          </a:p>
        </p:txBody>
      </p:sp>
      <p:sp>
        <p:nvSpPr>
          <p:cNvPr id="145" name="Text 4"/>
          <p:cNvSpPr/>
          <p:nvPr/>
        </p:nvSpPr>
        <p:spPr>
          <a:xfrm>
            <a:off x="762120" y="1397160"/>
            <a:ext cx="380988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生效时间线</a:t>
            </a:r>
            <a:endParaRPr lang="en-US" sz="1600" b="0" u="none" strike="noStrike">
              <a:solidFill>
                <a:srgbClr val="000000"/>
              </a:solidFill>
              <a:effectLst/>
              <a:uFillTx/>
              <a:latin typeface="Calibri"/>
            </a:endParaRPr>
          </a:p>
        </p:txBody>
      </p:sp>
      <p:sp>
        <p:nvSpPr>
          <p:cNvPr id="146" name="Shape 5"/>
          <p:cNvSpPr/>
          <p:nvPr/>
        </p:nvSpPr>
        <p:spPr>
          <a:xfrm>
            <a:off x="762120" y="1841400"/>
            <a:ext cx="3301920" cy="889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47" name="Text 6"/>
          <p:cNvSpPr/>
          <p:nvPr/>
        </p:nvSpPr>
        <p:spPr>
          <a:xfrm>
            <a:off x="888840" y="1879560"/>
            <a:ext cx="3048120" cy="8128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a:t>
            </a:r>
            <a:endParaRPr lang="en-US" sz="12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正式生效</a:t>
            </a:r>
            <a:endParaRPr lang="en-US" sz="1200" b="0" u="none" strike="noStrike">
              <a:solidFill>
                <a:srgbClr val="000000"/>
              </a:solidFill>
              <a:effectLst/>
              <a:uFillTx/>
              <a:latin typeface="Calibri"/>
            </a:endParaRPr>
          </a:p>
        </p:txBody>
      </p:sp>
      <p:cxnSp>
        <p:nvCxnSpPr>
          <p:cNvPr id="148" name="Shape 7"/>
          <p:cNvCxnSpPr/>
          <p:nvPr/>
        </p:nvCxnSpPr>
        <p:spPr>
          <a:xfrm>
            <a:off x="4064040" y="2158560"/>
            <a:ext cx="381600" cy="1080"/>
          </a:xfrm>
          <a:prstGeom prst="straightConnector1">
            <a:avLst/>
          </a:prstGeom>
          <a:ln w="25560">
            <a:solidFill>
              <a:srgbClr val="C5A55A"/>
            </a:solidFill>
            <a:miter/>
            <a:tailEnd len="med" type="arrow" w="med"/>
          </a:ln>
        </p:spPr>
      </p:cxnSp>
      <p:sp>
        <p:nvSpPr>
          <p:cNvPr id="149" name="Shape 8"/>
          <p:cNvSpPr/>
          <p:nvPr/>
        </p:nvSpPr>
        <p:spPr>
          <a:xfrm>
            <a:off x="4444920" y="1841400"/>
            <a:ext cx="3301920" cy="88920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50" name="Text 9"/>
          <p:cNvSpPr/>
          <p:nvPr/>
        </p:nvSpPr>
        <p:spPr>
          <a:xfrm>
            <a:off x="4572000" y="1879560"/>
            <a:ext cx="3048120" cy="8128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0F1F3D"/>
                </a:solidFill>
                <a:effectLst/>
                <a:uFillTx/>
                <a:latin typeface="Liter"/>
                <a:ea typeface="Liter"/>
              </a:rPr>
              <a:t>★</a:t>
            </a:r>
            <a:endParaRPr lang="en-US" sz="12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F1F3D"/>
                </a:solidFill>
                <a:effectLst/>
                <a:uFillTx/>
                <a:latin typeface="Liter"/>
                <a:ea typeface="Liter"/>
              </a:rPr>
              <a:t>核心条款适用</a:t>
            </a:r>
            <a:endParaRPr lang="en-US" sz="1200" b="0" u="none" strike="noStrike">
              <a:solidFill>
                <a:srgbClr val="000000"/>
              </a:solidFill>
              <a:effectLst/>
              <a:uFillTx/>
              <a:latin typeface="Calibri"/>
            </a:endParaRPr>
          </a:p>
        </p:txBody>
      </p:sp>
      <p:cxnSp>
        <p:nvCxnSpPr>
          <p:cNvPr id="151" name="Shape 10"/>
          <p:cNvCxnSpPr/>
          <p:nvPr/>
        </p:nvCxnSpPr>
        <p:spPr>
          <a:xfrm>
            <a:off x="7746480" y="2158560"/>
            <a:ext cx="381960" cy="1080"/>
          </a:xfrm>
          <a:prstGeom prst="straightConnector1">
            <a:avLst/>
          </a:prstGeom>
          <a:ln w="25560">
            <a:solidFill>
              <a:srgbClr val="C5A55A"/>
            </a:solidFill>
            <a:miter/>
            <a:tailEnd len="med" type="arrow" w="med"/>
          </a:ln>
        </p:spPr>
      </p:cxnSp>
      <p:sp>
        <p:nvSpPr>
          <p:cNvPr id="152" name="Shape 11"/>
          <p:cNvSpPr/>
          <p:nvPr/>
        </p:nvSpPr>
        <p:spPr>
          <a:xfrm>
            <a:off x="8128080" y="1841400"/>
            <a:ext cx="3301920" cy="889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53" name="Text 12"/>
          <p:cNvSpPr/>
          <p:nvPr/>
        </p:nvSpPr>
        <p:spPr>
          <a:xfrm>
            <a:off x="8255160" y="1879560"/>
            <a:ext cx="3047760" cy="8128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a:t>
            </a:r>
            <a:endParaRPr lang="en-US" sz="12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云服务互操作性</a:t>
            </a:r>
            <a:endParaRPr lang="en-US" sz="1200" b="0" u="none" strike="noStrike">
              <a:solidFill>
                <a:srgbClr val="000000"/>
              </a:solidFill>
              <a:effectLst/>
              <a:uFillTx/>
              <a:latin typeface="Calibri"/>
            </a:endParaRPr>
          </a:p>
        </p:txBody>
      </p:sp>
      <p:cxnSp>
        <p:nvCxnSpPr>
          <p:cNvPr id="154" name="Shape 13"/>
          <p:cNvCxnSpPr/>
          <p:nvPr/>
        </p:nvCxnSpPr>
        <p:spPr>
          <a:xfrm>
            <a:off x="11430000" y="2158560"/>
            <a:ext cx="381600" cy="1080"/>
          </a:xfrm>
          <a:prstGeom prst="straightConnector1">
            <a:avLst/>
          </a:prstGeom>
          <a:ln w="25560">
            <a:solidFill>
              <a:srgbClr val="C5A55A"/>
            </a:solidFill>
            <a:miter/>
            <a:tailEnd len="med" type="arrow" w="med"/>
          </a:ln>
        </p:spPr>
      </p:cxnSp>
      <p:sp>
        <p:nvSpPr>
          <p:cNvPr id="155" name="Shape 14"/>
          <p:cNvSpPr/>
          <p:nvPr/>
        </p:nvSpPr>
        <p:spPr>
          <a:xfrm>
            <a:off x="11810880" y="1841400"/>
            <a:ext cx="3683160" cy="889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56" name="Text 15"/>
          <p:cNvSpPr/>
          <p:nvPr/>
        </p:nvSpPr>
        <p:spPr>
          <a:xfrm>
            <a:off x="11937960" y="1879560"/>
            <a:ext cx="3429000" cy="8128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a:t>
            </a:r>
            <a:endParaRPr lang="en-US" sz="12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数据可移植性标准全面实施</a:t>
            </a:r>
            <a:endParaRPr lang="en-US" sz="1200" b="0" u="none" strike="noStrike">
              <a:solidFill>
                <a:srgbClr val="000000"/>
              </a:solidFill>
              <a:effectLst/>
              <a:uFillTx/>
              <a:latin typeface="Calibri"/>
            </a:endParaRPr>
          </a:p>
        </p:txBody>
      </p:sp>
      <p:sp>
        <p:nvSpPr>
          <p:cNvPr id="157" name="Text 16"/>
          <p:cNvSpPr/>
          <p:nvPr/>
        </p:nvSpPr>
        <p:spPr>
          <a:xfrm>
            <a:off x="762120" y="3048120"/>
            <a:ext cx="7111800" cy="355572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u="none" strike="noStrike">
                <a:solidFill>
                  <a:srgbClr val="C5A55A"/>
                </a:solidFill>
                <a:effectLst/>
                <a:uFillTx/>
                <a:latin typeface="Liter"/>
                <a:ea typeface="Liter"/>
              </a:rPr>
              <a:t>非个人数据跨境传输</a:t>
            </a:r>
            <a:endParaRPr lang="en-US" sz="15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0" u="none" strike="noStrike">
                <a:solidFill>
                  <a:srgbClr val="1A1A2E"/>
                </a:solidFill>
                <a:effectLst/>
                <a:uFillTx/>
                <a:latin typeface="Liter"/>
                <a:ea typeface="Liter"/>
              </a:rPr>
              <a:t>首次将个人数据跨境保护原则延伸至非个人数据（机器生成工业数据）。云服务商必须确保第三国政府不得以与欧盟法律冲突的方式访问数据。</a:t>
            </a:r>
            <a:endParaRPr lang="en-US" sz="15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u="none" strike="noStrike">
                <a:solidFill>
                  <a:srgbClr val="C5A55A"/>
                </a:solidFill>
                <a:effectLst/>
                <a:uFillTx/>
                <a:latin typeface="Liter"/>
                <a:ea typeface="Liter"/>
              </a:rPr>
              <a:t>切换权（）</a:t>
            </a:r>
            <a:endParaRPr lang="en-US" sz="15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0" u="none" strike="noStrike">
                <a:solidFill>
                  <a:srgbClr val="1A1A2E"/>
                </a:solidFill>
                <a:effectLst/>
                <a:uFillTx/>
                <a:latin typeface="Liter"/>
                <a:ea typeface="Liter"/>
              </a:rPr>
              <a:t>客户可在最大通知期后终止合同，迁移数据至其他服务商或本地基础设施。后服务免费。</a:t>
            </a:r>
            <a:endParaRPr lang="en-US" sz="15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u="none" strike="noStrike">
                <a:solidFill>
                  <a:srgbClr val="C5A55A"/>
                </a:solidFill>
                <a:effectLst/>
                <a:uFillTx/>
                <a:latin typeface="Liter"/>
                <a:ea typeface="Liter"/>
              </a:rPr>
              <a:t>公共部门数据获取</a:t>
            </a:r>
            <a:endParaRPr lang="en-US" sz="15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0" u="none" strike="noStrike">
                <a:solidFill>
                  <a:srgbClr val="1A1A2E"/>
                </a:solidFill>
                <a:effectLst/>
                <a:uFillTx/>
                <a:latin typeface="Liter"/>
                <a:ea typeface="Liter"/>
              </a:rPr>
              <a:t>例外需要情形下，数据持有者须免费向公共机构提供数据。</a:t>
            </a:r>
            <a:endParaRPr lang="en-US" sz="1500" b="0" u="none" strike="noStrike">
              <a:solidFill>
                <a:srgbClr val="000000"/>
              </a:solidFill>
              <a:effectLst/>
              <a:uFillTx/>
              <a:latin typeface="Calibri"/>
            </a:endParaRPr>
          </a:p>
        </p:txBody>
      </p:sp>
      <p:sp>
        <p:nvSpPr>
          <p:cNvPr id="158" name="Text 17"/>
          <p:cNvSpPr/>
          <p:nvPr/>
        </p:nvSpPr>
        <p:spPr>
          <a:xfrm>
            <a:off x="8381880" y="3048120"/>
            <a:ext cx="711216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全球影响评估</a:t>
            </a:r>
            <a:endParaRPr lang="en-US" sz="1600" b="0" u="none" strike="noStrike">
              <a:solidFill>
                <a:srgbClr val="000000"/>
              </a:solidFill>
              <a:effectLst/>
              <a:uFillTx/>
              <a:latin typeface="Calibri"/>
            </a:endParaRPr>
          </a:p>
        </p:txBody>
      </p:sp>
      <p:sp>
        <p:nvSpPr>
          <p:cNvPr id="159" name="Shape 18"/>
          <p:cNvSpPr/>
          <p:nvPr/>
        </p:nvSpPr>
        <p:spPr>
          <a:xfrm>
            <a:off x="8381880" y="3492360"/>
            <a:ext cx="7112160" cy="330228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0" name="Text 19"/>
          <p:cNvSpPr/>
          <p:nvPr/>
        </p:nvSpPr>
        <p:spPr>
          <a:xfrm>
            <a:off x="8636040" y="3619440"/>
            <a:ext cx="6603840" cy="304812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约束范围</a:t>
            </a:r>
            <a:r>
              <a:rPr lang="en-US" sz="1400" b="0" u="none" strike="noStrike">
                <a:solidFill>
                  <a:srgbClr val="1A1A2E"/>
                </a:solidFill>
                <a:effectLst/>
                <a:uFillTx/>
                <a:latin typeface="Liter"/>
                <a:ea typeface="Liter"/>
              </a:rPr>
              <a:t>：直接约束在欧盟运营的所有云服务商（、、、阿里云等）</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合规成本</a:t>
            </a:r>
            <a:r>
              <a:rPr lang="en-US" sz="1400" b="0" u="none" strike="noStrike">
                <a:solidFill>
                  <a:srgbClr val="1A1A2E"/>
                </a:solidFill>
                <a:effectLst/>
                <a:uFillTx/>
                <a:latin typeface="Liter"/>
                <a:ea typeface="Liter"/>
              </a:rPr>
              <a:t>：预估增加</a:t>
            </a:r>
            <a:r>
              <a:rPr lang="en-US" sz="2200" b="1" u="none" strike="noStrike">
                <a:solidFill>
                  <a:srgbClr val="C5A55A"/>
                </a:solidFill>
                <a:effectLst/>
                <a:uFillTx/>
                <a:latin typeface="Liter"/>
                <a:ea typeface="Liter"/>
              </a:rPr>
              <a:t></a:t>
            </a:r>
            <a:endParaRPr lang="en-US" sz="22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架构重构</a:t>
            </a:r>
            <a:r>
              <a:rPr lang="en-US" sz="1400" b="0" u="none" strike="noStrike">
                <a:solidFill>
                  <a:srgbClr val="1A1A2E"/>
                </a:solidFill>
                <a:effectLst/>
                <a:uFillTx/>
                <a:latin typeface="Liter"/>
                <a:ea typeface="Liter"/>
              </a:rPr>
              <a:t>：迫使云服务商重构全球数据架构，实施欧盟数据不离开欧盟的物理隔离</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连锁反应</a:t>
            </a:r>
            <a:r>
              <a:rPr lang="en-US" sz="1400" b="0" u="none" strike="noStrike">
                <a:solidFill>
                  <a:srgbClr val="1A1A2E"/>
                </a:solidFill>
                <a:effectLst/>
                <a:uFillTx/>
                <a:latin typeface="Liter"/>
                <a:ea typeface="Liter"/>
              </a:rPr>
              <a:t>：印度、巴西、印尼等国可能效仿，引发全球数据本地化浪潮</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执法预期</a:t>
            </a:r>
            <a:r>
              <a:rPr lang="en-US" sz="1400" b="0" u="none" strike="noStrike">
                <a:solidFill>
                  <a:srgbClr val="1A1A2E"/>
                </a:solidFill>
                <a:effectLst/>
                <a:uFillTx/>
                <a:latin typeface="Liter"/>
                <a:ea typeface="Liter"/>
              </a:rPr>
              <a:t>：首批案件预计年出现，罚金参照标准</a:t>
            </a:r>
            <a:endParaRPr lang="en-US" sz="1400" b="0" u="none" strike="noStrike">
              <a:solidFill>
                <a:srgbClr val="000000"/>
              </a:solidFill>
              <a:effectLst/>
              <a:uFillTx/>
              <a:latin typeface="Calibri"/>
            </a:endParaRPr>
          </a:p>
        </p:txBody>
      </p:sp>
      <p:sp>
        <p:nvSpPr>
          <p:cNvPr id="161" name="Text 20"/>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162" name="Text 21"/>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163"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4" name="Shape 1"/>
          <p:cNvSpPr/>
          <p:nvPr/>
        </p:nvSpPr>
        <p:spPr>
          <a:xfrm>
            <a:off x="325116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5"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6"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跨洲际数据隐私协议网络：从碎片化到阵营化</a:t>
            </a:r>
            <a:endParaRPr lang="en-US" sz="2400" b="0" u="none" strike="noStrike">
              <a:solidFill>
                <a:srgbClr val="000000"/>
              </a:solidFill>
              <a:effectLst/>
              <a:uFillTx/>
              <a:latin typeface="Calibri"/>
            </a:endParaRPr>
          </a:p>
        </p:txBody>
      </p:sp>
      <p:sp>
        <p:nvSpPr>
          <p:cNvPr id="167" name="Shape 4"/>
          <p:cNvSpPr/>
          <p:nvPr/>
        </p:nvSpPr>
        <p:spPr>
          <a:xfrm>
            <a:off x="762120" y="1397160"/>
            <a:ext cx="4698720" cy="30477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8" name="Shape 5"/>
          <p:cNvSpPr/>
          <p:nvPr/>
        </p:nvSpPr>
        <p:spPr>
          <a:xfrm>
            <a:off x="762120" y="1397160"/>
            <a:ext cx="469872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9" name="Text 6"/>
          <p:cNvSpPr/>
          <p:nvPr/>
        </p:nvSpPr>
        <p:spPr>
          <a:xfrm>
            <a:off x="952560" y="1397160"/>
            <a:ext cx="431784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欧盟中心辐射</a:t>
            </a:r>
            <a:endParaRPr lang="en-US" sz="1400" b="0" u="none" strike="noStrike">
              <a:solidFill>
                <a:srgbClr val="000000"/>
              </a:solidFill>
              <a:effectLst/>
              <a:uFillTx/>
              <a:latin typeface="Calibri"/>
            </a:endParaRPr>
          </a:p>
        </p:txBody>
      </p:sp>
      <p:sp>
        <p:nvSpPr>
          <p:cNvPr id="170" name="Text 7"/>
          <p:cNvSpPr/>
          <p:nvPr/>
        </p:nvSpPr>
        <p:spPr>
          <a:xfrm>
            <a:off x="952560" y="1981080"/>
            <a:ext cx="4317840" cy="23367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•（生效）</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•特朗普人事变动威胁稳定性</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a:t>
            </a:r>
            <a:r>
              <a:rPr lang="en-US" sz="1300" b="1" u="none" strike="noStrike">
                <a:solidFill>
                  <a:srgbClr val="1A1A2E"/>
                </a:solidFill>
                <a:effectLst/>
                <a:uFillTx/>
                <a:latin typeface="Liter"/>
                <a:ea typeface="Liter"/>
              </a:rPr>
              <a:t>个充分性认定国</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•标准合同条款（新版）</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•覆盖全球数据流动</a:t>
            </a:r>
            <a:endParaRPr lang="en-US" sz="1300" b="0" u="none" strike="noStrike">
              <a:solidFill>
                <a:srgbClr val="000000"/>
              </a:solidFill>
              <a:effectLst/>
              <a:uFillTx/>
              <a:latin typeface="Calibri"/>
            </a:endParaRPr>
          </a:p>
        </p:txBody>
      </p:sp>
      <p:sp>
        <p:nvSpPr>
          <p:cNvPr id="171" name="Shape 8"/>
          <p:cNvSpPr/>
          <p:nvPr/>
        </p:nvSpPr>
        <p:spPr>
          <a:xfrm>
            <a:off x="5715000" y="1397160"/>
            <a:ext cx="4699080" cy="30477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72" name="Shape 9"/>
          <p:cNvSpPr/>
          <p:nvPr/>
        </p:nvSpPr>
        <p:spPr>
          <a:xfrm>
            <a:off x="5715000" y="1397160"/>
            <a:ext cx="469908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73" name="Text 10"/>
          <p:cNvSpPr/>
          <p:nvPr/>
        </p:nvSpPr>
        <p:spPr>
          <a:xfrm>
            <a:off x="5905440" y="1397160"/>
            <a:ext cx="431820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亚太走廊</a:t>
            </a:r>
            <a:endParaRPr lang="en-US" sz="1400" b="0" u="none" strike="noStrike">
              <a:solidFill>
                <a:srgbClr val="000000"/>
              </a:solidFill>
              <a:effectLst/>
              <a:uFillTx/>
              <a:latin typeface="Calibri"/>
            </a:endParaRPr>
          </a:p>
        </p:txBody>
      </p:sp>
      <p:sp>
        <p:nvSpPr>
          <p:cNvPr id="174" name="Text 11"/>
          <p:cNvSpPr/>
          <p:nvPr/>
        </p:nvSpPr>
        <p:spPr>
          <a:xfrm>
            <a:off x="5905440" y="1981080"/>
            <a:ext cx="4318200" cy="23367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•体系（美日韩新等）</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•东盟数据管理框架（推进）</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•中国东盟数字丝绸之路</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•日本认定</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•电子商务章节</a:t>
            </a:r>
            <a:endParaRPr lang="en-US" sz="1300" b="0" u="none" strike="noStrike">
              <a:solidFill>
                <a:srgbClr val="000000"/>
              </a:solidFill>
              <a:effectLst/>
              <a:uFillTx/>
              <a:latin typeface="Calibri"/>
            </a:endParaRPr>
          </a:p>
        </p:txBody>
      </p:sp>
      <p:sp>
        <p:nvSpPr>
          <p:cNvPr id="175" name="Shape 12"/>
          <p:cNvSpPr/>
          <p:nvPr/>
        </p:nvSpPr>
        <p:spPr>
          <a:xfrm>
            <a:off x="10667880" y="1397160"/>
            <a:ext cx="4826160" cy="30477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76" name="Shape 13"/>
          <p:cNvSpPr/>
          <p:nvPr/>
        </p:nvSpPr>
        <p:spPr>
          <a:xfrm>
            <a:off x="10667880" y="1397160"/>
            <a:ext cx="482616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77" name="Text 14"/>
          <p:cNvSpPr/>
          <p:nvPr/>
        </p:nvSpPr>
        <p:spPr>
          <a:xfrm>
            <a:off x="10858680" y="1397160"/>
            <a:ext cx="444492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美洲轴心断裂带</a:t>
            </a:r>
            <a:endParaRPr lang="en-US" sz="1400" b="0" u="none" strike="noStrike">
              <a:solidFill>
                <a:srgbClr val="000000"/>
              </a:solidFill>
              <a:effectLst/>
              <a:uFillTx/>
              <a:latin typeface="Calibri"/>
            </a:endParaRPr>
          </a:p>
        </p:txBody>
      </p:sp>
      <p:sp>
        <p:nvSpPr>
          <p:cNvPr id="178" name="Text 15"/>
          <p:cNvSpPr/>
          <p:nvPr/>
        </p:nvSpPr>
        <p:spPr>
          <a:xfrm>
            <a:off x="10858680" y="1981080"/>
            <a:ext cx="4444920" cy="23367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•数字贸易章节（审议）</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•巴西认证体系</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•非洲（国批准）</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a:t>
            </a:r>
            <a:r>
              <a:rPr lang="en-US" sz="1300" b="1" u="none" strike="noStrike">
                <a:solidFill>
                  <a:srgbClr val="DC2626"/>
                </a:solidFill>
                <a:effectLst/>
                <a:uFillTx/>
                <a:latin typeface="Liter"/>
                <a:ea typeface="Liter"/>
              </a:rPr>
              <a:t>断裂带</a:t>
            </a:r>
            <a:r>
              <a:rPr lang="en-US" sz="1300" b="0" u="none" strike="noStrike">
                <a:solidFill>
                  <a:srgbClr val="1A1A2E"/>
                </a:solidFill>
                <a:effectLst/>
                <a:uFillTx/>
                <a:latin typeface="Liter"/>
                <a:ea typeface="Liter"/>
              </a:rPr>
              <a:t>：中美无双边协议</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•印度拒绝加入多边框架</a:t>
            </a:r>
            <a:endParaRPr lang="en-US" sz="1300" b="0" u="none" strike="noStrike">
              <a:solidFill>
                <a:srgbClr val="000000"/>
              </a:solidFill>
              <a:effectLst/>
              <a:uFillTx/>
              <a:latin typeface="Calibri"/>
            </a:endParaRPr>
          </a:p>
        </p:txBody>
      </p:sp>
      <p:sp>
        <p:nvSpPr>
          <p:cNvPr id="179" name="Text 16"/>
          <p:cNvSpPr/>
          <p:nvPr/>
        </p:nvSpPr>
        <p:spPr>
          <a:xfrm>
            <a:off x="762120" y="4699080"/>
            <a:ext cx="5079960" cy="3556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新兴机制与趋势判断</a:t>
            </a:r>
            <a:endParaRPr lang="en-US" sz="1600" b="0" u="none" strike="noStrike">
              <a:solidFill>
                <a:srgbClr val="000000"/>
              </a:solidFill>
              <a:effectLst/>
              <a:uFillTx/>
              <a:latin typeface="Calibri"/>
            </a:endParaRPr>
          </a:p>
        </p:txBody>
      </p:sp>
      <p:sp>
        <p:nvSpPr>
          <p:cNvPr id="180" name="Text 17"/>
          <p:cNvSpPr/>
          <p:nvPr/>
        </p:nvSpPr>
        <p:spPr>
          <a:xfrm>
            <a:off x="762120" y="5143680"/>
            <a:ext cx="14731920" cy="27939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新兴多边机制</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•数据自由流动与信任全球声明（年更新）　•联合国全球数字契约（）实施　•安全协调（意大利峰会）</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双边替代方案</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•欧盟拉美数字联盟　•可持续连通倡议　•中国中亚数字丝绸之路　•美国印度关键新兴技术倡议</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趋势判断</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协议网络正从</a:t>
            </a:r>
            <a:r>
              <a:rPr lang="en-US" sz="1400" b="1" u="none" strike="noStrike">
                <a:solidFill>
                  <a:srgbClr val="1A1A2E"/>
                </a:solidFill>
                <a:effectLst/>
                <a:uFillTx/>
                <a:latin typeface="Liter"/>
                <a:ea typeface="Liter"/>
              </a:rPr>
              <a:t>多边主义向阵营化演变</a:t>
            </a:r>
            <a:r>
              <a:rPr lang="en-US" sz="1400" b="0" u="none" strike="noStrike">
                <a:solidFill>
                  <a:srgbClr val="1A1A2E"/>
                </a:solidFill>
                <a:effectLst/>
                <a:uFillTx/>
                <a:latin typeface="Liter"/>
                <a:ea typeface="Liter"/>
              </a:rPr>
              <a:t>。中等强国（巴西、印度、印尼、沙特）话语权上升，但规则制定权仍由美欧中三方掌握。年可能出现数字冷战两大阵营：美欧日澳中俄伊朝。</a:t>
            </a:r>
            <a:endParaRPr lang="en-US" sz="1400" b="0" u="none" strike="noStrike">
              <a:solidFill>
                <a:srgbClr val="000000"/>
              </a:solidFill>
              <a:effectLst/>
              <a:uFillTx/>
              <a:latin typeface="Calibri"/>
            </a:endParaRPr>
          </a:p>
        </p:txBody>
      </p:sp>
      <p:sp>
        <p:nvSpPr>
          <p:cNvPr id="181" name="Text 18"/>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182" name="Text 19"/>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183"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4" name="Shape 1"/>
          <p:cNvSpPr/>
          <p:nvPr/>
        </p:nvSpPr>
        <p:spPr>
          <a:xfrm>
            <a:off x="325116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5"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6"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u="none" strike="noStrike">
                <a:solidFill>
                  <a:srgbClr val="0F1F3D"/>
                </a:solidFill>
                <a:effectLst/>
                <a:uFillTx/>
                <a:latin typeface="Liter"/>
                <a:ea typeface="Liter"/>
              </a:rPr>
              <a:t>全球数据主权博弈矩阵（）：框架下的谈判头寸全景</a:t>
            </a:r>
            <a:endParaRPr lang="en-US" sz="2200" b="0" u="none" strike="noStrike">
              <a:solidFill>
                <a:srgbClr val="000000"/>
              </a:solidFill>
              <a:effectLst/>
              <a:uFillTx/>
              <a:latin typeface="Calibri"/>
            </a:endParaRPr>
          </a:p>
        </p:txBody>
      </p:sp>
      <p:graphicFrame>
        <p:nvGraphicFramePr>
          <p:cNvPr id="187" name=""/>
          <p:cNvGraphicFramePr/>
          <p:nvPr/>
        </p:nvGraphicFramePr>
        <p:xfrm>
          <a:off x="254160" y="1270080"/>
          <a:ext cx="15747840" cy="6858000"/>
        </p:xfrm>
        <a:graphic>
          <a:graphicData uri="http://schemas.openxmlformats.org/drawingml/2006/table">
            <a:tbl>
              <a:tblPr/>
              <a:tblGrid>
                <a:gridCol w="1049040"/>
                <a:gridCol w="1051200"/>
                <a:gridCol w="1049040"/>
                <a:gridCol w="1049400"/>
                <a:gridCol w="1051200"/>
                <a:gridCol w="1049040"/>
                <a:gridCol w="1049400"/>
                <a:gridCol w="1050840"/>
                <a:gridCol w="1049400"/>
                <a:gridCol w="1049400"/>
                <a:gridCol w="1050840"/>
                <a:gridCol w="1049400"/>
                <a:gridCol w="1049400"/>
                <a:gridCol w="1050840"/>
                <a:gridCol w="1049400"/>
              </a:tblGrid>
              <a:tr h="547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国家</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本地化强度</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跨境审批</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外资云限制</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税率</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罚金上限</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兼容</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兼容</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防火墙评分</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流动指数</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头寸</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双边协议</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执法案例</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主权投资</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0EDE8"/>
                          </a:solidFill>
                          <a:effectLst/>
                          <a:uFillTx/>
                          <a:latin typeface="Liter"/>
                          <a:ea typeface="Liter"/>
                        </a:rPr>
                        <a:t>优先</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0F1F3D"/>
                    </a:solidFill>
                  </a:tcPr>
                </a:tc>
              </a:tr>
              <a:tr h="701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中国</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安全评估</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禁入</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无</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对抗</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安全</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r>
              <a:tr h="701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美国</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令</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开放</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无联邦</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开放</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出口管制</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r>
              <a:tr h="700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欧盟</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充分性</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认证</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提案</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保守</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r>
              <a:tr h="701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英国</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开放</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开放</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监管</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r>
              <a:tr h="700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日本</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充分性</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部分限制</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考虑中</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开放</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亿</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主权</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r>
              <a:tr h="701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印度</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政府白名单</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限制</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平衡税</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对抗</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执法</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r>
              <a:tr h="701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巴西</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认证</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开放</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无</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保守</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扩展</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r>
              <a:tr h="700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俄罗斯</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全面禁止</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禁入</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无</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对抗</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隔离</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8F7F4"/>
                    </a:solidFill>
                  </a:tcPr>
                </a:tc>
              </a:tr>
              <a:tr h="701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A1A2E"/>
                          </a:solidFill>
                          <a:effectLst/>
                          <a:uFillTx/>
                          <a:latin typeface="Liter"/>
                          <a:ea typeface="Liter"/>
                        </a:rPr>
                        <a:t>沙特</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E8E4D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审批</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过滤软件</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无</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DC2626"/>
                          </a:solidFill>
                          <a:effectLst/>
                          <a:uFillTx/>
                          <a:latin typeface="Liter"/>
                          <a:ea typeface="Liter"/>
                        </a:rPr>
                        <a:t>保守</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云</a:t>
                      </a:r>
                      <a:endParaRPr lang="en-US" sz="1100" b="0" u="none" strike="noStrike">
                        <a:solidFill>
                          <a:srgbClr val="000000"/>
                        </a:solidFill>
                        <a:effectLst/>
                        <a:uFillTx/>
                        <a:latin typeface="Calibri"/>
                      </a:endParaRPr>
                    </a:p>
                  </a:txBody>
                  <a:tcPr anchor="ctr" marL="90000" marR="90000" marT="0" marB="0">
                    <a:lnL w="5760">
                      <a:solidFill>
                        <a:srgbClr val="C8C4BE"/>
                      </a:solidFill>
                      <a:prstDash val="solid"/>
                    </a:lnL>
                    <a:lnR w="5760">
                      <a:solidFill>
                        <a:srgbClr val="C8C4BE"/>
                      </a:solidFill>
                      <a:prstDash val="solid"/>
                    </a:lnR>
                    <a:lnT w="5760">
                      <a:solidFill>
                        <a:srgbClr val="C8C4BE"/>
                      </a:solidFill>
                      <a:prstDash val="solid"/>
                    </a:lnT>
                    <a:lnB w="5760">
                      <a:solidFill>
                        <a:srgbClr val="C8C4BE"/>
                      </a:solidFill>
                      <a:prstDash val="solid"/>
                    </a:lnB>
                    <a:solidFill>
                      <a:srgbClr val="FFFFFF"/>
                    </a:solidFill>
                  </a:tcPr>
                </a:tc>
              </a:tr>
            </a:tbl>
          </a:graphicData>
        </a:graphic>
      </p:graphicFrame>
      <p:sp>
        <p:nvSpPr>
          <p:cNvPr id="188" name="Text 4"/>
          <p:cNvSpPr/>
          <p:nvPr/>
        </p:nvSpPr>
        <p:spPr>
          <a:xfrm>
            <a:off x="254160" y="8255160"/>
            <a:ext cx="12699720" cy="228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4A5568"/>
                </a:solidFill>
                <a:effectLst/>
                <a:uFillTx/>
                <a:latin typeface="Liter"/>
                <a:ea typeface="Liter"/>
              </a:rPr>
              <a:t>注：评分基于年最新数据。本地化强度级（无要求，全面禁止）；头寸分类：开放保守对抗。</a:t>
            </a:r>
            <a:endParaRPr lang="en-US" sz="1000" b="0" u="none" strike="noStrike">
              <a:solidFill>
                <a:srgbClr val="000000"/>
              </a:solidFill>
              <a:effectLst/>
              <a:uFillTx/>
              <a:latin typeface="Calibri"/>
            </a:endParaRPr>
          </a:p>
        </p:txBody>
      </p:sp>
      <p:sp>
        <p:nvSpPr>
          <p:cNvPr id="189" name="Text 5"/>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90" name="Shape 0"/>
          <p:cNvSpPr/>
          <p:nvPr/>
        </p:nvSpPr>
        <p:spPr>
          <a:xfrm>
            <a:off x="0" y="0"/>
            <a:ext cx="8128080" cy="9144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191" name="Image 0" descr="https://kimi-img.moonshot.cn/pub/slides/okc/gkmdzig5jggc2/mnt/agents/output/digital_sovereignty_2026/images/9_Data_Center_Server_Room_with_Blue.png"/>
          <p:cNvPicPr/>
          <p:nvPr/>
        </p:nvPicPr>
        <p:blipFill>
          <a:blip r:embed="rId1"/>
          <a:srcRect l="25058" t="0" r="25058" b="0"/>
          <a:stretch/>
        </p:blipFill>
        <p:spPr>
          <a:xfrm>
            <a:off x="8128080" y="0"/>
            <a:ext cx="8128080" cy="9144000"/>
          </a:xfrm>
          <a:prstGeom prst="rect">
            <a:avLst/>
          </a:prstGeom>
          <a:noFill/>
          <a:ln w="0">
            <a:noFill/>
          </a:ln>
        </p:spPr>
      </p:pic>
      <p:grpSp>
        <p:nvGrpSpPr>
          <p:cNvPr id="192" name="Shape 1"/>
          <p:cNvGrpSpPr/>
          <p:nvPr/>
        </p:nvGrpSpPr>
        <p:grpSpPr>
          <a:xfrm>
            <a:off x="8115480" y="0"/>
            <a:ext cx="8153280" cy="9144000"/>
            <a:chOff x="8115480" y="0"/>
            <a:chExt cx="8153280" cy="9144000"/>
          </a:xfrm>
        </p:grpSpPr>
        <p:pic>
          <p:nvPicPr>
            <p:cNvPr id="193" name="Shape 1"/>
            <p:cNvPicPr/>
            <p:nvPr/>
          </p:nvPicPr>
          <p:blipFill>
            <a:blip r:embed="rId2"/>
            <a:stretch/>
          </p:blipFill>
          <p:spPr>
            <a:xfrm>
              <a:off x="8115480" y="0"/>
              <a:ext cx="8153280" cy="9144000"/>
            </a:xfrm>
            <a:prstGeom prst="rect">
              <a:avLst/>
            </a:prstGeom>
            <a:noFill/>
            <a:ln w="0">
              <a:noFill/>
            </a:ln>
          </p:spPr>
        </p:pic>
        <p:sp>
          <p:nvSpPr>
            <p:cNvPr id="194" name=""/>
            <p:cNvSpPr/>
            <p:nvPr/>
          </p:nvSpPr>
          <p:spPr>
            <a:xfrm>
              <a:off x="8128080" y="0"/>
              <a:ext cx="8128080" cy="9144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pSp>
      <p:sp>
        <p:nvSpPr>
          <p:cNvPr id="195" name="Text 2"/>
          <p:cNvSpPr/>
          <p:nvPr/>
        </p:nvSpPr>
        <p:spPr>
          <a:xfrm>
            <a:off x="1015920" y="2540160"/>
            <a:ext cx="2540160" cy="1015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7200" b="0" u="none" strike="noStrike">
                <a:solidFill>
                  <a:srgbClr val="C5A55A"/>
                </a:solidFill>
                <a:effectLst/>
                <a:uFillTx/>
                <a:latin typeface="Liter"/>
                <a:ea typeface="Liter"/>
              </a:rPr>
              <a:t></a:t>
            </a:r>
            <a:endParaRPr lang="en-US" sz="7200" b="0" u="none" strike="noStrike">
              <a:solidFill>
                <a:srgbClr val="000000"/>
              </a:solidFill>
              <a:effectLst/>
              <a:uFillTx/>
              <a:latin typeface="Calibri"/>
            </a:endParaRPr>
          </a:p>
        </p:txBody>
      </p:sp>
      <p:sp>
        <p:nvSpPr>
          <p:cNvPr id="196" name="Shape 3"/>
          <p:cNvSpPr/>
          <p:nvPr/>
        </p:nvSpPr>
        <p:spPr>
          <a:xfrm>
            <a:off x="1015920" y="3683160"/>
            <a:ext cx="762120" cy="50760"/>
          </a:xfrm>
          <a:prstGeom prst="rect">
            <a:avLst/>
          </a:prstGeom>
          <a:solidFill>
            <a:srgbClr val="C5A55A"/>
          </a:solidFill>
          <a:ln w="0">
            <a:noFill/>
          </a:ln>
        </p:spPr>
        <p:style>
          <a:lnRef idx="0"/>
          <a:fillRef idx="0"/>
          <a:effectRef idx="0"/>
          <a:fontRef idx="minor"/>
        </p:style>
        <p:txBody>
          <a:bodyPr lIns="90000" tIns="3960" rIns="90000" bIns="396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97" name="Text 4"/>
          <p:cNvSpPr/>
          <p:nvPr/>
        </p:nvSpPr>
        <p:spPr>
          <a:xfrm>
            <a:off x="1015920" y="3936960"/>
            <a:ext cx="6350040" cy="76212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0EDE8"/>
                </a:solidFill>
                <a:effectLst/>
                <a:uFillTx/>
                <a:latin typeface="Liter"/>
                <a:ea typeface="Liter"/>
              </a:rPr>
              <a:t>数字服务税（）全球对标</a:t>
            </a:r>
            <a:endParaRPr lang="en-US" sz="3600" b="0" u="none" strike="noStrike">
              <a:solidFill>
                <a:srgbClr val="000000"/>
              </a:solidFill>
              <a:effectLst/>
              <a:uFillTx/>
              <a:latin typeface="Calibri"/>
            </a:endParaRPr>
          </a:p>
        </p:txBody>
      </p:sp>
      <p:sp>
        <p:nvSpPr>
          <p:cNvPr id="198" name="Text 5"/>
          <p:cNvSpPr/>
          <p:nvPr/>
        </p:nvSpPr>
        <p:spPr>
          <a:xfrm>
            <a:off x="1015920" y="4826160"/>
            <a:ext cx="6350040" cy="761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a:t>
            </a:r>
            <a:endParaRPr lang="en-US" sz="16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税率博弈与贸易报复螺旋</a:t>
            </a:r>
            <a:endParaRPr lang="en-US" sz="1600" b="0" u="none" strike="noStrike">
              <a:solidFill>
                <a:srgbClr val="000000"/>
              </a:solidFill>
              <a:effectLst/>
              <a:uFillTx/>
              <a:latin typeface="Calibri"/>
            </a:endParaRPr>
          </a:p>
        </p:txBody>
      </p:sp>
      <p:sp>
        <p:nvSpPr>
          <p:cNvPr id="199" name="Shape 6"/>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00" name="Shape 7"/>
          <p:cNvSpPr/>
          <p:nvPr/>
        </p:nvSpPr>
        <p:spPr>
          <a:xfrm>
            <a:off x="650232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Tree>
  </p:cSld>
  <p:transition>
    <p:fad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201"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02" name="Shape 1"/>
          <p:cNvSpPr/>
          <p:nvPr/>
        </p:nvSpPr>
        <p:spPr>
          <a:xfrm>
            <a:off x="650232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03"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04"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全球税率对标：从到的税率战争</a:t>
            </a:r>
            <a:endParaRPr lang="en-US" sz="2400" b="0" u="none" strike="noStrike">
              <a:solidFill>
                <a:srgbClr val="000000"/>
              </a:solidFill>
              <a:effectLst/>
              <a:uFillTx/>
              <a:latin typeface="Calibri"/>
            </a:endParaRPr>
          </a:p>
        </p:txBody>
      </p:sp>
      <p:graphicFrame>
        <p:nvGraphicFramePr>
          <p:cNvPr id="205" name=""/>
          <p:cNvGraphicFramePr/>
          <p:nvPr/>
        </p:nvGraphicFramePr>
        <p:xfrm>
          <a:off x="762120" y="1397160"/>
          <a:ext cx="14731920" cy="4825800"/>
        </p:xfrm>
        <a:graphic>
          <a:graphicData uri="http://schemas.openxmlformats.org/drawingml/2006/table">
            <a:tbl>
              <a:tblPr/>
              <a:tblGrid>
                <a:gridCol w="1768320"/>
                <a:gridCol w="1177920"/>
                <a:gridCol w="2062080"/>
                <a:gridCol w="2062440"/>
                <a:gridCol w="2063520"/>
                <a:gridCol w="2062080"/>
                <a:gridCol w="3535560"/>
              </a:tblGrid>
              <a:tr h="434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国家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税率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生效日期</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全球门槛</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国内门槛</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适用范围</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状态备注</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6271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法国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追溯</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广告数字接口</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已实施；否决上调</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271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英国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追溯</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社交搜索市场</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已实施；支柱一后废除</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628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意大利</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已取消</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广告接口数据</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取消门槛限制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271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土耳其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广告内容社交</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从下调；→</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626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西班牙</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广告用户数据</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已实施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271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德国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待定</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数字广告</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考虑中；最高税率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6271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加拿大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追溯</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广告数据接口</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唯一追溯性；引发争议</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sp>
        <p:nvSpPr>
          <p:cNvPr id="206" name="Text 4"/>
          <p:cNvSpPr/>
          <p:nvPr/>
        </p:nvSpPr>
        <p:spPr>
          <a:xfrm>
            <a:off x="762120" y="6477120"/>
            <a:ext cx="14731920" cy="152388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美国报复态势</a:t>
            </a:r>
            <a:r>
              <a:rPr lang="en-US" sz="1400" b="0" u="none" strike="noStrike">
                <a:solidFill>
                  <a:srgbClr val="1A1A2E"/>
                </a:solidFill>
                <a:effectLst/>
                <a:uFillTx/>
                <a:latin typeface="Liter"/>
                <a:ea typeface="Liter"/>
              </a:rPr>
              <a:t>：年月特朗普下令关税报复审查，退出支柱一谈判。已威胁对征收国家加征</a:t>
            </a:r>
            <a:r>
              <a:rPr lang="en-US" sz="1400" b="1" u="none" strike="noStrike">
                <a:solidFill>
                  <a:srgbClr val="C5A55A"/>
                </a:solidFill>
                <a:effectLst/>
                <a:uFillTx/>
                <a:latin typeface="Liter"/>
                <a:ea typeface="Liter"/>
              </a:rPr>
              <a:t></a:t>
            </a:r>
            <a:r>
              <a:rPr lang="en-US" sz="1400" b="0" u="none" strike="noStrike">
                <a:solidFill>
                  <a:srgbClr val="1A1A2E"/>
                </a:solidFill>
                <a:effectLst/>
                <a:uFillTx/>
                <a:latin typeface="Liter"/>
                <a:ea typeface="Liter"/>
              </a:rPr>
              <a:t>报复性关税。</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僵局</a:t>
            </a:r>
            <a:r>
              <a:rPr lang="en-US" sz="1400" b="0" u="none" strike="noStrike">
                <a:solidFill>
                  <a:srgbClr val="1A1A2E"/>
                </a:solidFill>
                <a:effectLst/>
                <a:uFillTx/>
                <a:latin typeface="Liter"/>
                <a:ea typeface="Liter"/>
              </a:rPr>
              <a:t>：支柱一实施时间表不确定。英法西土加承诺支柱一实施后废除，但时间表未定。</a:t>
            </a:r>
            <a:r>
              <a:rPr lang="en-US" sz="1400" b="1" u="none" strike="noStrike">
                <a:solidFill>
                  <a:srgbClr val="1A1A2E"/>
                </a:solidFill>
                <a:effectLst/>
                <a:uFillTx/>
                <a:latin typeface="Liter"/>
                <a:ea typeface="Liter"/>
              </a:rPr>
              <a:t>概率评估</a:t>
            </a:r>
            <a:r>
              <a:rPr lang="en-US" sz="1400" b="0" u="none" strike="noStrike">
                <a:solidFill>
                  <a:srgbClr val="1A1A2E"/>
                </a:solidFill>
                <a:effectLst/>
                <a:uFillTx/>
                <a:latin typeface="Liter"/>
                <a:ea typeface="Liter"/>
              </a:rPr>
              <a:t>：年达成</a:t>
            </a:r>
            <a:r>
              <a:rPr lang="en-US" sz="1400" b="1" u="none" strike="noStrike">
                <a:solidFill>
                  <a:srgbClr val="C5A55A"/>
                </a:solidFill>
                <a:effectLst/>
                <a:uFillTx/>
                <a:latin typeface="Liter"/>
                <a:ea typeface="Liter"/>
              </a:rPr>
              <a:t></a:t>
            </a:r>
            <a:r>
              <a:rPr lang="en-US" sz="1400" b="0" u="none" strike="noStrike">
                <a:solidFill>
                  <a:srgbClr val="1A1A2E"/>
                </a:solidFill>
                <a:effectLst/>
                <a:uFillTx/>
                <a:latin typeface="Liter"/>
                <a:ea typeface="Liter"/>
              </a:rPr>
              <a:t>｜维持现状</a:t>
            </a:r>
            <a:r>
              <a:rPr lang="en-US" sz="1400" b="1" u="none" strike="noStrike">
                <a:solidFill>
                  <a:srgbClr val="C5A55A"/>
                </a:solidFill>
                <a:effectLst/>
                <a:uFillTx/>
                <a:latin typeface="Liter"/>
                <a:ea typeface="Liter"/>
              </a:rPr>
              <a:t></a:t>
            </a:r>
            <a:r>
              <a:rPr lang="en-US" sz="1400" b="0" u="none" strike="noStrike">
                <a:solidFill>
                  <a:srgbClr val="1A1A2E"/>
                </a:solidFill>
                <a:effectLst/>
                <a:uFillTx/>
                <a:latin typeface="Liter"/>
                <a:ea typeface="Liter"/>
              </a:rPr>
              <a:t>｜全面破裂</a:t>
            </a:r>
            <a:r>
              <a:rPr lang="en-US" sz="1400" b="1" u="none" strike="noStrike">
                <a:solidFill>
                  <a:srgbClr val="DC2626"/>
                </a:solidFill>
                <a:effectLst/>
                <a:uFillTx/>
                <a:latin typeface="Liter"/>
                <a:ea typeface="Liter"/>
              </a:rPr>
              <a:t></a:t>
            </a:r>
            <a:endParaRPr lang="en-US" sz="1400" b="0" u="none" strike="noStrike">
              <a:solidFill>
                <a:srgbClr val="000000"/>
              </a:solidFill>
              <a:effectLst/>
              <a:uFillTx/>
              <a:latin typeface="Calibri"/>
            </a:endParaRPr>
          </a:p>
        </p:txBody>
      </p:sp>
      <p:sp>
        <p:nvSpPr>
          <p:cNvPr id="207" name="Text 5"/>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208" name="Text 6"/>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209"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0" name="Shape 1"/>
          <p:cNvSpPr/>
          <p:nvPr/>
        </p:nvSpPr>
        <p:spPr>
          <a:xfrm>
            <a:off x="650232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1"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2"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合规成本与双重征税风险量化模型</a:t>
            </a:r>
            <a:endParaRPr lang="en-US" sz="2400" b="0" u="none" strike="noStrike">
              <a:solidFill>
                <a:srgbClr val="000000"/>
              </a:solidFill>
              <a:effectLst/>
              <a:uFillTx/>
              <a:latin typeface="Calibri"/>
            </a:endParaRPr>
          </a:p>
        </p:txBody>
      </p:sp>
      <p:sp>
        <p:nvSpPr>
          <p:cNvPr id="213" name="Shape 4"/>
          <p:cNvSpPr/>
          <p:nvPr/>
        </p:nvSpPr>
        <p:spPr>
          <a:xfrm>
            <a:off x="762120" y="1397160"/>
            <a:ext cx="3301920" cy="11430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4" name="Text 5"/>
          <p:cNvSpPr/>
          <p:nvPr/>
        </p:nvSpPr>
        <p:spPr>
          <a:xfrm>
            <a:off x="952560" y="14605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5A55A"/>
                </a:solidFill>
                <a:effectLst/>
                <a:uFillTx/>
                <a:latin typeface="Liter"/>
                <a:ea typeface="Liter"/>
              </a:rPr>
              <a:t></a:t>
            </a:r>
            <a:endParaRPr lang="en-US" sz="3600" b="0" u="none" strike="noStrike">
              <a:solidFill>
                <a:srgbClr val="000000"/>
              </a:solidFill>
              <a:effectLst/>
              <a:uFillTx/>
              <a:latin typeface="Calibri"/>
            </a:endParaRPr>
          </a:p>
        </p:txBody>
      </p:sp>
      <p:sp>
        <p:nvSpPr>
          <p:cNvPr id="215" name="Text 6"/>
          <p:cNvSpPr/>
          <p:nvPr/>
        </p:nvSpPr>
        <p:spPr>
          <a:xfrm>
            <a:off x="952560" y="2133720"/>
            <a:ext cx="2921040" cy="2793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合规团队年均成本</a:t>
            </a:r>
            <a:endParaRPr lang="en-US" sz="1200" b="0" u="none" strike="noStrike">
              <a:solidFill>
                <a:srgbClr val="000000"/>
              </a:solidFill>
              <a:effectLst/>
              <a:uFillTx/>
              <a:latin typeface="Calibri"/>
            </a:endParaRPr>
          </a:p>
        </p:txBody>
      </p:sp>
      <p:sp>
        <p:nvSpPr>
          <p:cNvPr id="216" name="Shape 7"/>
          <p:cNvSpPr/>
          <p:nvPr/>
        </p:nvSpPr>
        <p:spPr>
          <a:xfrm>
            <a:off x="4317840" y="1397160"/>
            <a:ext cx="3302280" cy="11430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7" name="Text 8"/>
          <p:cNvSpPr/>
          <p:nvPr/>
        </p:nvSpPr>
        <p:spPr>
          <a:xfrm>
            <a:off x="4508640" y="14605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5A55A"/>
                </a:solidFill>
                <a:effectLst/>
                <a:uFillTx/>
                <a:latin typeface="Liter"/>
                <a:ea typeface="Liter"/>
              </a:rPr>
              <a:t></a:t>
            </a:r>
            <a:endParaRPr lang="en-US" sz="3600" b="0" u="none" strike="noStrike">
              <a:solidFill>
                <a:srgbClr val="000000"/>
              </a:solidFill>
              <a:effectLst/>
              <a:uFillTx/>
              <a:latin typeface="Calibri"/>
            </a:endParaRPr>
          </a:p>
        </p:txBody>
      </p:sp>
      <p:sp>
        <p:nvSpPr>
          <p:cNvPr id="218" name="Text 9"/>
          <p:cNvSpPr/>
          <p:nvPr/>
        </p:nvSpPr>
        <p:spPr>
          <a:xfrm>
            <a:off x="4508640" y="2133720"/>
            <a:ext cx="2921040" cy="2793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有效税率叠加后</a:t>
            </a:r>
            <a:endParaRPr lang="en-US" sz="1200" b="0" u="none" strike="noStrike">
              <a:solidFill>
                <a:srgbClr val="000000"/>
              </a:solidFill>
              <a:effectLst/>
              <a:uFillTx/>
              <a:latin typeface="Calibri"/>
            </a:endParaRPr>
          </a:p>
        </p:txBody>
      </p:sp>
      <p:sp>
        <p:nvSpPr>
          <p:cNvPr id="219" name="Shape 10"/>
          <p:cNvSpPr/>
          <p:nvPr/>
        </p:nvSpPr>
        <p:spPr>
          <a:xfrm>
            <a:off x="7873920" y="1397160"/>
            <a:ext cx="3301920" cy="11430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20" name="Text 11"/>
          <p:cNvSpPr/>
          <p:nvPr/>
        </p:nvSpPr>
        <p:spPr>
          <a:xfrm>
            <a:off x="8064360" y="14605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5A55A"/>
                </a:solidFill>
                <a:effectLst/>
                <a:uFillTx/>
                <a:latin typeface="Liter"/>
                <a:ea typeface="Liter"/>
              </a:rPr>
              <a:t></a:t>
            </a:r>
            <a:endParaRPr lang="en-US" sz="3600" b="0" u="none" strike="noStrike">
              <a:solidFill>
                <a:srgbClr val="000000"/>
              </a:solidFill>
              <a:effectLst/>
              <a:uFillTx/>
              <a:latin typeface="Calibri"/>
            </a:endParaRPr>
          </a:p>
        </p:txBody>
      </p:sp>
      <p:sp>
        <p:nvSpPr>
          <p:cNvPr id="221" name="Text 12"/>
          <p:cNvSpPr/>
          <p:nvPr/>
        </p:nvSpPr>
        <p:spPr>
          <a:xfrm>
            <a:off x="8064360" y="2133720"/>
            <a:ext cx="2921040" cy="2793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平均监控司法管辖区数</a:t>
            </a:r>
            <a:endParaRPr lang="en-US" sz="1200" b="0" u="none" strike="noStrike">
              <a:solidFill>
                <a:srgbClr val="000000"/>
              </a:solidFill>
              <a:effectLst/>
              <a:uFillTx/>
              <a:latin typeface="Calibri"/>
            </a:endParaRPr>
          </a:p>
        </p:txBody>
      </p:sp>
      <p:sp>
        <p:nvSpPr>
          <p:cNvPr id="222" name="Shape 13"/>
          <p:cNvSpPr/>
          <p:nvPr/>
        </p:nvSpPr>
        <p:spPr>
          <a:xfrm>
            <a:off x="11430000" y="1397160"/>
            <a:ext cx="4064040" cy="11430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23" name="Text 14"/>
          <p:cNvSpPr/>
          <p:nvPr/>
        </p:nvSpPr>
        <p:spPr>
          <a:xfrm>
            <a:off x="11620440" y="1460520"/>
            <a:ext cx="368316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5A55A"/>
                </a:solidFill>
                <a:effectLst/>
                <a:uFillTx/>
                <a:latin typeface="Liter"/>
                <a:ea typeface="Liter"/>
              </a:rPr>
              <a:t></a:t>
            </a:r>
            <a:endParaRPr lang="en-US" sz="3600" b="0" u="none" strike="noStrike">
              <a:solidFill>
                <a:srgbClr val="000000"/>
              </a:solidFill>
              <a:effectLst/>
              <a:uFillTx/>
              <a:latin typeface="Calibri"/>
            </a:endParaRPr>
          </a:p>
        </p:txBody>
      </p:sp>
      <p:sp>
        <p:nvSpPr>
          <p:cNvPr id="224" name="Text 15"/>
          <p:cNvSpPr/>
          <p:nvPr/>
        </p:nvSpPr>
        <p:spPr>
          <a:xfrm>
            <a:off x="11620440" y="2133720"/>
            <a:ext cx="3683160" cy="2793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归因技术基础设施投入</a:t>
            </a:r>
            <a:endParaRPr lang="en-US" sz="1200" b="0" u="none" strike="noStrike">
              <a:solidFill>
                <a:srgbClr val="000000"/>
              </a:solidFill>
              <a:effectLst/>
              <a:uFillTx/>
              <a:latin typeface="Calibri"/>
            </a:endParaRPr>
          </a:p>
        </p:txBody>
      </p:sp>
      <p:sp>
        <p:nvSpPr>
          <p:cNvPr id="225" name="Text 16"/>
          <p:cNvSpPr/>
          <p:nvPr/>
        </p:nvSpPr>
        <p:spPr>
          <a:xfrm>
            <a:off x="762120" y="2793960"/>
            <a:ext cx="5079960" cy="3556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三重情景分析</a:t>
            </a:r>
            <a:endParaRPr lang="en-US" sz="1600" b="0" u="none" strike="noStrike">
              <a:solidFill>
                <a:srgbClr val="000000"/>
              </a:solidFill>
              <a:effectLst/>
              <a:uFillTx/>
              <a:latin typeface="Calibri"/>
            </a:endParaRPr>
          </a:p>
        </p:txBody>
      </p:sp>
      <p:graphicFrame>
        <p:nvGraphicFramePr>
          <p:cNvPr id="226" name="Chart 0"/>
          <p:cNvGraphicFramePr/>
          <p:nvPr/>
        </p:nvGraphicFramePr>
        <p:xfrm>
          <a:off x="711360" y="3187800"/>
          <a:ext cx="7213320" cy="3403440"/>
        </p:xfrm>
        <a:graphic>
          <a:graphicData uri="http://schemas.openxmlformats.org/presentationml/2006/ole">
            <p:oleObj progId="Excel.Sheet.12" r:id="rId1" spid="">
              <p:embed/>
              <p:pic>
                <p:nvPicPr>
                  <p:cNvPr id="227" name="Chart 0"/>
                  <p:cNvPicPr/>
                  <p:nvPr/>
                </p:nvPicPr>
                <p:blipFill>
                  <a:blip r:embed="rId2"/>
                  <a:stretch/>
                </p:blipFill>
                <p:spPr>
                  <a:xfrm>
                    <a:off x="711360" y="3187800"/>
                    <a:ext cx="7213320" cy="3403440"/>
                  </a:xfrm>
                  <a:prstGeom prst="rect">
                    <a:avLst/>
                  </a:prstGeom>
                  <a:noFill/>
                  <a:ln w="0">
                    <a:noFill/>
                  </a:ln>
                </p:spPr>
              </p:pic>
            </p:oleObj>
          </a:graphicData>
        </a:graphic>
      </p:graphicFrame>
      <p:sp>
        <p:nvSpPr>
          <p:cNvPr id="228" name="Text 17"/>
          <p:cNvSpPr/>
          <p:nvPr/>
        </p:nvSpPr>
        <p:spPr>
          <a:xfrm>
            <a:off x="8381880" y="3238560"/>
            <a:ext cx="7112160" cy="355608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乐观情景（）</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支柱一年达成，逐步废除。年合规成本，主要用于过渡期管理和系统调整。</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基准情景（）</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维持现状，碎片化持续。年合规成本，覆盖个司法管辖区的团队、系统、咨询费用。</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DC2626"/>
                </a:solidFill>
                <a:effectLst/>
                <a:uFillTx/>
                <a:latin typeface="Liter"/>
                <a:ea typeface="Liter"/>
              </a:rPr>
              <a:t>悲观情景（）</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全面贸易战，税率上调关税报复。年合规成本，含额外关税成本、供应链调整、法律争议。</a:t>
            </a:r>
            <a:endParaRPr lang="en-US" sz="1400" b="0" u="none" strike="noStrike">
              <a:solidFill>
                <a:srgbClr val="000000"/>
              </a:solidFill>
              <a:effectLst/>
              <a:uFillTx/>
              <a:latin typeface="Calibri"/>
            </a:endParaRPr>
          </a:p>
        </p:txBody>
      </p:sp>
      <p:sp>
        <p:nvSpPr>
          <p:cNvPr id="229" name="Text 18"/>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230" name="Text 19"/>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231"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2" name="Shape 1"/>
          <p:cNvSpPr/>
          <p:nvPr/>
        </p:nvSpPr>
        <p:spPr>
          <a:xfrm>
            <a:off x="650232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3"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4"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科技外交博弈：三轨谈判格局</a:t>
            </a:r>
            <a:endParaRPr lang="en-US" sz="2400" b="0" u="none" strike="noStrike">
              <a:solidFill>
                <a:srgbClr val="000000"/>
              </a:solidFill>
              <a:effectLst/>
              <a:uFillTx/>
              <a:latin typeface="Calibri"/>
            </a:endParaRPr>
          </a:p>
        </p:txBody>
      </p:sp>
      <p:sp>
        <p:nvSpPr>
          <p:cNvPr id="235" name="Shape 4"/>
          <p:cNvSpPr/>
          <p:nvPr/>
        </p:nvSpPr>
        <p:spPr>
          <a:xfrm>
            <a:off x="762120" y="1397160"/>
            <a:ext cx="4698720" cy="30477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6" name="Shape 5"/>
          <p:cNvSpPr/>
          <p:nvPr/>
        </p:nvSpPr>
        <p:spPr>
          <a:xfrm>
            <a:off x="762120" y="1397160"/>
            <a:ext cx="469872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7" name="Text 6"/>
          <p:cNvSpPr/>
          <p:nvPr/>
        </p:nvSpPr>
        <p:spPr>
          <a:xfrm>
            <a:off x="952560" y="1397160"/>
            <a:ext cx="431784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轨道</a:t>
            </a:r>
            <a:endParaRPr lang="en-US" sz="1400" b="0" u="none" strike="noStrike">
              <a:solidFill>
                <a:srgbClr val="000000"/>
              </a:solidFill>
              <a:effectLst/>
              <a:uFillTx/>
              <a:latin typeface="Calibri"/>
            </a:endParaRPr>
          </a:p>
        </p:txBody>
      </p:sp>
      <p:sp>
        <p:nvSpPr>
          <p:cNvPr id="238" name="Text 7"/>
          <p:cNvSpPr/>
          <p:nvPr/>
        </p:nvSpPr>
        <p:spPr>
          <a:xfrm>
            <a:off x="952560" y="1981080"/>
            <a:ext cx="4317840" cy="23367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•安全协调（）</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•半导体供应链标准统一</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•经济安全框架（出口管制协调）</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•意大利峰会确立数字贸易原则</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a:t>
            </a:r>
            <a:r>
              <a:rPr lang="en-US" sz="1300" b="1" u="none" strike="noStrike">
                <a:solidFill>
                  <a:srgbClr val="1A1A2E"/>
                </a:solidFill>
                <a:effectLst/>
                <a:uFillTx/>
                <a:latin typeface="Liter"/>
                <a:ea typeface="Liter"/>
              </a:rPr>
              <a:t>局限</a:t>
            </a:r>
            <a:r>
              <a:rPr lang="en-US" sz="1300" b="0" u="none" strike="noStrike">
                <a:solidFill>
                  <a:srgbClr val="1A1A2E"/>
                </a:solidFill>
                <a:effectLst/>
                <a:uFillTx/>
                <a:latin typeface="Liter"/>
                <a:ea typeface="Liter"/>
              </a:rPr>
              <a:t>：无约束力，宣言性质</a:t>
            </a:r>
            <a:endParaRPr lang="en-US" sz="1300" b="0" u="none" strike="noStrike">
              <a:solidFill>
                <a:srgbClr val="000000"/>
              </a:solidFill>
              <a:effectLst/>
              <a:uFillTx/>
              <a:latin typeface="Calibri"/>
            </a:endParaRPr>
          </a:p>
        </p:txBody>
      </p:sp>
      <p:sp>
        <p:nvSpPr>
          <p:cNvPr id="239" name="Shape 8"/>
          <p:cNvSpPr/>
          <p:nvPr/>
        </p:nvSpPr>
        <p:spPr>
          <a:xfrm>
            <a:off x="5715000" y="1397160"/>
            <a:ext cx="4699080" cy="30477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40" name="Shape 9"/>
          <p:cNvSpPr/>
          <p:nvPr/>
        </p:nvSpPr>
        <p:spPr>
          <a:xfrm>
            <a:off x="5715000" y="1397160"/>
            <a:ext cx="469908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41" name="Text 10"/>
          <p:cNvSpPr/>
          <p:nvPr/>
        </p:nvSpPr>
        <p:spPr>
          <a:xfrm>
            <a:off x="5905440" y="1397160"/>
            <a:ext cx="431820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轨道</a:t>
            </a:r>
            <a:endParaRPr lang="en-US" sz="1400" b="0" u="none" strike="noStrike">
              <a:solidFill>
                <a:srgbClr val="000000"/>
              </a:solidFill>
              <a:effectLst/>
              <a:uFillTx/>
              <a:latin typeface="Calibri"/>
            </a:endParaRPr>
          </a:p>
        </p:txBody>
      </p:sp>
      <p:sp>
        <p:nvSpPr>
          <p:cNvPr id="242" name="Text 11"/>
          <p:cNvSpPr/>
          <p:nvPr/>
        </p:nvSpPr>
        <p:spPr>
          <a:xfrm>
            <a:off x="5905440" y="1981080"/>
            <a:ext cx="4318200" cy="23367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•巴西轮值主席国推数字包容性</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•印度坚持数据主权阻碍共识</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•全球数字契约实施缺资金</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•中等强国话语权上升</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a:t>
            </a:r>
            <a:r>
              <a:rPr lang="en-US" sz="1300" b="1" u="none" strike="noStrike">
                <a:solidFill>
                  <a:srgbClr val="1A1A2E"/>
                </a:solidFill>
                <a:effectLst/>
                <a:uFillTx/>
                <a:latin typeface="Liter"/>
                <a:ea typeface="Liter"/>
              </a:rPr>
              <a:t>关键分歧</a:t>
            </a:r>
            <a:r>
              <a:rPr lang="en-US" sz="1300" b="0" u="none" strike="noStrike">
                <a:solidFill>
                  <a:srgbClr val="1A1A2E"/>
                </a:solidFill>
                <a:effectLst/>
                <a:uFillTx/>
                <a:latin typeface="Liter"/>
                <a:ea typeface="Liter"/>
              </a:rPr>
              <a:t>：开放主权</a:t>
            </a:r>
            <a:endParaRPr lang="en-US" sz="1300" b="0" u="none" strike="noStrike">
              <a:solidFill>
                <a:srgbClr val="000000"/>
              </a:solidFill>
              <a:effectLst/>
              <a:uFillTx/>
              <a:latin typeface="Calibri"/>
            </a:endParaRPr>
          </a:p>
        </p:txBody>
      </p:sp>
      <p:sp>
        <p:nvSpPr>
          <p:cNvPr id="243" name="Shape 12"/>
          <p:cNvSpPr/>
          <p:nvPr/>
        </p:nvSpPr>
        <p:spPr>
          <a:xfrm>
            <a:off x="10667880" y="1397160"/>
            <a:ext cx="4826160" cy="30477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44" name="Shape 13"/>
          <p:cNvSpPr/>
          <p:nvPr/>
        </p:nvSpPr>
        <p:spPr>
          <a:xfrm>
            <a:off x="10667880" y="1397160"/>
            <a:ext cx="4826160" cy="45720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45" name="Text 14"/>
          <p:cNvSpPr/>
          <p:nvPr/>
        </p:nvSpPr>
        <p:spPr>
          <a:xfrm>
            <a:off x="10858680" y="1397160"/>
            <a:ext cx="4444920" cy="457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轨道</a:t>
            </a:r>
            <a:endParaRPr lang="en-US" sz="1400" b="0" u="none" strike="noStrike">
              <a:solidFill>
                <a:srgbClr val="000000"/>
              </a:solidFill>
              <a:effectLst/>
              <a:uFillTx/>
              <a:latin typeface="Calibri"/>
            </a:endParaRPr>
          </a:p>
        </p:txBody>
      </p:sp>
      <p:sp>
        <p:nvSpPr>
          <p:cNvPr id="246" name="Text 15"/>
          <p:cNvSpPr/>
          <p:nvPr/>
        </p:nvSpPr>
        <p:spPr>
          <a:xfrm>
            <a:off x="10858680" y="1981080"/>
            <a:ext cx="4444920" cy="23367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•支柱一谈判停滞</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•美国退出谈判</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•支柱二最低税已实施</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•数字企业适用复杂</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a:t>
            </a:r>
            <a:r>
              <a:rPr lang="en-US" sz="1300" b="1" u="none" strike="noStrike">
                <a:solidFill>
                  <a:srgbClr val="1A1A2E"/>
                </a:solidFill>
                <a:effectLst/>
                <a:uFillTx/>
                <a:latin typeface="Liter"/>
                <a:ea typeface="Liter"/>
              </a:rPr>
              <a:t>前景</a:t>
            </a:r>
            <a:r>
              <a:rPr lang="en-US" sz="1300" b="0" u="none" strike="noStrike">
                <a:solidFill>
                  <a:srgbClr val="1A1A2E"/>
                </a:solidFill>
                <a:effectLst/>
                <a:uFillTx/>
                <a:latin typeface="Liter"/>
                <a:ea typeface="Liter"/>
              </a:rPr>
              <a:t>：年达成概率</a:t>
            </a:r>
            <a:endParaRPr lang="en-US" sz="1300" b="0" u="none" strike="noStrike">
              <a:solidFill>
                <a:srgbClr val="000000"/>
              </a:solidFill>
              <a:effectLst/>
              <a:uFillTx/>
              <a:latin typeface="Calibri"/>
            </a:endParaRPr>
          </a:p>
        </p:txBody>
      </p:sp>
      <p:sp>
        <p:nvSpPr>
          <p:cNvPr id="247" name="Text 16"/>
          <p:cNvSpPr/>
          <p:nvPr/>
        </p:nvSpPr>
        <p:spPr>
          <a:xfrm>
            <a:off x="762120" y="4699080"/>
            <a:ext cx="5079960" cy="3556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权力转移与规则制定格局</a:t>
            </a:r>
            <a:endParaRPr lang="en-US" sz="1600" b="0" u="none" strike="noStrike">
              <a:solidFill>
                <a:srgbClr val="000000"/>
              </a:solidFill>
              <a:effectLst/>
              <a:uFillTx/>
              <a:latin typeface="Calibri"/>
            </a:endParaRPr>
          </a:p>
        </p:txBody>
      </p:sp>
      <p:graphicFrame>
        <p:nvGraphicFramePr>
          <p:cNvPr id="248" name="Chart 0"/>
          <p:cNvGraphicFramePr/>
          <p:nvPr/>
        </p:nvGraphicFramePr>
        <p:xfrm>
          <a:off x="711360" y="5092560"/>
          <a:ext cx="6451560" cy="3022920"/>
        </p:xfrm>
        <a:graphic>
          <a:graphicData uri="http://schemas.openxmlformats.org/presentationml/2006/ole">
            <p:oleObj progId="Excel.Sheet.12" r:id="rId1" spid="">
              <p:embed/>
              <p:pic>
                <p:nvPicPr>
                  <p:cNvPr id="249" name="Chart 0"/>
                  <p:cNvPicPr/>
                  <p:nvPr/>
                </p:nvPicPr>
                <p:blipFill>
                  <a:blip r:embed="rId2"/>
                  <a:stretch/>
                </p:blipFill>
                <p:spPr>
                  <a:xfrm>
                    <a:off x="711360" y="5092560"/>
                    <a:ext cx="6451560" cy="3022920"/>
                  </a:xfrm>
                  <a:prstGeom prst="rect">
                    <a:avLst/>
                  </a:prstGeom>
                  <a:noFill/>
                  <a:ln w="0">
                    <a:noFill/>
                  </a:ln>
                </p:spPr>
              </p:pic>
            </p:oleObj>
          </a:graphicData>
        </a:graphic>
      </p:graphicFrame>
      <p:sp>
        <p:nvSpPr>
          <p:cNvPr id="250" name="Text 17"/>
          <p:cNvSpPr/>
          <p:nvPr/>
        </p:nvSpPr>
        <p:spPr>
          <a:xfrm>
            <a:off x="7620120" y="5143680"/>
            <a:ext cx="7873920" cy="314928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规则制定权分布</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美欧中三方掌握规则制定权，中等强国（巴西、印度、印尼、沙特）话语权持续上升。</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双边替代方案</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•欧盟拉美数字联盟　•可持续连通　•中国中亚数字丝绸之路　•美印</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年关键预判</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支柱一若破裂，将触发全球立法竞赛，预计至少</a:t>
            </a:r>
            <a:r>
              <a:rPr lang="en-US" sz="1400" b="1" u="none" strike="noStrike">
                <a:solidFill>
                  <a:srgbClr val="1A1A2E"/>
                </a:solidFill>
                <a:effectLst/>
                <a:uFillTx/>
                <a:latin typeface="Liter"/>
                <a:ea typeface="Liter"/>
              </a:rPr>
              <a:t>个新国家</a:t>
            </a:r>
            <a:r>
              <a:rPr lang="en-US" sz="1400" b="0" u="none" strike="noStrike">
                <a:solidFill>
                  <a:srgbClr val="1A1A2E"/>
                </a:solidFill>
                <a:effectLst/>
                <a:uFillTx/>
                <a:latin typeface="Liter"/>
                <a:ea typeface="Liter"/>
              </a:rPr>
              <a:t>推出法案。</a:t>
            </a:r>
            <a:endParaRPr lang="en-US" sz="1400" b="0" u="none" strike="noStrike">
              <a:solidFill>
                <a:srgbClr val="000000"/>
              </a:solidFill>
              <a:effectLst/>
              <a:uFillTx/>
              <a:latin typeface="Calibri"/>
            </a:endParaRPr>
          </a:p>
        </p:txBody>
      </p:sp>
      <p:sp>
        <p:nvSpPr>
          <p:cNvPr id="251" name="Text 18"/>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252" name="Text 19"/>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253" name="Shape 0"/>
          <p:cNvSpPr/>
          <p:nvPr/>
        </p:nvSpPr>
        <p:spPr>
          <a:xfrm>
            <a:off x="0" y="0"/>
            <a:ext cx="8128080" cy="9144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254" name="Image 0" descr="https://kimi-img.moonshot.cn/pub/slides/okc/gkmdzig5jggc2/mnt/agents/output/digital_sovereignty_2026/images/3_29_592_Semiconductors_Manufacturing.png"/>
          <p:cNvPicPr/>
          <p:nvPr/>
        </p:nvPicPr>
        <p:blipFill>
          <a:blip r:embed="rId1"/>
          <a:srcRect l="23070" t="0" r="23070" b="0"/>
          <a:stretch/>
        </p:blipFill>
        <p:spPr>
          <a:xfrm>
            <a:off x="8128080" y="0"/>
            <a:ext cx="8128080" cy="9144000"/>
          </a:xfrm>
          <a:prstGeom prst="rect">
            <a:avLst/>
          </a:prstGeom>
          <a:noFill/>
          <a:ln w="0">
            <a:noFill/>
          </a:ln>
        </p:spPr>
      </p:pic>
      <p:grpSp>
        <p:nvGrpSpPr>
          <p:cNvPr id="255" name="Shape 1"/>
          <p:cNvGrpSpPr/>
          <p:nvPr/>
        </p:nvGrpSpPr>
        <p:grpSpPr>
          <a:xfrm>
            <a:off x="8115480" y="0"/>
            <a:ext cx="8153280" cy="9144000"/>
            <a:chOff x="8115480" y="0"/>
            <a:chExt cx="8153280" cy="9144000"/>
          </a:xfrm>
        </p:grpSpPr>
        <p:pic>
          <p:nvPicPr>
            <p:cNvPr id="256" name="Shape 1"/>
            <p:cNvPicPr/>
            <p:nvPr/>
          </p:nvPicPr>
          <p:blipFill>
            <a:blip r:embed="rId2"/>
            <a:stretch/>
          </p:blipFill>
          <p:spPr>
            <a:xfrm>
              <a:off x="8115480" y="0"/>
              <a:ext cx="8153280" cy="9144000"/>
            </a:xfrm>
            <a:prstGeom prst="rect">
              <a:avLst/>
            </a:prstGeom>
            <a:noFill/>
            <a:ln w="0">
              <a:noFill/>
            </a:ln>
          </p:spPr>
        </p:pic>
        <p:sp>
          <p:nvSpPr>
            <p:cNvPr id="257" name=""/>
            <p:cNvSpPr/>
            <p:nvPr/>
          </p:nvSpPr>
          <p:spPr>
            <a:xfrm>
              <a:off x="8128080" y="0"/>
              <a:ext cx="8128080" cy="9144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pSp>
      <p:sp>
        <p:nvSpPr>
          <p:cNvPr id="258" name="Text 2"/>
          <p:cNvSpPr/>
          <p:nvPr/>
        </p:nvSpPr>
        <p:spPr>
          <a:xfrm>
            <a:off x="1015920" y="2540160"/>
            <a:ext cx="2540160" cy="1015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7200" b="0" u="none" strike="noStrike">
                <a:solidFill>
                  <a:srgbClr val="C5A55A"/>
                </a:solidFill>
                <a:effectLst/>
                <a:uFillTx/>
                <a:latin typeface="Liter"/>
                <a:ea typeface="Liter"/>
              </a:rPr>
              <a:t></a:t>
            </a:r>
            <a:endParaRPr lang="en-US" sz="7200" b="0" u="none" strike="noStrike">
              <a:solidFill>
                <a:srgbClr val="000000"/>
              </a:solidFill>
              <a:effectLst/>
              <a:uFillTx/>
              <a:latin typeface="Calibri"/>
            </a:endParaRPr>
          </a:p>
        </p:txBody>
      </p:sp>
      <p:sp>
        <p:nvSpPr>
          <p:cNvPr id="259" name="Shape 3"/>
          <p:cNvSpPr/>
          <p:nvPr/>
        </p:nvSpPr>
        <p:spPr>
          <a:xfrm>
            <a:off x="1015920" y="3683160"/>
            <a:ext cx="762120" cy="50760"/>
          </a:xfrm>
          <a:prstGeom prst="rect">
            <a:avLst/>
          </a:prstGeom>
          <a:solidFill>
            <a:srgbClr val="C5A55A"/>
          </a:solidFill>
          <a:ln w="0">
            <a:noFill/>
          </a:ln>
        </p:spPr>
        <p:style>
          <a:lnRef idx="0"/>
          <a:fillRef idx="0"/>
          <a:effectRef idx="0"/>
          <a:fontRef idx="minor"/>
        </p:style>
        <p:txBody>
          <a:bodyPr lIns="90000" tIns="3960" rIns="90000" bIns="396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60" name="Text 4"/>
          <p:cNvSpPr/>
          <p:nvPr/>
        </p:nvSpPr>
        <p:spPr>
          <a:xfrm>
            <a:off x="1015920" y="3936960"/>
            <a:ext cx="6350040" cy="76212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0EDE8"/>
                </a:solidFill>
                <a:effectLst/>
                <a:uFillTx/>
                <a:latin typeface="Liter"/>
                <a:ea typeface="Liter"/>
              </a:rPr>
              <a:t>地缘冲突模拟与供应链韧性</a:t>
            </a:r>
            <a:endParaRPr lang="en-US" sz="3600" b="0" u="none" strike="noStrike">
              <a:solidFill>
                <a:srgbClr val="000000"/>
              </a:solidFill>
              <a:effectLst/>
              <a:uFillTx/>
              <a:latin typeface="Calibri"/>
            </a:endParaRPr>
          </a:p>
        </p:txBody>
      </p:sp>
      <p:sp>
        <p:nvSpPr>
          <p:cNvPr id="261" name="Text 5"/>
          <p:cNvSpPr/>
          <p:nvPr/>
        </p:nvSpPr>
        <p:spPr>
          <a:xfrm>
            <a:off x="1015920" y="4826160"/>
            <a:ext cx="6350040" cy="761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a:t>
            </a:r>
            <a:endParaRPr lang="en-US" sz="16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从冲突到备份成本传导</a:t>
            </a:r>
            <a:endParaRPr lang="en-US" sz="1600" b="0" u="none" strike="noStrike">
              <a:solidFill>
                <a:srgbClr val="000000"/>
              </a:solidFill>
              <a:effectLst/>
              <a:uFillTx/>
              <a:latin typeface="Calibri"/>
            </a:endParaRPr>
          </a:p>
        </p:txBody>
      </p:sp>
      <p:sp>
        <p:nvSpPr>
          <p:cNvPr id="262" name="Shape 6"/>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63" name="Shape 7"/>
          <p:cNvSpPr/>
          <p:nvPr/>
        </p:nvSpPr>
        <p:spPr>
          <a:xfrm>
            <a:off x="975348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Tree>
  </p:cSld>
  <p:transition>
    <p:fad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264"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65" name="Shape 1"/>
          <p:cNvSpPr/>
          <p:nvPr/>
        </p:nvSpPr>
        <p:spPr>
          <a:xfrm>
            <a:off x="975348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66"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67"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u="none" strike="noStrike">
                <a:solidFill>
                  <a:srgbClr val="0F1F3D"/>
                </a:solidFill>
                <a:effectLst/>
                <a:uFillTx/>
                <a:latin typeface="Liter"/>
                <a:ea typeface="Liter"/>
              </a:rPr>
              <a:t>供应链备份成本传导模型：冲突→半导体→云服务→数据架构</a:t>
            </a:r>
            <a:endParaRPr lang="en-US" sz="2200" b="0" u="none" strike="noStrike">
              <a:solidFill>
                <a:srgbClr val="000000"/>
              </a:solidFill>
              <a:effectLst/>
              <a:uFillTx/>
              <a:latin typeface="Calibri"/>
            </a:endParaRPr>
          </a:p>
        </p:txBody>
      </p:sp>
      <p:sp>
        <p:nvSpPr>
          <p:cNvPr id="268" name="Shape 4"/>
          <p:cNvSpPr/>
          <p:nvPr/>
        </p:nvSpPr>
        <p:spPr>
          <a:xfrm>
            <a:off x="12573000" y="698400"/>
            <a:ext cx="2921040" cy="355680"/>
          </a:xfrm>
          <a:prstGeom prst="rect">
            <a:avLst/>
          </a:prstGeom>
          <a:solidFill>
            <a:srgbClr val="C5A55A">
              <a:alpha val="13000"/>
            </a:srgbClr>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69" name="Text 5"/>
          <p:cNvSpPr/>
          <p:nvPr/>
        </p:nvSpPr>
        <p:spPr>
          <a:xfrm>
            <a:off x="12573000" y="698400"/>
            <a:ext cx="2921040" cy="35568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←承接地缘冲突模拟</a:t>
            </a:r>
            <a:endParaRPr lang="en-US" sz="1200" b="0" u="none" strike="noStrike">
              <a:solidFill>
                <a:srgbClr val="000000"/>
              </a:solidFill>
              <a:effectLst/>
              <a:uFillTx/>
              <a:latin typeface="Calibri"/>
            </a:endParaRPr>
          </a:p>
        </p:txBody>
      </p:sp>
      <p:sp>
        <p:nvSpPr>
          <p:cNvPr id="270" name="Shape 6"/>
          <p:cNvSpPr/>
          <p:nvPr/>
        </p:nvSpPr>
        <p:spPr>
          <a:xfrm>
            <a:off x="762120" y="1397160"/>
            <a:ext cx="7111800" cy="16509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71" name="Shape 7"/>
          <p:cNvSpPr/>
          <p:nvPr/>
        </p:nvSpPr>
        <p:spPr>
          <a:xfrm>
            <a:off x="762120" y="1397160"/>
            <a:ext cx="7111800" cy="40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72" name="Text 8"/>
          <p:cNvSpPr/>
          <p:nvPr/>
        </p:nvSpPr>
        <p:spPr>
          <a:xfrm>
            <a:off x="952560" y="1397160"/>
            <a:ext cx="6730920" cy="4060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0EDE8"/>
                </a:solidFill>
                <a:effectLst/>
                <a:uFillTx/>
                <a:latin typeface="Liter"/>
                <a:ea typeface="Liter"/>
              </a:rPr>
              <a:t>第一层：半导体供应链</a:t>
            </a:r>
            <a:endParaRPr lang="en-US" sz="1300" b="0" u="none" strike="noStrike">
              <a:solidFill>
                <a:srgbClr val="000000"/>
              </a:solidFill>
              <a:effectLst/>
              <a:uFillTx/>
              <a:latin typeface="Calibri"/>
            </a:endParaRPr>
          </a:p>
        </p:txBody>
      </p:sp>
      <p:sp>
        <p:nvSpPr>
          <p:cNvPr id="273" name="Text 9"/>
          <p:cNvSpPr/>
          <p:nvPr/>
        </p:nvSpPr>
        <p:spPr>
          <a:xfrm>
            <a:off x="952560" y="1905120"/>
            <a:ext cx="673092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•芯片进口成本上升</a:t>
            </a:r>
            <a:r>
              <a:rPr lang="en-US" sz="1300" b="1" u="none" strike="noStrike">
                <a:solidFill>
                  <a:srgbClr val="C5A55A"/>
                </a:solidFill>
                <a:effectLst/>
                <a:uFillTx/>
                <a:latin typeface="Liter"/>
                <a:ea typeface="Liter"/>
              </a:rPr>
              <a:t></a:t>
            </a:r>
            <a:r>
              <a:rPr lang="en-US" sz="1300" b="0" u="none" strike="noStrike">
                <a:solidFill>
                  <a:srgbClr val="1A1A2E"/>
                </a:solidFill>
                <a:effectLst/>
                <a:uFillTx/>
                <a:latin typeface="Liter"/>
                <a:ea typeface="Liter"/>
              </a:rPr>
              <a:t>（关税出口管制）</a:t>
            </a:r>
            <a:endParaRPr lang="en-US" sz="13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•台积电三星美厂建设超支</a:t>
            </a:r>
            <a:r>
              <a:rPr lang="en-US" sz="1300" b="1" u="none" strike="noStrike">
                <a:solidFill>
                  <a:srgbClr val="C5A55A"/>
                </a:solidFill>
                <a:effectLst/>
                <a:uFillTx/>
                <a:latin typeface="Liter"/>
                <a:ea typeface="Liter"/>
              </a:rPr>
              <a:t></a:t>
            </a:r>
            <a:endParaRPr lang="en-US" sz="13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•成熟制程转移至东南亚溢价</a:t>
            </a:r>
            <a:r>
              <a:rPr lang="en-US" sz="1300" b="1" u="none" strike="noStrike">
                <a:solidFill>
                  <a:srgbClr val="C5A55A"/>
                </a:solidFill>
                <a:effectLst/>
                <a:uFillTx/>
                <a:latin typeface="Liter"/>
                <a:ea typeface="Liter"/>
              </a:rPr>
              <a:t></a:t>
            </a:r>
            <a:endParaRPr lang="en-US" sz="1300" b="0" u="none" strike="noStrike">
              <a:solidFill>
                <a:srgbClr val="000000"/>
              </a:solidFill>
              <a:effectLst/>
              <a:uFillTx/>
              <a:latin typeface="Calibri"/>
            </a:endParaRPr>
          </a:p>
        </p:txBody>
      </p:sp>
      <p:sp>
        <p:nvSpPr>
          <p:cNvPr id="274" name="Shape 10"/>
          <p:cNvSpPr/>
          <p:nvPr/>
        </p:nvSpPr>
        <p:spPr>
          <a:xfrm>
            <a:off x="762120" y="3238560"/>
            <a:ext cx="7111800" cy="16509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75" name="Shape 11"/>
          <p:cNvSpPr/>
          <p:nvPr/>
        </p:nvSpPr>
        <p:spPr>
          <a:xfrm>
            <a:off x="762120" y="3238560"/>
            <a:ext cx="7111800" cy="40644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76" name="Text 12"/>
          <p:cNvSpPr/>
          <p:nvPr/>
        </p:nvSpPr>
        <p:spPr>
          <a:xfrm>
            <a:off x="952560" y="3238560"/>
            <a:ext cx="6730920" cy="4064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0EDE8"/>
                </a:solidFill>
                <a:effectLst/>
                <a:uFillTx/>
                <a:latin typeface="Liter"/>
                <a:ea typeface="Liter"/>
              </a:rPr>
              <a:t>第二层：云基础设施</a:t>
            </a:r>
            <a:endParaRPr lang="en-US" sz="1300" b="0" u="none" strike="noStrike">
              <a:solidFill>
                <a:srgbClr val="000000"/>
              </a:solidFill>
              <a:effectLst/>
              <a:uFillTx/>
              <a:latin typeface="Calibri"/>
            </a:endParaRPr>
          </a:p>
        </p:txBody>
      </p:sp>
      <p:sp>
        <p:nvSpPr>
          <p:cNvPr id="277" name="Text 13"/>
          <p:cNvSpPr/>
          <p:nvPr/>
        </p:nvSpPr>
        <p:spPr>
          <a:xfrm>
            <a:off x="952560" y="3746520"/>
            <a:ext cx="673092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•主权云架构重复建设成本</a:t>
            </a:r>
            <a:r>
              <a:rPr lang="en-US" sz="1300" b="1" u="none" strike="noStrike">
                <a:solidFill>
                  <a:srgbClr val="C5A55A"/>
                </a:solidFill>
                <a:effectLst/>
                <a:uFillTx/>
                <a:latin typeface="Liter"/>
                <a:ea typeface="Liter"/>
              </a:rPr>
              <a:t></a:t>
            </a:r>
            <a:endParaRPr lang="en-US" sz="13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•区域隔离运维复杂度指数上升</a:t>
            </a:r>
            <a:endParaRPr lang="en-US" sz="13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•欧盟中国数据安全法双重合规</a:t>
            </a:r>
            <a:endParaRPr lang="en-US" sz="1300" b="0" u="none" strike="noStrike">
              <a:solidFill>
                <a:srgbClr val="000000"/>
              </a:solidFill>
              <a:effectLst/>
              <a:uFillTx/>
              <a:latin typeface="Calibri"/>
            </a:endParaRPr>
          </a:p>
        </p:txBody>
      </p:sp>
      <p:sp>
        <p:nvSpPr>
          <p:cNvPr id="278" name="Shape 14"/>
          <p:cNvSpPr/>
          <p:nvPr/>
        </p:nvSpPr>
        <p:spPr>
          <a:xfrm>
            <a:off x="762120" y="5079960"/>
            <a:ext cx="7111800" cy="165096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79" name="Shape 15"/>
          <p:cNvSpPr/>
          <p:nvPr/>
        </p:nvSpPr>
        <p:spPr>
          <a:xfrm>
            <a:off x="762120" y="5079960"/>
            <a:ext cx="7111800" cy="40644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80" name="Text 16"/>
          <p:cNvSpPr/>
          <p:nvPr/>
        </p:nvSpPr>
        <p:spPr>
          <a:xfrm>
            <a:off x="952560" y="5079960"/>
            <a:ext cx="6730920" cy="4064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0EDE8"/>
                </a:solidFill>
                <a:effectLst/>
                <a:uFillTx/>
                <a:latin typeface="Liter"/>
                <a:ea typeface="Liter"/>
              </a:rPr>
              <a:t>第三层：数据架构</a:t>
            </a:r>
            <a:endParaRPr lang="en-US" sz="1300" b="0" u="none" strike="noStrike">
              <a:solidFill>
                <a:srgbClr val="000000"/>
              </a:solidFill>
              <a:effectLst/>
              <a:uFillTx/>
              <a:latin typeface="Calibri"/>
            </a:endParaRPr>
          </a:p>
        </p:txBody>
      </p:sp>
      <p:sp>
        <p:nvSpPr>
          <p:cNvPr id="281" name="Text 17"/>
          <p:cNvSpPr/>
          <p:nvPr/>
        </p:nvSpPr>
        <p:spPr>
          <a:xfrm>
            <a:off x="952560" y="5587920"/>
            <a:ext cx="673092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•多主权区域数据网格构建</a:t>
            </a:r>
            <a:endParaRPr lang="en-US" sz="13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•数据同步延迟一致性保障成本上升</a:t>
            </a:r>
            <a:endParaRPr lang="en-US" sz="13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•年运营成本增加</a:t>
            </a:r>
            <a:r>
              <a:rPr lang="en-US" sz="1300" b="1" u="none" strike="noStrike">
                <a:solidFill>
                  <a:srgbClr val="C5A55A"/>
                </a:solidFill>
                <a:effectLst/>
                <a:uFillTx/>
                <a:latin typeface="Liter"/>
                <a:ea typeface="Liter"/>
              </a:rPr>
              <a:t></a:t>
            </a:r>
            <a:endParaRPr lang="en-US" sz="1300" b="0" u="none" strike="noStrike">
              <a:solidFill>
                <a:srgbClr val="000000"/>
              </a:solidFill>
              <a:effectLst/>
              <a:uFillTx/>
              <a:latin typeface="Calibri"/>
            </a:endParaRPr>
          </a:p>
        </p:txBody>
      </p:sp>
      <p:sp>
        <p:nvSpPr>
          <p:cNvPr id="282" name="Text 18"/>
          <p:cNvSpPr/>
          <p:nvPr/>
        </p:nvSpPr>
        <p:spPr>
          <a:xfrm>
            <a:off x="8381880" y="1397160"/>
            <a:ext cx="711216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总成本估算（年营收跨国科技企业）</a:t>
            </a:r>
            <a:endParaRPr lang="en-US" sz="1600" b="0" u="none" strike="noStrike">
              <a:solidFill>
                <a:srgbClr val="000000"/>
              </a:solidFill>
              <a:effectLst/>
              <a:uFillTx/>
              <a:latin typeface="Calibri"/>
            </a:endParaRPr>
          </a:p>
        </p:txBody>
      </p:sp>
      <p:sp>
        <p:nvSpPr>
          <p:cNvPr id="283" name="Shape 19"/>
          <p:cNvSpPr/>
          <p:nvPr/>
        </p:nvSpPr>
        <p:spPr>
          <a:xfrm>
            <a:off x="8381880" y="1841400"/>
            <a:ext cx="7112160" cy="488952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84" name="Text 20"/>
          <p:cNvSpPr/>
          <p:nvPr/>
        </p:nvSpPr>
        <p:spPr>
          <a:xfrm>
            <a:off x="8636040" y="1968480"/>
            <a:ext cx="6603840" cy="46353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全面升级情景</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C5A55A"/>
                </a:solidFill>
                <a:effectLst/>
                <a:uFillTx/>
                <a:latin typeface="Liter"/>
                <a:ea typeface="Liter"/>
              </a:rPr>
              <a:t></a:t>
            </a:r>
            <a:r>
              <a:rPr lang="en-US" sz="1400" b="0" u="none" strike="noStrike">
                <a:solidFill>
                  <a:srgbClr val="F0EDE8"/>
                </a:solidFill>
                <a:effectLst/>
                <a:uFillTx/>
                <a:latin typeface="Liter"/>
                <a:ea typeface="Liter"/>
              </a:rPr>
              <a:t>年</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占营收</a:t>
            </a:r>
            <a:r>
              <a:rPr lang="en-US" sz="1400" b="1" u="none" strike="noStrike">
                <a:solidFill>
                  <a:srgbClr val="C5A55A"/>
                </a:solidFill>
                <a:effectLst/>
                <a:uFillTx/>
                <a:latin typeface="Liter"/>
                <a:ea typeface="Liter"/>
              </a:rPr>
              <a:t></a:t>
            </a:r>
            <a:endParaRPr lang="en-US" sz="1400" b="0" u="none" strike="noStrike">
              <a:solidFill>
                <a:srgbClr val="000000"/>
              </a:solidFill>
              <a:effectLst/>
              <a:uFillTx/>
              <a:latin typeface="Calibri"/>
            </a:endParaRPr>
          </a:p>
          <a:p>
            <a:pPr>
              <a:lnSpc>
                <a:spcPct val="17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基准情景</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0EDE8"/>
                </a:solidFill>
                <a:effectLst/>
                <a:uFillTx/>
                <a:latin typeface="Liter"/>
                <a:ea typeface="Liter"/>
              </a:rPr>
              <a:t></a:t>
            </a:r>
            <a:r>
              <a:rPr lang="en-US" sz="1400" b="0" u="none" strike="noStrike">
                <a:solidFill>
                  <a:srgbClr val="F0EDE8"/>
                </a:solidFill>
                <a:effectLst/>
                <a:uFillTx/>
                <a:latin typeface="Liter"/>
                <a:ea typeface="Liter"/>
              </a:rPr>
              <a:t>年（）</a:t>
            </a:r>
            <a:endParaRPr lang="en-US" sz="1400" b="0" u="none" strike="noStrike">
              <a:solidFill>
                <a:srgbClr val="000000"/>
              </a:solidFill>
              <a:effectLst/>
              <a:uFillTx/>
              <a:latin typeface="Calibri"/>
            </a:endParaRPr>
          </a:p>
          <a:p>
            <a:pPr>
              <a:lnSpc>
                <a:spcPct val="17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缓和情景</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0EDE8"/>
                </a:solidFill>
                <a:effectLst/>
                <a:uFillTx/>
                <a:latin typeface="Liter"/>
                <a:ea typeface="Liter"/>
              </a:rPr>
              <a:t></a:t>
            </a:r>
            <a:r>
              <a:rPr lang="en-US" sz="1400" b="0" u="none" strike="noStrike">
                <a:solidFill>
                  <a:srgbClr val="F0EDE8"/>
                </a:solidFill>
                <a:effectLst/>
                <a:uFillTx/>
                <a:latin typeface="Liter"/>
                <a:ea typeface="Liter"/>
              </a:rPr>
              <a:t>年（）</a:t>
            </a:r>
            <a:endParaRPr lang="en-US" sz="1400" b="0" u="none" strike="noStrike">
              <a:solidFill>
                <a:srgbClr val="000000"/>
              </a:solidFill>
              <a:effectLst/>
              <a:uFillTx/>
              <a:latin typeface="Calibri"/>
            </a:endParaRPr>
          </a:p>
          <a:p>
            <a:pPr>
              <a:lnSpc>
                <a:spcPct val="170000"/>
              </a:lnSpc>
              <a:spcBef>
                <a:spcPts val="11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概率权重</a:t>
            </a:r>
            <a:r>
              <a:rPr lang="en-US" sz="1400" b="0" u="none" strike="noStrike">
                <a:solidFill>
                  <a:srgbClr val="F0EDE8"/>
                </a:solidFill>
                <a:effectLst/>
                <a:uFillTx/>
                <a:latin typeface="Liter"/>
                <a:ea typeface="Liter"/>
              </a:rPr>
              <a:t>：全面升级｜基准｜缓和</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期望成本</a:t>
            </a:r>
            <a:r>
              <a:rPr lang="en-US" sz="1400" b="0" u="none" strike="noStrike">
                <a:solidFill>
                  <a:srgbClr val="F0EDE8"/>
                </a:solidFill>
                <a:effectLst/>
                <a:uFillTx/>
                <a:latin typeface="Liter"/>
                <a:ea typeface="Liter"/>
              </a:rPr>
              <a:t>：</a:t>
            </a:r>
            <a:r>
              <a:rPr lang="en-US" sz="1400" b="1" u="none" strike="noStrike">
                <a:solidFill>
                  <a:srgbClr val="C5A55A"/>
                </a:solidFill>
                <a:effectLst/>
                <a:uFillTx/>
                <a:latin typeface="Liter"/>
                <a:ea typeface="Liter"/>
              </a:rPr>
              <a:t>年</a:t>
            </a:r>
            <a:endParaRPr lang="en-US" sz="1400" b="0" u="none" strike="noStrike">
              <a:solidFill>
                <a:srgbClr val="000000"/>
              </a:solidFill>
              <a:effectLst/>
              <a:uFillTx/>
              <a:latin typeface="Calibri"/>
            </a:endParaRPr>
          </a:p>
        </p:txBody>
      </p:sp>
      <p:sp>
        <p:nvSpPr>
          <p:cNvPr id="285" name="Text 21"/>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286" name="Text 22"/>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287"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88" name="Shape 1"/>
          <p:cNvSpPr/>
          <p:nvPr/>
        </p:nvSpPr>
        <p:spPr>
          <a:xfrm>
            <a:off x="975348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89"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90"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主权计算投资浪潮：各国政府算力基建预算对标</a:t>
            </a:r>
            <a:endParaRPr lang="en-US" sz="2400" b="0" u="none" strike="noStrike">
              <a:solidFill>
                <a:srgbClr val="000000"/>
              </a:solidFill>
              <a:effectLst/>
              <a:uFillTx/>
              <a:latin typeface="Calibri"/>
            </a:endParaRPr>
          </a:p>
        </p:txBody>
      </p:sp>
      <p:graphicFrame>
        <p:nvGraphicFramePr>
          <p:cNvPr id="291" name=""/>
          <p:cNvGraphicFramePr/>
          <p:nvPr/>
        </p:nvGraphicFramePr>
        <p:xfrm>
          <a:off x="762120" y="1397160"/>
          <a:ext cx="14731920" cy="4825800"/>
        </p:xfrm>
        <a:graphic>
          <a:graphicData uri="http://schemas.openxmlformats.org/drawingml/2006/table">
            <a:tbl>
              <a:tblPr/>
              <a:tblGrid>
                <a:gridCol w="1620720"/>
                <a:gridCol w="2062080"/>
                <a:gridCol w="2651040"/>
                <a:gridCol w="2652840"/>
                <a:gridCol w="2062080"/>
                <a:gridCol w="3683160"/>
              </a:tblGrid>
              <a:tr h="4809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国家地区</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投资规模</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核心项目</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技术路线</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外资政策</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战略意图</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620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日本</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亿</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采购补贴计划</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本土混合</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基本排除</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优先</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20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欧盟</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芯片法案</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超算先进制程</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开放但需认证</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技术自主供应链安全</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620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东数西算二期</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昇腾寒武纪国产替代</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外资禁入</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全国一体化算力网络</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210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印度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任务组</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本土大模型数据中心</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限制，需本地合资</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数据中心本地化趋严</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620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加拿大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主权云环境</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排除</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要求加拿大所有权</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20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沙特</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C5A55A"/>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智慧城市国家数据治理</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需安装政府过滤软件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全面控制云服务商</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620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韩国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数据中心</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国产云外资混合</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认证限制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仅本土企业获高级认证</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sp>
        <p:nvSpPr>
          <p:cNvPr id="292" name="Text 4"/>
          <p:cNvSpPr/>
          <p:nvPr/>
        </p:nvSpPr>
        <p:spPr>
          <a:xfrm>
            <a:off x="762120" y="6477120"/>
            <a:ext cx="14731920" cy="152388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全球总投入估算</a:t>
            </a:r>
            <a:r>
              <a:rPr lang="en-US" sz="1400" b="0" u="none" strike="noStrike">
                <a:solidFill>
                  <a:srgbClr val="1A1A2E"/>
                </a:solidFill>
                <a:effectLst/>
                <a:uFillTx/>
                <a:latin typeface="Liter"/>
                <a:ea typeface="Liter"/>
              </a:rPr>
              <a:t>：年各国主权计算直接投资超</a:t>
            </a:r>
            <a:r>
              <a:rPr lang="en-US" sz="2400" b="1" u="none" strike="noStrike">
                <a:solidFill>
                  <a:srgbClr val="C5A55A"/>
                </a:solidFill>
                <a:effectLst/>
                <a:uFillTx/>
                <a:latin typeface="Liter"/>
                <a:ea typeface="Liter"/>
              </a:rPr>
              <a:t></a:t>
            </a:r>
            <a:r>
              <a:rPr lang="en-US" sz="1400" b="0" u="none" strike="noStrike">
                <a:solidFill>
                  <a:srgbClr val="1A1A2E"/>
                </a:solidFill>
                <a:effectLst/>
                <a:uFillTx/>
                <a:latin typeface="Liter"/>
                <a:ea typeface="Liter"/>
              </a:rPr>
              <a:t>，年增长率</a:t>
            </a:r>
            <a:r>
              <a:rPr lang="en-US" sz="1400" b="1" u="none" strike="noStrike">
                <a:solidFill>
                  <a:srgbClr val="C5A55A"/>
                </a:solidFill>
                <a:effectLst/>
                <a:uFillTx/>
                <a:latin typeface="Liter"/>
                <a:ea typeface="Liter"/>
              </a:rPr>
              <a:t></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关键趋势</a:t>
            </a:r>
            <a:r>
              <a:rPr lang="en-US" sz="1400" b="0" u="none" strike="noStrike">
                <a:solidFill>
                  <a:srgbClr val="1A1A2E"/>
                </a:solidFill>
                <a:effectLst/>
                <a:uFillTx/>
                <a:latin typeface="Liter"/>
                <a:ea typeface="Liter"/>
              </a:rPr>
              <a:t>：主权计算从概念走向大规模投资，各国政府将算力视为国家战略资产。外资云服务商面临越来越严格的准入限制和本地化要求，全球云市场正从统一走向碎片化。</a:t>
            </a:r>
            <a:endParaRPr lang="en-US" sz="1400" b="0" u="none" strike="noStrike">
              <a:solidFill>
                <a:srgbClr val="000000"/>
              </a:solidFill>
              <a:effectLst/>
              <a:uFillTx/>
              <a:latin typeface="Calibri"/>
            </a:endParaRPr>
          </a:p>
        </p:txBody>
      </p:sp>
      <p:sp>
        <p:nvSpPr>
          <p:cNvPr id="293" name="Text 5"/>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294" name="Text 6"/>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295"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96" name="Shape 1"/>
          <p:cNvSpPr/>
          <p:nvPr/>
        </p:nvSpPr>
        <p:spPr>
          <a:xfrm>
            <a:off x="9753480" y="152280"/>
            <a:ext cx="325116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97"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98"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u="none" strike="noStrike">
                <a:solidFill>
                  <a:srgbClr val="0F1F3D"/>
                </a:solidFill>
                <a:effectLst/>
                <a:uFillTx/>
                <a:latin typeface="Liter"/>
                <a:ea typeface="Liter"/>
              </a:rPr>
              <a:t>供应链韧性评估矩阵：地缘风险技术依赖替代方案成熟度</a:t>
            </a:r>
            <a:endParaRPr lang="en-US" sz="2200" b="0" u="none" strike="noStrike">
              <a:solidFill>
                <a:srgbClr val="000000"/>
              </a:solidFill>
              <a:effectLst/>
              <a:uFillTx/>
              <a:latin typeface="Calibri"/>
            </a:endParaRPr>
          </a:p>
        </p:txBody>
      </p:sp>
      <p:graphicFrame>
        <p:nvGraphicFramePr>
          <p:cNvPr id="299" name=""/>
          <p:cNvGraphicFramePr/>
          <p:nvPr/>
        </p:nvGraphicFramePr>
        <p:xfrm>
          <a:off x="762120" y="1397160"/>
          <a:ext cx="14731920" cy="3936960"/>
        </p:xfrm>
        <a:graphic>
          <a:graphicData uri="http://schemas.openxmlformats.org/drawingml/2006/table">
            <a:tbl>
              <a:tblPr/>
              <a:tblGrid>
                <a:gridCol w="2357280"/>
                <a:gridCol w="2062080"/>
                <a:gridCol w="2062440"/>
                <a:gridCol w="2062080"/>
                <a:gridCol w="2063520"/>
                <a:gridCol w="2062440"/>
                <a:gridCol w="2062080"/>
              </a:tblGrid>
              <a:tr h="5079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风险维度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中美台海</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美欧贸易</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俄乌外溢</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中东不稳</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网络攻击</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综合评分</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5713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地缘风险指数</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716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半导体供应链</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韧性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5713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云基础设施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韧性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716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数据架构</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依赖度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韧性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5713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替代方案成熟度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716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关键依赖对象</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台积电三星</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光刻机</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红海航运能源</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海底电缆卫星</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bl>
          </a:graphicData>
        </a:graphic>
      </p:graphicFrame>
      <p:sp>
        <p:nvSpPr>
          <p:cNvPr id="300" name="Text 4"/>
          <p:cNvSpPr/>
          <p:nvPr/>
        </p:nvSpPr>
        <p:spPr>
          <a:xfrm>
            <a:off x="762120" y="5587920"/>
            <a:ext cx="14731920" cy="241308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技术依赖核心数据</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•先进制程芯片（）：</a:t>
            </a:r>
            <a:r>
              <a:rPr lang="en-US" sz="1400" b="1" u="none" strike="noStrike">
                <a:solidFill>
                  <a:srgbClr val="1A1A2E"/>
                </a:solidFill>
                <a:effectLst/>
                <a:uFillTx/>
                <a:latin typeface="Liter"/>
                <a:ea typeface="Liter"/>
              </a:rPr>
              <a:t></a:t>
            </a:r>
            <a:r>
              <a:rPr lang="en-US" sz="1400" b="0" u="none" strike="noStrike">
                <a:solidFill>
                  <a:srgbClr val="1A1A2E"/>
                </a:solidFill>
                <a:effectLst/>
                <a:uFillTx/>
                <a:latin typeface="Liter"/>
                <a:ea typeface="Liter"/>
              </a:rPr>
              <a:t>依赖台积电三星　•云基础设施：</a:t>
            </a:r>
            <a:r>
              <a:rPr lang="en-US" sz="1400" b="1" u="none" strike="noStrike">
                <a:solidFill>
                  <a:srgbClr val="1A1A2E"/>
                </a:solidFill>
                <a:effectLst/>
                <a:uFillTx/>
                <a:latin typeface="Liter"/>
                <a:ea typeface="Liter"/>
              </a:rPr>
              <a:t></a:t>
            </a:r>
            <a:r>
              <a:rPr lang="en-US" sz="1400" b="0" u="none" strike="noStrike">
                <a:solidFill>
                  <a:srgbClr val="1A1A2E"/>
                </a:solidFill>
                <a:effectLst/>
                <a:uFillTx/>
                <a:latin typeface="Liter"/>
                <a:ea typeface="Liter"/>
              </a:rPr>
              <a:t>依赖（除中国外）　•软件：</a:t>
            </a:r>
            <a:r>
              <a:rPr lang="en-US" sz="1400" b="1" u="none" strike="noStrike">
                <a:solidFill>
                  <a:srgbClr val="1A1A2E"/>
                </a:solidFill>
                <a:effectLst/>
                <a:uFillTx/>
                <a:latin typeface="Liter"/>
                <a:ea typeface="Liter"/>
              </a:rPr>
              <a:t></a:t>
            </a:r>
            <a:r>
              <a:rPr lang="en-US" sz="1400" b="0" u="none" strike="noStrike">
                <a:solidFill>
                  <a:srgbClr val="1A1A2E"/>
                </a:solidFill>
                <a:effectLst/>
                <a:uFillTx/>
                <a:latin typeface="Liter"/>
                <a:ea typeface="Liter"/>
              </a:rPr>
              <a:t>依赖美国三巨头　•光刻机：</a:t>
            </a:r>
            <a:r>
              <a:rPr lang="en-US" sz="1400" b="1" u="none" strike="noStrike">
                <a:solidFill>
                  <a:srgbClr val="1A1A2E"/>
                </a:solidFill>
                <a:effectLst/>
                <a:uFillTx/>
                <a:latin typeface="Liter"/>
                <a:ea typeface="Liter"/>
              </a:rPr>
              <a:t></a:t>
            </a:r>
            <a:r>
              <a:rPr lang="en-US" sz="1400" b="0" u="none" strike="noStrike">
                <a:solidFill>
                  <a:srgbClr val="1A1A2E"/>
                </a:solidFill>
                <a:effectLst/>
                <a:uFillTx/>
                <a:latin typeface="Liter"/>
                <a:ea typeface="Liter"/>
              </a:rPr>
              <a:t>依赖</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替代方案成熟度</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•成熟制程（）：</a:t>
            </a:r>
            <a:r>
              <a:rPr lang="en-US" sz="1400" b="1" u="none" strike="noStrike">
                <a:solidFill>
                  <a:srgbClr val="1A1A2E"/>
                </a:solidFill>
                <a:effectLst/>
                <a:uFillTx/>
                <a:latin typeface="Liter"/>
                <a:ea typeface="Liter"/>
              </a:rPr>
              <a:t></a:t>
            </a:r>
            <a:r>
              <a:rPr lang="en-US" sz="1400" b="0" u="none" strike="noStrike">
                <a:solidFill>
                  <a:srgbClr val="1A1A2E"/>
                </a:solidFill>
                <a:effectLst/>
                <a:uFillTx/>
                <a:latin typeface="Liter"/>
                <a:ea typeface="Liter"/>
              </a:rPr>
              <a:t>（中芯国际）　•开源架构：</a:t>
            </a:r>
            <a:r>
              <a:rPr lang="en-US" sz="1400" b="1" u="none" strike="noStrike">
                <a:solidFill>
                  <a:srgbClr val="1A1A2E"/>
                </a:solidFill>
                <a:effectLst/>
                <a:uFillTx/>
                <a:latin typeface="Liter"/>
                <a:ea typeface="Liter"/>
              </a:rPr>
              <a:t></a:t>
            </a:r>
            <a:r>
              <a:rPr lang="en-US" sz="1400" b="0" u="none" strike="noStrike">
                <a:solidFill>
                  <a:srgbClr val="1A1A2E"/>
                </a:solidFill>
                <a:effectLst/>
                <a:uFillTx/>
                <a:latin typeface="Liter"/>
                <a:ea typeface="Liter"/>
              </a:rPr>
              <a:t>　•主权云替代：</a:t>
            </a:r>
            <a:r>
              <a:rPr lang="en-US" sz="1400" b="1" u="none" strike="noStrike">
                <a:solidFill>
                  <a:srgbClr val="1A1A2E"/>
                </a:solidFill>
                <a:effectLst/>
                <a:uFillTx/>
                <a:latin typeface="Liter"/>
                <a:ea typeface="Liter"/>
              </a:rPr>
              <a:t></a:t>
            </a:r>
            <a:r>
              <a:rPr lang="en-US" sz="1400" b="0" u="none" strike="noStrike">
                <a:solidFill>
                  <a:srgbClr val="1A1A2E"/>
                </a:solidFill>
                <a:effectLst/>
                <a:uFillTx/>
                <a:latin typeface="Liter"/>
                <a:ea typeface="Liter"/>
              </a:rPr>
              <a:t>（）　•国产芯片：</a:t>
            </a:r>
            <a:r>
              <a:rPr lang="en-US" sz="1400" b="1" u="none" strike="noStrike">
                <a:solidFill>
                  <a:srgbClr val="1A1A2E"/>
                </a:solidFill>
                <a:effectLst/>
                <a:uFillTx/>
                <a:latin typeface="Liter"/>
                <a:ea typeface="Liter"/>
              </a:rPr>
              <a:t></a:t>
            </a:r>
            <a:r>
              <a:rPr lang="en-US" sz="1400" b="0" u="none" strike="noStrike">
                <a:solidFill>
                  <a:srgbClr val="1A1A2E"/>
                </a:solidFill>
                <a:effectLst/>
                <a:uFillTx/>
                <a:latin typeface="Liter"/>
                <a:ea typeface="Liter"/>
              </a:rPr>
              <a:t>（昇腾寒武纪）</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综合韧性评分</a:t>
            </a:r>
            <a:r>
              <a:rPr lang="en-US" sz="1400" b="0" u="none" strike="noStrike">
                <a:solidFill>
                  <a:srgbClr val="1A1A2E"/>
                </a:solidFill>
                <a:effectLst/>
                <a:uFillTx/>
                <a:latin typeface="Liter"/>
                <a:ea typeface="Liter"/>
              </a:rPr>
              <a:t>：半导体</a:t>
            </a:r>
            <a:r>
              <a:rPr lang="en-US" sz="1400" b="1" u="none" strike="noStrike">
                <a:solidFill>
                  <a:srgbClr val="DC2626"/>
                </a:solidFill>
                <a:effectLst/>
                <a:uFillTx/>
                <a:latin typeface="Liter"/>
                <a:ea typeface="Liter"/>
              </a:rPr>
              <a:t>（低）</a:t>
            </a:r>
            <a:r>
              <a:rPr lang="en-US" sz="1400" b="0" u="none" strike="noStrike">
                <a:solidFill>
                  <a:srgbClr val="1A1A2E"/>
                </a:solidFill>
                <a:effectLst/>
                <a:uFillTx/>
                <a:latin typeface="Liter"/>
                <a:ea typeface="Liter"/>
              </a:rPr>
              <a:t>　云基础设施</a:t>
            </a:r>
            <a:r>
              <a:rPr lang="en-US" sz="1400" b="1" u="none" strike="noStrike">
                <a:solidFill>
                  <a:srgbClr val="1A1A2E"/>
                </a:solidFill>
                <a:effectLst/>
                <a:uFillTx/>
                <a:latin typeface="Liter"/>
                <a:ea typeface="Liter"/>
              </a:rPr>
              <a:t>（中等）</a:t>
            </a:r>
            <a:r>
              <a:rPr lang="en-US" sz="1400" b="0" u="none" strike="noStrike">
                <a:solidFill>
                  <a:srgbClr val="1A1A2E"/>
                </a:solidFill>
                <a:effectLst/>
                <a:uFillTx/>
                <a:latin typeface="Liter"/>
                <a:ea typeface="Liter"/>
              </a:rPr>
              <a:t>　数据架构</a:t>
            </a:r>
            <a:r>
              <a:rPr lang="en-US" sz="1400" b="1" u="none" strike="noStrike">
                <a:solidFill>
                  <a:srgbClr val="DC2626"/>
                </a:solidFill>
                <a:effectLst/>
                <a:uFillTx/>
                <a:latin typeface="Liter"/>
                <a:ea typeface="Liter"/>
              </a:rPr>
              <a:t>（低）</a:t>
            </a:r>
            <a:endParaRPr lang="en-US" sz="1400" b="0" u="none" strike="noStrike">
              <a:solidFill>
                <a:srgbClr val="000000"/>
              </a:solidFill>
              <a:effectLst/>
              <a:uFillTx/>
              <a:latin typeface="Calibri"/>
            </a:endParaRPr>
          </a:p>
        </p:txBody>
      </p:sp>
      <p:sp>
        <p:nvSpPr>
          <p:cNvPr id="301" name="Text 5"/>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302" name="Text 6"/>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03" name="Shape 0"/>
          <p:cNvSpPr/>
          <p:nvPr/>
        </p:nvSpPr>
        <p:spPr>
          <a:xfrm>
            <a:off x="0" y="0"/>
            <a:ext cx="8128080" cy="9144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304" name="Image 0" descr="https://kimi-img.moonshot.cn/pub/slides/okc/gkmdzig5jggc2/mnt/agents/output/digital_sovereignty_2026/images/7_Abstract_Technology_Landscape_Digital.png"/>
          <p:cNvPicPr/>
          <p:nvPr/>
        </p:nvPicPr>
        <p:blipFill>
          <a:blip r:embed="rId1"/>
          <a:srcRect l="25058" t="0" r="25058" b="0"/>
          <a:stretch/>
        </p:blipFill>
        <p:spPr>
          <a:xfrm>
            <a:off x="8128080" y="0"/>
            <a:ext cx="8128080" cy="9144000"/>
          </a:xfrm>
          <a:prstGeom prst="rect">
            <a:avLst/>
          </a:prstGeom>
          <a:noFill/>
          <a:ln w="0">
            <a:noFill/>
          </a:ln>
        </p:spPr>
      </p:pic>
      <p:grpSp>
        <p:nvGrpSpPr>
          <p:cNvPr id="305" name="Shape 1"/>
          <p:cNvGrpSpPr/>
          <p:nvPr/>
        </p:nvGrpSpPr>
        <p:grpSpPr>
          <a:xfrm>
            <a:off x="8115480" y="0"/>
            <a:ext cx="8153280" cy="9144000"/>
            <a:chOff x="8115480" y="0"/>
            <a:chExt cx="8153280" cy="9144000"/>
          </a:xfrm>
        </p:grpSpPr>
        <p:pic>
          <p:nvPicPr>
            <p:cNvPr id="306" name="Shape 1"/>
            <p:cNvPicPr/>
            <p:nvPr/>
          </p:nvPicPr>
          <p:blipFill>
            <a:blip r:embed="rId2"/>
            <a:stretch/>
          </p:blipFill>
          <p:spPr>
            <a:xfrm>
              <a:off x="8115480" y="0"/>
              <a:ext cx="8153280" cy="9144000"/>
            </a:xfrm>
            <a:prstGeom prst="rect">
              <a:avLst/>
            </a:prstGeom>
            <a:noFill/>
            <a:ln w="0">
              <a:noFill/>
            </a:ln>
          </p:spPr>
        </p:pic>
        <p:sp>
          <p:nvSpPr>
            <p:cNvPr id="307" name=""/>
            <p:cNvSpPr/>
            <p:nvPr/>
          </p:nvSpPr>
          <p:spPr>
            <a:xfrm>
              <a:off x="8128080" y="0"/>
              <a:ext cx="8128080" cy="9144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pSp>
      <p:sp>
        <p:nvSpPr>
          <p:cNvPr id="308" name="Text 2"/>
          <p:cNvSpPr/>
          <p:nvPr/>
        </p:nvSpPr>
        <p:spPr>
          <a:xfrm>
            <a:off x="1015920" y="2540160"/>
            <a:ext cx="2540160" cy="1015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7200" b="0" u="none" strike="noStrike">
                <a:solidFill>
                  <a:srgbClr val="C5A55A"/>
                </a:solidFill>
                <a:effectLst/>
                <a:uFillTx/>
                <a:latin typeface="Liter"/>
                <a:ea typeface="Liter"/>
              </a:rPr>
              <a:t></a:t>
            </a:r>
            <a:endParaRPr lang="en-US" sz="7200" b="0" u="none" strike="noStrike">
              <a:solidFill>
                <a:srgbClr val="000000"/>
              </a:solidFill>
              <a:effectLst/>
              <a:uFillTx/>
              <a:latin typeface="Calibri"/>
            </a:endParaRPr>
          </a:p>
        </p:txBody>
      </p:sp>
      <p:sp>
        <p:nvSpPr>
          <p:cNvPr id="309" name="Shape 3"/>
          <p:cNvSpPr/>
          <p:nvPr/>
        </p:nvSpPr>
        <p:spPr>
          <a:xfrm>
            <a:off x="1015920" y="3683160"/>
            <a:ext cx="762120" cy="50760"/>
          </a:xfrm>
          <a:prstGeom prst="rect">
            <a:avLst/>
          </a:prstGeom>
          <a:solidFill>
            <a:srgbClr val="C5A55A"/>
          </a:solidFill>
          <a:ln w="0">
            <a:noFill/>
          </a:ln>
        </p:spPr>
        <p:style>
          <a:lnRef idx="0"/>
          <a:fillRef idx="0"/>
          <a:effectRef idx="0"/>
          <a:fontRef idx="minor"/>
        </p:style>
        <p:txBody>
          <a:bodyPr lIns="90000" tIns="3960" rIns="90000" bIns="396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0" name="Text 4"/>
          <p:cNvSpPr/>
          <p:nvPr/>
        </p:nvSpPr>
        <p:spPr>
          <a:xfrm>
            <a:off x="1015920" y="3936960"/>
            <a:ext cx="6350040" cy="76212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0EDE8"/>
                </a:solidFill>
                <a:effectLst/>
                <a:uFillTx/>
                <a:latin typeface="Liter"/>
                <a:ea typeface="Liter"/>
              </a:rPr>
              <a:t>法律风险概率模型与战略建议</a:t>
            </a:r>
            <a:endParaRPr lang="en-US" sz="3600" b="0" u="none" strike="noStrike">
              <a:solidFill>
                <a:srgbClr val="000000"/>
              </a:solidFill>
              <a:effectLst/>
              <a:uFillTx/>
              <a:latin typeface="Calibri"/>
            </a:endParaRPr>
          </a:p>
        </p:txBody>
      </p:sp>
      <p:sp>
        <p:nvSpPr>
          <p:cNvPr id="311" name="Text 5"/>
          <p:cNvSpPr/>
          <p:nvPr/>
        </p:nvSpPr>
        <p:spPr>
          <a:xfrm>
            <a:off x="1015920" y="4826160"/>
            <a:ext cx="6350040" cy="761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a:t>
            </a:r>
            <a:endParaRPr lang="en-US" sz="16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8A8075"/>
                </a:solidFill>
                <a:effectLst/>
                <a:uFillTx/>
                <a:latin typeface="Liter"/>
                <a:ea typeface="Liter"/>
              </a:rPr>
              <a:t>从风险量化到决策框架</a:t>
            </a:r>
            <a:endParaRPr lang="en-US" sz="1600" b="0" u="none" strike="noStrike">
              <a:solidFill>
                <a:srgbClr val="000000"/>
              </a:solidFill>
              <a:effectLst/>
              <a:uFillTx/>
              <a:latin typeface="Calibri"/>
            </a:endParaRPr>
          </a:p>
        </p:txBody>
      </p:sp>
      <p:sp>
        <p:nvSpPr>
          <p:cNvPr id="312" name="Shape 6"/>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3" name="Shape 7"/>
          <p:cNvSpPr/>
          <p:nvPr/>
        </p:nvSpPr>
        <p:spPr>
          <a:xfrm>
            <a:off x="13004640" y="152280"/>
            <a:ext cx="325152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Tree>
  </p:cSld>
  <p:transition>
    <p:fad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314"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5" name="Shape 1"/>
          <p:cNvSpPr/>
          <p:nvPr/>
        </p:nvSpPr>
        <p:spPr>
          <a:xfrm>
            <a:off x="13004640" y="152280"/>
            <a:ext cx="325152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6"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7"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u="none" strike="noStrike">
                <a:solidFill>
                  <a:srgbClr val="0F1F3D"/>
                </a:solidFill>
                <a:effectLst/>
                <a:uFillTx/>
                <a:latin typeface="Liter"/>
                <a:ea typeface="Liter"/>
              </a:rPr>
              <a:t>法律风险概率模型：多法域合规的贝叶斯网络分析</a:t>
            </a:r>
            <a:endParaRPr lang="en-US" sz="2200" b="0" u="none" strike="noStrike">
              <a:solidFill>
                <a:srgbClr val="000000"/>
              </a:solidFill>
              <a:effectLst/>
              <a:uFillTx/>
              <a:latin typeface="Calibri"/>
            </a:endParaRPr>
          </a:p>
        </p:txBody>
      </p:sp>
      <p:graphicFrame>
        <p:nvGraphicFramePr>
          <p:cNvPr id="318" name=""/>
          <p:cNvGraphicFramePr/>
          <p:nvPr/>
        </p:nvGraphicFramePr>
        <p:xfrm>
          <a:off x="762120" y="1397160"/>
          <a:ext cx="8889840" cy="3936960"/>
        </p:xfrm>
        <a:graphic>
          <a:graphicData uri="http://schemas.openxmlformats.org/drawingml/2006/table">
            <a:tbl>
              <a:tblPr/>
              <a:tblGrid>
                <a:gridCol w="3555720"/>
                <a:gridCol w="1600200"/>
                <a:gridCol w="1600200"/>
                <a:gridCol w="2133720"/>
              </a:tblGrid>
              <a:tr h="469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风险事件（预测）</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概率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影响度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预计时间</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495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欧盟首批执法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极高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95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美国扩大行政令</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4950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中美半导体关税战升级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极高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全年</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95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印度全面执法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495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德国数字广告税通过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中等</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95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支柱一正式破裂</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极高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495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中国修订数据出境评估办法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sp>
        <p:nvSpPr>
          <p:cNvPr id="319" name="Text 4"/>
          <p:cNvSpPr/>
          <p:nvPr/>
        </p:nvSpPr>
        <p:spPr>
          <a:xfrm>
            <a:off x="10159920" y="1397160"/>
            <a:ext cx="533412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级联效应条件概率</a:t>
            </a:r>
            <a:endParaRPr lang="en-US" sz="1600" b="0" u="none" strike="noStrike">
              <a:solidFill>
                <a:srgbClr val="000000"/>
              </a:solidFill>
              <a:effectLst/>
              <a:uFillTx/>
              <a:latin typeface="Calibri"/>
            </a:endParaRPr>
          </a:p>
        </p:txBody>
      </p:sp>
      <p:sp>
        <p:nvSpPr>
          <p:cNvPr id="320" name="Shape 5"/>
          <p:cNvSpPr/>
          <p:nvPr/>
        </p:nvSpPr>
        <p:spPr>
          <a:xfrm>
            <a:off x="10159920" y="1841400"/>
            <a:ext cx="5334120" cy="36576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1" name="Text 6"/>
          <p:cNvSpPr/>
          <p:nvPr/>
        </p:nvSpPr>
        <p:spPr>
          <a:xfrm>
            <a:off x="10350360" y="1968480"/>
            <a:ext cx="4953240" cy="34923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1A1A2E"/>
                </a:solidFill>
                <a:effectLst/>
                <a:uFillTx/>
                <a:latin typeface="Liter"/>
                <a:ea typeface="Liter"/>
              </a:rPr>
              <a:t>模型架构</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以国家地区为节点，以法律变更概率、执法强度、跨境冲突为边，构建条件概率表（）。</a:t>
            </a:r>
            <a:endParaRPr lang="en-US" sz="13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1A1A2E"/>
                </a:solidFill>
                <a:effectLst/>
                <a:uFillTx/>
                <a:latin typeface="Liter"/>
                <a:ea typeface="Liter"/>
              </a:rPr>
              <a:t>级联条件概率</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•欧盟行动→英国跟进：</a:t>
            </a:r>
            <a:r>
              <a:rPr lang="en-US" sz="1300" b="1" u="none" strike="noStrike">
                <a:solidFill>
                  <a:srgbClr val="C5A55A"/>
                </a:solidFill>
                <a:effectLst/>
                <a:uFillTx/>
                <a:latin typeface="Liter"/>
                <a:ea typeface="Liter"/>
              </a:rPr>
              <a:t></a:t>
            </a:r>
            <a:r>
              <a:rPr lang="en-US" sz="1300" b="0" u="none" strike="noStrike">
                <a:solidFill>
                  <a:srgbClr val="1A1A2E"/>
                </a:solidFill>
                <a:effectLst/>
                <a:uFillTx/>
                <a:latin typeface="Liter"/>
                <a:ea typeface="Liter"/>
              </a:rPr>
              <a:t>　→日本跟进：</a:t>
            </a:r>
            <a:r>
              <a:rPr lang="en-US" sz="1300" b="1" u="none" strike="noStrike">
                <a:solidFill>
                  <a:srgbClr val="C5A55A"/>
                </a:solidFill>
                <a:effectLst/>
                <a:uFillTx/>
                <a:latin typeface="Liter"/>
                <a:ea typeface="Liter"/>
              </a:rPr>
              <a:t></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•美国行动→印度独立行动：</a:t>
            </a:r>
            <a:r>
              <a:rPr lang="en-US" sz="1300" b="1" u="none" strike="noStrike">
                <a:solidFill>
                  <a:srgbClr val="C5A55A"/>
                </a:solidFill>
                <a:effectLst/>
                <a:uFillTx/>
                <a:latin typeface="Liter"/>
                <a:ea typeface="Liter"/>
              </a:rPr>
              <a:t></a:t>
            </a:r>
            <a:endParaRPr lang="en-US" sz="13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1A1A2E"/>
                </a:solidFill>
                <a:effectLst/>
                <a:uFillTx/>
                <a:latin typeface="Liter"/>
                <a:ea typeface="Liter"/>
              </a:rPr>
              <a:t>企业暴露度</a:t>
            </a:r>
            <a:endParaRPr lang="en-US" sz="13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损失</a:t>
            </a:r>
            <a:r>
              <a:rPr lang="en-US" sz="1300" b="0" u="none" strike="noStrike">
                <a:solidFill>
                  <a:srgbClr val="1A1A2E"/>
                </a:solidFill>
                <a:effectLst/>
                <a:uFillTx/>
                <a:latin typeface="Liter"/>
                <a:ea typeface="Liter"/>
              </a:rPr>
              <a:t>Σ</a:t>
            </a:r>
            <a:r>
              <a:rPr lang="en-US" sz="1800" b="1" u="none" strike="noStrike">
                <a:solidFill>
                  <a:srgbClr val="C5A55A"/>
                </a:solidFill>
                <a:effectLst/>
                <a:uFillTx/>
                <a:latin typeface="Liter"/>
                <a:ea typeface="Liter"/>
              </a:rPr>
              <a:t></a:t>
            </a:r>
            <a:r>
              <a:rPr lang="en-US" sz="1800" b="1" u="none" strike="noStrike">
                <a:solidFill>
                  <a:srgbClr val="C5A55A"/>
                </a:solidFill>
                <a:effectLst/>
                <a:uFillTx/>
                <a:latin typeface="Liter"/>
                <a:ea typeface="Liter"/>
              </a:rPr>
              <a:t>年</a:t>
            </a:r>
            <a:endParaRPr lang="en-US" sz="1800" b="0" u="none" strike="noStrike">
              <a:solidFill>
                <a:srgbClr val="000000"/>
              </a:solidFill>
              <a:effectLst/>
              <a:uFillTx/>
              <a:latin typeface="Calibri"/>
            </a:endParaRPr>
          </a:p>
        </p:txBody>
      </p:sp>
      <p:pic>
        <p:nvPicPr>
          <p:cNvPr id="322" name="Text 7"/>
          <p:cNvPicPr/>
          <p:nvPr/>
        </p:nvPicPr>
        <p:blipFill>
          <a:blip r:embed="rId1"/>
          <a:stretch/>
        </p:blipFill>
        <p:spPr>
          <a:xfrm>
            <a:off x="762120" y="5587920"/>
            <a:ext cx="14744520" cy="2425680"/>
          </a:xfrm>
          <a:prstGeom prst="rect">
            <a:avLst/>
          </a:prstGeom>
          <a:noFill/>
          <a:ln w="0">
            <a:noFill/>
          </a:ln>
        </p:spPr>
      </p:pic>
      <p:sp>
        <p:nvSpPr>
          <p:cNvPr id="323" name="Text 8"/>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324" name="Text 9"/>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325"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6" name="Shape 1"/>
          <p:cNvSpPr/>
          <p:nvPr/>
        </p:nvSpPr>
        <p:spPr>
          <a:xfrm>
            <a:off x="13004640" y="152280"/>
            <a:ext cx="325152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7"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8"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u="none" strike="noStrike">
                <a:solidFill>
                  <a:srgbClr val="0F1F3D"/>
                </a:solidFill>
                <a:effectLst/>
                <a:uFillTx/>
                <a:latin typeface="Liter"/>
                <a:ea typeface="Liter"/>
              </a:rPr>
              <a:t>数据本地化合规风险热力图：行业国家矩阵</a:t>
            </a:r>
            <a:endParaRPr lang="en-US" sz="2200" b="0" u="none" strike="noStrike">
              <a:solidFill>
                <a:srgbClr val="000000"/>
              </a:solidFill>
              <a:effectLst/>
              <a:uFillTx/>
              <a:latin typeface="Calibri"/>
            </a:endParaRPr>
          </a:p>
        </p:txBody>
      </p:sp>
      <p:graphicFrame>
        <p:nvGraphicFramePr>
          <p:cNvPr id="329" name=""/>
          <p:cNvGraphicFramePr/>
          <p:nvPr/>
        </p:nvGraphicFramePr>
        <p:xfrm>
          <a:off x="762120" y="1397160"/>
          <a:ext cx="14731920" cy="4432320"/>
        </p:xfrm>
        <a:graphic>
          <a:graphicData uri="http://schemas.openxmlformats.org/drawingml/2006/table">
            <a:tbl>
              <a:tblPr/>
              <a:tblGrid>
                <a:gridCol w="1473120"/>
                <a:gridCol w="1473120"/>
                <a:gridCol w="1473120"/>
                <a:gridCol w="1473480"/>
                <a:gridCol w="1473120"/>
                <a:gridCol w="1473120"/>
                <a:gridCol w="1473120"/>
                <a:gridCol w="1473120"/>
                <a:gridCol w="1473480"/>
                <a:gridCol w="1473120"/>
              </a:tblGrid>
              <a:tr h="458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行业国家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中国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美国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欧盟</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印度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沙特</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日本</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巴西</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俄罗斯</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新加坡</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662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金融服务</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62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医疗健康</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662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云计算</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634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电子商务</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662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62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政务国防</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DC2626">
                        <a:alpha val="13000"/>
                      </a:srgbClr>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bl>
          </a:graphicData>
        </a:graphic>
      </p:graphicFrame>
      <p:sp>
        <p:nvSpPr>
          <p:cNvPr id="330" name="Text 4"/>
          <p:cNvSpPr/>
          <p:nvPr/>
        </p:nvSpPr>
        <p:spPr>
          <a:xfrm>
            <a:off x="762120" y="6667560"/>
            <a:ext cx="14731920" cy="127008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1A1A2E"/>
                </a:solidFill>
                <a:effectLst/>
                <a:uFillTx/>
                <a:latin typeface="Liter"/>
                <a:ea typeface="Liter"/>
              </a:rPr>
              <a:t>风险等级说明</a:t>
            </a:r>
            <a:r>
              <a:rPr lang="en-US" sz="1300" b="0" u="none" strike="noStrike">
                <a:solidFill>
                  <a:srgbClr val="1A1A2E"/>
                </a:solidFill>
                <a:effectLst/>
                <a:uFillTx/>
                <a:latin typeface="Liter"/>
                <a:ea typeface="Liter"/>
              </a:rPr>
              <a:t>：低风险（无本地化要求）｜较低风险（行业指引）｜中等风险（关键行业本地化）｜</a:t>
            </a:r>
            <a:r>
              <a:rPr lang="en-US" sz="1300" b="1" u="none" strike="noStrike">
                <a:solidFill>
                  <a:srgbClr val="DC2626"/>
                </a:solidFill>
                <a:effectLst/>
                <a:uFillTx/>
                <a:latin typeface="Liter"/>
                <a:ea typeface="Liter"/>
              </a:rPr>
              <a:t>高风险（多行业强制本地化严格审批）</a:t>
            </a:r>
            <a:r>
              <a:rPr lang="en-US" sz="1300" b="0" u="none" strike="noStrike">
                <a:solidFill>
                  <a:srgbClr val="1A1A2E"/>
                </a:solidFill>
                <a:effectLst/>
                <a:uFillTx/>
                <a:latin typeface="Liter"/>
                <a:ea typeface="Liter"/>
              </a:rPr>
              <a:t>｜</a:t>
            </a:r>
            <a:r>
              <a:rPr lang="en-US" sz="1300" b="1" u="none" strike="noStrike">
                <a:solidFill>
                  <a:srgbClr val="DC2626"/>
                </a:solidFill>
                <a:effectLst/>
                <a:uFillTx/>
                <a:latin typeface="Liter"/>
                <a:ea typeface="Liter"/>
              </a:rPr>
              <a:t>极高风险（全面禁止或强制隔离）</a:t>
            </a:r>
            <a:endParaRPr lang="en-US" sz="1300" b="0" u="none" strike="noStrike">
              <a:solidFill>
                <a:srgbClr val="000000"/>
              </a:solidFill>
              <a:effectLst/>
              <a:uFillTx/>
              <a:latin typeface="Calibri"/>
            </a:endParaRPr>
          </a:p>
          <a:p>
            <a:pPr>
              <a:lnSpc>
                <a:spcPct val="16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1A1A2E"/>
                </a:solidFill>
                <a:effectLst/>
                <a:uFillTx/>
                <a:latin typeface="Liter"/>
                <a:ea typeface="Liter"/>
              </a:rPr>
              <a:t>高风险组合</a:t>
            </a:r>
            <a:r>
              <a:rPr lang="en-US" sz="1300" b="0" u="none" strike="noStrike">
                <a:solidFill>
                  <a:srgbClr val="1A1A2E"/>
                </a:solidFill>
                <a:effectLst/>
                <a:uFillTx/>
                <a:latin typeface="Liter"/>
                <a:ea typeface="Liter"/>
              </a:rPr>
              <a:t>：金融服务中国印度沙特俄罗斯｜云计算中国俄罗斯｜政务国防几乎所有主权国家｜中国欧盟（叠加）</a:t>
            </a:r>
            <a:endParaRPr lang="en-US" sz="1300" b="0" u="none" strike="noStrike">
              <a:solidFill>
                <a:srgbClr val="000000"/>
              </a:solidFill>
              <a:effectLst/>
              <a:uFillTx/>
              <a:latin typeface="Calibri"/>
            </a:endParaRPr>
          </a:p>
        </p:txBody>
      </p:sp>
      <p:sp>
        <p:nvSpPr>
          <p:cNvPr id="331" name="Text 5"/>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332" name="Text 6"/>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333"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34" name="Shape 1"/>
          <p:cNvSpPr/>
          <p:nvPr/>
        </p:nvSpPr>
        <p:spPr>
          <a:xfrm>
            <a:off x="13004640" y="152280"/>
            <a:ext cx="325152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35"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36" name="Text 3"/>
          <p:cNvSpPr/>
          <p:nvPr/>
        </p:nvSpPr>
        <p:spPr>
          <a:xfrm>
            <a:off x="965160" y="63504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战略建议一：构建多主权区域数据网格架构</a:t>
            </a:r>
            <a:endParaRPr lang="en-US" sz="2400" b="0" u="none" strike="noStrike">
              <a:solidFill>
                <a:srgbClr val="000000"/>
              </a:solidFill>
              <a:effectLst/>
              <a:uFillTx/>
              <a:latin typeface="Calibri"/>
            </a:endParaRPr>
          </a:p>
        </p:txBody>
      </p:sp>
      <p:sp>
        <p:nvSpPr>
          <p:cNvPr id="337" name="Text 4"/>
          <p:cNvSpPr/>
          <p:nvPr/>
        </p:nvSpPr>
        <p:spPr>
          <a:xfrm>
            <a:off x="762120" y="1397160"/>
            <a:ext cx="7111800" cy="393696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架构原则</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数据物理隔离逻辑统一。每个主权区域独立部署数据存储与处理节点，区域间通过加密通道进行必要的数据同步。</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技术方案</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•采用范式，按主权区域划分数据域</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•隐私计算（联邦学习安全多方计算同态加密）</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•地理围栏（）确保数据不越境</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•合规规则引擎实时更新各法域要求</a:t>
            </a:r>
            <a:endParaRPr lang="en-US" sz="1400" b="0" u="none" strike="noStrike">
              <a:solidFill>
                <a:srgbClr val="000000"/>
              </a:solidFill>
              <a:effectLst/>
              <a:uFillTx/>
              <a:latin typeface="Calibri"/>
            </a:endParaRPr>
          </a:p>
        </p:txBody>
      </p:sp>
      <p:sp>
        <p:nvSpPr>
          <p:cNvPr id="338" name="Text 5"/>
          <p:cNvSpPr/>
          <p:nvPr/>
        </p:nvSpPr>
        <p:spPr>
          <a:xfrm>
            <a:off x="8381880" y="1397160"/>
            <a:ext cx="711216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实施路线图</a:t>
            </a:r>
            <a:endParaRPr lang="en-US" sz="1600" b="0" u="none" strike="noStrike">
              <a:solidFill>
                <a:srgbClr val="000000"/>
              </a:solidFill>
              <a:effectLst/>
              <a:uFillTx/>
              <a:latin typeface="Calibri"/>
            </a:endParaRPr>
          </a:p>
        </p:txBody>
      </p:sp>
      <p:sp>
        <p:nvSpPr>
          <p:cNvPr id="339" name="Shape 6"/>
          <p:cNvSpPr/>
          <p:nvPr/>
        </p:nvSpPr>
        <p:spPr>
          <a:xfrm>
            <a:off x="8381880" y="1841400"/>
            <a:ext cx="7112160" cy="69876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40" name="Text 7"/>
          <p:cNvSpPr/>
          <p:nvPr/>
        </p:nvSpPr>
        <p:spPr>
          <a:xfrm>
            <a:off x="8572680" y="1879560"/>
            <a:ext cx="6730920" cy="63504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C5A55A"/>
                </a:solidFill>
                <a:effectLst/>
                <a:uFillTx/>
                <a:latin typeface="Liter"/>
                <a:ea typeface="Liter"/>
              </a:rPr>
              <a:t></a:t>
            </a:r>
            <a:r>
              <a:rPr lang="en-US" sz="1300" b="0" u="none" strike="noStrike">
                <a:solidFill>
                  <a:srgbClr val="F0EDE8"/>
                </a:solidFill>
                <a:effectLst/>
                <a:uFillTx/>
                <a:latin typeface="Liter"/>
                <a:ea typeface="Liter"/>
              </a:rPr>
              <a:t>欧盟美国双区域部署</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0EDE8"/>
                </a:solidFill>
                <a:effectLst/>
                <a:uFillTx/>
                <a:latin typeface="Liter"/>
                <a:ea typeface="Liter"/>
              </a:rPr>
              <a:t>优先覆盖最高罚金法域，降低最大风险敞口</a:t>
            </a:r>
            <a:endParaRPr lang="en-US" sz="1300" b="0" u="none" strike="noStrike">
              <a:solidFill>
                <a:srgbClr val="000000"/>
              </a:solidFill>
              <a:effectLst/>
              <a:uFillTx/>
              <a:latin typeface="Calibri"/>
            </a:endParaRPr>
          </a:p>
        </p:txBody>
      </p:sp>
      <p:cxnSp>
        <p:nvCxnSpPr>
          <p:cNvPr id="341" name="Shape 8"/>
          <p:cNvCxnSpPr/>
          <p:nvPr/>
        </p:nvCxnSpPr>
        <p:spPr>
          <a:xfrm>
            <a:off x="11810520" y="2539800"/>
            <a:ext cx="1080" cy="191160"/>
          </a:xfrm>
          <a:prstGeom prst="straightConnector1">
            <a:avLst/>
          </a:prstGeom>
          <a:ln w="25560">
            <a:solidFill>
              <a:srgbClr val="C5A55A"/>
            </a:solidFill>
            <a:miter/>
            <a:tailEnd len="med" type="arrow" w="med"/>
          </a:ln>
        </p:spPr>
      </p:cxnSp>
      <p:sp>
        <p:nvSpPr>
          <p:cNvPr id="342" name="Shape 9"/>
          <p:cNvSpPr/>
          <p:nvPr/>
        </p:nvSpPr>
        <p:spPr>
          <a:xfrm>
            <a:off x="8381880" y="2730600"/>
            <a:ext cx="7112160" cy="698400"/>
          </a:xfrm>
          <a:prstGeom prst="rect">
            <a:avLst/>
          </a:prstGeom>
          <a:solidFill>
            <a:srgbClr val="0F1F3D">
              <a:alpha val="8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43" name="Text 10"/>
          <p:cNvSpPr/>
          <p:nvPr/>
        </p:nvSpPr>
        <p:spPr>
          <a:xfrm>
            <a:off x="8572680" y="2768760"/>
            <a:ext cx="6730920" cy="6346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C5A55A"/>
                </a:solidFill>
                <a:effectLst/>
                <a:uFillTx/>
                <a:latin typeface="Liter"/>
                <a:ea typeface="Liter"/>
              </a:rPr>
              <a:t></a:t>
            </a:r>
            <a:r>
              <a:rPr lang="en-US" sz="1300" b="0" u="none" strike="noStrike">
                <a:solidFill>
                  <a:srgbClr val="1A1A2E"/>
                </a:solidFill>
                <a:effectLst/>
                <a:uFillTx/>
                <a:latin typeface="Liter"/>
                <a:ea typeface="Liter"/>
              </a:rPr>
              <a:t>亚太（新加坡日本澳大利亚）</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覆盖体系核心成员国</a:t>
            </a:r>
            <a:endParaRPr lang="en-US" sz="1300" b="0" u="none" strike="noStrike">
              <a:solidFill>
                <a:srgbClr val="000000"/>
              </a:solidFill>
              <a:effectLst/>
              <a:uFillTx/>
              <a:latin typeface="Calibri"/>
            </a:endParaRPr>
          </a:p>
        </p:txBody>
      </p:sp>
      <p:cxnSp>
        <p:nvCxnSpPr>
          <p:cNvPr id="344" name="Shape 11"/>
          <p:cNvCxnSpPr/>
          <p:nvPr/>
        </p:nvCxnSpPr>
        <p:spPr>
          <a:xfrm>
            <a:off x="11810520" y="3428640"/>
            <a:ext cx="1080" cy="191160"/>
          </a:xfrm>
          <a:prstGeom prst="straightConnector1">
            <a:avLst/>
          </a:prstGeom>
          <a:ln w="25560">
            <a:solidFill>
              <a:srgbClr val="C5A55A"/>
            </a:solidFill>
            <a:miter/>
            <a:tailEnd len="med" type="arrow" w="med"/>
          </a:ln>
        </p:spPr>
      </p:cxnSp>
      <p:sp>
        <p:nvSpPr>
          <p:cNvPr id="345" name="Shape 12"/>
          <p:cNvSpPr/>
          <p:nvPr/>
        </p:nvSpPr>
        <p:spPr>
          <a:xfrm>
            <a:off x="8381880" y="3619440"/>
            <a:ext cx="7112160" cy="698400"/>
          </a:xfrm>
          <a:prstGeom prst="rect">
            <a:avLst/>
          </a:prstGeom>
          <a:solidFill>
            <a:srgbClr val="0F1F3D">
              <a:alpha val="8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46" name="Text 13"/>
          <p:cNvSpPr/>
          <p:nvPr/>
        </p:nvSpPr>
        <p:spPr>
          <a:xfrm>
            <a:off x="8572680" y="3657600"/>
            <a:ext cx="6730920" cy="63504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C5A55A"/>
                </a:solidFill>
                <a:effectLst/>
                <a:uFillTx/>
                <a:latin typeface="Liter"/>
                <a:ea typeface="Liter"/>
              </a:rPr>
              <a:t></a:t>
            </a:r>
            <a:r>
              <a:rPr lang="en-US" sz="1300" b="0" u="none" strike="noStrike">
                <a:solidFill>
                  <a:srgbClr val="1A1A2E"/>
                </a:solidFill>
                <a:effectLst/>
                <a:uFillTx/>
                <a:latin typeface="Liter"/>
                <a:ea typeface="Liter"/>
              </a:rPr>
              <a:t>印度中东</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应对执法和沙特要求</a:t>
            </a:r>
            <a:endParaRPr lang="en-US" sz="1300" b="0" u="none" strike="noStrike">
              <a:solidFill>
                <a:srgbClr val="000000"/>
              </a:solidFill>
              <a:effectLst/>
              <a:uFillTx/>
              <a:latin typeface="Calibri"/>
            </a:endParaRPr>
          </a:p>
        </p:txBody>
      </p:sp>
      <p:cxnSp>
        <p:nvCxnSpPr>
          <p:cNvPr id="347" name="Shape 14"/>
          <p:cNvCxnSpPr/>
          <p:nvPr/>
        </p:nvCxnSpPr>
        <p:spPr>
          <a:xfrm>
            <a:off x="11810520" y="4317840"/>
            <a:ext cx="1080" cy="191520"/>
          </a:xfrm>
          <a:prstGeom prst="straightConnector1">
            <a:avLst/>
          </a:prstGeom>
          <a:ln w="25560">
            <a:solidFill>
              <a:srgbClr val="C5A55A"/>
            </a:solidFill>
            <a:miter/>
            <a:tailEnd len="med" type="arrow" w="med"/>
          </a:ln>
        </p:spPr>
      </p:cxnSp>
      <p:sp>
        <p:nvSpPr>
          <p:cNvPr id="348" name="Shape 15"/>
          <p:cNvSpPr/>
          <p:nvPr/>
        </p:nvSpPr>
        <p:spPr>
          <a:xfrm>
            <a:off x="8381880" y="4508640"/>
            <a:ext cx="7112160" cy="698400"/>
          </a:xfrm>
          <a:prstGeom prst="rect">
            <a:avLst/>
          </a:prstGeom>
          <a:solidFill>
            <a:srgbClr val="0F1F3D">
              <a:alpha val="8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49" name="Text 16"/>
          <p:cNvSpPr/>
          <p:nvPr/>
        </p:nvSpPr>
        <p:spPr>
          <a:xfrm>
            <a:off x="8572680" y="4546440"/>
            <a:ext cx="6730920" cy="63504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C5A55A"/>
                </a:solidFill>
                <a:effectLst/>
                <a:uFillTx/>
                <a:latin typeface="Liter"/>
                <a:ea typeface="Liter"/>
              </a:rPr>
              <a:t></a:t>
            </a:r>
            <a:r>
              <a:rPr lang="en-US" sz="1300" b="0" u="none" strike="noStrike">
                <a:solidFill>
                  <a:srgbClr val="1A1A2E"/>
                </a:solidFill>
                <a:effectLst/>
                <a:uFillTx/>
                <a:latin typeface="Liter"/>
                <a:ea typeface="Liter"/>
              </a:rPr>
              <a:t>中国（如商业可行）</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A1A2E"/>
                </a:solidFill>
                <a:effectLst/>
                <a:uFillTx/>
                <a:latin typeface="Liter"/>
                <a:ea typeface="Liter"/>
              </a:rPr>
              <a:t>需独立评估政治风险与商业回报比</a:t>
            </a:r>
            <a:endParaRPr lang="en-US" sz="1300" b="0" u="none" strike="noStrike">
              <a:solidFill>
                <a:srgbClr val="000000"/>
              </a:solidFill>
              <a:effectLst/>
              <a:uFillTx/>
              <a:latin typeface="Calibri"/>
            </a:endParaRPr>
          </a:p>
        </p:txBody>
      </p:sp>
      <p:sp>
        <p:nvSpPr>
          <p:cNvPr id="350" name="Text 17"/>
          <p:cNvSpPr/>
          <p:nvPr/>
        </p:nvSpPr>
        <p:spPr>
          <a:xfrm>
            <a:off x="762120" y="5587920"/>
            <a:ext cx="5079960" cy="3556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成本效益分析</a:t>
            </a:r>
            <a:endParaRPr lang="en-US" sz="1600" b="0" u="none" strike="noStrike">
              <a:solidFill>
                <a:srgbClr val="000000"/>
              </a:solidFill>
              <a:effectLst/>
              <a:uFillTx/>
              <a:latin typeface="Calibri"/>
            </a:endParaRPr>
          </a:p>
        </p:txBody>
      </p:sp>
      <p:sp>
        <p:nvSpPr>
          <p:cNvPr id="351" name="Shape 18"/>
          <p:cNvSpPr/>
          <p:nvPr/>
        </p:nvSpPr>
        <p:spPr>
          <a:xfrm>
            <a:off x="762120" y="6032520"/>
            <a:ext cx="14731920" cy="196848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52" name="Text 19"/>
          <p:cNvSpPr/>
          <p:nvPr/>
        </p:nvSpPr>
        <p:spPr>
          <a:xfrm>
            <a:off x="1015920" y="6159600"/>
            <a:ext cx="14223960" cy="171432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初期建设成本</a:t>
            </a:r>
            <a:r>
              <a:rPr lang="en-US" sz="1400" b="0" u="none" strike="noStrike">
                <a:solidFill>
                  <a:srgbClr val="1A1A2E"/>
                </a:solidFill>
                <a:effectLst/>
                <a:uFillTx/>
                <a:latin typeface="Liter"/>
                <a:ea typeface="Liter"/>
              </a:rPr>
              <a:t>：</a:t>
            </a:r>
            <a:r>
              <a:rPr lang="en-US" sz="2200" b="1" u="none" strike="noStrike">
                <a:solidFill>
                  <a:srgbClr val="C5A55A"/>
                </a:solidFill>
                <a:effectLst/>
                <a:uFillTx/>
                <a:latin typeface="Liter"/>
                <a:ea typeface="Liter"/>
              </a:rPr>
              <a:t></a:t>
            </a:r>
            <a:r>
              <a:rPr lang="en-US" sz="1400" b="0" u="none" strike="noStrike">
                <a:solidFill>
                  <a:srgbClr val="1A1A2E"/>
                </a:solidFill>
                <a:effectLst/>
                <a:uFillTx/>
                <a:latin typeface="Liter"/>
                <a:ea typeface="Liter"/>
              </a:rPr>
              <a:t>（取决于规模）　</a:t>
            </a:r>
            <a:r>
              <a:rPr lang="en-US" sz="1400" b="1" u="none" strike="noStrike">
                <a:solidFill>
                  <a:srgbClr val="1A1A2E"/>
                </a:solidFill>
                <a:effectLst/>
                <a:uFillTx/>
                <a:latin typeface="Liter"/>
                <a:ea typeface="Liter"/>
              </a:rPr>
              <a:t>年运营成本</a:t>
            </a:r>
            <a:r>
              <a:rPr lang="en-US" sz="1400" b="0" u="none" strike="noStrike">
                <a:solidFill>
                  <a:srgbClr val="1A1A2E"/>
                </a:solidFill>
                <a:effectLst/>
                <a:uFillTx/>
                <a:latin typeface="Liter"/>
                <a:ea typeface="Liter"/>
              </a:rPr>
              <a:t>：</a:t>
            </a:r>
            <a:r>
              <a:rPr lang="en-US" sz="2200" b="1" u="none" strike="noStrike">
                <a:solidFill>
                  <a:srgbClr val="C5A55A"/>
                </a:solidFill>
                <a:effectLst/>
                <a:uFillTx/>
                <a:latin typeface="Liter"/>
                <a:ea typeface="Liter"/>
              </a:rPr>
              <a:t></a:t>
            </a:r>
            <a:endParaRPr lang="en-US" sz="22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收益</a:t>
            </a:r>
            <a:r>
              <a:rPr lang="en-US" sz="1400" b="0" u="none" strike="noStrike">
                <a:solidFill>
                  <a:srgbClr val="1A1A2E"/>
                </a:solidFill>
                <a:effectLst/>
                <a:uFillTx/>
                <a:latin typeface="Liter"/>
                <a:ea typeface="Liter"/>
              </a:rPr>
              <a:t>：避免单次重大罚款（€案例）降低合规人力成本加速新市场进入（合规就绪）</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1A1A2E"/>
                </a:solidFill>
                <a:effectLst/>
                <a:uFillTx/>
                <a:latin typeface="Liter"/>
                <a:ea typeface="Liter"/>
              </a:rPr>
              <a:t>投资回收期</a:t>
            </a:r>
            <a:r>
              <a:rPr lang="en-US" sz="1400" b="0" u="none" strike="noStrike">
                <a:solidFill>
                  <a:srgbClr val="1A1A2E"/>
                </a:solidFill>
                <a:effectLst/>
                <a:uFillTx/>
                <a:latin typeface="Liter"/>
                <a:ea typeface="Liter"/>
              </a:rPr>
              <a:t>：个月（以级罚款为基准）　</a:t>
            </a:r>
            <a:r>
              <a:rPr lang="en-US" sz="1400" b="1" u="none" strike="noStrike">
                <a:solidFill>
                  <a:srgbClr val="1A1A2E"/>
                </a:solidFill>
                <a:effectLst/>
                <a:uFillTx/>
                <a:latin typeface="Liter"/>
                <a:ea typeface="Liter"/>
              </a:rPr>
              <a:t>年</a:t>
            </a:r>
            <a:r>
              <a:rPr lang="en-US" sz="1400" b="0" u="none" strike="noStrike">
                <a:solidFill>
                  <a:srgbClr val="1A1A2E"/>
                </a:solidFill>
                <a:effectLst/>
                <a:uFillTx/>
                <a:latin typeface="Liter"/>
                <a:ea typeface="Liter"/>
              </a:rPr>
              <a:t>：</a:t>
            </a:r>
            <a:r>
              <a:rPr lang="en-US" sz="1400" b="1" u="none" strike="noStrike">
                <a:solidFill>
                  <a:srgbClr val="C5A55A"/>
                </a:solidFill>
                <a:effectLst/>
                <a:uFillTx/>
                <a:latin typeface="Liter"/>
                <a:ea typeface="Liter"/>
              </a:rPr>
              <a:t></a:t>
            </a:r>
            <a:endParaRPr lang="en-US" sz="1400" b="0" u="none" strike="noStrike">
              <a:solidFill>
                <a:srgbClr val="000000"/>
              </a:solidFill>
              <a:effectLst/>
              <a:uFillTx/>
              <a:latin typeface="Calibri"/>
            </a:endParaRPr>
          </a:p>
        </p:txBody>
      </p:sp>
      <p:sp>
        <p:nvSpPr>
          <p:cNvPr id="353" name="Text 20"/>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354" name="Text 21"/>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355"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56" name="Shape 1"/>
          <p:cNvSpPr/>
          <p:nvPr/>
        </p:nvSpPr>
        <p:spPr>
          <a:xfrm>
            <a:off x="13004640" y="152280"/>
            <a:ext cx="325152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57"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58"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战略建议二：合规优化与税务架构重组</a:t>
            </a:r>
            <a:endParaRPr lang="en-US" sz="2400" b="0" u="none" strike="noStrike">
              <a:solidFill>
                <a:srgbClr val="000000"/>
              </a:solidFill>
              <a:effectLst/>
              <a:uFillTx/>
              <a:latin typeface="Calibri"/>
            </a:endParaRPr>
          </a:p>
        </p:txBody>
      </p:sp>
      <p:sp>
        <p:nvSpPr>
          <p:cNvPr id="359" name="Shape 4"/>
          <p:cNvSpPr/>
          <p:nvPr/>
        </p:nvSpPr>
        <p:spPr>
          <a:xfrm>
            <a:off x="762120" y="1397160"/>
            <a:ext cx="4698720" cy="25398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60" name="Shape 5"/>
          <p:cNvSpPr/>
          <p:nvPr/>
        </p:nvSpPr>
        <p:spPr>
          <a:xfrm>
            <a:off x="762120" y="1397160"/>
            <a:ext cx="4698720" cy="40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61" name="Text 6"/>
          <p:cNvSpPr/>
          <p:nvPr/>
        </p:nvSpPr>
        <p:spPr>
          <a:xfrm>
            <a:off x="952560" y="1397160"/>
            <a:ext cx="4317840" cy="4060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0EDE8"/>
                </a:solidFill>
                <a:effectLst/>
                <a:uFillTx/>
                <a:latin typeface="Liter"/>
                <a:ea typeface="Liter"/>
              </a:rPr>
              <a:t>合规中心化管理</a:t>
            </a:r>
            <a:endParaRPr lang="en-US" sz="1300" b="0" u="none" strike="noStrike">
              <a:solidFill>
                <a:srgbClr val="000000"/>
              </a:solidFill>
              <a:effectLst/>
              <a:uFillTx/>
              <a:latin typeface="Calibri"/>
            </a:endParaRPr>
          </a:p>
        </p:txBody>
      </p:sp>
      <p:sp>
        <p:nvSpPr>
          <p:cNvPr id="362" name="Text 7"/>
          <p:cNvSpPr/>
          <p:nvPr/>
        </p:nvSpPr>
        <p:spPr>
          <a:xfrm>
            <a:off x="952560" y="1905120"/>
            <a:ext cx="4317840" cy="1904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•建立全球监控中心</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•实时追踪司法管辖区</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•与季度更新</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•自动化合规报告生成</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•年度合规审计全覆盖</a:t>
            </a:r>
            <a:endParaRPr lang="en-US" sz="1200" b="0" u="none" strike="noStrike">
              <a:solidFill>
                <a:srgbClr val="000000"/>
              </a:solidFill>
              <a:effectLst/>
              <a:uFillTx/>
              <a:latin typeface="Calibri"/>
            </a:endParaRPr>
          </a:p>
        </p:txBody>
      </p:sp>
      <p:sp>
        <p:nvSpPr>
          <p:cNvPr id="363" name="Shape 8"/>
          <p:cNvSpPr/>
          <p:nvPr/>
        </p:nvSpPr>
        <p:spPr>
          <a:xfrm>
            <a:off x="5715000" y="1397160"/>
            <a:ext cx="4699080" cy="25398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64" name="Shape 9"/>
          <p:cNvSpPr/>
          <p:nvPr/>
        </p:nvSpPr>
        <p:spPr>
          <a:xfrm>
            <a:off x="5715000" y="1397160"/>
            <a:ext cx="4699080" cy="40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65" name="Text 10"/>
          <p:cNvSpPr/>
          <p:nvPr/>
        </p:nvSpPr>
        <p:spPr>
          <a:xfrm>
            <a:off x="5905440" y="1397160"/>
            <a:ext cx="4318200" cy="4060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0EDE8"/>
                </a:solidFill>
                <a:effectLst/>
                <a:uFillTx/>
                <a:latin typeface="Liter"/>
                <a:ea typeface="Liter"/>
              </a:rPr>
              <a:t>营收归因系统升级</a:t>
            </a:r>
            <a:endParaRPr lang="en-US" sz="1300" b="0" u="none" strike="noStrike">
              <a:solidFill>
                <a:srgbClr val="000000"/>
              </a:solidFill>
              <a:effectLst/>
              <a:uFillTx/>
              <a:latin typeface="Calibri"/>
            </a:endParaRPr>
          </a:p>
        </p:txBody>
      </p:sp>
      <p:sp>
        <p:nvSpPr>
          <p:cNvPr id="366" name="Text 11"/>
          <p:cNvSpPr/>
          <p:nvPr/>
        </p:nvSpPr>
        <p:spPr>
          <a:xfrm>
            <a:off x="5905440" y="1905120"/>
            <a:ext cx="4318200" cy="1904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•账单地址三重验证</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•可审计的营收分配模型</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•应对税务机关挑战预案</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•投资：</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•错误归因罚款风险降低</a:t>
            </a:r>
            <a:endParaRPr lang="en-US" sz="1200" b="0" u="none" strike="noStrike">
              <a:solidFill>
                <a:srgbClr val="000000"/>
              </a:solidFill>
              <a:effectLst/>
              <a:uFillTx/>
              <a:latin typeface="Calibri"/>
            </a:endParaRPr>
          </a:p>
        </p:txBody>
      </p:sp>
      <p:sp>
        <p:nvSpPr>
          <p:cNvPr id="367" name="Shape 12"/>
          <p:cNvSpPr/>
          <p:nvPr/>
        </p:nvSpPr>
        <p:spPr>
          <a:xfrm>
            <a:off x="10667880" y="1397160"/>
            <a:ext cx="4826160" cy="25398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68" name="Shape 13"/>
          <p:cNvSpPr/>
          <p:nvPr/>
        </p:nvSpPr>
        <p:spPr>
          <a:xfrm>
            <a:off x="10667880" y="1397160"/>
            <a:ext cx="4826160" cy="40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69" name="Text 14"/>
          <p:cNvSpPr/>
          <p:nvPr/>
        </p:nvSpPr>
        <p:spPr>
          <a:xfrm>
            <a:off x="10858680" y="1397160"/>
            <a:ext cx="4444920" cy="4060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0EDE8"/>
                </a:solidFill>
                <a:effectLst/>
                <a:uFillTx/>
                <a:latin typeface="Liter"/>
                <a:ea typeface="Liter"/>
              </a:rPr>
              <a:t>架构重组选项</a:t>
            </a:r>
            <a:endParaRPr lang="en-US" sz="1300" b="0" u="none" strike="noStrike">
              <a:solidFill>
                <a:srgbClr val="000000"/>
              </a:solidFill>
              <a:effectLst/>
              <a:uFillTx/>
              <a:latin typeface="Calibri"/>
            </a:endParaRPr>
          </a:p>
        </p:txBody>
      </p:sp>
      <p:sp>
        <p:nvSpPr>
          <p:cNvPr id="370" name="Text 15"/>
          <p:cNvSpPr/>
          <p:nvPr/>
        </p:nvSpPr>
        <p:spPr>
          <a:xfrm>
            <a:off x="10858680" y="1905120"/>
            <a:ext cx="4444920" cy="1904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•关键市场设本地法人实体</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•转为本地运营（企业所得税）</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•平台费技术服务费定性</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•预先裁定（）机制</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•供应链调整预案（替代供应商）</a:t>
            </a:r>
            <a:endParaRPr lang="en-US" sz="1200" b="0" u="none" strike="noStrike">
              <a:solidFill>
                <a:srgbClr val="000000"/>
              </a:solidFill>
              <a:effectLst/>
              <a:uFillTx/>
              <a:latin typeface="Calibri"/>
            </a:endParaRPr>
          </a:p>
        </p:txBody>
      </p:sp>
      <p:sp>
        <p:nvSpPr>
          <p:cNvPr id="371" name="Text 16"/>
          <p:cNvSpPr/>
          <p:nvPr/>
        </p:nvSpPr>
        <p:spPr>
          <a:xfrm>
            <a:off x="762120" y="4191120"/>
            <a:ext cx="507996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三重情景应对策略</a:t>
            </a:r>
            <a:endParaRPr lang="en-US" sz="1600" b="0" u="none" strike="noStrike">
              <a:solidFill>
                <a:srgbClr val="000000"/>
              </a:solidFill>
              <a:effectLst/>
              <a:uFillTx/>
              <a:latin typeface="Calibri"/>
            </a:endParaRPr>
          </a:p>
        </p:txBody>
      </p:sp>
      <p:sp>
        <p:nvSpPr>
          <p:cNvPr id="372" name="Text 17"/>
          <p:cNvSpPr/>
          <p:nvPr/>
        </p:nvSpPr>
        <p:spPr>
          <a:xfrm>
            <a:off x="762120" y="4635360"/>
            <a:ext cx="14731920" cy="330228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乐观情景（支柱一达成，概率）</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→准备退出过渡方案，释放合规团队资源转向战略项目，预计节省年度合规成本</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基准情景（维持现状，概率）</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→维持现状优化运营效率，投资营收归因系统，与税务机关建立长期合作关系，年度成本稳定</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DC2626"/>
                </a:solidFill>
                <a:effectLst/>
                <a:uFillTx/>
                <a:latin typeface="Liter"/>
                <a:ea typeface="Liter"/>
              </a:rPr>
              <a:t>悲观情景（全面贸易战，概率）</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1A1A2E"/>
                </a:solidFill>
                <a:effectLst/>
                <a:uFillTx/>
                <a:latin typeface="Liter"/>
                <a:ea typeface="Liter"/>
              </a:rPr>
              <a:t>→考虑退出高风险市场（关税报复）或提高定价转嫁成本。优先保留市场份额的核心市场，评估边缘市场退出可行性。建立应急储备金。</a:t>
            </a:r>
            <a:endParaRPr lang="en-US" sz="1400" b="0" u="none" strike="noStrike">
              <a:solidFill>
                <a:srgbClr val="000000"/>
              </a:solidFill>
              <a:effectLst/>
              <a:uFillTx/>
              <a:latin typeface="Calibri"/>
            </a:endParaRPr>
          </a:p>
        </p:txBody>
      </p:sp>
      <p:sp>
        <p:nvSpPr>
          <p:cNvPr id="373" name="Text 18"/>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374" name="Text 19"/>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375"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76" name="Shape 1"/>
          <p:cNvSpPr/>
          <p:nvPr/>
        </p:nvSpPr>
        <p:spPr>
          <a:xfrm>
            <a:off x="13004640" y="152280"/>
            <a:ext cx="325152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77"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78"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战略建议三：科技外交参与策略与政策影响力构建</a:t>
            </a:r>
            <a:endParaRPr lang="en-US" sz="2400" b="0" u="none" strike="noStrike">
              <a:solidFill>
                <a:srgbClr val="000000"/>
              </a:solidFill>
              <a:effectLst/>
              <a:uFillTx/>
              <a:latin typeface="Calibri"/>
            </a:endParaRPr>
          </a:p>
        </p:txBody>
      </p:sp>
      <p:sp>
        <p:nvSpPr>
          <p:cNvPr id="379" name="Shape 4"/>
          <p:cNvSpPr/>
          <p:nvPr/>
        </p:nvSpPr>
        <p:spPr>
          <a:xfrm>
            <a:off x="762120" y="1397160"/>
            <a:ext cx="3429000" cy="25398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80" name="Shape 5"/>
          <p:cNvSpPr/>
          <p:nvPr/>
        </p:nvSpPr>
        <p:spPr>
          <a:xfrm>
            <a:off x="762120" y="1397160"/>
            <a:ext cx="3429000" cy="40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81" name="Text 6"/>
          <p:cNvSpPr/>
          <p:nvPr/>
        </p:nvSpPr>
        <p:spPr>
          <a:xfrm>
            <a:off x="952560" y="1397160"/>
            <a:ext cx="3048120" cy="4060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多边参与</a:t>
            </a:r>
            <a:endParaRPr lang="en-US" sz="1200" b="0" u="none" strike="noStrike">
              <a:solidFill>
                <a:srgbClr val="000000"/>
              </a:solidFill>
              <a:effectLst/>
              <a:uFillTx/>
              <a:latin typeface="Calibri"/>
            </a:endParaRPr>
          </a:p>
        </p:txBody>
      </p:sp>
      <p:sp>
        <p:nvSpPr>
          <p:cNvPr id="382" name="Text 7"/>
          <p:cNvSpPr/>
          <p:nvPr/>
        </p:nvSpPr>
        <p:spPr>
          <a:xfrm>
            <a:off x="952560" y="1905120"/>
            <a:ext cx="3048120" cy="1904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•数字经济政策委员会</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•工作组</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•互联网治理论坛</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•争取标准制定阶段影响力</a:t>
            </a:r>
            <a:endParaRPr lang="en-US" sz="1100" b="0" u="none" strike="noStrike">
              <a:solidFill>
                <a:srgbClr val="000000"/>
              </a:solidFill>
              <a:effectLst/>
              <a:uFillTx/>
              <a:latin typeface="Calibri"/>
            </a:endParaRPr>
          </a:p>
        </p:txBody>
      </p:sp>
      <p:sp>
        <p:nvSpPr>
          <p:cNvPr id="383" name="Shape 8"/>
          <p:cNvSpPr/>
          <p:nvPr/>
        </p:nvSpPr>
        <p:spPr>
          <a:xfrm>
            <a:off x="4444920" y="1397160"/>
            <a:ext cx="3429000" cy="25398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84" name="Shape 9"/>
          <p:cNvSpPr/>
          <p:nvPr/>
        </p:nvSpPr>
        <p:spPr>
          <a:xfrm>
            <a:off x="4444920" y="1397160"/>
            <a:ext cx="3429000" cy="40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85" name="Text 10"/>
          <p:cNvSpPr/>
          <p:nvPr/>
        </p:nvSpPr>
        <p:spPr>
          <a:xfrm>
            <a:off x="4635360" y="1397160"/>
            <a:ext cx="3048120" cy="4060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双边布局</a:t>
            </a:r>
            <a:endParaRPr lang="en-US" sz="1200" b="0" u="none" strike="noStrike">
              <a:solidFill>
                <a:srgbClr val="000000"/>
              </a:solidFill>
              <a:effectLst/>
              <a:uFillTx/>
              <a:latin typeface="Calibri"/>
            </a:endParaRPr>
          </a:p>
        </p:txBody>
      </p:sp>
      <p:sp>
        <p:nvSpPr>
          <p:cNvPr id="386" name="Text 11"/>
          <p:cNvSpPr/>
          <p:nvPr/>
        </p:nvSpPr>
        <p:spPr>
          <a:xfrm>
            <a:off x="4635360" y="1905120"/>
            <a:ext cx="3048120" cy="1904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•布鲁塞尔华盛顿北京新德里</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•设立政府关系办公室</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•聘请前监管官员为顾问</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•年度预算办公室</a:t>
            </a:r>
            <a:endParaRPr lang="en-US" sz="1100" b="0" u="none" strike="noStrike">
              <a:solidFill>
                <a:srgbClr val="000000"/>
              </a:solidFill>
              <a:effectLst/>
              <a:uFillTx/>
              <a:latin typeface="Calibri"/>
            </a:endParaRPr>
          </a:p>
        </p:txBody>
      </p:sp>
      <p:sp>
        <p:nvSpPr>
          <p:cNvPr id="387" name="Shape 12"/>
          <p:cNvSpPr/>
          <p:nvPr/>
        </p:nvSpPr>
        <p:spPr>
          <a:xfrm>
            <a:off x="8128080" y="1397160"/>
            <a:ext cx="3429000" cy="25398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88" name="Shape 13"/>
          <p:cNvSpPr/>
          <p:nvPr/>
        </p:nvSpPr>
        <p:spPr>
          <a:xfrm>
            <a:off x="8128080" y="1397160"/>
            <a:ext cx="3429000" cy="40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89" name="Text 14"/>
          <p:cNvSpPr/>
          <p:nvPr/>
        </p:nvSpPr>
        <p:spPr>
          <a:xfrm>
            <a:off x="8318520" y="1397160"/>
            <a:ext cx="3048120" cy="4060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行业协会</a:t>
            </a:r>
            <a:endParaRPr lang="en-US" sz="1200" b="0" u="none" strike="noStrike">
              <a:solidFill>
                <a:srgbClr val="000000"/>
              </a:solidFill>
              <a:effectLst/>
              <a:uFillTx/>
              <a:latin typeface="Calibri"/>
            </a:endParaRPr>
          </a:p>
        </p:txBody>
      </p:sp>
      <p:sp>
        <p:nvSpPr>
          <p:cNvPr id="390" name="Text 15"/>
          <p:cNvSpPr/>
          <p:nvPr/>
        </p:nvSpPr>
        <p:spPr>
          <a:xfrm>
            <a:off x="8318520" y="1905120"/>
            <a:ext cx="3048120" cy="1904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•软件联盟</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•计算机通信行业协会</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•统一发声，避免单边对抗</a:t>
            </a:r>
            <a:endParaRPr lang="en-US" sz="1100" b="0" u="none" strike="noStrike">
              <a:solidFill>
                <a:srgbClr val="000000"/>
              </a:solidFill>
              <a:effectLst/>
              <a:uFillTx/>
              <a:latin typeface="Calibri"/>
            </a:endParaRPr>
          </a:p>
        </p:txBody>
      </p:sp>
      <p:sp>
        <p:nvSpPr>
          <p:cNvPr id="391" name="Shape 16"/>
          <p:cNvSpPr/>
          <p:nvPr/>
        </p:nvSpPr>
        <p:spPr>
          <a:xfrm>
            <a:off x="11810880" y="1397160"/>
            <a:ext cx="3683160" cy="2539800"/>
          </a:xfrm>
          <a:prstGeom prst="rect">
            <a:avLst/>
          </a:prstGeom>
          <a:solidFill>
            <a:srgbClr val="0F1F3D">
              <a:alpha val="3000"/>
            </a:srgbClr>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92" name="Shape 17"/>
          <p:cNvSpPr/>
          <p:nvPr/>
        </p:nvSpPr>
        <p:spPr>
          <a:xfrm>
            <a:off x="11810880" y="1397160"/>
            <a:ext cx="3683160" cy="40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93" name="Text 18"/>
          <p:cNvSpPr/>
          <p:nvPr/>
        </p:nvSpPr>
        <p:spPr>
          <a:xfrm>
            <a:off x="12001680" y="1397160"/>
            <a:ext cx="3301920" cy="4060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F0EDE8"/>
                </a:solidFill>
                <a:effectLst/>
                <a:uFillTx/>
                <a:latin typeface="Liter"/>
                <a:ea typeface="Liter"/>
              </a:rPr>
              <a:t>学术合作透明化</a:t>
            </a:r>
            <a:endParaRPr lang="en-US" sz="1200" b="0" u="none" strike="noStrike">
              <a:solidFill>
                <a:srgbClr val="000000"/>
              </a:solidFill>
              <a:effectLst/>
              <a:uFillTx/>
              <a:latin typeface="Calibri"/>
            </a:endParaRPr>
          </a:p>
        </p:txBody>
      </p:sp>
      <p:sp>
        <p:nvSpPr>
          <p:cNvPr id="394" name="Text 19"/>
          <p:cNvSpPr/>
          <p:nvPr/>
        </p:nvSpPr>
        <p:spPr>
          <a:xfrm>
            <a:off x="12001680" y="1905120"/>
            <a:ext cx="3301920" cy="19047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•牛津清华新加坡国立</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•资助数字治理研究项目</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•主动发布透明度报告</a:t>
            </a:r>
            <a:endParaRPr lang="en-US" sz="11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A1A2E"/>
                </a:solidFill>
                <a:effectLst/>
                <a:uFillTx/>
                <a:latin typeface="Liter"/>
                <a:ea typeface="Liter"/>
              </a:rPr>
              <a:t>•建立信任资本</a:t>
            </a:r>
            <a:endParaRPr lang="en-US" sz="1100" b="0" u="none" strike="noStrike">
              <a:solidFill>
                <a:srgbClr val="000000"/>
              </a:solidFill>
              <a:effectLst/>
              <a:uFillTx/>
              <a:latin typeface="Calibri"/>
            </a:endParaRPr>
          </a:p>
        </p:txBody>
      </p:sp>
      <p:sp>
        <p:nvSpPr>
          <p:cNvPr id="395" name="Text 20"/>
          <p:cNvSpPr/>
          <p:nvPr/>
        </p:nvSpPr>
        <p:spPr>
          <a:xfrm>
            <a:off x="762120" y="4191120"/>
            <a:ext cx="5079960" cy="3553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F1F3D"/>
                </a:solidFill>
                <a:effectLst/>
                <a:uFillTx/>
                <a:latin typeface="Liter"/>
                <a:ea typeface="Liter"/>
              </a:rPr>
              <a:t>危机预案：监管冲击响应机制</a:t>
            </a:r>
            <a:endParaRPr lang="en-US" sz="1600" b="0" u="none" strike="noStrike">
              <a:solidFill>
                <a:srgbClr val="000000"/>
              </a:solidFill>
              <a:effectLst/>
              <a:uFillTx/>
              <a:latin typeface="Calibri"/>
            </a:endParaRPr>
          </a:p>
        </p:txBody>
      </p:sp>
      <p:sp>
        <p:nvSpPr>
          <p:cNvPr id="396" name="Shape 21"/>
          <p:cNvSpPr/>
          <p:nvPr/>
        </p:nvSpPr>
        <p:spPr>
          <a:xfrm>
            <a:off x="762120" y="4635360"/>
            <a:ext cx="14731920" cy="355608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97" name="Text 22"/>
          <p:cNvSpPr/>
          <p:nvPr/>
        </p:nvSpPr>
        <p:spPr>
          <a:xfrm>
            <a:off x="1015920" y="4762440"/>
            <a:ext cx="14223960" cy="3365640"/>
          </a:xfrm>
          <a:prstGeom prst="rect">
            <a:avLst/>
          </a:prstGeom>
          <a:noFill/>
          <a:ln w="0">
            <a:noFill/>
          </a:ln>
        </p:spPr>
        <p:style>
          <a:lnRef idx="0"/>
          <a:fillRef idx="0"/>
          <a:effectRef idx="0"/>
          <a:fontRef idx="minor"/>
        </p:style>
        <p:txBody>
          <a:bodyPr lIns="0" tIns="0" rIns="0" bIns="0" anchor="t">
            <a:noAutofit/>
          </a:bodyPr>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C5A55A"/>
                </a:solidFill>
                <a:effectLst/>
                <a:uFillTx/>
                <a:latin typeface="Liter"/>
                <a:ea typeface="Liter"/>
              </a:rPr>
              <a:t>监管冲击响应团队</a:t>
            </a:r>
            <a:r>
              <a:rPr lang="en-US" sz="1400" b="0" u="none" strike="noStrike">
                <a:solidFill>
                  <a:srgbClr val="F0EDE8"/>
                </a:solidFill>
                <a:effectLst/>
                <a:uFillTx/>
                <a:latin typeface="Liter"/>
                <a:ea typeface="Liter"/>
              </a:rPr>
              <a:t>　小时响应机制</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预警（小时）</a:t>
            </a:r>
            <a:r>
              <a:rPr lang="en-US" sz="1400" b="0" u="none" strike="noStrike">
                <a:solidFill>
                  <a:srgbClr val="F0EDE8"/>
                </a:solidFill>
                <a:effectLst/>
                <a:uFillTx/>
                <a:latin typeface="Liter"/>
                <a:ea typeface="Liter"/>
              </a:rPr>
              <a:t>：监测到政策信号或立法草案</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→政府关系团队启动利益相关方沟通→法律团队评估合规影响→公关团队准备应对口径</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响应（小时）</a:t>
            </a:r>
            <a:r>
              <a:rPr lang="en-US" sz="1400" b="0" u="none" strike="noStrike">
                <a:solidFill>
                  <a:srgbClr val="F0EDE8"/>
                </a:solidFill>
                <a:effectLst/>
                <a:uFillTx/>
                <a:latin typeface="Liter"/>
                <a:ea typeface="Liter"/>
              </a:rPr>
              <a:t>：正式执法行动或重大罚款</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→董事会通报→全球合规团队协调→外部法律顾问介入→媒体声明投资者沟通</a:t>
            </a:r>
            <a:endParaRPr lang="en-US" sz="1400" b="0" u="none" strike="noStrike">
              <a:solidFill>
                <a:srgbClr val="000000"/>
              </a:solidFill>
              <a:effectLst/>
              <a:uFillTx/>
              <a:latin typeface="Calibri"/>
            </a:endParaRPr>
          </a:p>
          <a:p>
            <a:pPr>
              <a:lnSpc>
                <a:spcPct val="17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危机（持续）</a:t>
            </a:r>
            <a:r>
              <a:rPr lang="en-US" sz="1400" b="0" u="none" strike="noStrike">
                <a:solidFill>
                  <a:srgbClr val="F0EDE8"/>
                </a:solidFill>
                <a:effectLst/>
                <a:uFillTx/>
                <a:latin typeface="Liter"/>
                <a:ea typeface="Liter"/>
              </a:rPr>
              <a:t>：禁令数据泄露集体诉讼</a:t>
            </a:r>
            <a:endParaRPr lang="en-US" sz="1400" b="0" u="none" strike="noStrike">
              <a:solidFill>
                <a:srgbClr val="000000"/>
              </a:solidFill>
              <a:effectLst/>
              <a:uFillTx/>
              <a:latin typeface="Calibri"/>
            </a:endParaRPr>
          </a:p>
          <a:p>
            <a:pPr>
              <a:lnSpc>
                <a:spcPct val="1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→危机指挥中心激活→技术团队实施应急方案→多司法管辖区同步应对→长期声誉修复计划</a:t>
            </a:r>
            <a:endParaRPr lang="en-US" sz="1400" b="0" u="none" strike="noStrike">
              <a:solidFill>
                <a:srgbClr val="000000"/>
              </a:solidFill>
              <a:effectLst/>
              <a:uFillTx/>
              <a:latin typeface="Calibri"/>
            </a:endParaRPr>
          </a:p>
          <a:p>
            <a:pPr>
              <a:lnSpc>
                <a:spcPct val="17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F0EDE8"/>
                </a:solidFill>
                <a:effectLst/>
                <a:uFillTx/>
                <a:latin typeface="Liter"/>
                <a:ea typeface="Liter"/>
              </a:rPr>
              <a:t>年度演练</a:t>
            </a:r>
            <a:r>
              <a:rPr lang="en-US" sz="1400" b="0" u="none" strike="noStrike">
                <a:solidFill>
                  <a:srgbClr val="F0EDE8"/>
                </a:solidFill>
                <a:effectLst/>
                <a:uFillTx/>
                <a:latin typeface="Liter"/>
                <a:ea typeface="Liter"/>
              </a:rPr>
              <a:t>：至少次全要素模拟演练，覆盖数据泄露监管禁令地缘冲突三种场景</a:t>
            </a:r>
            <a:endParaRPr lang="en-US" sz="1400" b="0" u="none" strike="noStrike">
              <a:solidFill>
                <a:srgbClr val="000000"/>
              </a:solidFill>
              <a:effectLst/>
              <a:uFillTx/>
              <a:latin typeface="Calibri"/>
            </a:endParaRPr>
          </a:p>
        </p:txBody>
      </p:sp>
      <p:sp>
        <p:nvSpPr>
          <p:cNvPr id="398" name="Text 23"/>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399" name="Text 24"/>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EDE8"/>
        </a:solidFill>
      </p:bgPr>
    </p:bg>
    <p:spTree>
      <p:nvGrpSpPr>
        <p:cNvPr id="1" name=""/>
        <p:cNvGrpSpPr/>
        <p:nvPr/>
      </p:nvGrpSpPr>
      <p:grpSpPr>
        <a:xfrm>
          <a:off x="0" y="0"/>
          <a:ext cx="0" cy="0"/>
          <a:chOff x="0" y="0"/>
          <a:chExt cx="0" cy="0"/>
        </a:xfrm>
      </p:grpSpPr>
      <p:sp>
        <p:nvSpPr>
          <p:cNvPr id="400" name="Shape 0"/>
          <p:cNvSpPr/>
          <p:nvPr/>
        </p:nvSpPr>
        <p:spPr>
          <a:xfrm>
            <a:off x="0" y="152280"/>
            <a:ext cx="16256160" cy="25560"/>
          </a:xfrm>
          <a:prstGeom prst="rect">
            <a:avLst/>
          </a:prstGeom>
          <a:solidFill>
            <a:srgbClr val="1A1A2E"/>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01" name="Shape 1"/>
          <p:cNvSpPr/>
          <p:nvPr/>
        </p:nvSpPr>
        <p:spPr>
          <a:xfrm>
            <a:off x="13004640" y="152280"/>
            <a:ext cx="3251520" cy="25560"/>
          </a:xfrm>
          <a:prstGeom prst="rect">
            <a:avLst/>
          </a:prstGeom>
          <a:solidFill>
            <a:srgbClr val="C5A55A"/>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02" name="Shape 2"/>
          <p:cNvSpPr/>
          <p:nvPr/>
        </p:nvSpPr>
        <p:spPr>
          <a:xfrm>
            <a:off x="762120" y="660240"/>
            <a:ext cx="50760" cy="406440"/>
          </a:xfrm>
          <a:prstGeom prst="rect">
            <a:avLst/>
          </a:prstGeom>
          <a:solidFill>
            <a:srgbClr val="C5A55A"/>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03" name="Text 3"/>
          <p:cNvSpPr/>
          <p:nvPr/>
        </p:nvSpPr>
        <p:spPr>
          <a:xfrm>
            <a:off x="965160" y="635040"/>
            <a:ext cx="101599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F1F3D"/>
                </a:solidFill>
                <a:effectLst/>
                <a:uFillTx/>
                <a:latin typeface="Liter"/>
                <a:ea typeface="Liter"/>
              </a:rPr>
              <a:t>关键风险预警仪表盘：十大高概率事件</a:t>
            </a:r>
            <a:endParaRPr lang="en-US" sz="2400" b="0" u="none" strike="noStrike">
              <a:solidFill>
                <a:srgbClr val="000000"/>
              </a:solidFill>
              <a:effectLst/>
              <a:uFillTx/>
              <a:latin typeface="Calibri"/>
            </a:endParaRPr>
          </a:p>
        </p:txBody>
      </p:sp>
      <p:sp>
        <p:nvSpPr>
          <p:cNvPr id="404" name="Shape 4"/>
          <p:cNvSpPr/>
          <p:nvPr/>
        </p:nvSpPr>
        <p:spPr>
          <a:xfrm>
            <a:off x="11430000" y="635040"/>
            <a:ext cx="4064040" cy="507960"/>
          </a:xfrm>
          <a:prstGeom prst="rect">
            <a:avLst/>
          </a:prstGeom>
          <a:solidFill>
            <a:srgbClr val="0F1F3D"/>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05" name="Text 5"/>
          <p:cNvSpPr/>
          <p:nvPr/>
        </p:nvSpPr>
        <p:spPr>
          <a:xfrm>
            <a:off x="11557080" y="635040"/>
            <a:ext cx="3809880" cy="50796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0EDE8"/>
                </a:solidFill>
                <a:effectLst/>
                <a:uFillTx/>
                <a:latin typeface="Liter"/>
                <a:ea typeface="Liter"/>
              </a:rPr>
              <a:t>综合风险指数</a:t>
            </a:r>
            <a:r>
              <a:rPr lang="en-US" sz="2000" b="1" u="none" strike="noStrike">
                <a:solidFill>
                  <a:srgbClr val="C5A55A"/>
                </a:solidFill>
                <a:effectLst/>
                <a:uFillTx/>
                <a:latin typeface="Liter"/>
                <a:ea typeface="Liter"/>
              </a:rPr>
              <a:t></a:t>
            </a:r>
            <a:r>
              <a:rPr lang="en-US" sz="1400" b="0" u="none" strike="noStrike">
                <a:solidFill>
                  <a:srgbClr val="F0EDE8"/>
                </a:solidFill>
                <a:effectLst/>
                <a:uFillTx/>
                <a:latin typeface="Liter"/>
                <a:ea typeface="Liter"/>
              </a:rPr>
              <a:t>高度警戒</a:t>
            </a:r>
            <a:endParaRPr lang="en-US" sz="1400" b="0" u="none" strike="noStrike">
              <a:solidFill>
                <a:srgbClr val="000000"/>
              </a:solidFill>
              <a:effectLst/>
              <a:uFillTx/>
              <a:latin typeface="Calibri"/>
            </a:endParaRPr>
          </a:p>
        </p:txBody>
      </p:sp>
      <p:graphicFrame>
        <p:nvGraphicFramePr>
          <p:cNvPr id="406" name=""/>
          <p:cNvGraphicFramePr/>
          <p:nvPr/>
        </p:nvGraphicFramePr>
        <p:xfrm>
          <a:off x="762120" y="1397160"/>
          <a:ext cx="14731920" cy="6095880"/>
        </p:xfrm>
        <a:graphic>
          <a:graphicData uri="http://schemas.openxmlformats.org/drawingml/2006/table">
            <a:tbl>
              <a:tblPr/>
              <a:tblGrid>
                <a:gridCol w="736560"/>
                <a:gridCol w="4714920"/>
                <a:gridCol w="1473120"/>
                <a:gridCol w="1473120"/>
                <a:gridCol w="1766880"/>
                <a:gridCol w="4567320"/>
              </a:tblGrid>
              <a:tr h="4600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风险事件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概率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影响度</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预计时间</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F0EDE8"/>
                          </a:solidFill>
                          <a:effectLst/>
                          <a:uFillTx/>
                          <a:latin typeface="Liter"/>
                          <a:ea typeface="Liter"/>
                        </a:rPr>
                        <a:t>应对要点</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F1F3D"/>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欧盟首批执法案件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极高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确保非个人数据跨境有充分保障措施</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美国扩大行政令覆盖国家</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评估数据共享协议，准备合规隔离</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中美半导体关税战升级</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极高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全年</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多元化供应商，增加库存缓冲</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印度规则并全面执法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准备数据本地化架构，申请白名单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德国数字广告税立法通过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中等</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评估定价策略，准备税务架构调整</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支柱一谈判正式破裂</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极高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为长期碎片化做好运营准备</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中国修订《数据出境安全评估办法》</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提前进行安全评估，准备申报材料</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英国脱欧后数字规则大幅偏离欧盟</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中等</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监控修订动态，准备双轨合规</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全球重大跨境数据泄露引发监管海啸</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C2626"/>
                          </a:solidFill>
                          <a:effectLst/>
                          <a:uFillTx/>
                          <a:latin typeface="Liter"/>
                          <a:ea typeface="Liter"/>
                        </a:rPr>
                        <a:t>极高</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不确定</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强化加密和访问控制，准备事件响应</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联合国资金机制达成</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中等</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1A1A2E"/>
                          </a:solidFill>
                          <a:effectLst/>
                          <a:uFillTx/>
                          <a:latin typeface="Liter"/>
                          <a:ea typeface="Liter"/>
                        </a:rPr>
                        <a:t>参与标准制定，争取有利条款</a:t>
                      </a:r>
                      <a:endParaRPr lang="en-US" sz="12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5F3EF"/>
                    </a:solidFill>
                  </a:tcPr>
                </a:tc>
              </a:tr>
            </a:tbl>
          </a:graphicData>
        </a:graphic>
      </p:graphicFrame>
      <p:sp>
        <p:nvSpPr>
          <p:cNvPr id="407" name="Text 6"/>
          <p:cNvSpPr/>
          <p:nvPr/>
        </p:nvSpPr>
        <p:spPr>
          <a:xfrm>
            <a:off x="762120" y="7620120"/>
            <a:ext cx="14731920" cy="50796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u="none" strike="noStrike">
                <a:solidFill>
                  <a:srgbClr val="1A1A2E"/>
                </a:solidFill>
                <a:effectLst/>
                <a:uFillTx/>
                <a:latin typeface="Liter"/>
                <a:ea typeface="Liter"/>
              </a:rPr>
              <a:t>综合风险指数</a:t>
            </a:r>
            <a:r>
              <a:rPr lang="en-US" sz="1300" b="0" u="none" strike="noStrike">
                <a:solidFill>
                  <a:srgbClr val="1A1A2E"/>
                </a:solidFill>
                <a:effectLst/>
                <a:uFillTx/>
                <a:latin typeface="Liter"/>
                <a:ea typeface="Liter"/>
              </a:rPr>
              <a:t>（较年上升点），处于</a:t>
            </a:r>
            <a:r>
              <a:rPr lang="en-US" sz="1300" b="1" u="none" strike="noStrike">
                <a:solidFill>
                  <a:srgbClr val="DC2626"/>
                </a:solidFill>
                <a:effectLst/>
                <a:uFillTx/>
                <a:latin typeface="Liter"/>
                <a:ea typeface="Liter"/>
              </a:rPr>
              <a:t>高度警戒</a:t>
            </a:r>
            <a:r>
              <a:rPr lang="en-US" sz="1300" b="0" u="none" strike="noStrike">
                <a:solidFill>
                  <a:srgbClr val="1A1A2E"/>
                </a:solidFill>
                <a:effectLst/>
                <a:uFillTx/>
                <a:latin typeface="Liter"/>
                <a:ea typeface="Liter"/>
              </a:rPr>
              <a:t>级别。建议企业立即启动全面合规审查，优先处理概率且影响度为高或极高的事件。</a:t>
            </a:r>
            <a:endParaRPr lang="en-US" sz="1300" b="0" u="none" strike="noStrike">
              <a:solidFill>
                <a:srgbClr val="000000"/>
              </a:solidFill>
              <a:effectLst/>
              <a:uFillTx/>
              <a:latin typeface="Calibri"/>
            </a:endParaRPr>
          </a:p>
        </p:txBody>
      </p:sp>
      <p:sp>
        <p:nvSpPr>
          <p:cNvPr id="408" name="Text 7"/>
          <p:cNvSpPr/>
          <p:nvPr/>
        </p:nvSpPr>
        <p:spPr>
          <a:xfrm>
            <a:off x="762120" y="8381880"/>
            <a:ext cx="10159920" cy="25416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
        <p:nvSpPr>
          <p:cNvPr id="409" name="Text 8"/>
          <p:cNvSpPr/>
          <p:nvPr/>
        </p:nvSpPr>
        <p:spPr>
          <a:xfrm>
            <a:off x="14731920" y="8381880"/>
            <a:ext cx="762120" cy="25416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4A5568"/>
                </a:solidFill>
                <a:effectLst/>
                <a:uFillTx/>
                <a:latin typeface="Liter"/>
                <a:ea typeface="Liter"/>
              </a:rPr>
              <a:t></a:t>
            </a:r>
            <a:endParaRPr lang="en-US" sz="1200" b="0" u="none" strike="noStrike">
              <a:solidFill>
                <a:srgbClr val="000000"/>
              </a:solidFill>
              <a:effectLst/>
              <a:uFillTx/>
              <a:latin typeface="Calibri"/>
            </a:endParaRPr>
          </a:p>
        </p:txBody>
      </p:sp>
    </p:spTree>
  </p:cSld>
  <p:transition>
    <p:fade/>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0" name="Image 0" descr="https://kimi-img.moonshot.cn/pub/slides/okc/gkmdzig5jggc2/mnt/agents/output/digital_sovereignty_2026/images/2_World_Map_Background_In_Navy_Blue.png"/>
          <p:cNvPicPr/>
          <p:nvPr/>
        </p:nvPicPr>
        <p:blipFill>
          <a:blip r:embed="rId1"/>
          <a:srcRect l="0" t="15863" r="0" b="15863"/>
          <a:stretch/>
        </p:blipFill>
        <p:spPr>
          <a:xfrm>
            <a:off x="0" y="0"/>
            <a:ext cx="16256160" cy="9144000"/>
          </a:xfrm>
          <a:prstGeom prst="rect">
            <a:avLst/>
          </a:prstGeom>
          <a:noFill/>
          <a:ln w="0">
            <a:noFill/>
          </a:ln>
        </p:spPr>
      </p:pic>
      <p:grpSp>
        <p:nvGrpSpPr>
          <p:cNvPr id="411" name="Shape 0"/>
          <p:cNvGrpSpPr/>
          <p:nvPr/>
        </p:nvGrpSpPr>
        <p:grpSpPr>
          <a:xfrm>
            <a:off x="-12600" y="-12600"/>
            <a:ext cx="16281360" cy="9169200"/>
            <a:chOff x="-12600" y="-12600"/>
            <a:chExt cx="16281360" cy="9169200"/>
          </a:xfrm>
        </p:grpSpPr>
        <p:pic>
          <p:nvPicPr>
            <p:cNvPr id="412" name="Shape 0"/>
            <p:cNvPicPr/>
            <p:nvPr/>
          </p:nvPicPr>
          <p:blipFill>
            <a:blip r:embed="rId2"/>
            <a:stretch/>
          </p:blipFill>
          <p:spPr>
            <a:xfrm>
              <a:off x="-12600" y="-12600"/>
              <a:ext cx="16281360" cy="9169200"/>
            </a:xfrm>
            <a:prstGeom prst="rect">
              <a:avLst/>
            </a:prstGeom>
            <a:noFill/>
            <a:ln w="0">
              <a:noFill/>
            </a:ln>
          </p:spPr>
        </p:pic>
        <p:sp>
          <p:nvSpPr>
            <p:cNvPr id="413" name=""/>
            <p:cNvSpPr/>
            <p:nvPr/>
          </p:nvSpPr>
          <p:spPr>
            <a:xfrm>
              <a:off x="0" y="0"/>
              <a:ext cx="16256160" cy="9144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pSp>
      <p:sp>
        <p:nvSpPr>
          <p:cNvPr id="414" name="Shape 1"/>
          <p:cNvSpPr/>
          <p:nvPr/>
        </p:nvSpPr>
        <p:spPr>
          <a:xfrm>
            <a:off x="6858000" y="2031840"/>
            <a:ext cx="2540160" cy="51120"/>
          </a:xfrm>
          <a:prstGeom prst="rect">
            <a:avLst/>
          </a:prstGeom>
          <a:solidFill>
            <a:srgbClr val="C5A55A"/>
          </a:solidFill>
          <a:ln w="0">
            <a:noFill/>
          </a:ln>
        </p:spPr>
        <p:style>
          <a:lnRef idx="0"/>
          <a:fillRef idx="0"/>
          <a:effectRef idx="0"/>
          <a:fontRef idx="minor"/>
        </p:style>
        <p:txBody>
          <a:bodyPr lIns="90000" tIns="4320" rIns="90000" bIns="432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15" name="Text 2"/>
          <p:cNvSpPr/>
          <p:nvPr/>
        </p:nvSpPr>
        <p:spPr>
          <a:xfrm>
            <a:off x="1778040" y="2286000"/>
            <a:ext cx="12700080" cy="76212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0EDE8"/>
                </a:solidFill>
                <a:effectLst/>
                <a:uFillTx/>
                <a:latin typeface="Liter"/>
                <a:ea typeface="Liter"/>
              </a:rPr>
              <a:t>在碎片化世界中构建韧性</a:t>
            </a:r>
            <a:endParaRPr lang="en-US" sz="3600" b="0" u="none" strike="noStrike">
              <a:solidFill>
                <a:srgbClr val="000000"/>
              </a:solidFill>
              <a:effectLst/>
              <a:uFillTx/>
              <a:latin typeface="Calibri"/>
            </a:endParaRPr>
          </a:p>
        </p:txBody>
      </p:sp>
      <p:sp>
        <p:nvSpPr>
          <p:cNvPr id="416" name="Text 3"/>
          <p:cNvSpPr/>
          <p:nvPr/>
        </p:nvSpPr>
        <p:spPr>
          <a:xfrm>
            <a:off x="1778040" y="3174840"/>
            <a:ext cx="12700080" cy="38124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C5A55A"/>
                </a:solidFill>
                <a:effectLst/>
                <a:uFillTx/>
                <a:latin typeface="Liter"/>
                <a:ea typeface="Liter"/>
              </a:rPr>
              <a:t></a:t>
            </a:r>
            <a:endParaRPr lang="en-US" sz="1600" b="0" u="none" strike="noStrike">
              <a:solidFill>
                <a:srgbClr val="000000"/>
              </a:solidFill>
              <a:effectLst/>
              <a:uFillTx/>
              <a:latin typeface="Calibri"/>
            </a:endParaRPr>
          </a:p>
        </p:txBody>
      </p:sp>
      <p:sp>
        <p:nvSpPr>
          <p:cNvPr id="417" name="Shape 4"/>
          <p:cNvSpPr/>
          <p:nvPr/>
        </p:nvSpPr>
        <p:spPr>
          <a:xfrm>
            <a:off x="6858000" y="3809880"/>
            <a:ext cx="2540160" cy="12960"/>
          </a:xfrm>
          <a:prstGeom prst="rect">
            <a:avLst/>
          </a:prstGeom>
          <a:solidFill>
            <a:srgbClr val="4A5568">
              <a:alpha val="50000"/>
            </a:srgbClr>
          </a:solidFill>
          <a:ln w="0">
            <a:noFill/>
          </a:ln>
        </p:spPr>
        <p:style>
          <a:lnRef idx="0"/>
          <a:fillRef idx="0"/>
          <a:effectRef idx="0"/>
          <a:fontRef idx="minor"/>
        </p:style>
        <p:txBody>
          <a:bodyPr lIns="90000" tIns="-33840" rIns="90000" bIns="-338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18" name="Text 5"/>
          <p:cNvSpPr/>
          <p:nvPr/>
        </p:nvSpPr>
        <p:spPr>
          <a:xfrm>
            <a:off x="1778040" y="4064040"/>
            <a:ext cx="12700080" cy="3048120"/>
          </a:xfrm>
          <a:prstGeom prst="rect">
            <a:avLst/>
          </a:prstGeom>
          <a:noFill/>
          <a:ln w="0">
            <a:noFill/>
          </a:ln>
        </p:spPr>
        <p:style>
          <a:lnRef idx="0"/>
          <a:fillRef idx="0"/>
          <a:effectRef idx="0"/>
          <a:fontRef idx="minor"/>
        </p:style>
        <p:txBody>
          <a:bodyPr lIns="0" tIns="0" rIns="0" bIns="0" anchor="t">
            <a:noAutofit/>
          </a:bodyPr>
          <a:p>
            <a:pPr algn="ctr">
              <a:lnSpc>
                <a:spcPct val="1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B0A99F"/>
                </a:solidFill>
                <a:effectLst/>
                <a:uFillTx/>
                <a:latin typeface="Liter"/>
                <a:ea typeface="Liter"/>
              </a:rPr>
              <a:t>全球数字主权格局正经历从开放互联网到碎片化主权网络的范式转移。</a:t>
            </a:r>
            <a:endParaRPr lang="en-US" sz="1600" b="0" u="none" strike="noStrike">
              <a:solidFill>
                <a:srgbClr val="000000"/>
              </a:solidFill>
              <a:effectLst/>
              <a:uFillTx/>
              <a:latin typeface="Calibri"/>
            </a:endParaRPr>
          </a:p>
          <a:p>
            <a:pPr algn="ctr">
              <a:lnSpc>
                <a:spcPct val="18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B0A99F"/>
                </a:solidFill>
                <a:effectLst/>
                <a:uFillTx/>
                <a:latin typeface="Liter"/>
                <a:ea typeface="Liter"/>
              </a:rPr>
              <a:t>年，企业面临的不再是单一合规框架，</a:t>
            </a:r>
            <a:endParaRPr lang="en-US" sz="1600" b="0" u="none" strike="noStrike">
              <a:solidFill>
                <a:srgbClr val="000000"/>
              </a:solidFill>
              <a:effectLst/>
              <a:uFillTx/>
              <a:latin typeface="Calibri"/>
            </a:endParaRPr>
          </a:p>
          <a:p>
            <a:pPr algn="ctr">
              <a:lnSpc>
                <a:spcPct val="1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B0A99F"/>
                </a:solidFill>
                <a:effectLst/>
                <a:uFillTx/>
                <a:latin typeface="Liter"/>
                <a:ea typeface="Liter"/>
              </a:rPr>
              <a:t>而是多主权、多法域、多标准的复杂博弈环境。</a:t>
            </a:r>
            <a:endParaRPr lang="en-US" sz="1600" b="0" u="none" strike="noStrike">
              <a:solidFill>
                <a:srgbClr val="000000"/>
              </a:solidFill>
              <a:effectLst/>
              <a:uFillTx/>
              <a:latin typeface="Calibri"/>
            </a:endParaRPr>
          </a:p>
          <a:p>
            <a:pPr algn="ctr">
              <a:lnSpc>
                <a:spcPct val="180000"/>
              </a:lnSpc>
              <a:spcBef>
                <a:spcPts val="11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C5A55A"/>
                </a:solidFill>
                <a:effectLst/>
                <a:uFillTx/>
                <a:latin typeface="Liter"/>
                <a:ea typeface="Liter"/>
              </a:rPr>
              <a:t>核心洞察</a:t>
            </a:r>
            <a:endParaRPr lang="en-US" sz="1600" b="0" u="none" strike="noStrike">
              <a:solidFill>
                <a:srgbClr val="000000"/>
              </a:solidFill>
              <a:effectLst/>
              <a:uFillTx/>
              <a:latin typeface="Calibri"/>
            </a:endParaRPr>
          </a:p>
          <a:p>
            <a:pPr algn="ctr">
              <a:lnSpc>
                <a:spcPct val="1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B0A99F"/>
                </a:solidFill>
                <a:effectLst/>
                <a:uFillTx/>
                <a:latin typeface="Liter"/>
                <a:ea typeface="Liter"/>
              </a:rPr>
              <a:t>数字主权不是技术问题，而是地缘政治问题；</a:t>
            </a:r>
            <a:endParaRPr lang="en-US" sz="1600" b="0" u="none" strike="noStrike">
              <a:solidFill>
                <a:srgbClr val="000000"/>
              </a:solidFill>
              <a:effectLst/>
              <a:uFillTx/>
              <a:latin typeface="Calibri"/>
            </a:endParaRPr>
          </a:p>
          <a:p>
            <a:pPr algn="ctr">
              <a:lnSpc>
                <a:spcPct val="1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B0A99F"/>
                </a:solidFill>
                <a:effectLst/>
                <a:uFillTx/>
                <a:latin typeface="Liter"/>
                <a:ea typeface="Liter"/>
              </a:rPr>
              <a:t>合规不是成本中心，而是战略竞争力。</a:t>
            </a:r>
            <a:endParaRPr lang="en-US" sz="1600" b="0" u="none" strike="noStrike">
              <a:solidFill>
                <a:srgbClr val="000000"/>
              </a:solidFill>
              <a:effectLst/>
              <a:uFillTx/>
              <a:latin typeface="Calibri"/>
            </a:endParaRPr>
          </a:p>
        </p:txBody>
      </p:sp>
      <p:sp>
        <p:nvSpPr>
          <p:cNvPr id="419" name="Shape 6"/>
          <p:cNvSpPr/>
          <p:nvPr/>
        </p:nvSpPr>
        <p:spPr>
          <a:xfrm>
            <a:off x="762120" y="7365960"/>
            <a:ext cx="14731920" cy="12600"/>
          </a:xfrm>
          <a:prstGeom prst="rect">
            <a:avLst/>
          </a:prstGeom>
          <a:solidFill>
            <a:srgbClr val="4A5568">
              <a:alpha val="38000"/>
            </a:srgbClr>
          </a:solidFill>
          <a:ln w="0">
            <a:noFill/>
          </a:ln>
        </p:spPr>
        <p:style>
          <a:lnRef idx="0"/>
          <a:fillRef idx="0"/>
          <a:effectRef idx="0"/>
          <a:fontRef idx="minor"/>
        </p:style>
        <p:txBody>
          <a:bodyPr lIns="90000" tIns="-34200" rIns="90000" bIns="-342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20" name="Text 7"/>
          <p:cNvSpPr/>
          <p:nvPr/>
        </p:nvSpPr>
        <p:spPr>
          <a:xfrm>
            <a:off x="762120" y="7620120"/>
            <a:ext cx="761976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8A8075"/>
                </a:solidFill>
                <a:effectLst/>
                <a:uFillTx/>
                <a:latin typeface="Liter"/>
                <a:ea typeface="Liter"/>
              </a:rPr>
              <a:t>全球数字主权与科技外交战略白皮书</a:t>
            </a:r>
            <a:endParaRPr lang="en-US" sz="1400" b="0" u="none" strike="noStrike">
              <a:solidFill>
                <a:srgbClr val="000000"/>
              </a:solidFill>
              <a:effectLst/>
              <a:uFillTx/>
              <a:latin typeface="Calibri"/>
            </a:endParaRPr>
          </a:p>
        </p:txBody>
      </p:sp>
      <p:sp>
        <p:nvSpPr>
          <p:cNvPr id="421" name="Text 8"/>
          <p:cNvSpPr/>
          <p:nvPr/>
        </p:nvSpPr>
        <p:spPr>
          <a:xfrm>
            <a:off x="12192120" y="7620120"/>
            <a:ext cx="3301920" cy="380880"/>
          </a:xfrm>
          <a:prstGeom prst="rect">
            <a:avLst/>
          </a:prstGeom>
          <a:noFill/>
          <a:ln w="0">
            <a:noFill/>
          </a:ln>
        </p:spPr>
        <p:style>
          <a:lnRef idx="0"/>
          <a:fillRef idx="0"/>
          <a:effectRef idx="0"/>
          <a:fontRef idx="minor"/>
        </p:style>
        <p:txBody>
          <a:bodyPr wrap="none" lIns="0" tIns="0" rIns="0" bIns="0" anchor="ctr">
            <a:no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8A8075"/>
                </a:solidFill>
                <a:effectLst/>
                <a:uFillTx/>
                <a:latin typeface="Liter"/>
                <a:ea typeface="Liter"/>
              </a:rPr>
              <a:t></a:t>
            </a:r>
            <a:endParaRPr lang="en-US" sz="1400" b="0" u="none" strike="noStrike">
              <a:solidFill>
                <a:srgbClr val="000000"/>
              </a:solidFill>
              <a:effectLst/>
              <a:uFillTx/>
              <a:latin typeface="Calibri"/>
            </a:endParaRPr>
          </a:p>
        </p:txBody>
      </p:sp>
    </p:spTree>
  </p:cSld>
  <p:transition>
    <p:fad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2026-05-10T13:09:47Z</dcterms:created>
  <dc:creator>Kimi</dc:creator>
  <dc:description/>
  <dc:language>zh-CN</dc:language>
  <cp:lastModifiedBy>Provence Jake</cp:lastModifiedBy>
  <dcterms:modified xsi:type="dcterms:W3CDTF">2026-05-10T14:54:20Z</dcterms:modified>
  <cp:revision>3</cp:revision>
  <dc:subject>全球数字主权、跨洲际数据隐私协议与科技外交 2026 战略白皮书</dc:subject>
  <dc:title>全球数字主权、跨洲际数据隐私协议与科技外交 2026 战略白皮书</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{"Label":"全球数字主权、跨洲际数据隐私协议与科技外交 2026 战略白皮书","ContentProducer":"001191110108MACG2KBH8F10000","ProduceID":"19e103e0-9c32-8f76-8000-00001ab4a7b2","ReservedCode1":"","ContentPropagator":"001191110108MACG2KBH8F20000","PropagateID":"19e103e0-9c32-8f76-8000-00001ab4a7b2","ReservedCode2":""}</vt:lpwstr>
  </property>
</Properties>
</file>