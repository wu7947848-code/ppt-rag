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embeddings/oleObject1.xlsx" ContentType="application/vnd.openxmlformats-officedocument.spreadsheetml.sheet"/>
  <Override PartName="/ppt/embeddings/oleObject2.xlsx" ContentType="application/vnd.openxmlformats-officedocument.spreadsheetml.sheet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6257588" cy="9144000"/>
  <p:notesSz cx="9144000" cy="16257588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9144000" cy="16257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ldImg"/>
          </p:nvPr>
        </p:nvSpPr>
        <p:spPr>
          <a:xfrm>
            <a:off x="0" y="1235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单击以移动幻灯片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914400" y="7722360"/>
            <a:ext cx="7314840" cy="731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点击编辑备注格式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356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43E5651-01CB-47D7-9C87-29996A7CCF91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359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1FBA4EC-8A1E-4F43-B4B4-F36852849879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362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876001B-83D5-445F-8721-4635E6A23793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365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4669AB5-4E5E-4AE2-8B3A-72B17D8253F6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368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CC6A9F2-ED4A-4B82-BD5D-596E24E9F5F3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371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7C71B2C-63EB-4501-89B9-99D2D0E29BF2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374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F830BB5-D07E-4BCC-BC2A-7E8BC803606E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377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8D26BFE-58E1-4B39-A855-04777C388602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380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C41812F-4DA2-43B5-B6F0-DE834676DE5B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383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82ACD80-2A3F-4E9C-BC6B-B4D1BBEA022D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386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4FBD235-D7E7-4274-9306-BFEC6DC4D7DE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389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9F83D02-35C6-4EE2-860B-18200E65340E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392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B421A5A-29CD-4450-9DB9-C14D3D20A4FD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395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51E0BEE-C00B-415C-9AC2-F02C0C1C0F79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398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307B2D6-7D6A-42A9-84AE-4D0E963819A8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01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9E9B048-CFAA-4482-A06E-15E710F63D37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04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E1ADB25-DCF5-4F25-A793-C18F5915C4BE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07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D0632BD-F20A-46A7-9826-7B292FCEE3FB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10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035C67D-8ACD-4A8E-BBC2-BA3972222BC5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13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949555B-6D78-4EC0-876E-86F92ABA1DC1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16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E9EB08E-6813-4CC0-A7FB-E9D674A57049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19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15399C8-5F30-4F1E-A79C-93E1E5E62D60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22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E3ACEFD-6FB0-46EC-8461-84AFDE5FE22F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25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C25213D-E34A-4026-82F1-907D7C1EEBAA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28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099F5CF-D5EB-437E-9522-1703BFE1ACFD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31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5C141FC-EA3F-4B83-9EE3-C6F9F0FE2D03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34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61665FF-E6E3-42BB-9A16-0A554832317B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37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BFCEA32-E5CF-4A40-A10A-C58DF3811A2E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标题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1.png"/><Relationship Id="rId3" Type="http://schemas.openxmlformats.org/officeDocument/2006/relationships/hyperlink" Target="https://beinsure.com/global-reinsurers-strong-result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www.ipcc.ch/site/assets/uploads/sites/3/2019/11/03_SROCC_SPM_FINAL.pdf" TargetMode="External"/><Relationship Id="rId2" Type="http://schemas.openxmlformats.org/officeDocument/2006/relationships/hyperlink" Target="https://www.unep.org/resources/adaptation-gap-report-2025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package" Target="../embeddings/oleObject2.xlsx"/><Relationship Id="rId2" Type="http://schemas.openxmlformats.org/officeDocument/2006/relationships/image" Target="../media/image2.png"/><Relationship Id="rId3" Type="http://schemas.openxmlformats.org/officeDocument/2006/relationships/hyperlink" Target="https://za.milliman.com/en-GB/insight/whats-in-a-tail-var-risk-cte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hyperlink" Target="https://beinsure.com/global-reinsurers-strong-result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hyperlink" Target="https://www.debevoise.com/insights/publications/2026/03/european-commission-adopts-amendments-to-the-solve" TargetMode="External"/><Relationship Id="rId4" Type="http://schemas.openxmlformats.org/officeDocument/2006/relationships/hyperlink" Target="https://am.jpmorgan.com/content/dam/jpm-am-aem/emea/regional/en/pdfs/solvency-2-review-whitepaper.pdf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hyperlink" Target="https://www.swissre.com/sustainability/approach/reporting/sasb.html" TargetMode="External"/><Relationship Id="rId3" Type="http://schemas.openxmlformats.org/officeDocument/2006/relationships/hyperlink" Target="https://www.soa.org/globalassets/assets/files/resources/essays-monographs/2015-erm-symposium/mono-2015-erm-ingram.pdf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hyperlink" Target="https://finance.ec.europa.eu/news/questions-and-answers-solvency-ii-delegated-regulation-2025-10-29_e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hyperlink" Target="https://ideas.repec.org/p/arx/papers/2511.11383.html" TargetMode="External"/><Relationship Id="rId2" Type="http://schemas.openxmlformats.org/officeDocument/2006/relationships/hyperlink" Target="https://gcstage65.www.guycarp.net/company/news-and-events/news/press-releases/july-1-2025-reinsurance-renewal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hyperlink" Target="https://www.ajg.com/gallagherre/-/media/files/gallagher/gallagherre/news-and-insights/2026/january/gallagherre-first-view-options-and-opportunities.pdf" TargetMode="External"/><Relationship Id="rId2" Type="http://schemas.openxmlformats.org/officeDocument/2006/relationships/hyperlink" Target="https://gcstage65.www.guycarp.net/company/news-and-events/news/press-releases/july-1-2025-reinsurance-renewal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hyperlink" Target="https://resonanzcapital.com/insights/cat-bonds-what-allocators-need-to-know-now" TargetMode="External"/><Relationship Id="rId3" Type="http://schemas.openxmlformats.org/officeDocument/2006/relationships/hyperlink" Target="https://gcstage65.www.guycarp.net/company/news-and-events/news/press-releases/july-1-2025-reinsurance-renewal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hyperlink" Target="https://beinsure.com/bermuda-reinsurers-face-margin-pressure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/>
          <p:cNvSpPr/>
          <p:nvPr/>
        </p:nvSpPr>
        <p:spPr>
          <a:xfrm>
            <a:off x="6858000" y="2921040"/>
            <a:ext cx="2540160" cy="381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" name="Text 1"/>
          <p:cNvSpPr/>
          <p:nvPr/>
        </p:nvSpPr>
        <p:spPr>
          <a:xfrm>
            <a:off x="1143000" y="3174840"/>
            <a:ext cx="13970160" cy="165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全球巨灾建模、再保险分出策略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与气候变化适应性基金财务报告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" name="Text 2"/>
          <p:cNvSpPr/>
          <p:nvPr/>
        </p:nvSpPr>
        <p:spPr>
          <a:xfrm>
            <a:off x="1778040" y="5079960"/>
            <a:ext cx="12700080" cy="63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GLOBAL CATASTROPHE MODELING, REINSURANCE &amp; CLIMATE ADAPTATION FUND REPORT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Shape 3"/>
          <p:cNvSpPr/>
          <p:nvPr/>
        </p:nvSpPr>
        <p:spPr>
          <a:xfrm>
            <a:off x="6222960" y="5969160"/>
            <a:ext cx="3809880" cy="1260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" name="Text 4"/>
          <p:cNvSpPr/>
          <p:nvPr/>
        </p:nvSpPr>
        <p:spPr>
          <a:xfrm>
            <a:off x="4317840" y="6222960"/>
            <a:ext cx="76201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2025</a:t>
            </a: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年度精算评估 </a:t>
            </a: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| Actuarial Assessment 2025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762120" y="8381880"/>
            <a:ext cx="14731920" cy="1296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3840" rIns="90000" bIns="-33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62120" y="8508960"/>
            <a:ext cx="507996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CONFIDENTIAL — FOR PROFESSIONAL USE ONLY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1175840" y="8508960"/>
            <a:ext cx="43182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May 2025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/>
          <p:cNvSpPr/>
          <p:nvPr/>
        </p:nvSpPr>
        <p:spPr>
          <a:xfrm>
            <a:off x="762120" y="635040"/>
            <a:ext cx="38160" cy="5079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" name="Text 1"/>
          <p:cNvSpPr/>
          <p:nvPr/>
        </p:nvSpPr>
        <p:spPr>
          <a:xfrm>
            <a:off x="952560" y="635040"/>
            <a:ext cx="380988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目录 </a:t>
            </a: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CONTENTS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" name="Shape 2"/>
          <p:cNvSpPr/>
          <p:nvPr/>
        </p:nvSpPr>
        <p:spPr>
          <a:xfrm>
            <a:off x="762120" y="1270080"/>
            <a:ext cx="14731920" cy="1260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" name="Text 3"/>
          <p:cNvSpPr/>
          <p:nvPr/>
        </p:nvSpPr>
        <p:spPr>
          <a:xfrm>
            <a:off x="762120" y="1650960"/>
            <a:ext cx="101592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01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" name="Text 4"/>
          <p:cNvSpPr/>
          <p:nvPr/>
        </p:nvSpPr>
        <p:spPr>
          <a:xfrm>
            <a:off x="762120" y="2476440"/>
            <a:ext cx="253980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全球巨灾风险格局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" name="Text 5"/>
          <p:cNvSpPr/>
          <p:nvPr/>
        </p:nvSpPr>
        <p:spPr>
          <a:xfrm>
            <a:off x="762120" y="2921040"/>
            <a:ext cx="2539800" cy="10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全球保险巨灾损失趋势、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RCP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气候情景分析、尾部风险与赔付率结构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" name="Shape 6"/>
          <p:cNvSpPr/>
          <p:nvPr/>
        </p:nvSpPr>
        <p:spPr>
          <a:xfrm>
            <a:off x="762120" y="4064040"/>
            <a:ext cx="2539800" cy="1260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" name="Text 7"/>
          <p:cNvSpPr/>
          <p:nvPr/>
        </p:nvSpPr>
        <p:spPr>
          <a:xfrm>
            <a:off x="3809880" y="1650960"/>
            <a:ext cx="101628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02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" name="Text 8"/>
          <p:cNvSpPr/>
          <p:nvPr/>
        </p:nvSpPr>
        <p:spPr>
          <a:xfrm>
            <a:off x="3809880" y="2476440"/>
            <a:ext cx="254016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巨灾建模框架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" name="Text 9"/>
          <p:cNvSpPr/>
          <p:nvPr/>
        </p:nvSpPr>
        <p:spPr>
          <a:xfrm>
            <a:off x="3809880" y="2921040"/>
            <a:ext cx="2540160" cy="10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复合泊松分布定价、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Solvency II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资本要求、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VaR/PML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方法论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" name="Shape 10"/>
          <p:cNvSpPr/>
          <p:nvPr/>
        </p:nvSpPr>
        <p:spPr>
          <a:xfrm>
            <a:off x="3809880" y="4064040"/>
            <a:ext cx="2540160" cy="1260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" name="Text 11"/>
          <p:cNvSpPr/>
          <p:nvPr/>
        </p:nvSpPr>
        <p:spPr>
          <a:xfrm>
            <a:off x="6858000" y="1650960"/>
            <a:ext cx="101592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03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" name="Text 12"/>
          <p:cNvSpPr/>
          <p:nvPr/>
        </p:nvSpPr>
        <p:spPr>
          <a:xfrm>
            <a:off x="6858000" y="2476440"/>
            <a:ext cx="254016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气候灾害损失预测矩阵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" name="Text 13"/>
          <p:cNvSpPr/>
          <p:nvPr/>
        </p:nvSpPr>
        <p:spPr>
          <a:xfrm>
            <a:off x="6858000" y="2921040"/>
            <a:ext cx="2540160" cy="10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15x15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全球巨灾损失预测矩阵：地震、飓风、洪水、干旱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" name="Shape 14"/>
          <p:cNvSpPr/>
          <p:nvPr/>
        </p:nvSpPr>
        <p:spPr>
          <a:xfrm>
            <a:off x="6858000" y="4064040"/>
            <a:ext cx="2540160" cy="1260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" name="Text 15"/>
          <p:cNvSpPr/>
          <p:nvPr/>
        </p:nvSpPr>
        <p:spPr>
          <a:xfrm>
            <a:off x="9906120" y="1650960"/>
            <a:ext cx="101592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04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" name="Text 16"/>
          <p:cNvSpPr/>
          <p:nvPr/>
        </p:nvSpPr>
        <p:spPr>
          <a:xfrm>
            <a:off x="9906120" y="2476440"/>
            <a:ext cx="253980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再保险分出策略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" name="Text 17"/>
          <p:cNvSpPr/>
          <p:nvPr/>
        </p:nvSpPr>
        <p:spPr>
          <a:xfrm>
            <a:off x="9906120" y="2921040"/>
            <a:ext cx="2539800" cy="10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分出策略调整、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XOL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与比例再保险、巨灾债券市场、溢价倍数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" name="Shape 18"/>
          <p:cNvSpPr/>
          <p:nvPr/>
        </p:nvSpPr>
        <p:spPr>
          <a:xfrm>
            <a:off x="9906120" y="4064040"/>
            <a:ext cx="2539800" cy="1260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" name="Text 19"/>
          <p:cNvSpPr/>
          <p:nvPr/>
        </p:nvSpPr>
        <p:spPr>
          <a:xfrm>
            <a:off x="12953880" y="1650960"/>
            <a:ext cx="101628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05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" name="Text 20"/>
          <p:cNvSpPr/>
          <p:nvPr/>
        </p:nvSpPr>
        <p:spPr>
          <a:xfrm>
            <a:off x="12953880" y="2476440"/>
            <a:ext cx="254016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适应性基金财务报告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" name="Text 21"/>
          <p:cNvSpPr/>
          <p:nvPr/>
        </p:nvSpPr>
        <p:spPr>
          <a:xfrm>
            <a:off x="12953880" y="2921040"/>
            <a:ext cx="2540160" cy="10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准备金拨备、适应性基金概览、风险转移与资本充足率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" name="Shape 22"/>
          <p:cNvSpPr/>
          <p:nvPr/>
        </p:nvSpPr>
        <p:spPr>
          <a:xfrm>
            <a:off x="12953880" y="4064040"/>
            <a:ext cx="2540160" cy="1260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" name="Text 23"/>
          <p:cNvSpPr/>
          <p:nvPr/>
        </p:nvSpPr>
        <p:spPr>
          <a:xfrm>
            <a:off x="762120" y="4699080"/>
            <a:ext cx="507996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核心逻辑链 </a:t>
            </a:r>
            <a:r>
              <a:rPr lang="en-US" sz="16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CORE LOGIC CHAIN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" name="Shape 24"/>
          <p:cNvSpPr/>
          <p:nvPr/>
        </p:nvSpPr>
        <p:spPr>
          <a:xfrm>
            <a:off x="762120" y="5143680"/>
            <a:ext cx="14731920" cy="1260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" name="Shape 25"/>
          <p:cNvSpPr/>
          <p:nvPr/>
        </p:nvSpPr>
        <p:spPr>
          <a:xfrm>
            <a:off x="762120" y="5460840"/>
            <a:ext cx="4317840" cy="1270080"/>
          </a:xfrm>
          <a:prstGeom prst="rect">
            <a:avLst/>
          </a:prstGeom>
          <a:solidFill>
            <a:srgbClr val="1E293B"/>
          </a:solidFill>
          <a:ln w="12600">
            <a:solidFill>
              <a:srgbClr val="D9770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9" name="Text 26"/>
          <p:cNvSpPr/>
          <p:nvPr/>
        </p:nvSpPr>
        <p:spPr>
          <a:xfrm>
            <a:off x="888840" y="5587920"/>
            <a:ext cx="4064040" cy="10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P5 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气候模型偏差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RCP 8.5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下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99.5% VaR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系统性低估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18-32%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40" name="Shape 27"/>
          <p:cNvCxnSpPr/>
          <p:nvPr/>
        </p:nvCxnSpPr>
        <p:spPr>
          <a:xfrm>
            <a:off x="5079600" y="5968800"/>
            <a:ext cx="762840" cy="1080"/>
          </a:xfrm>
          <a:prstGeom prst="straightConnector1">
            <a:avLst/>
          </a:prstGeom>
          <a:ln w="25560">
            <a:solidFill>
              <a:srgbClr val="D97706"/>
            </a:solidFill>
            <a:miter/>
            <a:tailEnd len="med" type="arrow" w="med"/>
          </a:ln>
        </p:spPr>
      </p:cxnSp>
      <p:sp>
        <p:nvSpPr>
          <p:cNvPr id="41" name="Shape 28"/>
          <p:cNvSpPr/>
          <p:nvPr/>
        </p:nvSpPr>
        <p:spPr>
          <a:xfrm>
            <a:off x="5842080" y="5460840"/>
            <a:ext cx="4317840" cy="1270080"/>
          </a:xfrm>
          <a:prstGeom prst="rect">
            <a:avLst/>
          </a:prstGeom>
          <a:solidFill>
            <a:srgbClr val="1E293B"/>
          </a:solidFill>
          <a:ln w="12600">
            <a:solidFill>
              <a:srgbClr val="D9770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" name="Text 29"/>
          <p:cNvSpPr/>
          <p:nvPr/>
        </p:nvSpPr>
        <p:spPr>
          <a:xfrm>
            <a:off x="5969160" y="5587920"/>
            <a:ext cx="4063680" cy="10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P20 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再保险对冲调整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附着点上调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15-25%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分层结构重组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43" name="Shape 30"/>
          <p:cNvCxnSpPr/>
          <p:nvPr/>
        </p:nvCxnSpPr>
        <p:spPr>
          <a:xfrm>
            <a:off x="10159560" y="5968800"/>
            <a:ext cx="762840" cy="1080"/>
          </a:xfrm>
          <a:prstGeom prst="straightConnector1">
            <a:avLst/>
          </a:prstGeom>
          <a:ln w="25560">
            <a:solidFill>
              <a:srgbClr val="D97706"/>
            </a:solidFill>
            <a:miter/>
            <a:tailEnd len="med" type="arrow" w="med"/>
          </a:ln>
        </p:spPr>
      </p:cxnSp>
      <p:sp>
        <p:nvSpPr>
          <p:cNvPr id="44" name="Shape 31"/>
          <p:cNvSpPr/>
          <p:nvPr/>
        </p:nvSpPr>
        <p:spPr>
          <a:xfrm>
            <a:off x="10922040" y="5460840"/>
            <a:ext cx="4572000" cy="1270080"/>
          </a:xfrm>
          <a:prstGeom prst="rect">
            <a:avLst/>
          </a:prstGeom>
          <a:solidFill>
            <a:srgbClr val="1E293B"/>
          </a:solidFill>
          <a:ln w="12600">
            <a:solidFill>
              <a:srgbClr val="D9770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5" name="Text 32"/>
          <p:cNvSpPr/>
          <p:nvPr/>
        </p:nvSpPr>
        <p:spPr>
          <a:xfrm>
            <a:off x="11049120" y="5587920"/>
            <a:ext cx="4317840" cy="10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P25 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准备金拨备变化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巨灾准备金上调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22%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风险边际增加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180bps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6" name="Text 33"/>
          <p:cNvSpPr/>
          <p:nvPr/>
        </p:nvSpPr>
        <p:spPr>
          <a:xfrm>
            <a:off x="14986080" y="8763120"/>
            <a:ext cx="5079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/>
          <p:cNvSpPr/>
          <p:nvPr/>
        </p:nvSpPr>
        <p:spPr>
          <a:xfrm>
            <a:off x="0" y="0"/>
            <a:ext cx="6502320" cy="9144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8" name="Text 1"/>
          <p:cNvSpPr/>
          <p:nvPr/>
        </p:nvSpPr>
        <p:spPr>
          <a:xfrm>
            <a:off x="762120" y="2286000"/>
            <a:ext cx="2539800" cy="12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01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" name="Text 2"/>
          <p:cNvSpPr/>
          <p:nvPr/>
        </p:nvSpPr>
        <p:spPr>
          <a:xfrm>
            <a:off x="762120" y="3683160"/>
            <a:ext cx="507996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全球巨灾风险格局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0" name="Text 3"/>
          <p:cNvSpPr/>
          <p:nvPr/>
        </p:nvSpPr>
        <p:spPr>
          <a:xfrm>
            <a:off x="762120" y="4444920"/>
            <a:ext cx="520704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GLOBAL CATASTROPHE RISK LANDSCAPE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1" name="Shape 4"/>
          <p:cNvSpPr/>
          <p:nvPr/>
        </p:nvSpPr>
        <p:spPr>
          <a:xfrm>
            <a:off x="762120" y="5079960"/>
            <a:ext cx="1269720" cy="381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2" name="Text 5"/>
          <p:cNvSpPr/>
          <p:nvPr/>
        </p:nvSpPr>
        <p:spPr>
          <a:xfrm>
            <a:off x="7112160" y="3556080"/>
            <a:ext cx="8127720" cy="12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从损失趋势到气候情景的系统性风险审视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全球保险巨灾损失趋势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| RCP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气候情景分析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|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尾部风险分布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|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赔付率结构分化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3" name="Text 6"/>
          <p:cNvSpPr/>
          <p:nvPr/>
        </p:nvSpPr>
        <p:spPr>
          <a:xfrm>
            <a:off x="14986080" y="8763120"/>
            <a:ext cx="5079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762120" y="635040"/>
            <a:ext cx="38160" cy="5079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5" name="Text 1"/>
          <p:cNvSpPr/>
          <p:nvPr/>
        </p:nvSpPr>
        <p:spPr>
          <a:xfrm>
            <a:off x="952560" y="635040"/>
            <a:ext cx="1396980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全球保险巨灾损失持续攀升，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2024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年达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$1,540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亿创历史新高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762120" y="1270080"/>
            <a:ext cx="14731920" cy="1260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762120" y="1460520"/>
            <a:ext cx="3429000" cy="1143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8" name="Text 4"/>
          <p:cNvSpPr/>
          <p:nvPr/>
        </p:nvSpPr>
        <p:spPr>
          <a:xfrm>
            <a:off x="888840" y="1523880"/>
            <a:ext cx="3175200" cy="5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$1,540</a:t>
            </a:r>
            <a:r>
              <a:rPr lang="en-US" sz="36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亿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9" name="Text 5"/>
          <p:cNvSpPr/>
          <p:nvPr/>
        </p:nvSpPr>
        <p:spPr>
          <a:xfrm>
            <a:off x="888840" y="2133720"/>
            <a:ext cx="31752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2024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年全球保险巨灾损失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0" name="Shape 6"/>
          <p:cNvSpPr/>
          <p:nvPr/>
        </p:nvSpPr>
        <p:spPr>
          <a:xfrm>
            <a:off x="4444920" y="1460520"/>
            <a:ext cx="3429000" cy="1143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 7"/>
          <p:cNvSpPr/>
          <p:nvPr/>
        </p:nvSpPr>
        <p:spPr>
          <a:xfrm>
            <a:off x="4572000" y="1523880"/>
            <a:ext cx="3174840" cy="5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+25.2%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 8"/>
          <p:cNvSpPr/>
          <p:nvPr/>
        </p:nvSpPr>
        <p:spPr>
          <a:xfrm>
            <a:off x="4572000" y="2133720"/>
            <a:ext cx="3174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较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2023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年同比增长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8128080" y="1460520"/>
            <a:ext cx="3429000" cy="1143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 10"/>
          <p:cNvSpPr/>
          <p:nvPr/>
        </p:nvSpPr>
        <p:spPr>
          <a:xfrm>
            <a:off x="8255160" y="1523880"/>
            <a:ext cx="3174840" cy="5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93.0%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 11"/>
          <p:cNvSpPr/>
          <p:nvPr/>
        </p:nvSpPr>
        <p:spPr>
          <a:xfrm>
            <a:off x="8255160" y="2133720"/>
            <a:ext cx="3174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2024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年基础综合比率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6" name="Shape 12"/>
          <p:cNvSpPr/>
          <p:nvPr/>
        </p:nvSpPr>
        <p:spPr>
          <a:xfrm>
            <a:off x="11810880" y="1460520"/>
            <a:ext cx="3683160" cy="1143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 13"/>
          <p:cNvSpPr/>
          <p:nvPr/>
        </p:nvSpPr>
        <p:spPr>
          <a:xfrm>
            <a:off x="11937960" y="1523880"/>
            <a:ext cx="3429000" cy="5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7-8pp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 14"/>
          <p:cNvSpPr/>
          <p:nvPr/>
        </p:nvSpPr>
        <p:spPr>
          <a:xfrm>
            <a:off x="11937960" y="2133720"/>
            <a:ext cx="34290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巨灾损失对综合比率影响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69" name="Chart 0"/>
          <p:cNvGraphicFramePr/>
          <p:nvPr/>
        </p:nvGraphicFramePr>
        <p:xfrm>
          <a:off x="711360" y="2743200"/>
          <a:ext cx="7467480" cy="403848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70" name="Chart 0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711360" y="2743200"/>
                    <a:ext cx="7467480" cy="40384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71" name="Text 15"/>
          <p:cNvSpPr/>
          <p:nvPr/>
        </p:nvSpPr>
        <p:spPr>
          <a:xfrm>
            <a:off x="8381880" y="2793960"/>
            <a:ext cx="7112160" cy="39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关键趋势分析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5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2024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年全球保险巨灾损失达</a:t>
            </a:r>
            <a:r>
              <a:rPr lang="en-US" sz="15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$1,540</a:t>
            </a:r>
            <a:r>
              <a:rPr lang="en-US" sz="15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亿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，较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2023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$1,230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亿增长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25.2%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，连续四年超过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$1,000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亿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自然灾害在再保险综合比率中的影响从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2023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年的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3.2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个百分点上升至</a:t>
            </a:r>
            <a:r>
              <a:rPr lang="en-US" sz="15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7-8</a:t>
            </a:r>
            <a:r>
              <a:rPr lang="en-US" sz="15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个百分点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基础综合比率（剔除巨灾和准备金变动）从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96%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改善至</a:t>
            </a:r>
            <a:r>
              <a:rPr lang="en-US" sz="1500" b="1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93.0%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，为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2014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年以来最佳水平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准备金释放改善综合比率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2.5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个百分点，财产准备金释放超过抵消美国 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casualty 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准备金增加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2025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年运行率指向约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$1,450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亿；传统再保险资本预计增长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6%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加州野火估计损失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$350-400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亿，消耗主要再保险公司年度巨灾预算的</a:t>
            </a:r>
            <a:r>
              <a:rPr lang="en-US" sz="15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25-33%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 16"/>
          <p:cNvSpPr/>
          <p:nvPr/>
        </p:nvSpPr>
        <p:spPr>
          <a:xfrm>
            <a:off x="762120" y="8763120"/>
            <a:ext cx="101599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Source: </a:t>
            </a:r>
            <a:r>
              <a:rPr lang="en-US" sz="1200" b="0" u="sng" strike="noStrike">
                <a:solidFill>
                  <a:srgbClr val="0563C1"/>
                </a:solidFill>
                <a:effectLst/>
                <a:uFillTx/>
                <a:latin typeface="Liter"/>
                <a:ea typeface="Liter"/>
                <a:hlinkClick r:id="rId3"/>
              </a:rPr>
              <a:t>Gallagher Re, Beinsure 2026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; Fitch Ratings 2025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 17"/>
          <p:cNvSpPr/>
          <p:nvPr/>
        </p:nvSpPr>
        <p:spPr>
          <a:xfrm>
            <a:off x="14986080" y="8763120"/>
            <a:ext cx="5079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04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0"/>
          <p:cNvSpPr/>
          <p:nvPr/>
        </p:nvSpPr>
        <p:spPr>
          <a:xfrm>
            <a:off x="762120" y="635040"/>
            <a:ext cx="38160" cy="5079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 1"/>
          <p:cNvSpPr/>
          <p:nvPr/>
        </p:nvSpPr>
        <p:spPr>
          <a:xfrm>
            <a:off x="952560" y="635040"/>
            <a:ext cx="1396980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RCP 4.5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与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RCP 8.5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情景下巨灾频率与强度偏差揭示系统性模型风险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6" name="Shape 2"/>
          <p:cNvSpPr/>
          <p:nvPr/>
        </p:nvSpPr>
        <p:spPr>
          <a:xfrm>
            <a:off x="762120" y="1270080"/>
            <a:ext cx="14731920" cy="1260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7" name="Shape 3"/>
          <p:cNvSpPr/>
          <p:nvPr/>
        </p:nvSpPr>
        <p:spPr>
          <a:xfrm>
            <a:off x="762120" y="1460520"/>
            <a:ext cx="1523880" cy="35568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 4"/>
          <p:cNvSpPr/>
          <p:nvPr/>
        </p:nvSpPr>
        <p:spPr>
          <a:xfrm>
            <a:off x="762120" y="1460520"/>
            <a:ext cx="152388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核心逻辑锚点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9" name="Shape 5"/>
          <p:cNvSpPr/>
          <p:nvPr/>
        </p:nvSpPr>
        <p:spPr>
          <a:xfrm>
            <a:off x="762120" y="1968480"/>
            <a:ext cx="7175520" cy="4572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 6"/>
          <p:cNvSpPr/>
          <p:nvPr/>
        </p:nvSpPr>
        <p:spPr>
          <a:xfrm>
            <a:off x="888840" y="1968480"/>
            <a:ext cx="6921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RCP 4.5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中度减排情景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| 2100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年升温约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2.4°C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 7"/>
          <p:cNvSpPr/>
          <p:nvPr/>
        </p:nvSpPr>
        <p:spPr>
          <a:xfrm>
            <a:off x="762120" y="2540160"/>
            <a:ext cx="7175520" cy="228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飓风强度增加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4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8-12%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 — 4-5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级飓风比例增加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15%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洪水频率增加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4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15-20%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 —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欧洲和亚太面临最大压力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干旱持续时间延长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4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10-15%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 —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农业产量影响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5-12%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海平面上升贡献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94±25mm (RCP2.6) → 200±44mm (RCP8.5)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综合经济损失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 全球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GDP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影响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0.5-0.8%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（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2100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2" name="Shape 8"/>
          <p:cNvSpPr/>
          <p:nvPr/>
        </p:nvSpPr>
        <p:spPr>
          <a:xfrm>
            <a:off x="8318520" y="1968480"/>
            <a:ext cx="7175520" cy="457200"/>
          </a:xfrm>
          <a:prstGeom prst="rect">
            <a:avLst/>
          </a:prstGeom>
          <a:solidFill>
            <a:srgbClr val="7C2D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 9"/>
          <p:cNvSpPr/>
          <p:nvPr/>
        </p:nvSpPr>
        <p:spPr>
          <a:xfrm>
            <a:off x="8445600" y="1968480"/>
            <a:ext cx="6921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RCP 8.5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高排放情景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| 2100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年升温约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4.3°C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 10"/>
          <p:cNvSpPr/>
          <p:nvPr/>
        </p:nvSpPr>
        <p:spPr>
          <a:xfrm>
            <a:off x="8318520" y="2540160"/>
            <a:ext cx="7175520" cy="228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飓风强度增加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4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18-25%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 — 4-5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级飓风比例增加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35%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洪水频率增加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4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35-50%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 —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全球损失达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$1.25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万亿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/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干旱持续时间延长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4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30-45%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 —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作物产量减少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15-35%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冰川质量损失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36±11% (2100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年，小冰川区域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&gt;80%)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综合经济损失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 全球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GDP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影响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1.1-2.3%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（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2100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5" name="Shape 11"/>
          <p:cNvSpPr/>
          <p:nvPr/>
        </p:nvSpPr>
        <p:spPr>
          <a:xfrm>
            <a:off x="762120" y="5079960"/>
            <a:ext cx="14731920" cy="457200"/>
          </a:xfrm>
          <a:prstGeom prst="rect">
            <a:avLst/>
          </a:prstGeom>
          <a:solidFill>
            <a:srgbClr val="7C2D12"/>
          </a:solidFill>
          <a:ln w="12600">
            <a:solidFill>
              <a:srgbClr val="D9770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 12"/>
          <p:cNvSpPr/>
          <p:nvPr/>
        </p:nvSpPr>
        <p:spPr>
          <a:xfrm>
            <a:off x="888840" y="5079960"/>
            <a:ext cx="14478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模型偏差识别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| MODEL BIAS DETECTION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 13"/>
          <p:cNvSpPr/>
          <p:nvPr/>
        </p:nvSpPr>
        <p:spPr>
          <a:xfrm>
            <a:off x="762120" y="5651640"/>
            <a:ext cx="14731920" cy="20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系统性低估偏差：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当前巨灾模型对气候变化的敏感性参数存在系统性低估，特别是在尾部风险区域。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CMIP6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模型输出与历史损失数据的融合仍存在方法论缺口。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99.5% VaR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偏差幅度：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RCP 8.5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情景下，实际损失可能比模型预测高出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18-32%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。此偏差直接影响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SCR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计算和再保险购买决策。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传导机制（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P5→P20→P25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）：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气候模型偏差 → 再保险附着点上调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15-25% +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分层结构重组 → 巨灾准备金上调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22% +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风险边际增加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180bps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参数不确定性来源：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气候敏感性参数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(±15-25%) ×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暴露数据质量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(±10-20%) ×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脆弱性函数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(±15-30%) =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复合不确定性可达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±40-60%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 14"/>
          <p:cNvSpPr/>
          <p:nvPr/>
        </p:nvSpPr>
        <p:spPr>
          <a:xfrm>
            <a:off x="762120" y="7810560"/>
            <a:ext cx="15238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P5 → P20 → P25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 15"/>
          <p:cNvSpPr/>
          <p:nvPr/>
        </p:nvSpPr>
        <p:spPr>
          <a:xfrm>
            <a:off x="762120" y="8763120"/>
            <a:ext cx="101599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Source: </a:t>
            </a:r>
            <a:r>
              <a:rPr lang="en-US" sz="1200" b="0" u="sng" strike="noStrike">
                <a:solidFill>
                  <a:srgbClr val="0563C1"/>
                </a:solidFill>
                <a:effectLst/>
                <a:uFillTx/>
                <a:latin typeface="Liter"/>
                <a:ea typeface="Liter"/>
                <a:hlinkClick r:id="rId1"/>
              </a:rPr>
              <a:t>IPCC SROCC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; </a:t>
            </a:r>
            <a:r>
              <a:rPr lang="en-US" sz="1200" b="0" u="sng" strike="noStrike">
                <a:solidFill>
                  <a:srgbClr val="0563C1"/>
                </a:solidFill>
                <a:effectLst/>
                <a:uFillTx/>
                <a:latin typeface="Liter"/>
                <a:ea typeface="Liter"/>
                <a:hlinkClick r:id="rId2"/>
              </a:rPr>
              <a:t>UNEP Adaptation Gap Report 2025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 16"/>
          <p:cNvSpPr/>
          <p:nvPr/>
        </p:nvSpPr>
        <p:spPr>
          <a:xfrm>
            <a:off x="14986080" y="8763120"/>
            <a:ext cx="5079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762120" y="635040"/>
            <a:ext cx="38160" cy="5079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 1"/>
          <p:cNvSpPr/>
          <p:nvPr/>
        </p:nvSpPr>
        <p:spPr>
          <a:xfrm>
            <a:off x="952560" y="635040"/>
            <a:ext cx="1396980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巨灾损失服从厚尾分布，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99.5% VaR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掩盖的尾部期望损失可达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2.4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倍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3" name="Shape 2"/>
          <p:cNvSpPr/>
          <p:nvPr/>
        </p:nvSpPr>
        <p:spPr>
          <a:xfrm>
            <a:off x="762120" y="1270080"/>
            <a:ext cx="14731920" cy="1260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4" name="Shape 3"/>
          <p:cNvSpPr/>
          <p:nvPr/>
        </p:nvSpPr>
        <p:spPr>
          <a:xfrm>
            <a:off x="762120" y="1460520"/>
            <a:ext cx="7175520" cy="25401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 4"/>
          <p:cNvSpPr/>
          <p:nvPr/>
        </p:nvSpPr>
        <p:spPr>
          <a:xfrm>
            <a:off x="952560" y="1549440"/>
            <a:ext cx="253980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组合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A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（薄尾）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 5"/>
          <p:cNvSpPr/>
          <p:nvPr/>
        </p:nvSpPr>
        <p:spPr>
          <a:xfrm>
            <a:off x="3556080" y="1549440"/>
            <a:ext cx="419076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中度地震区，暴露 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bounded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 6"/>
          <p:cNvSpPr/>
          <p:nvPr/>
        </p:nvSpPr>
        <p:spPr>
          <a:xfrm>
            <a:off x="952560" y="1968480"/>
            <a:ext cx="317484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5</a:t>
            </a:r>
            <a:r>
              <a:rPr lang="en-US" sz="28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亿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 7"/>
          <p:cNvSpPr/>
          <p:nvPr/>
        </p:nvSpPr>
        <p:spPr>
          <a:xfrm>
            <a:off x="952560" y="2476440"/>
            <a:ext cx="3174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99.5% VaR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 8"/>
          <p:cNvSpPr/>
          <p:nvPr/>
        </p:nvSpPr>
        <p:spPr>
          <a:xfrm>
            <a:off x="4317840" y="1968480"/>
            <a:ext cx="317520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6.5</a:t>
            </a:r>
            <a:r>
              <a:rPr lang="en-US" sz="28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亿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 9"/>
          <p:cNvSpPr/>
          <p:nvPr/>
        </p:nvSpPr>
        <p:spPr>
          <a:xfrm>
            <a:off x="4317840" y="2476440"/>
            <a:ext cx="31752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CTE (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条件尾部期望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 10"/>
          <p:cNvSpPr/>
          <p:nvPr/>
        </p:nvSpPr>
        <p:spPr>
          <a:xfrm>
            <a:off x="952560" y="2857680"/>
            <a:ext cx="67309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CTE/VaR = 1.30 | SCR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倍数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= 2.0x |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真实韧性：高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2" name="Shape 11"/>
          <p:cNvSpPr/>
          <p:nvPr/>
        </p:nvSpPr>
        <p:spPr>
          <a:xfrm>
            <a:off x="8318520" y="1460520"/>
            <a:ext cx="7175520" cy="2540160"/>
          </a:xfrm>
          <a:prstGeom prst="rect">
            <a:avLst/>
          </a:prstGeom>
          <a:solidFill>
            <a:srgbClr val="1E293B"/>
          </a:solidFill>
          <a:ln w="12600">
            <a:solidFill>
              <a:srgbClr val="D9770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 12"/>
          <p:cNvSpPr/>
          <p:nvPr/>
        </p:nvSpPr>
        <p:spPr>
          <a:xfrm>
            <a:off x="8508960" y="1549440"/>
            <a:ext cx="254016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组合</a:t>
            </a:r>
            <a:r>
              <a:rPr lang="en-US" sz="15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B</a:t>
            </a:r>
            <a:r>
              <a:rPr lang="en-US" sz="15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（厚尾）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 13"/>
          <p:cNvSpPr/>
          <p:nvPr/>
        </p:nvSpPr>
        <p:spPr>
          <a:xfrm>
            <a:off x="11112480" y="1549440"/>
            <a:ext cx="41911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巨灾区，极端事件主导尾部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 14"/>
          <p:cNvSpPr/>
          <p:nvPr/>
        </p:nvSpPr>
        <p:spPr>
          <a:xfrm>
            <a:off x="8508960" y="1968480"/>
            <a:ext cx="317520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5</a:t>
            </a:r>
            <a:r>
              <a:rPr lang="en-US" sz="28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亿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 15"/>
          <p:cNvSpPr/>
          <p:nvPr/>
        </p:nvSpPr>
        <p:spPr>
          <a:xfrm>
            <a:off x="8508960" y="2476440"/>
            <a:ext cx="31752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99.5% VaR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 16"/>
          <p:cNvSpPr/>
          <p:nvPr/>
        </p:nvSpPr>
        <p:spPr>
          <a:xfrm>
            <a:off x="11874600" y="1968480"/>
            <a:ext cx="317484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12</a:t>
            </a:r>
            <a:r>
              <a:rPr lang="en-US" sz="28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亿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 17"/>
          <p:cNvSpPr/>
          <p:nvPr/>
        </p:nvSpPr>
        <p:spPr>
          <a:xfrm>
            <a:off x="11874600" y="2476440"/>
            <a:ext cx="31748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CTE (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条件尾部期望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 18"/>
          <p:cNvSpPr/>
          <p:nvPr/>
        </p:nvSpPr>
        <p:spPr>
          <a:xfrm>
            <a:off x="8508960" y="2857680"/>
            <a:ext cx="67309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CTE/VaR = 2.40 | SCR</a:t>
            </a:r>
            <a:r>
              <a:rPr lang="en-US" sz="14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倍数 </a:t>
            </a:r>
            <a:r>
              <a:rPr lang="en-US" sz="14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= 2.0x | </a:t>
            </a:r>
            <a:r>
              <a:rPr lang="en-US" sz="14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真实韧性：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极低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10" name="Chart 0"/>
          <p:cNvGraphicFramePr/>
          <p:nvPr/>
        </p:nvGraphicFramePr>
        <p:xfrm>
          <a:off x="711360" y="4203720"/>
          <a:ext cx="7467480" cy="365760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111" name="Chart 0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711360" y="4203720"/>
                    <a:ext cx="7467480" cy="36576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12" name="Text 19"/>
          <p:cNvSpPr/>
          <p:nvPr/>
        </p:nvSpPr>
        <p:spPr>
          <a:xfrm>
            <a:off x="8381880" y="4254480"/>
            <a:ext cx="7112160" cy="37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核心洞察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在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Solvency II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框架下，组合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A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和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B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的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SCR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完全相同（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5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亿），持有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亿资本时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SCR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倍数均为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2.0x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。但组合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B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的真实尾部暴露是组合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A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的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1.85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倍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VaR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的局限性：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VaR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仅告诉你最坏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0.5%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情况下的</a:t>
            </a:r>
            <a:r>
              <a:rPr lang="en-US" sz="1400" b="1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最小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损失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CTE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揭示超出该点的</a:t>
            </a:r>
            <a:r>
              <a:rPr lang="en-US" sz="1400" b="1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期望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损失严重程度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对于厚尾风险，参数不确定性进一步放大尾部暴露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管理启示：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再保险限额等于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VaR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可能提供虚假安全感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应使用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CTE/TVaR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作为补充风险度量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 20"/>
          <p:cNvSpPr/>
          <p:nvPr/>
        </p:nvSpPr>
        <p:spPr>
          <a:xfrm>
            <a:off x="762120" y="8763120"/>
            <a:ext cx="101599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Source: </a:t>
            </a:r>
            <a:r>
              <a:rPr lang="en-US" sz="1200" b="0" u="sng" strike="noStrike">
                <a:solidFill>
                  <a:srgbClr val="0563C1"/>
                </a:solidFill>
                <a:effectLst/>
                <a:uFillTx/>
                <a:latin typeface="Liter"/>
                <a:ea typeface="Liter"/>
                <a:hlinkClick r:id="rId3"/>
              </a:rPr>
              <a:t>Milliman 2025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; SOA ERM Symposium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 21"/>
          <p:cNvSpPr/>
          <p:nvPr/>
        </p:nvSpPr>
        <p:spPr>
          <a:xfrm>
            <a:off x="14986080" y="8763120"/>
            <a:ext cx="5079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06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0"/>
          <p:cNvSpPr/>
          <p:nvPr/>
        </p:nvSpPr>
        <p:spPr>
          <a:xfrm>
            <a:off x="762120" y="635040"/>
            <a:ext cx="38160" cy="5079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 1"/>
          <p:cNvSpPr/>
          <p:nvPr/>
        </p:nvSpPr>
        <p:spPr>
          <a:xfrm>
            <a:off x="952560" y="635040"/>
            <a:ext cx="1396980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基础综合比率改善至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93%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但巨灾损失加载上升，赔付率结构出现根本性分化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7" name="Shape 2"/>
          <p:cNvSpPr/>
          <p:nvPr/>
        </p:nvSpPr>
        <p:spPr>
          <a:xfrm>
            <a:off x="762120" y="1270080"/>
            <a:ext cx="14731920" cy="1260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18" name="Chart 0"/>
          <p:cNvPicPr/>
          <p:nvPr/>
        </p:nvPicPr>
        <p:blipFill>
          <a:blip r:embed="rId1"/>
          <a:stretch/>
        </p:blipFill>
        <p:spPr>
          <a:xfrm>
            <a:off x="762120" y="1460520"/>
            <a:ext cx="8127720" cy="406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ext 3"/>
          <p:cNvSpPr/>
          <p:nvPr/>
        </p:nvSpPr>
        <p:spPr>
          <a:xfrm>
            <a:off x="9144000" y="1460520"/>
            <a:ext cx="6350040" cy="40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2024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年赔付率结构分解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基础综合比率 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93.0%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（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2023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96%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），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2014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年以来最佳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巨灾损失加载 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7.6%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（标准化值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9%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准备金释放改善比率 </a:t>
            </a:r>
            <a:r>
              <a:rPr lang="en-US" sz="1400" b="1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2.5pp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（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2023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1.8pp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加州野火消耗年度巨灾预算 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25-33%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2025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年展望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基础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ROE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预计 </a:t>
            </a:r>
            <a:r>
              <a:rPr lang="en-US" sz="1400" b="1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15%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，名义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ROE 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18-19%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约为行业加权平均资本成本的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2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倍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行业保持吸收超预期巨灾损失的能力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再保险资本预计增长 </a:t>
            </a:r>
            <a:r>
              <a:rPr lang="en-US" sz="1400" b="1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6%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20" name=""/>
          <p:cNvGraphicFramePr/>
          <p:nvPr/>
        </p:nvGraphicFramePr>
        <p:xfrm>
          <a:off x="762120" y="5778360"/>
          <a:ext cx="14731920" cy="2286000"/>
        </p:xfrm>
        <a:graphic>
          <a:graphicData uri="http://schemas.openxmlformats.org/drawingml/2006/table">
            <a:tbl>
              <a:tblPr/>
              <a:tblGrid>
                <a:gridCol w="3241440"/>
                <a:gridCol w="1914480"/>
                <a:gridCol w="1914840"/>
                <a:gridCol w="1915920"/>
                <a:gridCol w="1914480"/>
                <a:gridCol w="1916280"/>
                <a:gridCol w="1914480"/>
              </a:tblGrid>
              <a:tr h="57168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指标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2022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2023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2024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2025E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变化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趋势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57132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综合比率 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(%)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91.8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86.5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90.0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91.5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+3.5pp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↑ 软化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57168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巨灾损失率 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(%)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9.2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3.2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7.6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7.0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+4.4pp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↑ 上升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57132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基础综合比率 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(%)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—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96.0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93.0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93.5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-3.0pp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↓ 改善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21" name="Text 4"/>
          <p:cNvSpPr/>
          <p:nvPr/>
        </p:nvSpPr>
        <p:spPr>
          <a:xfrm>
            <a:off x="762120" y="8763120"/>
            <a:ext cx="101599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Source: Fitch Ratings 2025; </a:t>
            </a:r>
            <a:r>
              <a:rPr lang="en-US" sz="1200" b="0" u="sng" strike="noStrike">
                <a:solidFill>
                  <a:srgbClr val="0563C1"/>
                </a:solidFill>
                <a:effectLst/>
                <a:uFillTx/>
                <a:latin typeface="Liter"/>
                <a:ea typeface="Liter"/>
                <a:hlinkClick r:id="rId2"/>
              </a:rPr>
              <a:t>Gallagher Re 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 5"/>
          <p:cNvSpPr/>
          <p:nvPr/>
        </p:nvSpPr>
        <p:spPr>
          <a:xfrm>
            <a:off x="14986080" y="8763120"/>
            <a:ext cx="5079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07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0" y="0"/>
            <a:ext cx="6502320" cy="9144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 1"/>
          <p:cNvSpPr/>
          <p:nvPr/>
        </p:nvSpPr>
        <p:spPr>
          <a:xfrm>
            <a:off x="762120" y="2286000"/>
            <a:ext cx="2539800" cy="12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02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 2"/>
          <p:cNvSpPr/>
          <p:nvPr/>
        </p:nvSpPr>
        <p:spPr>
          <a:xfrm>
            <a:off x="762120" y="3683160"/>
            <a:ext cx="507996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巨灾建模框架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 3"/>
          <p:cNvSpPr/>
          <p:nvPr/>
        </p:nvSpPr>
        <p:spPr>
          <a:xfrm>
            <a:off x="762120" y="4444920"/>
            <a:ext cx="533376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CATASTROPHE MODELING FRAMEWORK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7" name="Shape 4"/>
          <p:cNvSpPr/>
          <p:nvPr/>
        </p:nvSpPr>
        <p:spPr>
          <a:xfrm>
            <a:off x="762120" y="5079960"/>
            <a:ext cx="1269720" cy="381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 5"/>
          <p:cNvSpPr/>
          <p:nvPr/>
        </p:nvSpPr>
        <p:spPr>
          <a:xfrm>
            <a:off x="7112160" y="3556080"/>
            <a:ext cx="8127720" cy="12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复合泊松分布、风险定价与资本充足率计量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复合泊松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-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对数正态定价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| Solvency II SCR | VaR/PML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方法论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|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模型校准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 6"/>
          <p:cNvSpPr/>
          <p:nvPr/>
        </p:nvSpPr>
        <p:spPr>
          <a:xfrm>
            <a:off x="14986080" y="8763120"/>
            <a:ext cx="5079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08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0"/>
          <p:cNvSpPr/>
          <p:nvPr/>
        </p:nvSpPr>
        <p:spPr>
          <a:xfrm>
            <a:off x="762120" y="635040"/>
            <a:ext cx="38160" cy="5079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 1"/>
          <p:cNvSpPr/>
          <p:nvPr/>
        </p:nvSpPr>
        <p:spPr>
          <a:xfrm>
            <a:off x="952560" y="635040"/>
            <a:ext cx="1396980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复合泊松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-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对数正态模型下的风险损失定价公式构建巨灾风险定价基石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2" name="Shape 2"/>
          <p:cNvSpPr/>
          <p:nvPr/>
        </p:nvSpPr>
        <p:spPr>
          <a:xfrm>
            <a:off x="762120" y="1270080"/>
            <a:ext cx="14731920" cy="1260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3" name="Shape 3"/>
          <p:cNvSpPr/>
          <p:nvPr/>
        </p:nvSpPr>
        <p:spPr>
          <a:xfrm>
            <a:off x="762120" y="1460520"/>
            <a:ext cx="14731920" cy="25401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 4"/>
          <p:cNvSpPr/>
          <p:nvPr/>
        </p:nvSpPr>
        <p:spPr>
          <a:xfrm>
            <a:off x="1015920" y="1549440"/>
            <a:ext cx="507996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复合泊松分布风险损失定价模型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35" name="Text 5"/>
          <p:cNvPicPr/>
          <p:nvPr/>
        </p:nvPicPr>
        <p:blipFill>
          <a:blip r:embed="rId1"/>
          <a:stretch/>
        </p:blipFill>
        <p:spPr>
          <a:xfrm>
            <a:off x="888840" y="1968480"/>
            <a:ext cx="14351040" cy="203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Text 6"/>
          <p:cNvSpPr/>
          <p:nvPr/>
        </p:nvSpPr>
        <p:spPr>
          <a:xfrm>
            <a:off x="762120" y="4254480"/>
            <a:ext cx="50799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再保险溢价倍数分析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37" name="Chart 0"/>
          <p:cNvPicPr/>
          <p:nvPr/>
        </p:nvPicPr>
        <p:blipFill>
          <a:blip r:embed="rId2"/>
          <a:stretch/>
        </p:blipFill>
        <p:spPr>
          <a:xfrm>
            <a:off x="762120" y="4673520"/>
            <a:ext cx="7124760" cy="330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 7"/>
          <p:cNvSpPr/>
          <p:nvPr/>
        </p:nvSpPr>
        <p:spPr>
          <a:xfrm>
            <a:off x="8128080" y="4254480"/>
            <a:ext cx="7365960" cy="43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按层位划分的溢价倍数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基础层（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1/10-50Y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）：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3-5x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中间层（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1/50-150Y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）：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4-7x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顶层（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1/150-250Y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）：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6-10x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按灾种划分（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2025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美国财险：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5-8x |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欧洲风暴：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4-6x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亚太台风：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6-9x |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地震：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4-7x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定价方法论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Panjer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递推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/FFT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计算聚合分布；风险加载反映参数不确定性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762120" y="8763120"/>
            <a:ext cx="101599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Source: Actuarial Standard Practice; Compound Poisson-Lognormal Pricing Framework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14986080" y="8763120"/>
            <a:ext cx="5079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09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0"/>
          <p:cNvSpPr/>
          <p:nvPr/>
        </p:nvSpPr>
        <p:spPr>
          <a:xfrm>
            <a:off x="762120" y="635040"/>
            <a:ext cx="38160" cy="5079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 1"/>
          <p:cNvSpPr/>
          <p:nvPr/>
        </p:nvSpPr>
        <p:spPr>
          <a:xfrm>
            <a:off x="952560" y="635040"/>
            <a:ext cx="1396980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Solvency II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框架下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SCR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采用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99.5%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一年期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VaR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，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2025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年巨灾风险参数全面更新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3" name="Shape 2"/>
          <p:cNvSpPr/>
          <p:nvPr/>
        </p:nvSpPr>
        <p:spPr>
          <a:xfrm>
            <a:off x="762120" y="1270080"/>
            <a:ext cx="14731920" cy="1260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4" name="Shape 3"/>
          <p:cNvSpPr/>
          <p:nvPr/>
        </p:nvSpPr>
        <p:spPr>
          <a:xfrm>
            <a:off x="762120" y="1460520"/>
            <a:ext cx="7111800" cy="15238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 4"/>
          <p:cNvSpPr/>
          <p:nvPr/>
        </p:nvSpPr>
        <p:spPr>
          <a:xfrm>
            <a:off x="952560" y="1523880"/>
            <a:ext cx="380988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Solvency Capital Requirement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46" name="Text 5"/>
          <p:cNvPicPr/>
          <p:nvPr/>
        </p:nvPicPr>
        <p:blipFill>
          <a:blip r:embed="rId1"/>
          <a:stretch/>
        </p:blipFill>
        <p:spPr>
          <a:xfrm>
            <a:off x="876240" y="1866960"/>
            <a:ext cx="6807240" cy="97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Shape 6"/>
          <p:cNvSpPr/>
          <p:nvPr/>
        </p:nvSpPr>
        <p:spPr>
          <a:xfrm>
            <a:off x="8128080" y="1460520"/>
            <a:ext cx="7365960" cy="15238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 7"/>
          <p:cNvSpPr/>
          <p:nvPr/>
        </p:nvSpPr>
        <p:spPr>
          <a:xfrm>
            <a:off x="8318520" y="1523880"/>
            <a:ext cx="380988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Solvency II </a:t>
            </a:r>
            <a:r>
              <a:rPr lang="en-US" sz="14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三大支柱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 8"/>
          <p:cNvSpPr/>
          <p:nvPr/>
        </p:nvSpPr>
        <p:spPr>
          <a:xfrm>
            <a:off x="8318520" y="1879560"/>
            <a:ext cx="6985080" cy="10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Pillar I: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资本要求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(SCR/MCR)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Pillar II: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治理与风险管理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(ORSA)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Pillar III: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透明度与报告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(SFCR/RSR)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 9"/>
          <p:cNvSpPr/>
          <p:nvPr/>
        </p:nvSpPr>
        <p:spPr>
          <a:xfrm>
            <a:off x="762120" y="3200400"/>
            <a:ext cx="635004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2025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年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Solvency II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巨灾风险更新要点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 10"/>
          <p:cNvSpPr/>
          <p:nvPr/>
        </p:nvSpPr>
        <p:spPr>
          <a:xfrm>
            <a:off x="762120" y="3619440"/>
            <a:ext cx="7111800" cy="41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自然灾害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Submodule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全面修订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更新洪水、风暴、冰雹、地震和沉降定义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洪水公式明确包含财产、陆上财产和机动车辆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沉降模块采用区域和区域模型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+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相关矩阵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资本要求影响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风险因子根据最新科学数据和气候趋势调整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标准公式使用相关矩阵聚合，允许分散化效益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国家最后保险人计划获认可为风险缓解效果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报告简化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SFCR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分两部分：保单持有人版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(≤5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页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) +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市场专业版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RSR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叙事信息限于审慎监管所需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52" name="Chart 0"/>
          <p:cNvPicPr/>
          <p:nvPr/>
        </p:nvPicPr>
        <p:blipFill>
          <a:blip r:embed="rId2"/>
          <a:stretch/>
        </p:blipFill>
        <p:spPr>
          <a:xfrm>
            <a:off x="8115480" y="3200400"/>
            <a:ext cx="7391160" cy="342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 11"/>
          <p:cNvSpPr/>
          <p:nvPr/>
        </p:nvSpPr>
        <p:spPr>
          <a:xfrm>
            <a:off x="762120" y="8763120"/>
            <a:ext cx="114300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Source: </a:t>
            </a:r>
            <a:r>
              <a:rPr lang="en-US" sz="1200" b="0" u="sng" strike="noStrike">
                <a:solidFill>
                  <a:srgbClr val="0563C1"/>
                </a:solidFill>
                <a:effectLst/>
                <a:uFillTx/>
                <a:latin typeface="Liter"/>
                <a:ea typeface="Liter"/>
                <a:hlinkClick r:id="rId3"/>
              </a:rPr>
              <a:t>European Commission 2025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; </a:t>
            </a:r>
            <a:r>
              <a:rPr lang="en-US" sz="1200" b="0" u="sng" strike="noStrike">
                <a:solidFill>
                  <a:srgbClr val="0563C1"/>
                </a:solidFill>
                <a:effectLst/>
                <a:uFillTx/>
                <a:latin typeface="Liter"/>
                <a:ea typeface="Liter"/>
                <a:hlinkClick r:id="rId4"/>
              </a:rPr>
              <a:t>J.P. Morgan 2025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 12"/>
          <p:cNvSpPr/>
          <p:nvPr/>
        </p:nvSpPr>
        <p:spPr>
          <a:xfrm>
            <a:off x="14986080" y="8763120"/>
            <a:ext cx="5079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0"/>
          <p:cNvSpPr/>
          <p:nvPr/>
        </p:nvSpPr>
        <p:spPr>
          <a:xfrm>
            <a:off x="762120" y="635040"/>
            <a:ext cx="38160" cy="5079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 1"/>
          <p:cNvSpPr/>
          <p:nvPr/>
        </p:nvSpPr>
        <p:spPr>
          <a:xfrm>
            <a:off x="952560" y="635040"/>
            <a:ext cx="1396980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PML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分析显示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1-in-250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年事件损失可达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AEL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的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12-18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倍，资本配置需超越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VaR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7" name="Shape 2"/>
          <p:cNvSpPr/>
          <p:nvPr/>
        </p:nvSpPr>
        <p:spPr>
          <a:xfrm>
            <a:off x="762120" y="1270080"/>
            <a:ext cx="14731920" cy="1260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58" name=""/>
          <p:cNvGraphicFramePr/>
          <p:nvPr/>
        </p:nvGraphicFramePr>
        <p:xfrm>
          <a:off x="762120" y="1460520"/>
          <a:ext cx="14731920" cy="1650960"/>
        </p:xfrm>
        <a:graphic>
          <a:graphicData uri="http://schemas.openxmlformats.org/drawingml/2006/table">
            <a:tbl>
              <a:tblPr/>
              <a:tblGrid>
                <a:gridCol w="2946240"/>
                <a:gridCol w="2357640"/>
                <a:gridCol w="2357280"/>
                <a:gridCol w="2355840"/>
                <a:gridCol w="2357280"/>
                <a:gridCol w="2357640"/>
              </a:tblGrid>
              <a:tr h="58428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风险度量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VaR 99.5%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TVaR/CTE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PML 100Y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PML 250Y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CR (</a:t>
                      </a: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尾风险系数</a:t>
                      </a: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5331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定义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200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年一遇最小损失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超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VaR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条件期望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100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年可能最大损失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250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年可能最大损失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VaR / σ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53352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典型值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5</a:t>
                      </a: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亿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6.5-12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亿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8-10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亿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12-18</a:t>
                      </a: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亿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3-18+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159" name="Chart 0"/>
          <p:cNvPicPr/>
          <p:nvPr/>
        </p:nvPicPr>
        <p:blipFill>
          <a:blip r:embed="rId1"/>
          <a:stretch/>
        </p:blipFill>
        <p:spPr>
          <a:xfrm>
            <a:off x="762120" y="3327480"/>
            <a:ext cx="7365960" cy="355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Text 3"/>
          <p:cNvSpPr/>
          <p:nvPr/>
        </p:nvSpPr>
        <p:spPr>
          <a:xfrm>
            <a:off x="8381880" y="3327480"/>
            <a:ext cx="7112160" cy="431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Swiss Re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风险度量实践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99.5% VaR = 200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年仅一年超过的损失水平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AEL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用于识别气候变化导致的频率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/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强度变化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1-in-100 PML/AEL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：薄尾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8-12x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，厚尾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12-18x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CR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值解读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CR=3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：正态分布（温和随机性）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CR=6-10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：对数正态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/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厚尾（野生随机性）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CR=18+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：帕累托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α≤2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（极端随机性，方差无穷）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管理启示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SCR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倍数提供虚假安全感；厚尾组合的真实韧性需通过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CTE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评估；再保险购买应覆盖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CTE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而非仅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VaR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 4"/>
          <p:cNvSpPr/>
          <p:nvPr/>
        </p:nvSpPr>
        <p:spPr>
          <a:xfrm>
            <a:off x="762120" y="8763120"/>
            <a:ext cx="101599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Source: </a:t>
            </a:r>
            <a:r>
              <a:rPr lang="en-US" sz="1200" b="0" u="sng" strike="noStrike">
                <a:solidFill>
                  <a:srgbClr val="0563C1"/>
                </a:solidFill>
                <a:effectLst/>
                <a:uFillTx/>
                <a:latin typeface="Liter"/>
                <a:ea typeface="Liter"/>
                <a:hlinkClick r:id="rId2"/>
              </a:rPr>
              <a:t>Swiss Re SASB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; </a:t>
            </a:r>
            <a:r>
              <a:rPr lang="en-US" sz="1200" b="0" u="sng" strike="noStrike">
                <a:solidFill>
                  <a:srgbClr val="0563C1"/>
                </a:solidFill>
                <a:effectLst/>
                <a:uFillTx/>
                <a:latin typeface="Liter"/>
                <a:ea typeface="Liter"/>
                <a:hlinkClick r:id="rId3"/>
              </a:rPr>
              <a:t>SOA ERM Symposium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 5"/>
          <p:cNvSpPr/>
          <p:nvPr/>
        </p:nvSpPr>
        <p:spPr>
          <a:xfrm>
            <a:off x="14986080" y="8763120"/>
            <a:ext cx="5079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11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0"/>
          <p:cNvSpPr/>
          <p:nvPr/>
        </p:nvSpPr>
        <p:spPr>
          <a:xfrm>
            <a:off x="762120" y="635040"/>
            <a:ext cx="38160" cy="5079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952560" y="635040"/>
            <a:ext cx="1396980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频率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-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严重性模型参数校准需融合历史数据、气候投影与专家判断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5" name="Shape 2"/>
          <p:cNvSpPr/>
          <p:nvPr/>
        </p:nvSpPr>
        <p:spPr>
          <a:xfrm>
            <a:off x="762120" y="1270080"/>
            <a:ext cx="14731920" cy="1260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 3"/>
          <p:cNvSpPr/>
          <p:nvPr/>
        </p:nvSpPr>
        <p:spPr>
          <a:xfrm>
            <a:off x="762120" y="1460520"/>
            <a:ext cx="7111800" cy="355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频率模型校准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历史数据（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30-50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年）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+ CMIP6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融合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专家调整（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ELM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）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+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分布选择检验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严重性模型校准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对数正态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/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帕累托混合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+ Hill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估计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截断分布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+ POT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超阈值峰值法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模型验证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回溯检验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+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压力测试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+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敏感性分析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67" name="Chart 0"/>
          <p:cNvPicPr/>
          <p:nvPr/>
        </p:nvPicPr>
        <p:blipFill>
          <a:blip r:embed="rId1"/>
          <a:stretch/>
        </p:blipFill>
        <p:spPr>
          <a:xfrm>
            <a:off x="8115480" y="1460520"/>
            <a:ext cx="7391160" cy="356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Shape 4"/>
          <p:cNvSpPr/>
          <p:nvPr/>
        </p:nvSpPr>
        <p:spPr>
          <a:xfrm>
            <a:off x="762120" y="5207040"/>
            <a:ext cx="14731920" cy="1270080"/>
          </a:xfrm>
          <a:prstGeom prst="rect">
            <a:avLst/>
          </a:prstGeom>
          <a:solidFill>
            <a:srgbClr val="1E293B"/>
          </a:solidFill>
          <a:ln w="12600">
            <a:solidFill>
              <a:srgbClr val="D9770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 5"/>
          <p:cNvSpPr/>
          <p:nvPr/>
        </p:nvSpPr>
        <p:spPr>
          <a:xfrm>
            <a:off x="952560" y="5308560"/>
            <a:ext cx="380988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模型风险量化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 6"/>
          <p:cNvSpPr/>
          <p:nvPr/>
        </p:nvSpPr>
        <p:spPr>
          <a:xfrm>
            <a:off x="952560" y="5651640"/>
            <a:ext cx="14351040" cy="69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参数不确定性可导致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99.5% VaR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估计偏差 </a:t>
            </a:r>
            <a:r>
              <a:rPr lang="en-US" sz="13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±20-35%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。复合不确定性（气候敏感性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×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暴露数据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×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脆弱性函数）可达 </a:t>
            </a:r>
            <a:r>
              <a:rPr lang="en-US" sz="13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±40-60%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。模型风险应通过：保守性偏差加载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(10-15%)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、贝叶斯模型平均、正则化技术 进行量化和管理。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71" name=""/>
          <p:cNvGraphicFramePr/>
          <p:nvPr/>
        </p:nvGraphicFramePr>
        <p:xfrm>
          <a:off x="762120" y="6667560"/>
          <a:ext cx="14731920" cy="1523880"/>
        </p:xfrm>
        <a:graphic>
          <a:graphicData uri="http://schemas.openxmlformats.org/drawingml/2006/table">
            <a:tbl>
              <a:tblPr/>
              <a:tblGrid>
                <a:gridCol w="2946240"/>
                <a:gridCol w="2946600"/>
                <a:gridCol w="2946240"/>
                <a:gridCol w="2946240"/>
                <a:gridCol w="2946600"/>
              </a:tblGrid>
              <a:tr h="45720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不确定性来源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偏差范围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影响层级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缓解方法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资本影响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53352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气候敏感性参数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±15-25%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频率模型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CMIP6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集成 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+ 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专家调整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SCR ±8-12%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5331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脆弱性函数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±15-30%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严重性模型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工程模型 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+ 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实地校验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SCR ±10-18%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72" name="Text 7"/>
          <p:cNvSpPr/>
          <p:nvPr/>
        </p:nvSpPr>
        <p:spPr>
          <a:xfrm>
            <a:off x="762120" y="8763120"/>
            <a:ext cx="101599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Source: Actuarial Modeling Standards; IPCC CMIP6; Insurance Risk Management Practice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 8"/>
          <p:cNvSpPr/>
          <p:nvPr/>
        </p:nvSpPr>
        <p:spPr>
          <a:xfrm>
            <a:off x="14986080" y="8763120"/>
            <a:ext cx="5079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0"/>
          <p:cNvSpPr/>
          <p:nvPr/>
        </p:nvSpPr>
        <p:spPr>
          <a:xfrm>
            <a:off x="0" y="0"/>
            <a:ext cx="6502320" cy="9144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762120" y="2286000"/>
            <a:ext cx="2539800" cy="12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03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 2"/>
          <p:cNvSpPr/>
          <p:nvPr/>
        </p:nvSpPr>
        <p:spPr>
          <a:xfrm>
            <a:off x="762120" y="3683160"/>
            <a:ext cx="574020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全球气候灾害损失预测矩阵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 3"/>
          <p:cNvSpPr/>
          <p:nvPr/>
        </p:nvSpPr>
        <p:spPr>
          <a:xfrm>
            <a:off x="762120" y="4444920"/>
            <a:ext cx="558792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CLIMATE DISASTER LOSS PREDICTION MATRIX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8" name="Shape 4"/>
          <p:cNvSpPr/>
          <p:nvPr/>
        </p:nvSpPr>
        <p:spPr>
          <a:xfrm>
            <a:off x="762120" y="5079960"/>
            <a:ext cx="1269720" cy="381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 5"/>
          <p:cNvSpPr/>
          <p:nvPr/>
        </p:nvSpPr>
        <p:spPr>
          <a:xfrm>
            <a:off x="7112160" y="3556080"/>
            <a:ext cx="8127720" cy="12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15×15</a:t>
            </a:r>
            <a:r>
              <a:rPr lang="en-US" sz="18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多维度巨灾损失预测系统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四大灾种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×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双气候情景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×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五区域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×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三时间层级的经济损失全景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 6"/>
          <p:cNvSpPr/>
          <p:nvPr/>
        </p:nvSpPr>
        <p:spPr>
          <a:xfrm>
            <a:off x="14986080" y="8763120"/>
            <a:ext cx="5079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0"/>
          <p:cNvSpPr/>
          <p:nvPr/>
        </p:nvSpPr>
        <p:spPr>
          <a:xfrm>
            <a:off x="762120" y="635040"/>
            <a:ext cx="38160" cy="5079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 1"/>
          <p:cNvSpPr/>
          <p:nvPr/>
        </p:nvSpPr>
        <p:spPr>
          <a:xfrm>
            <a:off x="952560" y="635040"/>
            <a:ext cx="1396980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15×15</a:t>
            </a: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全球气候性灾害损失预测矩阵：四大灾种、双情景、五区域全景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3" name="Shape 2"/>
          <p:cNvSpPr/>
          <p:nvPr/>
        </p:nvSpPr>
        <p:spPr>
          <a:xfrm>
            <a:off x="762120" y="1270080"/>
            <a:ext cx="14731920" cy="1260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84" name=""/>
          <p:cNvGraphicFramePr/>
          <p:nvPr/>
        </p:nvGraphicFramePr>
        <p:xfrm>
          <a:off x="254160" y="1397160"/>
          <a:ext cx="15747840" cy="6097320"/>
        </p:xfrm>
        <a:graphic>
          <a:graphicData uri="http://schemas.openxmlformats.org/drawingml/2006/table">
            <a:tbl>
              <a:tblPr/>
              <a:tblGrid>
                <a:gridCol w="1023840"/>
                <a:gridCol w="1023840"/>
                <a:gridCol w="1022400"/>
                <a:gridCol w="1023840"/>
                <a:gridCol w="1024200"/>
                <a:gridCol w="1023840"/>
                <a:gridCol w="1023840"/>
                <a:gridCol w="1022400"/>
                <a:gridCol w="1023840"/>
                <a:gridCol w="1023840"/>
                <a:gridCol w="1024200"/>
                <a:gridCol w="1023840"/>
                <a:gridCol w="1022400"/>
                <a:gridCol w="1023840"/>
                <a:gridCol w="1417680"/>
              </a:tblGrid>
              <a:tr h="33588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灾种</a:t>
                      </a: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/</a:t>
                      </a: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指标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EQ-R4.5-GDP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EQ-R4.5-INS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EQ-R4.5-TRG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EQ-R8.5-GDP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EQ-R8.5-INS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EQ-R8.5-TRG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TC-R4.5-GDP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TC-R4.5-INS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TC-R4.5-TRG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TC-R8.5-GDP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TC-R8.5-INS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TC-R8.5-TRG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FL+DR</a:t>
                      </a: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汇总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合计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333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NA-2020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0.12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85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0.14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95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0.18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0.22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155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210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865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3351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NA-2050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0.10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110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0.18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500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0.25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0.42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2290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333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NA-2100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0.08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500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0.28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800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0.32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0.68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620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550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850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4190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3333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EU-2020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0.08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0.09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52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0.06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0.08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333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EU-2050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0.07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65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0.12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0.10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85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0.18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155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1530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3333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EU-2100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0.05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95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0.18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550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0.14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140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0.35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720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2820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3480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AP-2020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0.15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0.18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0.22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95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0.35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165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1230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3333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AP-2050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0.12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210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0.28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550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0.38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185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0.62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580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3355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333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AP-2100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0.10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600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0.42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900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0.55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1.15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580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1100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6225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3333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LA-2020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0.10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0.12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0.08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0.12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70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85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305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333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LA-2050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0.09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0.18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72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0.15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0.28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65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810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3333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LA-2100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0.07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85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0.28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142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0.28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72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0.55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125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1570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351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AF-2020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0.05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0.06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0.04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0.06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105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47448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AF-2050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0.06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0.12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90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0.10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65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110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461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7484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AF-2100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0.08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0.25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95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0.22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0.48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72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1252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47340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GLOBAL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—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782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—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—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1169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—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—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608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—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—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1348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—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2875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14,033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85" name="Text 3"/>
          <p:cNvSpPr/>
          <p:nvPr/>
        </p:nvSpPr>
        <p:spPr>
          <a:xfrm>
            <a:off x="254160" y="7594560"/>
            <a:ext cx="1574784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1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注：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EQ=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地震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, TC=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飓风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, FL=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洪水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, DR=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干旱 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| R4.5=RCP 4.5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情景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, R8.5=RCP 8.5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情景 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| GDP=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经济损失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(%GDP), INS=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承保价值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(US$B), TRG=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赔付触发阈值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(US$M) | NA=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北美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, EU=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欧洲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, AP=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亚太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, LA=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拉美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, AF=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非洲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矩阵核心功能：量化不同升温情景下各区域各灾种的经济损失轨迹，为承保策略和资本配置提供数据基础。数据来源：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IPCC CMIP6, UNEP, </a:t>
            </a: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精算模型综合估计。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 4"/>
          <p:cNvSpPr/>
          <p:nvPr/>
        </p:nvSpPr>
        <p:spPr>
          <a:xfrm>
            <a:off x="762120" y="8763120"/>
            <a:ext cx="101599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Source: IPCC CMIP6; UNEP; Actuarial Model Synthesis (2025)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 5"/>
          <p:cNvSpPr/>
          <p:nvPr/>
        </p:nvSpPr>
        <p:spPr>
          <a:xfrm>
            <a:off x="14986080" y="8763120"/>
            <a:ext cx="5079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14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0"/>
          <p:cNvSpPr/>
          <p:nvPr/>
        </p:nvSpPr>
        <p:spPr>
          <a:xfrm>
            <a:off x="762120" y="635040"/>
            <a:ext cx="38160" cy="5079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 1"/>
          <p:cNvSpPr/>
          <p:nvPr/>
        </p:nvSpPr>
        <p:spPr>
          <a:xfrm>
            <a:off x="952560" y="635040"/>
            <a:ext cx="1396980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地震风险在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RCP 8.5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下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2100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年全球经济损失估计达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$4.2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万亿，保险缺口扩大至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68%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0" name="Shape 2"/>
          <p:cNvSpPr/>
          <p:nvPr/>
        </p:nvSpPr>
        <p:spPr>
          <a:xfrm>
            <a:off x="762120" y="1270080"/>
            <a:ext cx="14731920" cy="1260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91" name="Chart 0"/>
          <p:cNvPicPr/>
          <p:nvPr/>
        </p:nvPicPr>
        <p:blipFill>
          <a:blip r:embed="rId1"/>
          <a:stretch/>
        </p:blipFill>
        <p:spPr>
          <a:xfrm>
            <a:off x="762120" y="1460520"/>
            <a:ext cx="7886520" cy="356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Text 3"/>
          <p:cNvSpPr/>
          <p:nvPr/>
        </p:nvSpPr>
        <p:spPr>
          <a:xfrm>
            <a:off x="8889840" y="1460520"/>
            <a:ext cx="6604200" cy="368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RCP 4.5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情景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2050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年：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$1.8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万亿（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GDP 0.8%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2100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年：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$2.4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万亿（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GDP 0.6%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RCP 8.5 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情景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2050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年：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$2.1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万亿（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GDP 0.9%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2100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年：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$4.2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万亿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（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GDP 1.1%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2100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年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RCP 8.5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区域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亚太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$2.3T |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北美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$1.1T |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欧洲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$0.4T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93" name="Chart 1"/>
          <p:cNvPicPr/>
          <p:nvPr/>
        </p:nvPicPr>
        <p:blipFill>
          <a:blip r:embed="rId2"/>
          <a:stretch/>
        </p:blipFill>
        <p:spPr>
          <a:xfrm>
            <a:off x="762120" y="5194440"/>
            <a:ext cx="7365960" cy="29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 4"/>
          <p:cNvSpPr/>
          <p:nvPr/>
        </p:nvSpPr>
        <p:spPr>
          <a:xfrm>
            <a:off x="8381880" y="5207040"/>
            <a:ext cx="7112160" cy="31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保险缺口驱动因素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城市化加速导致资产集中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基础设施脆弱性增加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新兴市场保险渗透率不足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建筑规范执行差异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精算启示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保险缺口从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2020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52%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扩大至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2100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68%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（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RCP 8.5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），意味着再保险承保价值需相应上调以维持风险敞口覆盖率。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762120" y="8763120"/>
            <a:ext cx="101599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Source: USGS; GEM Foundation; Actuarial Projections (2025)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 6"/>
          <p:cNvSpPr/>
          <p:nvPr/>
        </p:nvSpPr>
        <p:spPr>
          <a:xfrm>
            <a:off x="14986080" y="8763120"/>
            <a:ext cx="5079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15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0"/>
          <p:cNvSpPr/>
          <p:nvPr/>
        </p:nvSpPr>
        <p:spPr>
          <a:xfrm>
            <a:off x="762120" y="635040"/>
            <a:ext cx="38160" cy="5079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 1"/>
          <p:cNvSpPr/>
          <p:nvPr/>
        </p:nvSpPr>
        <p:spPr>
          <a:xfrm>
            <a:off x="952560" y="635040"/>
            <a:ext cx="1396980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飓风强度在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RCP 8.5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下增加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18-25%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，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2050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年北美飓风损失预计达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$3,200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亿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/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年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9" name="Shape 2"/>
          <p:cNvSpPr/>
          <p:nvPr/>
        </p:nvSpPr>
        <p:spPr>
          <a:xfrm>
            <a:off x="762120" y="1270080"/>
            <a:ext cx="14731920" cy="1260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00" name=""/>
          <p:cNvGraphicFramePr/>
          <p:nvPr/>
        </p:nvGraphicFramePr>
        <p:xfrm>
          <a:off x="762120" y="1460520"/>
          <a:ext cx="14731920" cy="1523880"/>
        </p:xfrm>
        <a:graphic>
          <a:graphicData uri="http://schemas.openxmlformats.org/drawingml/2006/table">
            <a:tbl>
              <a:tblPr/>
              <a:tblGrid>
                <a:gridCol w="2946240"/>
                <a:gridCol w="2946600"/>
                <a:gridCol w="2946240"/>
                <a:gridCol w="2946240"/>
                <a:gridCol w="2946600"/>
              </a:tblGrid>
              <a:tr h="50328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指标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2020</a:t>
                      </a: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基准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2050 RCP 4.5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2050 RCP 8.5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2100 RCP 8.5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50472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全球损失 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($B/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年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85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680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51588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强度增加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—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8-12%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18-25%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22-30%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201" name="Chart 0"/>
          <p:cNvPicPr/>
          <p:nvPr/>
        </p:nvPicPr>
        <p:blipFill>
          <a:blip r:embed="rId1"/>
          <a:stretch/>
        </p:blipFill>
        <p:spPr>
          <a:xfrm>
            <a:off x="762120" y="3174840"/>
            <a:ext cx="7365960" cy="355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Text 3"/>
          <p:cNvSpPr/>
          <p:nvPr/>
        </p:nvSpPr>
        <p:spPr>
          <a:xfrm>
            <a:off x="8381880" y="3174840"/>
            <a:ext cx="7112160" cy="361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频率变化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RCP 4.5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4-5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级飓风比例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+15%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RCP 8.5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4-5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级飓风比例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+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35%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保险渗透率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北美：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65% → 2050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70%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亚太：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12% → 2050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18%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2050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年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RCP 8.5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承保参数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北美：承保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$180B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，触发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$200M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亚太：承保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$95B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，触发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$150M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 4"/>
          <p:cNvSpPr/>
          <p:nvPr/>
        </p:nvSpPr>
        <p:spPr>
          <a:xfrm>
            <a:off x="762120" y="6921360"/>
            <a:ext cx="14731920" cy="12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精算评估：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飓风风险的非线性增长特征要求再保险结构具备动态调整能力。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RCP 8.5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情景下，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2050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年北美单独飓风季节损失可达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$800-1,200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亿（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1-in-100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年事件），对单层再保险容量提出严峻考验。建议采用分层超赔结构，基础层附着点随模型更新年度调整。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 5"/>
          <p:cNvSpPr/>
          <p:nvPr/>
        </p:nvSpPr>
        <p:spPr>
          <a:xfrm>
            <a:off x="762120" y="8763120"/>
            <a:ext cx="101599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Source: NOAA; IPCC AR6; Actuarial Projections (2025)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 6"/>
          <p:cNvSpPr/>
          <p:nvPr/>
        </p:nvSpPr>
        <p:spPr>
          <a:xfrm>
            <a:off x="14986080" y="8763120"/>
            <a:ext cx="5079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16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0"/>
          <p:cNvSpPr/>
          <p:nvPr/>
        </p:nvSpPr>
        <p:spPr>
          <a:xfrm>
            <a:off x="762120" y="635040"/>
            <a:ext cx="38160" cy="5079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 1"/>
          <p:cNvSpPr/>
          <p:nvPr/>
        </p:nvSpPr>
        <p:spPr>
          <a:xfrm>
            <a:off x="952560" y="635040"/>
            <a:ext cx="1396980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洪水频率在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RCP 8.5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下增加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35-50%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，欧洲和亚太面临最大承保压力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8" name="Shape 2"/>
          <p:cNvSpPr/>
          <p:nvPr/>
        </p:nvSpPr>
        <p:spPr>
          <a:xfrm>
            <a:off x="762120" y="1270080"/>
            <a:ext cx="14731920" cy="1260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09" name=""/>
          <p:cNvGraphicFramePr/>
          <p:nvPr/>
        </p:nvGraphicFramePr>
        <p:xfrm>
          <a:off x="762120" y="1460520"/>
          <a:ext cx="14731920" cy="2540160"/>
        </p:xfrm>
        <a:graphic>
          <a:graphicData uri="http://schemas.openxmlformats.org/drawingml/2006/table">
            <a:tbl>
              <a:tblPr/>
              <a:tblGrid>
                <a:gridCol w="2357280"/>
                <a:gridCol w="2062080"/>
                <a:gridCol w="2062440"/>
                <a:gridCol w="2062080"/>
                <a:gridCol w="2063520"/>
                <a:gridCol w="2062440"/>
                <a:gridCol w="2062080"/>
              </a:tblGrid>
              <a:tr h="5079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区域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2020</a:t>
                      </a: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损失</a:t>
                      </a: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($B)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2050 RCP4.5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2050 RCP8.5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2100 RCP8.5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承保价值</a:t>
                      </a: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($B)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触发阈值</a:t>
                      </a: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($M)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5079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欧洲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5079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亚太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85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520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5079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北美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260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50832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非洲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55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110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210" name="Chart 0"/>
          <p:cNvPicPr/>
          <p:nvPr/>
        </p:nvPicPr>
        <p:blipFill>
          <a:blip r:embed="rId1"/>
          <a:stretch/>
        </p:blipFill>
        <p:spPr>
          <a:xfrm>
            <a:off x="762120" y="4191120"/>
            <a:ext cx="7365960" cy="356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" name="Text 3"/>
          <p:cNvSpPr/>
          <p:nvPr/>
        </p:nvSpPr>
        <p:spPr>
          <a:xfrm>
            <a:off x="8381880" y="4191120"/>
            <a:ext cx="7112160" cy="40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RCP 4.5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情景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2050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年全球：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$5,200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亿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/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年，频率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+15-20%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2100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年全球：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$6,800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亿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/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RCP 8.5 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情景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2050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年全球：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$7,800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亿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/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年，频率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+35-50%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2100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年全球：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$1.25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万亿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/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保险缺口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全球平均：</a:t>
            </a:r>
            <a:r>
              <a:rPr lang="en-US" sz="1400" b="1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75%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（发展中国家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90%+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Solvency II 2025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更新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洪水公式明确包含财产、陆上财产和机动车辆组件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 4"/>
          <p:cNvSpPr/>
          <p:nvPr/>
        </p:nvSpPr>
        <p:spPr>
          <a:xfrm>
            <a:off x="762120" y="8763120"/>
            <a:ext cx="114300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Source: </a:t>
            </a:r>
            <a:r>
              <a:rPr lang="en-US" sz="1200" b="0" u="sng" strike="noStrike">
                <a:solidFill>
                  <a:srgbClr val="0563C1"/>
                </a:solidFill>
                <a:effectLst/>
                <a:uFillTx/>
                <a:latin typeface="Liter"/>
                <a:ea typeface="Liter"/>
                <a:hlinkClick r:id="rId2"/>
              </a:rPr>
              <a:t>European Commission Solvency II 2025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; IPCC AR6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 5"/>
          <p:cNvSpPr/>
          <p:nvPr/>
        </p:nvSpPr>
        <p:spPr>
          <a:xfrm>
            <a:off x="14986080" y="8763120"/>
            <a:ext cx="5079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17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0"/>
          <p:cNvSpPr/>
          <p:nvPr/>
        </p:nvSpPr>
        <p:spPr>
          <a:xfrm>
            <a:off x="762120" y="635040"/>
            <a:ext cx="38160" cy="5079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 1"/>
          <p:cNvSpPr/>
          <p:nvPr/>
        </p:nvSpPr>
        <p:spPr>
          <a:xfrm>
            <a:off x="952560" y="635040"/>
            <a:ext cx="1396980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干旱持续时间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RCP 8.5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下延长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30-45%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，农业再保险承保价值需重新校准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6" name="Shape 2"/>
          <p:cNvSpPr/>
          <p:nvPr/>
        </p:nvSpPr>
        <p:spPr>
          <a:xfrm>
            <a:off x="762120" y="1270080"/>
            <a:ext cx="14731920" cy="1260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17" name="Chart 0"/>
          <p:cNvPicPr/>
          <p:nvPr/>
        </p:nvPicPr>
        <p:blipFill>
          <a:blip r:embed="rId1"/>
          <a:stretch/>
        </p:blipFill>
        <p:spPr>
          <a:xfrm>
            <a:off x="762120" y="1460520"/>
            <a:ext cx="7365960" cy="356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Text 3"/>
          <p:cNvSpPr/>
          <p:nvPr/>
        </p:nvSpPr>
        <p:spPr>
          <a:xfrm>
            <a:off x="8381880" y="1460520"/>
            <a:ext cx="7112160" cy="361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RCP 4.5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情景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2050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年：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$1,600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亿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/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年，持续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+10-15%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2100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年：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$2,200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亿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/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RCP 8.5 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情景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2050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年：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$2,800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亿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/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年，持续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+30-45%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2100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年：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$5,500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亿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/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农业影响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作物产量：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-10-25%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（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2050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），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-15-35%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（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2100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农业再保险费率：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+15-30%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（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R4.5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），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+35-60%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（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R8.5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19" name=""/>
          <p:cNvGraphicFramePr/>
          <p:nvPr/>
        </p:nvGraphicFramePr>
        <p:xfrm>
          <a:off x="762120" y="5207040"/>
          <a:ext cx="14731920" cy="2921040"/>
        </p:xfrm>
        <a:graphic>
          <a:graphicData uri="http://schemas.openxmlformats.org/drawingml/2006/table">
            <a:tbl>
              <a:tblPr/>
              <a:tblGrid>
                <a:gridCol w="2357280"/>
                <a:gridCol w="2062080"/>
                <a:gridCol w="2062440"/>
                <a:gridCol w="2062080"/>
                <a:gridCol w="2063520"/>
                <a:gridCol w="2062440"/>
                <a:gridCol w="2062080"/>
              </a:tblGrid>
              <a:tr h="58428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2100 RCP 8.5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非洲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亚太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拉美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北美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欧洲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全球合计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58392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经济损失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($B)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550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58428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承保价值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($B)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85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55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58428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触发阈值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($M)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75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150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—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58428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保险缺口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92%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78%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85%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45%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52%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72%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220" name="Text 4"/>
          <p:cNvSpPr/>
          <p:nvPr/>
        </p:nvSpPr>
        <p:spPr>
          <a:xfrm>
            <a:off x="762120" y="8763120"/>
            <a:ext cx="101599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Source: IPCC AR6; FAO; Actuarial Projections (2025)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 5"/>
          <p:cNvSpPr/>
          <p:nvPr/>
        </p:nvSpPr>
        <p:spPr>
          <a:xfrm>
            <a:off x="14986080" y="8763120"/>
            <a:ext cx="5079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18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0"/>
          <p:cNvSpPr/>
          <p:nvPr/>
        </p:nvSpPr>
        <p:spPr>
          <a:xfrm>
            <a:off x="0" y="0"/>
            <a:ext cx="6502320" cy="9144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 1"/>
          <p:cNvSpPr/>
          <p:nvPr/>
        </p:nvSpPr>
        <p:spPr>
          <a:xfrm>
            <a:off x="762120" y="2286000"/>
            <a:ext cx="2539800" cy="12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04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 2"/>
          <p:cNvSpPr/>
          <p:nvPr/>
        </p:nvSpPr>
        <p:spPr>
          <a:xfrm>
            <a:off x="762120" y="3683160"/>
            <a:ext cx="507996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再保险分出策略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 3"/>
          <p:cNvSpPr/>
          <p:nvPr/>
        </p:nvSpPr>
        <p:spPr>
          <a:xfrm>
            <a:off x="762120" y="4444920"/>
            <a:ext cx="533376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REINSURANCE CEDING STRATEGY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6" name="Shape 4"/>
          <p:cNvSpPr/>
          <p:nvPr/>
        </p:nvSpPr>
        <p:spPr>
          <a:xfrm>
            <a:off x="762120" y="5079960"/>
            <a:ext cx="1269720" cy="381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 5"/>
          <p:cNvSpPr/>
          <p:nvPr/>
        </p:nvSpPr>
        <p:spPr>
          <a:xfrm>
            <a:off x="7112160" y="3556080"/>
            <a:ext cx="8127720" cy="12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从风险转移到资本优化的精算决策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分出策略调整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| XOL vs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比例再保险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|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巨灾债券市场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|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溢价倍数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 6"/>
          <p:cNvSpPr/>
          <p:nvPr/>
        </p:nvSpPr>
        <p:spPr>
          <a:xfrm>
            <a:off x="14986080" y="8763120"/>
            <a:ext cx="5079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19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0"/>
          <p:cNvSpPr/>
          <p:nvPr/>
        </p:nvSpPr>
        <p:spPr>
          <a:xfrm>
            <a:off x="762120" y="635040"/>
            <a:ext cx="38160" cy="5079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952560" y="635040"/>
            <a:ext cx="1396980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气候模型偏差驱动再保险对冲策略调整：附着点上调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15-25%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，超赔分层重组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1" name="Shape 2"/>
          <p:cNvSpPr/>
          <p:nvPr/>
        </p:nvSpPr>
        <p:spPr>
          <a:xfrm>
            <a:off x="762120" y="1270080"/>
            <a:ext cx="14731920" cy="1260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2" name="Shape 3"/>
          <p:cNvSpPr/>
          <p:nvPr/>
        </p:nvSpPr>
        <p:spPr>
          <a:xfrm>
            <a:off x="762120" y="1460520"/>
            <a:ext cx="14731920" cy="888840"/>
          </a:xfrm>
          <a:prstGeom prst="rect">
            <a:avLst/>
          </a:prstGeom>
          <a:solidFill>
            <a:srgbClr val="1E293B"/>
          </a:solidFill>
          <a:ln w="12600">
            <a:solidFill>
              <a:srgbClr val="D9770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 4"/>
          <p:cNvSpPr/>
          <p:nvPr/>
        </p:nvSpPr>
        <p:spPr>
          <a:xfrm>
            <a:off x="952560" y="1523880"/>
            <a:ext cx="4317840" cy="6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P5 </a:t>
            </a:r>
            <a:r>
              <a:rPr lang="en-US" sz="13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输入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RCP 8.5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下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99.5% VaR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系统性低估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18-32%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234" name="Shape 5"/>
          <p:cNvCxnSpPr/>
          <p:nvPr/>
        </p:nvCxnSpPr>
        <p:spPr>
          <a:xfrm>
            <a:off x="5333760" y="1777680"/>
            <a:ext cx="508680" cy="1080"/>
          </a:xfrm>
          <a:prstGeom prst="straightConnector1">
            <a:avLst/>
          </a:prstGeom>
          <a:ln w="25560">
            <a:solidFill>
              <a:srgbClr val="D97706"/>
            </a:solidFill>
            <a:miter/>
            <a:tailEnd len="med" type="arrow" w="med"/>
          </a:ln>
        </p:spPr>
      </p:cxnSp>
      <p:sp>
        <p:nvSpPr>
          <p:cNvPr id="235" name="Text 6"/>
          <p:cNvSpPr/>
          <p:nvPr/>
        </p:nvSpPr>
        <p:spPr>
          <a:xfrm>
            <a:off x="5969160" y="1523880"/>
            <a:ext cx="3809880" cy="6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P20 </a:t>
            </a:r>
            <a:r>
              <a:rPr lang="en-US" sz="13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策略调整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 附着点上调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分层结构重组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236" name="Shape 7"/>
          <p:cNvCxnSpPr/>
          <p:nvPr/>
        </p:nvCxnSpPr>
        <p:spPr>
          <a:xfrm>
            <a:off x="9905760" y="1777680"/>
            <a:ext cx="508680" cy="1080"/>
          </a:xfrm>
          <a:prstGeom prst="straightConnector1">
            <a:avLst/>
          </a:prstGeom>
          <a:ln w="25560">
            <a:solidFill>
              <a:srgbClr val="D97706"/>
            </a:solidFill>
            <a:miter/>
            <a:tailEnd len="med" type="arrow" w="med"/>
          </a:ln>
        </p:spPr>
      </p:cxnSp>
      <p:sp>
        <p:nvSpPr>
          <p:cNvPr id="237" name="Text 8"/>
          <p:cNvSpPr/>
          <p:nvPr/>
        </p:nvSpPr>
        <p:spPr>
          <a:xfrm>
            <a:off x="10541160" y="1523880"/>
            <a:ext cx="4698720" cy="6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P25 </a:t>
            </a:r>
            <a:r>
              <a:rPr lang="en-US" sz="13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准备金变化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 准备金上调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22%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风险边际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+180bps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 9"/>
          <p:cNvSpPr/>
          <p:nvPr/>
        </p:nvSpPr>
        <p:spPr>
          <a:xfrm>
            <a:off x="762120" y="2540160"/>
            <a:ext cx="7111800" cy="368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附着点调整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基础层附着点上调 </a:t>
            </a:r>
            <a:r>
              <a:rPr lang="en-US" sz="1400" b="1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15-25%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应对模型偏差导致的低估风险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分层结构重组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中间层容量 </a:t>
            </a:r>
            <a:r>
              <a:rPr lang="en-US" sz="1400" b="1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+20%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，基础层自留 </a:t>
            </a:r>
            <a:r>
              <a:rPr lang="en-US" sz="1400" b="1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-15%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顶层容量保持不变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分出策略调整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比例分出从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46%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降至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40%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从比例向超赔再保险倾斜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 10"/>
          <p:cNvSpPr/>
          <p:nvPr/>
        </p:nvSpPr>
        <p:spPr>
          <a:xfrm>
            <a:off x="8128080" y="2540160"/>
            <a:ext cx="7365960" cy="368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超赔分层定价影响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底层费率：上升 </a:t>
            </a: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10-20%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顶层费率：下降 </a:t>
            </a:r>
            <a:r>
              <a:rPr lang="en-US" sz="1400" b="1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5-10%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理论支撑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Boonen &amp; Dela Vega (2025)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：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最优组合为</a:t>
            </a:r>
            <a:r>
              <a:rPr lang="en-US" sz="1400" b="1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纯超赔再保险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最优分出水平随准备金增加而递减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市场验证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2025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月续转确认定价已过峰值，巨灾层保持坚挺。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0" name="Shape 11"/>
          <p:cNvSpPr/>
          <p:nvPr/>
        </p:nvSpPr>
        <p:spPr>
          <a:xfrm>
            <a:off x="762120" y="6350040"/>
            <a:ext cx="14731920" cy="9525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 12"/>
          <p:cNvSpPr/>
          <p:nvPr/>
        </p:nvSpPr>
        <p:spPr>
          <a:xfrm>
            <a:off x="952560" y="6413400"/>
            <a:ext cx="1435104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精算决策逻辑：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气候模型偏差（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P5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）→ 预期损失分布右移 → 原附着点不足以提供同等保护水平 → 附着点上移以维持目标安全等级 → 分层结构重组优化风险转移效率 → 准备金拨备相应调整（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P25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）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 13"/>
          <p:cNvSpPr/>
          <p:nvPr/>
        </p:nvSpPr>
        <p:spPr>
          <a:xfrm>
            <a:off x="762120" y="8763120"/>
            <a:ext cx="114300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Source: </a:t>
            </a:r>
            <a:r>
              <a:rPr lang="en-US" sz="1200" b="0" u="sng" strike="noStrike">
                <a:solidFill>
                  <a:srgbClr val="0563C1"/>
                </a:solidFill>
                <a:effectLst/>
                <a:uFillTx/>
                <a:latin typeface="Liter"/>
                <a:ea typeface="Liter"/>
                <a:hlinkClick r:id="rId1"/>
              </a:rPr>
              <a:t>Boonen &amp; Dela Vega 2025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; </a:t>
            </a:r>
            <a:r>
              <a:rPr lang="en-US" sz="1200" b="0" u="sng" strike="noStrike">
                <a:solidFill>
                  <a:srgbClr val="0563C1"/>
                </a:solidFill>
                <a:effectLst/>
                <a:uFillTx/>
                <a:latin typeface="Liter"/>
                <a:ea typeface="Liter"/>
                <a:hlinkClick r:id="rId2"/>
              </a:rPr>
              <a:t>Guy Carpenter 2025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 14"/>
          <p:cNvSpPr/>
          <p:nvPr/>
        </p:nvSpPr>
        <p:spPr>
          <a:xfrm>
            <a:off x="14986080" y="8763120"/>
            <a:ext cx="5079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0"/>
          <p:cNvSpPr/>
          <p:nvPr/>
        </p:nvSpPr>
        <p:spPr>
          <a:xfrm>
            <a:off x="762120" y="635040"/>
            <a:ext cx="38160" cy="5079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 1"/>
          <p:cNvSpPr/>
          <p:nvPr/>
        </p:nvSpPr>
        <p:spPr>
          <a:xfrm>
            <a:off x="952560" y="635040"/>
            <a:ext cx="1396980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超赔再保险在厚尾风险下优于比例再保险，最优分出水平随准备金增加而递减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6" name="Shape 2"/>
          <p:cNvSpPr/>
          <p:nvPr/>
        </p:nvSpPr>
        <p:spPr>
          <a:xfrm>
            <a:off x="762120" y="1270080"/>
            <a:ext cx="14731920" cy="1260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7" name="Shape 3"/>
          <p:cNvSpPr/>
          <p:nvPr/>
        </p:nvSpPr>
        <p:spPr>
          <a:xfrm>
            <a:off x="762120" y="1460520"/>
            <a:ext cx="7175520" cy="361944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 4"/>
          <p:cNvSpPr/>
          <p:nvPr/>
        </p:nvSpPr>
        <p:spPr>
          <a:xfrm>
            <a:off x="952560" y="1549440"/>
            <a:ext cx="317484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超赔再保险 </a:t>
            </a:r>
            <a:r>
              <a:rPr lang="en-US" sz="16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(XOL)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 5"/>
          <p:cNvSpPr/>
          <p:nvPr/>
        </p:nvSpPr>
        <p:spPr>
          <a:xfrm>
            <a:off x="952560" y="1968480"/>
            <a:ext cx="6794280" cy="29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特征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保费不与原保费成比例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</a:t>
            </a:r>
            <a:r>
              <a:rPr lang="en-US" sz="1400" b="1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无分出佣金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再保险人承担超过指定金额的损失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2025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年市场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费率：损失严重性驱动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+10-20%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容量：新进入者增加，现有者扩容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结构：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1-in-250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年成最低标准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0" name="Shape 6"/>
          <p:cNvSpPr/>
          <p:nvPr/>
        </p:nvSpPr>
        <p:spPr>
          <a:xfrm>
            <a:off x="8318520" y="1460520"/>
            <a:ext cx="7175520" cy="361944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1" name="Text 7"/>
          <p:cNvSpPr/>
          <p:nvPr/>
        </p:nvSpPr>
        <p:spPr>
          <a:xfrm>
            <a:off x="8508960" y="1549440"/>
            <a:ext cx="317520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比例再保险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(Proportional)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 8"/>
          <p:cNvSpPr/>
          <p:nvPr/>
        </p:nvSpPr>
        <p:spPr>
          <a:xfrm>
            <a:off x="8508960" y="1968480"/>
            <a:ext cx="6794640" cy="29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特征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成数分出：保费和损失按比例分享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</a:t>
            </a:r>
            <a:r>
              <a:rPr lang="en-US" sz="1400" b="1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分出佣金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基于获取成本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适用于稳定财务比率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2025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年市场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分出佣金：平坦至略降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18-24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个月连续下降后的稳定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比例分出比例从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46%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降至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40%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53" name=""/>
          <p:cNvGraphicFramePr/>
          <p:nvPr/>
        </p:nvGraphicFramePr>
        <p:xfrm>
          <a:off x="762120" y="4952880"/>
          <a:ext cx="14731920" cy="2540160"/>
        </p:xfrm>
        <a:graphic>
          <a:graphicData uri="http://schemas.openxmlformats.org/drawingml/2006/table">
            <a:tbl>
              <a:tblPr/>
              <a:tblGrid>
                <a:gridCol w="2946240"/>
                <a:gridCol w="2946600"/>
                <a:gridCol w="2946240"/>
                <a:gridCol w="2946240"/>
                <a:gridCol w="2946600"/>
              </a:tblGrid>
              <a:tr h="55908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维度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风险转移效率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资本影响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费用结构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厚尾适应性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6024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超赔再保险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SCR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降低显著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无佣金，纯风险保费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66024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比例再保险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中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SCR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降低中等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有佣金，成本较高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一般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6060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最优策略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纯</a:t>
                      </a: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XOL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XOL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为主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+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比例补充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最小化费用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XOL</a:t>
                      </a: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优先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254" name="Text 9"/>
          <p:cNvSpPr/>
          <p:nvPr/>
        </p:nvSpPr>
        <p:spPr>
          <a:xfrm>
            <a:off x="762120" y="8763120"/>
            <a:ext cx="114300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Source: </a:t>
            </a:r>
            <a:r>
              <a:rPr lang="en-US" sz="1200" b="0" u="sng" strike="noStrike">
                <a:solidFill>
                  <a:srgbClr val="0563C1"/>
                </a:solidFill>
                <a:effectLst/>
                <a:uFillTx/>
                <a:latin typeface="Liter"/>
                <a:ea typeface="Liter"/>
                <a:hlinkClick r:id="rId1"/>
              </a:rPr>
              <a:t>Gallagher Re 2026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; </a:t>
            </a:r>
            <a:r>
              <a:rPr lang="en-US" sz="1200" b="0" u="sng" strike="noStrike">
                <a:solidFill>
                  <a:srgbClr val="0563C1"/>
                </a:solidFill>
                <a:effectLst/>
                <a:uFillTx/>
                <a:latin typeface="Liter"/>
                <a:ea typeface="Liter"/>
                <a:hlinkClick r:id="rId2"/>
              </a:rPr>
              <a:t>Guy Carpenter 2025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 10"/>
          <p:cNvSpPr/>
          <p:nvPr/>
        </p:nvSpPr>
        <p:spPr>
          <a:xfrm>
            <a:off x="14986080" y="8763120"/>
            <a:ext cx="5079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21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0"/>
          <p:cNvSpPr/>
          <p:nvPr/>
        </p:nvSpPr>
        <p:spPr>
          <a:xfrm>
            <a:off x="762120" y="635040"/>
            <a:ext cx="38160" cy="5079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 1"/>
          <p:cNvSpPr/>
          <p:nvPr/>
        </p:nvSpPr>
        <p:spPr>
          <a:xfrm>
            <a:off x="952560" y="635040"/>
            <a:ext cx="1396980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巨灾债券市场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2025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年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Q2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发行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$105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亿创历史新高，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ILS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另类资本达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$1,210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亿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8" name="Shape 2"/>
          <p:cNvSpPr/>
          <p:nvPr/>
        </p:nvSpPr>
        <p:spPr>
          <a:xfrm>
            <a:off x="762120" y="1270080"/>
            <a:ext cx="14731920" cy="1260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9" name="Shape 3"/>
          <p:cNvSpPr/>
          <p:nvPr/>
        </p:nvSpPr>
        <p:spPr>
          <a:xfrm>
            <a:off x="762120" y="1460520"/>
            <a:ext cx="3429000" cy="107964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 4"/>
          <p:cNvSpPr/>
          <p:nvPr/>
        </p:nvSpPr>
        <p:spPr>
          <a:xfrm>
            <a:off x="888840" y="1523880"/>
            <a:ext cx="317520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$540-560</a:t>
            </a:r>
            <a:r>
              <a:rPr lang="en-US" sz="32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亿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 5"/>
          <p:cNvSpPr/>
          <p:nvPr/>
        </p:nvSpPr>
        <p:spPr>
          <a:xfrm>
            <a:off x="888840" y="2095560"/>
            <a:ext cx="31752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年中未偿市场规模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2" name="Shape 6"/>
          <p:cNvSpPr/>
          <p:nvPr/>
        </p:nvSpPr>
        <p:spPr>
          <a:xfrm>
            <a:off x="4444920" y="1460520"/>
            <a:ext cx="3429000" cy="107964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3" name="Text 7"/>
          <p:cNvSpPr/>
          <p:nvPr/>
        </p:nvSpPr>
        <p:spPr>
          <a:xfrm>
            <a:off x="4572000" y="1523880"/>
            <a:ext cx="317484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$1,210</a:t>
            </a:r>
            <a:r>
              <a:rPr lang="en-US" sz="32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亿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 8"/>
          <p:cNvSpPr/>
          <p:nvPr/>
        </p:nvSpPr>
        <p:spPr>
          <a:xfrm>
            <a:off x="4572000" y="2095560"/>
            <a:ext cx="3174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ILS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另类资本总量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5" name="Shape 9"/>
          <p:cNvSpPr/>
          <p:nvPr/>
        </p:nvSpPr>
        <p:spPr>
          <a:xfrm>
            <a:off x="8128080" y="1460520"/>
            <a:ext cx="3429000" cy="107964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 10"/>
          <p:cNvSpPr/>
          <p:nvPr/>
        </p:nvSpPr>
        <p:spPr>
          <a:xfrm>
            <a:off x="8255160" y="1523880"/>
            <a:ext cx="317484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56</a:t>
            </a:r>
            <a:r>
              <a:rPr lang="en-US" sz="32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只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7" name="Text 11"/>
          <p:cNvSpPr/>
          <p:nvPr/>
        </p:nvSpPr>
        <p:spPr>
          <a:xfrm>
            <a:off x="8255160" y="2095560"/>
            <a:ext cx="3174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2025H1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发行数量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8" name="Shape 12"/>
          <p:cNvSpPr/>
          <p:nvPr/>
        </p:nvSpPr>
        <p:spPr>
          <a:xfrm>
            <a:off x="11810880" y="1460520"/>
            <a:ext cx="3683160" cy="107964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9" name="Text 13"/>
          <p:cNvSpPr/>
          <p:nvPr/>
        </p:nvSpPr>
        <p:spPr>
          <a:xfrm>
            <a:off x="11937960" y="1523880"/>
            <a:ext cx="342900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23</a:t>
            </a:r>
            <a:r>
              <a:rPr lang="en-US" sz="32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只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0" name="Text 14"/>
          <p:cNvSpPr/>
          <p:nvPr/>
        </p:nvSpPr>
        <p:spPr>
          <a:xfrm>
            <a:off x="11937960" y="2095560"/>
            <a:ext cx="34290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GC Securities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年度发行纪录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71" name="Chart 0"/>
          <p:cNvPicPr/>
          <p:nvPr/>
        </p:nvPicPr>
        <p:blipFill>
          <a:blip r:embed="rId1"/>
          <a:stretch/>
        </p:blipFill>
        <p:spPr>
          <a:xfrm>
            <a:off x="762120" y="2730600"/>
            <a:ext cx="7886520" cy="394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Text 15"/>
          <p:cNvSpPr/>
          <p:nvPr/>
        </p:nvSpPr>
        <p:spPr>
          <a:xfrm>
            <a:off x="8889840" y="2730600"/>
            <a:ext cx="6604200" cy="43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市场驱动因素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保险人对另类资本需求增加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投资者寻求与股票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/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利率无关的分散化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2024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年巨灾损失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$1,370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亿支撑定价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投资者价值主张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现金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+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利差收益，历史相关性低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需严格治理和规模控制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2025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年亮点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Q2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单季发行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$105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亿创历史纪录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健康巨灾债券首次发行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多灾种、多年期覆盖增加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3" name="Text 16"/>
          <p:cNvSpPr/>
          <p:nvPr/>
        </p:nvSpPr>
        <p:spPr>
          <a:xfrm>
            <a:off x="762120" y="8763120"/>
            <a:ext cx="114300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Source: </a:t>
            </a:r>
            <a:r>
              <a:rPr lang="en-US" sz="1200" b="0" u="sng" strike="noStrike">
                <a:solidFill>
                  <a:srgbClr val="0563C1"/>
                </a:solidFill>
                <a:effectLst/>
                <a:uFillTx/>
                <a:latin typeface="Liter"/>
                <a:ea typeface="Liter"/>
                <a:hlinkClick r:id="rId2"/>
              </a:rPr>
              <a:t>Resonanz Capital 2025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; </a:t>
            </a:r>
            <a:r>
              <a:rPr lang="en-US" sz="1200" b="0" u="sng" strike="noStrike">
                <a:solidFill>
                  <a:srgbClr val="0563C1"/>
                </a:solidFill>
                <a:effectLst/>
                <a:uFillTx/>
                <a:latin typeface="Liter"/>
                <a:ea typeface="Liter"/>
                <a:hlinkClick r:id="rId3"/>
              </a:rPr>
              <a:t>Guy Carpenter 2025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4" name="Text 17"/>
          <p:cNvSpPr/>
          <p:nvPr/>
        </p:nvSpPr>
        <p:spPr>
          <a:xfrm>
            <a:off x="14986080" y="8763120"/>
            <a:ext cx="5079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22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0"/>
          <p:cNvSpPr/>
          <p:nvPr/>
        </p:nvSpPr>
        <p:spPr>
          <a:xfrm>
            <a:off x="762120" y="635040"/>
            <a:ext cx="38160" cy="5079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6" name="Text 1"/>
          <p:cNvSpPr/>
          <p:nvPr/>
        </p:nvSpPr>
        <p:spPr>
          <a:xfrm>
            <a:off x="952560" y="635040"/>
            <a:ext cx="1396980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再保险溢价倍数因层位和灾种差异显著，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1-in-250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年层位倍数达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6-10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倍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7" name="Shape 2"/>
          <p:cNvSpPr/>
          <p:nvPr/>
        </p:nvSpPr>
        <p:spPr>
          <a:xfrm>
            <a:off x="762120" y="1270080"/>
            <a:ext cx="14731920" cy="1260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78" name="Chart 0"/>
          <p:cNvPicPr/>
          <p:nvPr/>
        </p:nvPicPr>
        <p:blipFill>
          <a:blip r:embed="rId1"/>
          <a:stretch/>
        </p:blipFill>
        <p:spPr>
          <a:xfrm>
            <a:off x="762120" y="1460520"/>
            <a:ext cx="7365960" cy="342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9" name="Chart 1"/>
          <p:cNvPicPr/>
          <p:nvPr/>
        </p:nvPicPr>
        <p:blipFill>
          <a:blip r:embed="rId2"/>
          <a:stretch/>
        </p:blipFill>
        <p:spPr>
          <a:xfrm>
            <a:off x="8381880" y="1460520"/>
            <a:ext cx="7124760" cy="342900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80" name=""/>
          <p:cNvGraphicFramePr/>
          <p:nvPr/>
        </p:nvGraphicFramePr>
        <p:xfrm>
          <a:off x="762120" y="5079960"/>
          <a:ext cx="14731920" cy="2921040"/>
        </p:xfrm>
        <a:graphic>
          <a:graphicData uri="http://schemas.openxmlformats.org/drawingml/2006/table">
            <a:tbl>
              <a:tblPr/>
              <a:tblGrid>
                <a:gridCol w="2651040"/>
                <a:gridCol w="2357280"/>
                <a:gridCol w="2357640"/>
                <a:gridCol w="2357280"/>
                <a:gridCol w="2357640"/>
                <a:gridCol w="2651040"/>
              </a:tblGrid>
              <a:tr h="58428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指标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2023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2024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2025E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变化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备注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58428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行业名义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ROE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16-17%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18-19%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16-17%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-2pp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加州野火影响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58392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加权平均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CoC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9-10%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9-10%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9-10%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—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ROE/CoC ≈ 2x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58428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定价周期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峰值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峰值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已过峰值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软化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年中进一步软化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58428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加州野火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ROE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影响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—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—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-1.3pp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—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行业层面估计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281" name="Text 3"/>
          <p:cNvSpPr/>
          <p:nvPr/>
        </p:nvSpPr>
        <p:spPr>
          <a:xfrm>
            <a:off x="762120" y="8763120"/>
            <a:ext cx="1015992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Source: </a:t>
            </a:r>
            <a:r>
              <a:rPr lang="en-US" sz="1200" b="0" u="sng" strike="noStrike">
                <a:solidFill>
                  <a:srgbClr val="0563C1"/>
                </a:solidFill>
                <a:effectLst/>
                <a:uFillTx/>
                <a:latin typeface="Liter"/>
                <a:ea typeface="Liter"/>
                <a:hlinkClick r:id="rId3"/>
              </a:rPr>
              <a:t>Fitch Ratings 2025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; Gallagher Re 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2" name="Text 4"/>
          <p:cNvSpPr/>
          <p:nvPr/>
        </p:nvSpPr>
        <p:spPr>
          <a:xfrm>
            <a:off x="14986080" y="8763120"/>
            <a:ext cx="5079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23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0"/>
          <p:cNvSpPr/>
          <p:nvPr/>
        </p:nvSpPr>
        <p:spPr>
          <a:xfrm>
            <a:off x="0" y="0"/>
            <a:ext cx="6502320" cy="9144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4" name="Text 1"/>
          <p:cNvSpPr/>
          <p:nvPr/>
        </p:nvSpPr>
        <p:spPr>
          <a:xfrm>
            <a:off x="762120" y="2286000"/>
            <a:ext cx="2539800" cy="12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05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5" name="Text 2"/>
          <p:cNvSpPr/>
          <p:nvPr/>
        </p:nvSpPr>
        <p:spPr>
          <a:xfrm>
            <a:off x="762120" y="3683160"/>
            <a:ext cx="533376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适应性基金财务报告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6" name="Text 3"/>
          <p:cNvSpPr/>
          <p:nvPr/>
        </p:nvSpPr>
        <p:spPr>
          <a:xfrm>
            <a:off x="762120" y="4444920"/>
            <a:ext cx="571500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CLIMATE ADAPTATION FUND REPORT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7" name="Shape 4"/>
          <p:cNvSpPr/>
          <p:nvPr/>
        </p:nvSpPr>
        <p:spPr>
          <a:xfrm>
            <a:off x="762120" y="5079960"/>
            <a:ext cx="1269720" cy="381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 5"/>
          <p:cNvSpPr/>
          <p:nvPr/>
        </p:nvSpPr>
        <p:spPr>
          <a:xfrm>
            <a:off x="7112160" y="3556080"/>
            <a:ext cx="8127720" cy="12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资本配置、准备金与风险转移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准备金拨备变化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|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适应性基金概览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|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风险转移机制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| </a:t>
            </a: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资本充足率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9" name="Text 6"/>
          <p:cNvSpPr/>
          <p:nvPr/>
        </p:nvSpPr>
        <p:spPr>
          <a:xfrm>
            <a:off x="14986080" y="8763120"/>
            <a:ext cx="5079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24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hape 0"/>
          <p:cNvSpPr/>
          <p:nvPr/>
        </p:nvSpPr>
        <p:spPr>
          <a:xfrm>
            <a:off x="762120" y="635040"/>
            <a:ext cx="38160" cy="5079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1" name="Text 1"/>
          <p:cNvSpPr/>
          <p:nvPr/>
        </p:nvSpPr>
        <p:spPr>
          <a:xfrm>
            <a:off x="952560" y="635040"/>
            <a:ext cx="1396980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气候模型偏差传导至准备金拨备：巨灾准备金上调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22%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，风险边际增加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180bps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2" name="Shape 2"/>
          <p:cNvSpPr/>
          <p:nvPr/>
        </p:nvSpPr>
        <p:spPr>
          <a:xfrm>
            <a:off x="762120" y="1270080"/>
            <a:ext cx="14731920" cy="1260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3" name="Shape 3"/>
          <p:cNvSpPr/>
          <p:nvPr/>
        </p:nvSpPr>
        <p:spPr>
          <a:xfrm>
            <a:off x="762120" y="1460520"/>
            <a:ext cx="14731920" cy="762120"/>
          </a:xfrm>
          <a:prstGeom prst="rect">
            <a:avLst/>
          </a:prstGeom>
          <a:solidFill>
            <a:srgbClr val="1E293B"/>
          </a:solidFill>
          <a:ln w="12600">
            <a:solidFill>
              <a:srgbClr val="D9770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4" name="Text 4"/>
          <p:cNvSpPr/>
          <p:nvPr/>
        </p:nvSpPr>
        <p:spPr>
          <a:xfrm>
            <a:off x="952560" y="1587600"/>
            <a:ext cx="380988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P5 </a:t>
            </a: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模型偏差</a:t>
            </a: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VaR</a:t>
            </a: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低估</a:t>
            </a: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18-32%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295" name="Shape 5"/>
          <p:cNvCxnSpPr/>
          <p:nvPr/>
        </p:nvCxnSpPr>
        <p:spPr>
          <a:xfrm>
            <a:off x="4825800" y="1714320"/>
            <a:ext cx="635400" cy="1080"/>
          </a:xfrm>
          <a:prstGeom prst="straightConnector1">
            <a:avLst/>
          </a:prstGeom>
          <a:ln w="25560">
            <a:solidFill>
              <a:srgbClr val="D97706"/>
            </a:solidFill>
            <a:miter/>
            <a:tailEnd len="med" type="arrow" w="med"/>
          </a:ln>
        </p:spPr>
      </p:cxnSp>
      <p:sp>
        <p:nvSpPr>
          <p:cNvPr id="296" name="Text 6"/>
          <p:cNvSpPr/>
          <p:nvPr/>
        </p:nvSpPr>
        <p:spPr>
          <a:xfrm>
            <a:off x="5587920" y="1587600"/>
            <a:ext cx="381024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P20 </a:t>
            </a: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对冲调整</a:t>
            </a: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 附着点</a:t>
            </a: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+15-25%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297" name="Shape 7"/>
          <p:cNvCxnSpPr/>
          <p:nvPr/>
        </p:nvCxnSpPr>
        <p:spPr>
          <a:xfrm>
            <a:off x="9461520" y="1714320"/>
            <a:ext cx="635760" cy="1080"/>
          </a:xfrm>
          <a:prstGeom prst="straightConnector1">
            <a:avLst/>
          </a:prstGeom>
          <a:ln w="25560">
            <a:solidFill>
              <a:srgbClr val="D97706"/>
            </a:solidFill>
            <a:miter/>
            <a:tailEnd len="med" type="arrow" w="med"/>
          </a:ln>
        </p:spPr>
      </p:cxnSp>
      <p:sp>
        <p:nvSpPr>
          <p:cNvPr id="298" name="Text 8"/>
          <p:cNvSpPr/>
          <p:nvPr/>
        </p:nvSpPr>
        <p:spPr>
          <a:xfrm>
            <a:off x="10223640" y="1587600"/>
            <a:ext cx="507996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P25 </a:t>
            </a: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准备金变化</a:t>
            </a: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 准备金</a:t>
            </a: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+22%</a:t>
            </a: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，边际</a:t>
            </a: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+180bps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 9"/>
          <p:cNvSpPr/>
          <p:nvPr/>
        </p:nvSpPr>
        <p:spPr>
          <a:xfrm>
            <a:off x="762120" y="2413080"/>
            <a:ext cx="7111800" cy="38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巨灾准备金上调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总准备金增加 </a:t>
            </a:r>
            <a:r>
              <a:rPr lang="en-US" sz="1400" b="1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22%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反映模型偏差修正后的更高预期损失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风险边际调整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增加 </a:t>
            </a:r>
            <a:r>
              <a:rPr lang="en-US" sz="1400" b="1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180</a:t>
            </a:r>
            <a:r>
              <a:rPr lang="en-US" sz="1400" b="1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个基点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反映转移保险义务的成本上升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技术准备金重新评估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未到期责任准备金（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UPR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）：</a:t>
            </a:r>
            <a:r>
              <a:rPr lang="en-US" sz="1400" b="1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+12%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已发生未报告准备金（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IBNR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）：</a:t>
            </a:r>
            <a:r>
              <a:rPr lang="en-US" sz="1400" b="1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+28%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0" name="Text 10"/>
          <p:cNvSpPr/>
          <p:nvPr/>
        </p:nvSpPr>
        <p:spPr>
          <a:xfrm>
            <a:off x="8128080" y="2413080"/>
            <a:ext cx="7365960" cy="39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Solvency II 2025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更新影响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风险边际计算方法修订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引入指数期限依赖因子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自然灾害风险参数更新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准备金充足性测试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未来现金流现值增加 </a:t>
            </a:r>
            <a:r>
              <a:rPr lang="en-US" sz="1400" b="1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15-25%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（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RCP 8.5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利率下降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100bps →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准备金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+8-12%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资本连锁反应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准备金增加 → 技术准备金上升 → 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SCR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增加 → 资本覆盖率下降 → 需补充资本或调整风险敞口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01" name="Chart 0"/>
          <p:cNvPicPr/>
          <p:nvPr/>
        </p:nvPicPr>
        <p:blipFill>
          <a:blip r:embed="rId1"/>
          <a:stretch/>
        </p:blipFill>
        <p:spPr>
          <a:xfrm>
            <a:off x="762120" y="6400800"/>
            <a:ext cx="14744520" cy="193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Text 11"/>
          <p:cNvSpPr/>
          <p:nvPr/>
        </p:nvSpPr>
        <p:spPr>
          <a:xfrm>
            <a:off x="762120" y="8763120"/>
            <a:ext cx="114300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Source: </a:t>
            </a:r>
            <a:r>
              <a:rPr lang="en-US" sz="1200" b="0" u="sng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European Commission 2025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; Actuarial Assessment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3" name="Text 12"/>
          <p:cNvSpPr/>
          <p:nvPr/>
        </p:nvSpPr>
        <p:spPr>
          <a:xfrm>
            <a:off x="14986080" y="8763120"/>
            <a:ext cx="5079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hape 0"/>
          <p:cNvSpPr/>
          <p:nvPr/>
        </p:nvSpPr>
        <p:spPr>
          <a:xfrm>
            <a:off x="762120" y="635040"/>
            <a:ext cx="38160" cy="5079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5" name="Text 1"/>
          <p:cNvSpPr/>
          <p:nvPr/>
        </p:nvSpPr>
        <p:spPr>
          <a:xfrm>
            <a:off x="952560" y="635040"/>
            <a:ext cx="1396980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适应性基金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2025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年批准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$1.71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亿新项目，资金缺口达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$3,100-3,650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亿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/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年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6" name="Shape 2"/>
          <p:cNvSpPr/>
          <p:nvPr/>
        </p:nvSpPr>
        <p:spPr>
          <a:xfrm>
            <a:off x="762120" y="1270080"/>
            <a:ext cx="14731920" cy="1260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7" name="Shape 3"/>
          <p:cNvSpPr/>
          <p:nvPr/>
        </p:nvSpPr>
        <p:spPr>
          <a:xfrm>
            <a:off x="762120" y="1460520"/>
            <a:ext cx="3429000" cy="107964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8" name="Text 4"/>
          <p:cNvSpPr/>
          <p:nvPr/>
        </p:nvSpPr>
        <p:spPr>
          <a:xfrm>
            <a:off x="888840" y="1523880"/>
            <a:ext cx="317520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$1.717</a:t>
            </a:r>
            <a:r>
              <a:rPr lang="en-US" sz="32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亿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9" name="Text 5"/>
          <p:cNvSpPr/>
          <p:nvPr/>
        </p:nvSpPr>
        <p:spPr>
          <a:xfrm>
            <a:off x="888840" y="2095560"/>
            <a:ext cx="31752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2025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财年批准新项目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0" name="Shape 6"/>
          <p:cNvSpPr/>
          <p:nvPr/>
        </p:nvSpPr>
        <p:spPr>
          <a:xfrm>
            <a:off x="4444920" y="1460520"/>
            <a:ext cx="3429000" cy="107964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1" name="Text 7"/>
          <p:cNvSpPr/>
          <p:nvPr/>
        </p:nvSpPr>
        <p:spPr>
          <a:xfrm>
            <a:off x="4572000" y="1523880"/>
            <a:ext cx="317484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$3,100-3,650</a:t>
            </a:r>
            <a:r>
              <a:rPr lang="en-US" sz="32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亿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 8"/>
          <p:cNvSpPr/>
          <p:nvPr/>
        </p:nvSpPr>
        <p:spPr>
          <a:xfrm>
            <a:off x="4572000" y="2095560"/>
            <a:ext cx="3174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2035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年年度资金需求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3" name="Shape 9"/>
          <p:cNvSpPr/>
          <p:nvPr/>
        </p:nvSpPr>
        <p:spPr>
          <a:xfrm>
            <a:off x="8128080" y="1460520"/>
            <a:ext cx="3429000" cy="107964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4" name="Text 10"/>
          <p:cNvSpPr/>
          <p:nvPr/>
        </p:nvSpPr>
        <p:spPr>
          <a:xfrm>
            <a:off x="8255160" y="1523880"/>
            <a:ext cx="317484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12-14x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5" name="Text 11"/>
          <p:cNvSpPr/>
          <p:nvPr/>
        </p:nvSpPr>
        <p:spPr>
          <a:xfrm>
            <a:off x="8255160" y="2095560"/>
            <a:ext cx="3174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资金缺口倍数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6" name="Shape 12"/>
          <p:cNvSpPr/>
          <p:nvPr/>
        </p:nvSpPr>
        <p:spPr>
          <a:xfrm>
            <a:off x="11810880" y="1460520"/>
            <a:ext cx="3683160" cy="107964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7" name="Text 13"/>
          <p:cNvSpPr/>
          <p:nvPr/>
        </p:nvSpPr>
        <p:spPr>
          <a:xfrm>
            <a:off x="11937960" y="1523880"/>
            <a:ext cx="342900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$260</a:t>
            </a:r>
            <a:r>
              <a:rPr lang="en-US" sz="32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亿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8" name="Text 14"/>
          <p:cNvSpPr/>
          <p:nvPr/>
        </p:nvSpPr>
        <p:spPr>
          <a:xfrm>
            <a:off x="11937960" y="2095560"/>
            <a:ext cx="34290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2023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年实际适应资金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19" name="Chart 0"/>
          <p:cNvPicPr/>
          <p:nvPr/>
        </p:nvPicPr>
        <p:blipFill>
          <a:blip r:embed="rId1"/>
          <a:stretch/>
        </p:blipFill>
        <p:spPr>
          <a:xfrm>
            <a:off x="762120" y="2730600"/>
            <a:ext cx="7619760" cy="394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0" name="Text 15"/>
          <p:cNvSpPr/>
          <p:nvPr/>
        </p:nvSpPr>
        <p:spPr>
          <a:xfrm>
            <a:off x="8636040" y="2730600"/>
            <a:ext cx="6858000" cy="43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适应性基金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2025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年成就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累计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199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个项目，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$13.9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亿，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108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个国家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COP30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获得近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$1.35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亿新认捐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70%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承诺资金已到达脆弱社区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资金缺口严峻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Glasgow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目标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($400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亿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/2025)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将无法实现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NCQG $3,000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亿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(2035)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不足以弥合缺口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2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• 私营部门潜力：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$50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亿→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$500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亿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/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精算视角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4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适应资金缺口不仅是资金短缺，更是对全球公平、正义和韧性的威胁。每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$1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适应投资可避免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$10+</a:t>
            </a: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损失。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1" name="Text 16"/>
          <p:cNvSpPr/>
          <p:nvPr/>
        </p:nvSpPr>
        <p:spPr>
          <a:xfrm>
            <a:off x="762120" y="8763120"/>
            <a:ext cx="114300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Source: </a:t>
            </a:r>
            <a:r>
              <a:rPr lang="en-US" sz="1200" b="0" u="sng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Adaptation Fund 2025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; </a:t>
            </a:r>
            <a:r>
              <a:rPr lang="en-US" sz="1200" b="0" u="sng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UNEP AGR 2025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2" name="Text 17"/>
          <p:cNvSpPr/>
          <p:nvPr/>
        </p:nvSpPr>
        <p:spPr>
          <a:xfrm>
            <a:off x="14986080" y="8763120"/>
            <a:ext cx="5079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0"/>
          <p:cNvSpPr/>
          <p:nvPr/>
        </p:nvSpPr>
        <p:spPr>
          <a:xfrm>
            <a:off x="762120" y="635040"/>
            <a:ext cx="38160" cy="5079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4" name="Text 1"/>
          <p:cNvSpPr/>
          <p:nvPr/>
        </p:nvSpPr>
        <p:spPr>
          <a:xfrm>
            <a:off x="952560" y="635040"/>
            <a:ext cx="1396980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风险转移机制整合巨灾债券、参数保险与混合融资，资本充足率需维持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SCR 1.5</a:t>
            </a: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倍以上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5" name="Shape 2"/>
          <p:cNvSpPr/>
          <p:nvPr/>
        </p:nvSpPr>
        <p:spPr>
          <a:xfrm>
            <a:off x="762120" y="1270080"/>
            <a:ext cx="14731920" cy="1260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6" name="Shape 3"/>
          <p:cNvSpPr/>
          <p:nvPr/>
        </p:nvSpPr>
        <p:spPr>
          <a:xfrm>
            <a:off x="762120" y="1460520"/>
            <a:ext cx="3555720" cy="1650960"/>
          </a:xfrm>
          <a:prstGeom prst="rect">
            <a:avLst/>
          </a:prstGeom>
          <a:solidFill>
            <a:srgbClr val="1E293B"/>
          </a:solidFill>
          <a:ln w="12600">
            <a:solidFill>
              <a:srgbClr val="47556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7" name="Text 4"/>
          <p:cNvSpPr/>
          <p:nvPr/>
        </p:nvSpPr>
        <p:spPr>
          <a:xfrm>
            <a:off x="888840" y="1523880"/>
            <a:ext cx="330228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第一层：传统再保险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8" name="Text 5"/>
          <p:cNvSpPr/>
          <p:nvPr/>
        </p:nvSpPr>
        <p:spPr>
          <a:xfrm>
            <a:off x="888840" y="1854360"/>
            <a:ext cx="330228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覆盖</a:t>
            </a: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1-in-50</a:t>
            </a: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年事件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超赔</a:t>
            </a: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+</a:t>
            </a: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比例组合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附着点动态调整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9" name="Shape 6"/>
          <p:cNvSpPr/>
          <p:nvPr/>
        </p:nvSpPr>
        <p:spPr>
          <a:xfrm>
            <a:off x="4508640" y="1460520"/>
            <a:ext cx="3555720" cy="1650960"/>
          </a:xfrm>
          <a:prstGeom prst="rect">
            <a:avLst/>
          </a:prstGeom>
          <a:solidFill>
            <a:srgbClr val="1E293B"/>
          </a:solidFill>
          <a:ln w="12600">
            <a:solidFill>
              <a:srgbClr val="47556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0" name="Text 7"/>
          <p:cNvSpPr/>
          <p:nvPr/>
        </p:nvSpPr>
        <p:spPr>
          <a:xfrm>
            <a:off x="4635360" y="1523880"/>
            <a:ext cx="330228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第二层：巨灾债券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1" name="Text 8"/>
          <p:cNvSpPr/>
          <p:nvPr/>
        </p:nvSpPr>
        <p:spPr>
          <a:xfrm>
            <a:off x="4635360" y="1854360"/>
            <a:ext cx="330228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覆盖</a:t>
            </a: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1/100-1/250</a:t>
            </a: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ILS</a:t>
            </a: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另类资本</a:t>
            </a: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$1,210</a:t>
            </a: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亿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与传统资产低相关性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2" name="Shape 9"/>
          <p:cNvSpPr/>
          <p:nvPr/>
        </p:nvSpPr>
        <p:spPr>
          <a:xfrm>
            <a:off x="8255160" y="1460520"/>
            <a:ext cx="3555720" cy="1650960"/>
          </a:xfrm>
          <a:prstGeom prst="rect">
            <a:avLst/>
          </a:prstGeom>
          <a:solidFill>
            <a:srgbClr val="1E293B"/>
          </a:solidFill>
          <a:ln w="12600">
            <a:solidFill>
              <a:srgbClr val="47556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3" name="Text 10"/>
          <p:cNvSpPr/>
          <p:nvPr/>
        </p:nvSpPr>
        <p:spPr>
          <a:xfrm>
            <a:off x="8381880" y="1523880"/>
            <a:ext cx="330228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第三层：参数保险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4" name="Text 11"/>
          <p:cNvSpPr/>
          <p:nvPr/>
        </p:nvSpPr>
        <p:spPr>
          <a:xfrm>
            <a:off x="8381880" y="1854360"/>
            <a:ext cx="330228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特定触发事件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快速赔付机制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发展中国家适用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5" name="Shape 12"/>
          <p:cNvSpPr/>
          <p:nvPr/>
        </p:nvSpPr>
        <p:spPr>
          <a:xfrm>
            <a:off x="12001680" y="1460520"/>
            <a:ext cx="3492360" cy="1650960"/>
          </a:xfrm>
          <a:prstGeom prst="rect">
            <a:avLst/>
          </a:prstGeom>
          <a:solidFill>
            <a:srgbClr val="1E293B"/>
          </a:solidFill>
          <a:ln w="12600">
            <a:solidFill>
              <a:srgbClr val="47556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6" name="Text 13"/>
          <p:cNvSpPr/>
          <p:nvPr/>
        </p:nvSpPr>
        <p:spPr>
          <a:xfrm>
            <a:off x="12128400" y="1523880"/>
            <a:ext cx="323856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第四层：政府</a:t>
            </a:r>
            <a:r>
              <a:rPr lang="en-US" sz="14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/</a:t>
            </a:r>
            <a:r>
              <a:rPr lang="en-US" sz="1400" b="0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国际基金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7" name="Text 14"/>
          <p:cNvSpPr/>
          <p:nvPr/>
        </p:nvSpPr>
        <p:spPr>
          <a:xfrm>
            <a:off x="12128400" y="1854360"/>
            <a:ext cx="323856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适应性基金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绿色气候基金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最后保险人角色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8" name="Text 15"/>
          <p:cNvSpPr/>
          <p:nvPr/>
        </p:nvSpPr>
        <p:spPr>
          <a:xfrm>
            <a:off x="762120" y="3327480"/>
            <a:ext cx="507996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资本充足率要求与压力测试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339" name=""/>
          <p:cNvGraphicFramePr/>
          <p:nvPr/>
        </p:nvGraphicFramePr>
        <p:xfrm>
          <a:off x="762120" y="3746520"/>
          <a:ext cx="14731920" cy="2540160"/>
        </p:xfrm>
        <a:graphic>
          <a:graphicData uri="http://schemas.openxmlformats.org/drawingml/2006/table">
            <a:tbl>
              <a:tblPr/>
              <a:tblGrid>
                <a:gridCol w="2946240"/>
                <a:gridCol w="2357640"/>
                <a:gridCol w="2357280"/>
                <a:gridCol w="2355840"/>
                <a:gridCol w="2357280"/>
                <a:gridCol w="2357640"/>
              </a:tblGrid>
              <a:tr h="5079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监管框架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目标覆盖率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基准情景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加州野火情景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RCP 8.5</a:t>
                      </a: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长期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资本优化策略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5079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Solvency II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150%+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150%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125-130%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110-120%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长期股权投资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5079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瑞士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SST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200%+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200%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170-180%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150-165%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分散化因子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5079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百慕大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BSCR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120%+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120%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105-110%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95-105%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巨灾债券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50832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行业资本增长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+6%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权益</a:t>
                      </a: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+18%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—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—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E2E8F0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风险边际优化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475569"/>
                      </a:solidFill>
                      <a:prstDash val="solid"/>
                    </a:lnL>
                    <a:lnR w="5760">
                      <a:solidFill>
                        <a:srgbClr val="475569"/>
                      </a:solidFill>
                      <a:prstDash val="solid"/>
                    </a:lnR>
                    <a:lnT w="5760">
                      <a:solidFill>
                        <a:srgbClr val="475569"/>
                      </a:solidFill>
                      <a:prstDash val="solid"/>
                    </a:lnT>
                    <a:lnB w="5760">
                      <a:solidFill>
                        <a:srgbClr val="475569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340" name="Shape 16"/>
          <p:cNvSpPr/>
          <p:nvPr/>
        </p:nvSpPr>
        <p:spPr>
          <a:xfrm>
            <a:off x="762120" y="6477120"/>
            <a:ext cx="14731920" cy="10159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1" name="Text 17"/>
          <p:cNvSpPr/>
          <p:nvPr/>
        </p:nvSpPr>
        <p:spPr>
          <a:xfrm>
            <a:off x="952560" y="6578640"/>
            <a:ext cx="1435104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1" u="none" strike="noStrike">
                <a:solidFill>
                  <a:srgbClr val="D97706"/>
                </a:solidFill>
                <a:effectLst/>
                <a:uFillTx/>
                <a:latin typeface="Liter"/>
                <a:ea typeface="Liter"/>
              </a:rPr>
              <a:t>压力测试结论：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加州野火场景下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SCR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覆盖率从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150%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降至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125-130%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；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RCP 8.5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长期情景下可能降至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110-120%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。资本优化策略包括增加长期股权投资待遇、降低分散风险相关因子、引入巨灾债券降低风险边际。传统再保险资本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2025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年预计增长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6%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，股东权益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2024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年增长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18%</a:t>
            </a:r>
            <a:r>
              <a:rPr lang="en-US" sz="13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2" name="Text 18"/>
          <p:cNvSpPr/>
          <p:nvPr/>
        </p:nvSpPr>
        <p:spPr>
          <a:xfrm>
            <a:off x="762120" y="8763120"/>
            <a:ext cx="114300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Source: Fitch Ratings 2025; </a:t>
            </a:r>
            <a:r>
              <a:rPr lang="en-US" sz="1200" b="0" u="sng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J.P. Morgan 2025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3" name="Text 19"/>
          <p:cNvSpPr/>
          <p:nvPr/>
        </p:nvSpPr>
        <p:spPr>
          <a:xfrm>
            <a:off x="14986080" y="8763120"/>
            <a:ext cx="5079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27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Shape 0"/>
          <p:cNvSpPr/>
          <p:nvPr/>
        </p:nvSpPr>
        <p:spPr>
          <a:xfrm>
            <a:off x="6858000" y="2540160"/>
            <a:ext cx="2540160" cy="3780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9000" rIns="90000" bIns="-9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 1"/>
          <p:cNvSpPr/>
          <p:nvPr/>
        </p:nvSpPr>
        <p:spPr>
          <a:xfrm>
            <a:off x="2413080" y="2793960"/>
            <a:ext cx="1143000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风险管控 </a:t>
            </a: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· </a:t>
            </a: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精算严谨 </a:t>
            </a: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· </a:t>
            </a: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Liter"/>
                <a:ea typeface="Liter"/>
              </a:rPr>
              <a:t>气候适应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6" name="Text 2"/>
          <p:cNvSpPr/>
          <p:nvPr/>
        </p:nvSpPr>
        <p:spPr>
          <a:xfrm>
            <a:off x="3048120" y="3683160"/>
            <a:ext cx="101599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RISK CONTROL · ACTUARIAL RIGOR · CLIMATE ADAPTATION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7" name="Shape 3"/>
          <p:cNvSpPr/>
          <p:nvPr/>
        </p:nvSpPr>
        <p:spPr>
          <a:xfrm>
            <a:off x="6222960" y="4317840"/>
            <a:ext cx="3809880" cy="1296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3840" rIns="90000" bIns="-33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8" name="Text 4"/>
          <p:cNvSpPr/>
          <p:nvPr/>
        </p:nvSpPr>
        <p:spPr>
          <a:xfrm>
            <a:off x="2413080" y="4572000"/>
            <a:ext cx="11430000" cy="10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在气候变化加剧的不确定性中，精算科学与风险金融是构建韧性的基石。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E2E8F0"/>
                </a:solidFill>
                <a:effectLst/>
                <a:uFillTx/>
                <a:latin typeface="Liter"/>
                <a:ea typeface="Liter"/>
              </a:rPr>
              <a:t>模型可以改进，资本可以配置，但唯有系统性思维才能应对系统性风险。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9" name="Shape 5"/>
          <p:cNvSpPr/>
          <p:nvPr/>
        </p:nvSpPr>
        <p:spPr>
          <a:xfrm>
            <a:off x="6858000" y="5842080"/>
            <a:ext cx="2540160" cy="381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0" name="Text 6"/>
          <p:cNvSpPr/>
          <p:nvPr/>
        </p:nvSpPr>
        <p:spPr>
          <a:xfrm>
            <a:off x="4317840" y="6222960"/>
            <a:ext cx="762012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全球巨灾建模与气候变化适应性基金财务报告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| 2025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年度精算评估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CONFIDENTIAL — FOR PROFESSIONAL USE ONLY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1" name="Shape 7"/>
          <p:cNvSpPr/>
          <p:nvPr/>
        </p:nvSpPr>
        <p:spPr>
          <a:xfrm>
            <a:off x="762120" y="8381880"/>
            <a:ext cx="14731920" cy="12960"/>
          </a:xfrm>
          <a:prstGeom prst="rect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3840" rIns="90000" bIns="-33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2" name="Text 8"/>
          <p:cNvSpPr/>
          <p:nvPr/>
        </p:nvSpPr>
        <p:spPr>
          <a:xfrm>
            <a:off x="762120" y="8508960"/>
            <a:ext cx="507996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Actuarial Risk Management Division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3" name="Text 9"/>
          <p:cNvSpPr/>
          <p:nvPr/>
        </p:nvSpPr>
        <p:spPr>
          <a:xfrm>
            <a:off x="11175840" y="8508960"/>
            <a:ext cx="43182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Liter"/>
                <a:ea typeface="Liter"/>
              </a:rPr>
              <a:t>May 2025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2026-05-10T13:08:52Z</dcterms:created>
  <dc:creator>Kimi</dc:creator>
  <dc:description/>
  <dc:language>zh-CN</dc:language>
  <cp:lastModifiedBy>Provence Jake</cp:lastModifiedBy>
  <dcterms:modified xsi:type="dcterms:W3CDTF">2026-05-10T14:05:17Z</dcterms:modified>
  <cp:revision>2</cp:revision>
  <dc:subject>全球巨灾建模、再保险分出策略与气候变化适应性基金财务报告</dc:subject>
  <dc:title>全球巨灾建模、再保险分出策略与气候变化适应性基金财务报告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全球巨灾建模、再保险分出策略与气候变化适应性基金财务报告","ContentProducer":"001191110108MACG2KBH8F10000","ProduceID":"19e10437-99a2-883e-8000-0000bc7bca0a","ReservedCode1":"","ContentPropagator":"001191110108MACG2KBH8F20000","PropagateID":"19e10437-99a2-883e-8000-0000bc7bca0a","ReservedCode2":""}</vt:lpwstr>
  </property>
</Properties>
</file>