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5.xml" ContentType="application/vnd.openxmlformats-officedocument.theme+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9144000" cy="6858000"/>
  <p:notesSz cx="6858000" cy="9294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5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"/>
          <p:cNvSpPr/>
          <p:nvPr/>
        </p:nvSpPr>
        <p:spPr>
          <a:xfrm>
            <a:off x="0" y="0"/>
            <a:ext cx="6858000" cy="9295200"/>
          </a:xfrm>
          <a:prstGeom prst="rect">
            <a:avLst/>
          </a:prstGeom>
          <a:solidFill>
            <a:srgbClr val="FFFFFF"/>
          </a:solidFill>
          <a:ln w="0">
            <a:noFill/>
          </a:ln>
        </p:spPr>
        <p:txBody>
          <a:bodyPr lIns="90000" tIns="45000" rIns="90000" bIns="45000" anchor="ctr" anchorCtr="1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PlaceHolder 1"/>
          <p:cNvSpPr>
            <a:spLocks noGrp="1"/>
          </p:cNvSpPr>
          <p:nvPr>
            <p:ph type="hdr"/>
          </p:nvPr>
        </p:nvSpPr>
        <p:spPr>
          <a:xfrm>
            <a:off x="-360" y="-360"/>
            <a:ext cx="2971800" cy="4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dt" idx="13"/>
          </p:nvPr>
        </p:nvSpPr>
        <p:spPr>
          <a:xfrm>
            <a:off x="3885840" y="-360"/>
            <a:ext cx="2971800" cy="4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Img"/>
          </p:nvPr>
        </p:nvSpPr>
        <p:spPr>
          <a:xfrm>
            <a:off x="1106280" y="699840"/>
            <a:ext cx="4647960" cy="3485880"/>
          </a:xfrm>
          <a:prstGeom prst="rect">
            <a:avLst/>
          </a:prstGeom>
          <a:noFill/>
          <a:ln w="9360">
            <a:solidFill>
              <a:srgbClr val="000000"/>
            </a:solidFill>
            <a:miter/>
          </a:ln>
        </p:spPr>
        <p:txBody>
          <a:bodyPr lIns="90000" tIns="46800" rIns="90000" bIns="4680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000" b="1" u="none" strike="noStrike">
                <a:solidFill>
                  <a:srgbClr val="007FD0"/>
                </a:solidFill>
                <a:effectLst/>
                <a:uFillTx/>
                <a:latin typeface="Arial"/>
              </a:rPr>
              <a:t>单击以移动幻灯片</a:t>
            </a:r>
            <a:endParaRPr lang="en-US" sz="4000" b="1" u="none" strike="noStrik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body"/>
          </p:nvPr>
        </p:nvSpPr>
        <p:spPr>
          <a:xfrm>
            <a:off x="917280" y="4416120"/>
            <a:ext cx="5024520" cy="4179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点击编辑备注格式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ftr" idx="14"/>
          </p:nvPr>
        </p:nvSpPr>
        <p:spPr>
          <a:xfrm>
            <a:off x="-360" y="8834040"/>
            <a:ext cx="2971800" cy="4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>
              <a:buNone/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 type="sldNum" idx="15"/>
          </p:nvPr>
        </p:nvSpPr>
        <p:spPr>
          <a:xfrm>
            <a:off x="3885840" y="8834040"/>
            <a:ext cx="2971800" cy="4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marL="216000"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F51B2A0E-FE3D-49AD-B1FB-E9137476E884}" type="slidenum"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&lt;编号&gt;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Rectangle 7"/>
          <p:cNvSpPr/>
          <p:nvPr/>
        </p:nvSpPr>
        <p:spPr>
          <a:xfrm>
            <a:off x="3886200" y="8834400"/>
            <a:ext cx="297180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FEDA587-C5BA-4960-AFC9-CF46F736C742}" type="slidenum"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&lt;编号&gt;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PlaceHolder 1"/>
          <p:cNvSpPr>
            <a:spLocks noGrp="1"/>
          </p:cNvSpPr>
          <p:nvPr>
            <p:ph type="sldImg"/>
          </p:nvPr>
        </p:nvSpPr>
        <p:spPr>
          <a:xfrm>
            <a:off x="1106640" y="700200"/>
            <a:ext cx="4647960" cy="3485880"/>
          </a:xfrm>
          <a:prstGeom prst="rect">
            <a:avLst/>
          </a:prstGeom>
          <a:ln w="0">
            <a:noFill/>
          </a:ln>
        </p:spPr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917280" y="4416120"/>
            <a:ext cx="5024520" cy="41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Rectangle 7"/>
          <p:cNvSpPr/>
          <p:nvPr/>
        </p:nvSpPr>
        <p:spPr>
          <a:xfrm>
            <a:off x="3886200" y="8834400"/>
            <a:ext cx="297180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730534C-27C7-42AA-B870-1CE12B17D4B9}" type="slidenum"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&lt;编号&gt;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PlaceHolder 1"/>
          <p:cNvSpPr>
            <a:spLocks noGrp="1"/>
          </p:cNvSpPr>
          <p:nvPr>
            <p:ph type="sldImg"/>
          </p:nvPr>
        </p:nvSpPr>
        <p:spPr>
          <a:xfrm>
            <a:off x="1106640" y="700200"/>
            <a:ext cx="4647960" cy="3485880"/>
          </a:xfrm>
          <a:prstGeom prst="rect">
            <a:avLst/>
          </a:prstGeom>
          <a:ln w="0">
            <a:noFill/>
          </a:ln>
        </p:spPr>
      </p:sp>
      <p:sp>
        <p:nvSpPr>
          <p:cNvPr id="128" name="PlaceHolder 2"/>
          <p:cNvSpPr>
            <a:spLocks noGrp="1"/>
          </p:cNvSpPr>
          <p:nvPr>
            <p:ph type="body"/>
          </p:nvPr>
        </p:nvSpPr>
        <p:spPr>
          <a:xfrm>
            <a:off x="917280" y="4416120"/>
            <a:ext cx="5024520" cy="41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Rectangle 7"/>
          <p:cNvSpPr/>
          <p:nvPr/>
        </p:nvSpPr>
        <p:spPr>
          <a:xfrm>
            <a:off x="3886200" y="8834400"/>
            <a:ext cx="297180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A84FE6F-A860-4E7A-A1E5-D7293B29C724}" type="slidenum"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&lt;编号&gt;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PlaceHolder 1"/>
          <p:cNvSpPr>
            <a:spLocks noGrp="1"/>
          </p:cNvSpPr>
          <p:nvPr>
            <p:ph type="sldImg"/>
          </p:nvPr>
        </p:nvSpPr>
        <p:spPr>
          <a:xfrm>
            <a:off x="1106640" y="700200"/>
            <a:ext cx="4647960" cy="3485880"/>
          </a:xfrm>
          <a:prstGeom prst="rect">
            <a:avLst/>
          </a:prstGeom>
          <a:ln w="0">
            <a:noFill/>
          </a:ln>
        </p:spPr>
      </p:sp>
      <p:sp>
        <p:nvSpPr>
          <p:cNvPr id="131" name="PlaceHolder 2"/>
          <p:cNvSpPr>
            <a:spLocks noGrp="1"/>
          </p:cNvSpPr>
          <p:nvPr>
            <p:ph type="body"/>
          </p:nvPr>
        </p:nvSpPr>
        <p:spPr>
          <a:xfrm>
            <a:off x="917280" y="4416120"/>
            <a:ext cx="5024520" cy="41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Rectangle 7"/>
          <p:cNvSpPr/>
          <p:nvPr/>
        </p:nvSpPr>
        <p:spPr>
          <a:xfrm>
            <a:off x="3886200" y="8834400"/>
            <a:ext cx="297180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3D87981-8B48-482F-8852-FA2AC15A8492}" type="slidenum"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&lt;编号&gt;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PlaceHolder 1"/>
          <p:cNvSpPr>
            <a:spLocks noGrp="1"/>
          </p:cNvSpPr>
          <p:nvPr>
            <p:ph type="sldImg"/>
          </p:nvPr>
        </p:nvSpPr>
        <p:spPr>
          <a:xfrm>
            <a:off x="1106640" y="700200"/>
            <a:ext cx="4647960" cy="3485880"/>
          </a:xfrm>
          <a:prstGeom prst="rect">
            <a:avLst/>
          </a:prstGeom>
          <a:ln w="0">
            <a:noFill/>
          </a:ln>
        </p:spPr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917280" y="4416120"/>
            <a:ext cx="5024520" cy="41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7"/>
          <p:cNvSpPr/>
          <p:nvPr/>
        </p:nvSpPr>
        <p:spPr>
          <a:xfrm>
            <a:off x="3886200" y="8834400"/>
            <a:ext cx="297180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FAEFC63-43C7-4E4C-9A0A-7F1C8A00FA90}" type="slidenum"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&lt;编号&gt;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PlaceHolder 1"/>
          <p:cNvSpPr>
            <a:spLocks noGrp="1"/>
          </p:cNvSpPr>
          <p:nvPr>
            <p:ph type="sldImg"/>
          </p:nvPr>
        </p:nvSpPr>
        <p:spPr>
          <a:xfrm>
            <a:off x="1106640" y="700200"/>
            <a:ext cx="4647960" cy="3485880"/>
          </a:xfrm>
          <a:prstGeom prst="rect">
            <a:avLst/>
          </a:prstGeom>
          <a:ln w="0">
            <a:noFill/>
          </a:ln>
        </p:spPr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917280" y="4416120"/>
            <a:ext cx="5024520" cy="41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Rectangle 7"/>
          <p:cNvSpPr/>
          <p:nvPr/>
        </p:nvSpPr>
        <p:spPr>
          <a:xfrm>
            <a:off x="3886200" y="8834400"/>
            <a:ext cx="297180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4415E68-47D0-458F-B2ED-3DB6B0838D22}" type="slidenum"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&lt;编号&gt;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PlaceHolder 1"/>
          <p:cNvSpPr>
            <a:spLocks noGrp="1"/>
          </p:cNvSpPr>
          <p:nvPr>
            <p:ph type="sldImg"/>
          </p:nvPr>
        </p:nvSpPr>
        <p:spPr>
          <a:xfrm>
            <a:off x="1106640" y="700200"/>
            <a:ext cx="4647960" cy="3485880"/>
          </a:xfrm>
          <a:prstGeom prst="rect">
            <a:avLst/>
          </a:prstGeom>
          <a:ln w="0">
            <a:noFill/>
          </a:ln>
        </p:spPr>
      </p:sp>
      <p:sp>
        <p:nvSpPr>
          <p:cNvPr id="140" name="PlaceHolder 2"/>
          <p:cNvSpPr>
            <a:spLocks noGrp="1"/>
          </p:cNvSpPr>
          <p:nvPr>
            <p:ph type="body"/>
          </p:nvPr>
        </p:nvSpPr>
        <p:spPr>
          <a:xfrm>
            <a:off x="917280" y="4416120"/>
            <a:ext cx="5024520" cy="41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Rectangle 7"/>
          <p:cNvSpPr/>
          <p:nvPr/>
        </p:nvSpPr>
        <p:spPr>
          <a:xfrm>
            <a:off x="3886200" y="8834400"/>
            <a:ext cx="297180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D8A01E4-8DB4-465F-82BB-E2B1B3CD0426}" type="slidenum"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&lt;编号&gt;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2" name="PlaceHolder 1"/>
          <p:cNvSpPr>
            <a:spLocks noGrp="1"/>
          </p:cNvSpPr>
          <p:nvPr>
            <p:ph type="sldImg"/>
          </p:nvPr>
        </p:nvSpPr>
        <p:spPr>
          <a:xfrm>
            <a:off x="1106640" y="700200"/>
            <a:ext cx="4647960" cy="3485880"/>
          </a:xfrm>
          <a:prstGeom prst="rect">
            <a:avLst/>
          </a:prstGeom>
          <a:ln w="0">
            <a:noFill/>
          </a:ln>
        </p:spPr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917280" y="4416120"/>
            <a:ext cx="5024520" cy="41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Rectangle 7"/>
          <p:cNvSpPr/>
          <p:nvPr/>
        </p:nvSpPr>
        <p:spPr>
          <a:xfrm>
            <a:off x="3886200" y="8834400"/>
            <a:ext cx="297180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03BDB3B-29A9-4920-AA56-DA9FC2DF4512}" type="slidenum"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&lt;编号&gt;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PlaceHolder 1"/>
          <p:cNvSpPr>
            <a:spLocks noGrp="1"/>
          </p:cNvSpPr>
          <p:nvPr>
            <p:ph type="sldImg"/>
          </p:nvPr>
        </p:nvSpPr>
        <p:spPr>
          <a:xfrm>
            <a:off x="1106640" y="700200"/>
            <a:ext cx="4647960" cy="3485880"/>
          </a:xfrm>
          <a:prstGeom prst="rect">
            <a:avLst/>
          </a:prstGeom>
          <a:ln w="0">
            <a:noFill/>
          </a:ln>
        </p:spPr>
      </p:sp>
      <p:sp>
        <p:nvSpPr>
          <p:cNvPr id="146" name="PlaceHolder 2"/>
          <p:cNvSpPr>
            <a:spLocks noGrp="1"/>
          </p:cNvSpPr>
          <p:nvPr>
            <p:ph type="body"/>
          </p:nvPr>
        </p:nvSpPr>
        <p:spPr>
          <a:xfrm>
            <a:off x="917280" y="4416120"/>
            <a:ext cx="5024520" cy="41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Rectangle 7"/>
          <p:cNvSpPr/>
          <p:nvPr/>
        </p:nvSpPr>
        <p:spPr>
          <a:xfrm>
            <a:off x="3886200" y="8834400"/>
            <a:ext cx="297180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3F80312-367D-4EF0-AA68-1D5D47338007}" type="slidenum"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&lt;编号&gt;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PlaceHolder 1"/>
          <p:cNvSpPr>
            <a:spLocks noGrp="1"/>
          </p:cNvSpPr>
          <p:nvPr>
            <p:ph type="sldImg"/>
          </p:nvPr>
        </p:nvSpPr>
        <p:spPr>
          <a:xfrm>
            <a:off x="1106640" y="700200"/>
            <a:ext cx="4647960" cy="3485880"/>
          </a:xfrm>
          <a:prstGeom prst="rect">
            <a:avLst/>
          </a:prstGeom>
          <a:ln w="0">
            <a:noFill/>
          </a:ln>
        </p:spPr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917280" y="4416120"/>
            <a:ext cx="5024520" cy="41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Rectangle 7"/>
          <p:cNvSpPr/>
          <p:nvPr/>
        </p:nvSpPr>
        <p:spPr>
          <a:xfrm>
            <a:off x="3886200" y="8834400"/>
            <a:ext cx="297180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1B61D37-6FF2-471B-8B3C-330E7A89C66F}" type="slidenum"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&lt;编号&gt;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PlaceHolder 1"/>
          <p:cNvSpPr>
            <a:spLocks noGrp="1"/>
          </p:cNvSpPr>
          <p:nvPr>
            <p:ph type="sldImg"/>
          </p:nvPr>
        </p:nvSpPr>
        <p:spPr>
          <a:xfrm>
            <a:off x="1106640" y="700200"/>
            <a:ext cx="4647960" cy="3485880"/>
          </a:xfrm>
          <a:prstGeom prst="rect">
            <a:avLst/>
          </a:prstGeom>
          <a:ln w="0">
            <a:noFill/>
          </a:ln>
        </p:spPr>
      </p:sp>
      <p:sp>
        <p:nvSpPr>
          <p:cNvPr id="152" name="PlaceHolder 2"/>
          <p:cNvSpPr>
            <a:spLocks noGrp="1"/>
          </p:cNvSpPr>
          <p:nvPr>
            <p:ph type="body"/>
          </p:nvPr>
        </p:nvSpPr>
        <p:spPr>
          <a:xfrm>
            <a:off x="917280" y="4416120"/>
            <a:ext cx="5024520" cy="41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Rectangle 7"/>
          <p:cNvSpPr/>
          <p:nvPr/>
        </p:nvSpPr>
        <p:spPr>
          <a:xfrm>
            <a:off x="3886200" y="8834400"/>
            <a:ext cx="297180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298554C9-1FEC-4F3C-9BF6-F1F9464C2EDF}" type="slidenum"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&lt;编号&gt;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sldImg"/>
          </p:nvPr>
        </p:nvSpPr>
        <p:spPr>
          <a:xfrm>
            <a:off x="1106640" y="700200"/>
            <a:ext cx="4647960" cy="3485880"/>
          </a:xfrm>
          <a:prstGeom prst="rect">
            <a:avLst/>
          </a:prstGeom>
          <a:ln w="0">
            <a:noFill/>
          </a:ln>
        </p:spPr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917280" y="4416120"/>
            <a:ext cx="5024520" cy="41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Rectangle 7"/>
          <p:cNvSpPr/>
          <p:nvPr/>
        </p:nvSpPr>
        <p:spPr>
          <a:xfrm>
            <a:off x="3886200" y="8834400"/>
            <a:ext cx="297180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A1A6545-F84A-4964-B1A6-85D1FC7421E0}" type="slidenum"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&lt;编号&gt;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PlaceHolder 1"/>
          <p:cNvSpPr>
            <a:spLocks noGrp="1"/>
          </p:cNvSpPr>
          <p:nvPr>
            <p:ph type="sldImg"/>
          </p:nvPr>
        </p:nvSpPr>
        <p:spPr>
          <a:xfrm>
            <a:off x="1106640" y="700200"/>
            <a:ext cx="4647960" cy="3485880"/>
          </a:xfrm>
          <a:prstGeom prst="rect">
            <a:avLst/>
          </a:prstGeom>
          <a:ln w="0">
            <a:noFill/>
          </a:ln>
        </p:spPr>
      </p:sp>
      <p:sp>
        <p:nvSpPr>
          <p:cNvPr id="158" name="PlaceHolder 2"/>
          <p:cNvSpPr>
            <a:spLocks noGrp="1"/>
          </p:cNvSpPr>
          <p:nvPr>
            <p:ph type="body"/>
          </p:nvPr>
        </p:nvSpPr>
        <p:spPr>
          <a:xfrm>
            <a:off x="917280" y="4416120"/>
            <a:ext cx="5024520" cy="41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7"/>
          <p:cNvSpPr/>
          <p:nvPr/>
        </p:nvSpPr>
        <p:spPr>
          <a:xfrm>
            <a:off x="3886200" y="8834400"/>
            <a:ext cx="297180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0A6B4F4-681A-4503-930E-D1231D8F3675}" type="slidenum"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&lt;编号&gt;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PlaceHolder 1"/>
          <p:cNvSpPr>
            <a:spLocks noGrp="1"/>
          </p:cNvSpPr>
          <p:nvPr>
            <p:ph type="sldImg"/>
          </p:nvPr>
        </p:nvSpPr>
        <p:spPr>
          <a:xfrm>
            <a:off x="1106640" y="700200"/>
            <a:ext cx="4647960" cy="3485880"/>
          </a:xfrm>
          <a:prstGeom prst="rect">
            <a:avLst/>
          </a:prstGeom>
          <a:ln w="0">
            <a:noFill/>
          </a:ln>
        </p:spPr>
      </p:sp>
      <p:sp>
        <p:nvSpPr>
          <p:cNvPr id="161" name="PlaceHolder 2"/>
          <p:cNvSpPr>
            <a:spLocks noGrp="1"/>
          </p:cNvSpPr>
          <p:nvPr>
            <p:ph type="body"/>
          </p:nvPr>
        </p:nvSpPr>
        <p:spPr>
          <a:xfrm>
            <a:off x="917280" y="4416120"/>
            <a:ext cx="5024520" cy="41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7"/>
          <p:cNvSpPr/>
          <p:nvPr/>
        </p:nvSpPr>
        <p:spPr>
          <a:xfrm>
            <a:off x="3886200" y="8834400"/>
            <a:ext cx="297180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105AFED-A79D-4444-8609-3D870CA85E92}" type="slidenum"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&lt;编号&gt;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3" name="PlaceHolder 1"/>
          <p:cNvSpPr>
            <a:spLocks noGrp="1"/>
          </p:cNvSpPr>
          <p:nvPr>
            <p:ph type="sldImg"/>
          </p:nvPr>
        </p:nvSpPr>
        <p:spPr>
          <a:xfrm>
            <a:off x="1106640" y="700200"/>
            <a:ext cx="4647960" cy="3485880"/>
          </a:xfrm>
          <a:prstGeom prst="rect">
            <a:avLst/>
          </a:prstGeom>
          <a:ln w="0">
            <a:noFill/>
          </a:ln>
        </p:spPr>
      </p:sp>
      <p:sp>
        <p:nvSpPr>
          <p:cNvPr id="164" name="PlaceHolder 2"/>
          <p:cNvSpPr>
            <a:spLocks noGrp="1"/>
          </p:cNvSpPr>
          <p:nvPr>
            <p:ph type="body"/>
          </p:nvPr>
        </p:nvSpPr>
        <p:spPr>
          <a:xfrm>
            <a:off x="917280" y="4416120"/>
            <a:ext cx="5024520" cy="41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Rectangle 7"/>
          <p:cNvSpPr/>
          <p:nvPr/>
        </p:nvSpPr>
        <p:spPr>
          <a:xfrm>
            <a:off x="3886200" y="8834400"/>
            <a:ext cx="297180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0BAED9A-7E69-4FD2-9D09-065A68D40704}" type="slidenum"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&lt;编号&gt;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PlaceHolder 1"/>
          <p:cNvSpPr>
            <a:spLocks noGrp="1"/>
          </p:cNvSpPr>
          <p:nvPr>
            <p:ph type="sldImg"/>
          </p:nvPr>
        </p:nvSpPr>
        <p:spPr>
          <a:xfrm>
            <a:off x="1106640" y="700200"/>
            <a:ext cx="4647960" cy="3485880"/>
          </a:xfrm>
          <a:prstGeom prst="rect">
            <a:avLst/>
          </a:prstGeom>
          <a:ln w="0">
            <a:noFill/>
          </a:ln>
        </p:spPr>
      </p:sp>
      <p:sp>
        <p:nvSpPr>
          <p:cNvPr id="167" name="PlaceHolder 2"/>
          <p:cNvSpPr>
            <a:spLocks noGrp="1"/>
          </p:cNvSpPr>
          <p:nvPr>
            <p:ph type="body"/>
          </p:nvPr>
        </p:nvSpPr>
        <p:spPr>
          <a:xfrm>
            <a:off x="917280" y="4416120"/>
            <a:ext cx="5024520" cy="41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Rectangle 7"/>
          <p:cNvSpPr/>
          <p:nvPr/>
        </p:nvSpPr>
        <p:spPr>
          <a:xfrm>
            <a:off x="3886200" y="8834400"/>
            <a:ext cx="2971800" cy="461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anchor="b">
            <a:no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3EF1850-C750-4760-801C-B406E4AA2FF8}" type="slidenum">
              <a:rPr lang="en-US" sz="11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&lt;编号&gt;</a:t>
            </a:fld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1"/>
          <p:cNvSpPr>
            <a:spLocks noGrp="1"/>
          </p:cNvSpPr>
          <p:nvPr>
            <p:ph type="sldImg"/>
          </p:nvPr>
        </p:nvSpPr>
        <p:spPr>
          <a:xfrm>
            <a:off x="1106640" y="700200"/>
            <a:ext cx="4647960" cy="3485880"/>
          </a:xfrm>
          <a:prstGeom prst="rect">
            <a:avLst/>
          </a:prstGeom>
          <a:ln w="0">
            <a:noFill/>
          </a:ln>
        </p:spPr>
      </p:sp>
      <p:sp>
        <p:nvSpPr>
          <p:cNvPr id="170" name="PlaceHolder 2"/>
          <p:cNvSpPr>
            <a:spLocks noGrp="1"/>
          </p:cNvSpPr>
          <p:nvPr>
            <p:ph type="body"/>
          </p:nvPr>
        </p:nvSpPr>
        <p:spPr>
          <a:xfrm>
            <a:off x="917280" y="4416120"/>
            <a:ext cx="5024520" cy="4179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spcBef>
                <a:spcPts val="45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sz="1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标题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8"/>
          <p:cNvSpPr/>
          <p:nvPr/>
        </p:nvSpPr>
        <p:spPr>
          <a:xfrm flipH="1">
            <a:off x="603360" y="1403280"/>
            <a:ext cx="8076960" cy="0"/>
          </a:xfrm>
          <a:prstGeom prst="line">
            <a:avLst/>
          </a:prstGeom>
          <a:ln w="25560">
            <a:solidFill>
              <a:srgbClr val="007FD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Line 19"/>
          <p:cNvSpPr/>
          <p:nvPr/>
        </p:nvSpPr>
        <p:spPr>
          <a:xfrm flipH="1">
            <a:off x="603360" y="5961240"/>
            <a:ext cx="8076960" cy="0"/>
          </a:xfrm>
          <a:prstGeom prst="line">
            <a:avLst/>
          </a:prstGeom>
          <a:ln w="25560">
            <a:solidFill>
              <a:srgbClr val="007FD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" name="Picture 23"/>
          <p:cNvPicPr/>
          <p:nvPr/>
        </p:nvPicPr>
        <p:blipFill>
          <a:blip r:embed="rId2"/>
          <a:stretch/>
        </p:blipFill>
        <p:spPr>
          <a:xfrm>
            <a:off x="2576520" y="228600"/>
            <a:ext cx="3959280" cy="108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" name="PlaceHolder 1"/>
          <p:cNvSpPr>
            <a:spLocks noGrp="1"/>
          </p:cNvSpPr>
          <p:nvPr>
            <p:ph type="body"/>
          </p:nvPr>
        </p:nvSpPr>
        <p:spPr>
          <a:xfrm>
            <a:off x="880560" y="1838160"/>
            <a:ext cx="7410600" cy="3834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spcBef>
                <a:spcPts val="601"/>
              </a:spcBef>
              <a:buClr>
                <a:srgbClr val="007FD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601"/>
              </a:spcBef>
              <a:buClr>
                <a:srgbClr val="007FD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01"/>
              </a:spcBef>
              <a:buClr>
                <a:srgbClr val="007FD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601"/>
              </a:spcBef>
              <a:buClr>
                <a:srgbClr val="007FD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601"/>
              </a:spcBef>
              <a:buClr>
                <a:srgbClr val="007FD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230040" indent="-230040" algn="l">
              <a:spcBef>
                <a:spcPts val="601"/>
              </a:spcBef>
              <a:buClr>
                <a:srgbClr val="007FD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79320" lvl="1" indent="-285480" algn="l">
              <a:spcBef>
                <a:spcPts val="601"/>
              </a:spcBef>
              <a:buClr>
                <a:srgbClr val="007FD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9640" lvl="2" indent="-228600" algn="l">
              <a:spcBef>
                <a:spcPts val="601"/>
              </a:spcBef>
              <a:buClr>
                <a:srgbClr val="007FD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87520" lvl="3" indent="-228600" algn="l">
              <a:spcBef>
                <a:spcPts val="601"/>
              </a:spcBef>
              <a:buClr>
                <a:srgbClr val="007FD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33480" lvl="4" indent="-228600" algn="l">
              <a:spcBef>
                <a:spcPts val="601"/>
              </a:spcBef>
              <a:buClr>
                <a:srgbClr val="007FD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33480" lvl="5" indent="-228600" algn="l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33480" lvl="6" indent="-228600" algn="l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title"/>
          </p:nvPr>
        </p:nvSpPr>
        <p:spPr>
          <a:xfrm>
            <a:off x="888480" y="479160"/>
            <a:ext cx="7394760" cy="9284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4000" b="1" u="none" strike="noStrike">
                <a:solidFill>
                  <a:srgbClr val="007FD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000" b="1" u="none" strike="noStrike">
                <a:solidFill>
                  <a:srgbClr val="007FD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000" b="1" u="none" strike="noStrik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7" name="PlaceHolder 3"/>
          <p:cNvSpPr>
            <a:spLocks noGrp="1"/>
          </p:cNvSpPr>
          <p:nvPr>
            <p:ph type="dt" idx="1"/>
          </p:nvPr>
        </p:nvSpPr>
        <p:spPr>
          <a:xfrm>
            <a:off x="617400" y="623088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007FD0"/>
                </a:solidFill>
                <a:effectLst/>
                <a:uFillTx/>
                <a:latin typeface="Times New Roman"/>
                <a:ea typeface="宋体"/>
              </a:defRPr>
            </a:lvl1pPr>
          </a:lstStyle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Times New Roman"/>
                <a:ea typeface="宋体"/>
              </a:rPr>
              <a:t>April 12, 2005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4"/>
          <p:cNvSpPr>
            <a:spLocks noGrp="1"/>
          </p:cNvSpPr>
          <p:nvPr>
            <p:ph type="ftr" idx="2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007FD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Times New Roman"/>
              </a:rPr>
              <a:t>http://www.nipc.org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5"/>
          <p:cNvSpPr>
            <a:spLocks noGrp="1"/>
          </p:cNvSpPr>
          <p:nvPr>
            <p:ph type="sldNum" idx="3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007FD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9846077-9314-4201-B711-F82C9E84D6F4}" type="slidenum"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标题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Line 19"/>
          <p:cNvSpPr/>
          <p:nvPr/>
        </p:nvSpPr>
        <p:spPr>
          <a:xfrm flipH="1">
            <a:off x="2759040" y="1598760"/>
            <a:ext cx="3656160" cy="0"/>
          </a:xfrm>
          <a:prstGeom prst="line">
            <a:avLst/>
          </a:prstGeom>
          <a:ln w="25560">
            <a:solidFill>
              <a:srgbClr val="007FD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Line 21"/>
          <p:cNvSpPr/>
          <p:nvPr/>
        </p:nvSpPr>
        <p:spPr>
          <a:xfrm flipH="1">
            <a:off x="2759040" y="5919840"/>
            <a:ext cx="3656160" cy="0"/>
          </a:xfrm>
          <a:prstGeom prst="line">
            <a:avLst/>
          </a:prstGeom>
          <a:ln w="25560">
            <a:solidFill>
              <a:srgbClr val="007FD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2" name="Picture 23"/>
          <p:cNvPicPr/>
          <p:nvPr/>
        </p:nvPicPr>
        <p:blipFill>
          <a:blip r:embed="rId2"/>
          <a:stretch/>
        </p:blipFill>
        <p:spPr>
          <a:xfrm>
            <a:off x="3370320" y="6076800"/>
            <a:ext cx="2344680" cy="64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" name="PlaceHolder 1"/>
          <p:cNvSpPr>
            <a:spLocks noGrp="1"/>
          </p:cNvSpPr>
          <p:nvPr>
            <p:ph type="body"/>
          </p:nvPr>
        </p:nvSpPr>
        <p:spPr>
          <a:xfrm>
            <a:off x="880560" y="1838160"/>
            <a:ext cx="7410600" cy="3834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spcBef>
                <a:spcPts val="601"/>
              </a:spcBef>
              <a:buClr>
                <a:srgbClr val="007FD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601"/>
              </a:spcBef>
              <a:buClr>
                <a:srgbClr val="007FD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01"/>
              </a:spcBef>
              <a:buClr>
                <a:srgbClr val="007FD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601"/>
              </a:spcBef>
              <a:buClr>
                <a:srgbClr val="007FD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601"/>
              </a:spcBef>
              <a:buClr>
                <a:srgbClr val="007FD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230040" indent="-230040" algn="l">
              <a:spcBef>
                <a:spcPts val="601"/>
              </a:spcBef>
              <a:buClr>
                <a:srgbClr val="007FD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79320" lvl="1" indent="-285480" algn="l">
              <a:spcBef>
                <a:spcPts val="601"/>
              </a:spcBef>
              <a:buClr>
                <a:srgbClr val="007FD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9640" lvl="2" indent="-228600" algn="l">
              <a:spcBef>
                <a:spcPts val="601"/>
              </a:spcBef>
              <a:buClr>
                <a:srgbClr val="007FD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87520" lvl="3" indent="-228600" algn="l">
              <a:spcBef>
                <a:spcPts val="601"/>
              </a:spcBef>
              <a:buClr>
                <a:srgbClr val="007FD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33480" lvl="4" indent="-228600" algn="l">
              <a:spcBef>
                <a:spcPts val="601"/>
              </a:spcBef>
              <a:buClr>
                <a:srgbClr val="007FD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33480" lvl="5" indent="-228600" algn="l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33480" lvl="6" indent="-228600" algn="l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title"/>
          </p:nvPr>
        </p:nvSpPr>
        <p:spPr>
          <a:xfrm>
            <a:off x="888480" y="479160"/>
            <a:ext cx="7394760" cy="9284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4000" b="1" u="none" strike="noStrike">
                <a:solidFill>
                  <a:srgbClr val="007FD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000" b="1" u="none" strike="noStrike">
                <a:solidFill>
                  <a:srgbClr val="007FD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000" b="1" u="none" strike="noStrik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dt" idx="4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007FD0"/>
                </a:solidFill>
                <a:effectLst/>
                <a:uFillTx/>
                <a:latin typeface="Times New Roman"/>
                <a:ea typeface="宋体"/>
              </a:defRPr>
            </a:lvl1pPr>
          </a:lstStyle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Times New Roman"/>
                <a:ea typeface="宋体"/>
              </a:rPr>
              <a:t>October 2007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ftr" idx="5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007FD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Times New Roman"/>
              </a:rPr>
              <a:t>http://www.nipc.org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5"/>
          <p:cNvSpPr>
            <a:spLocks noGrp="1"/>
          </p:cNvSpPr>
          <p:nvPr>
            <p:ph type="sldNum" idx="6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007FD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D0A0EEED-007C-4EA9-85CE-D393150B5735}" type="slidenum"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标题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Line 19"/>
          <p:cNvSpPr/>
          <p:nvPr/>
        </p:nvSpPr>
        <p:spPr>
          <a:xfrm flipH="1">
            <a:off x="2759040" y="1598760"/>
            <a:ext cx="3656160" cy="0"/>
          </a:xfrm>
          <a:prstGeom prst="line">
            <a:avLst/>
          </a:prstGeom>
          <a:ln w="25560">
            <a:solidFill>
              <a:srgbClr val="007FD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Line 21"/>
          <p:cNvSpPr/>
          <p:nvPr/>
        </p:nvSpPr>
        <p:spPr>
          <a:xfrm flipH="1">
            <a:off x="2759040" y="5919840"/>
            <a:ext cx="3656160" cy="0"/>
          </a:xfrm>
          <a:prstGeom prst="line">
            <a:avLst/>
          </a:prstGeom>
          <a:ln w="25560">
            <a:solidFill>
              <a:srgbClr val="007FD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Picture 23"/>
          <p:cNvPicPr/>
          <p:nvPr/>
        </p:nvPicPr>
        <p:blipFill>
          <a:blip r:embed="rId2"/>
          <a:stretch/>
        </p:blipFill>
        <p:spPr>
          <a:xfrm>
            <a:off x="3370320" y="6076800"/>
            <a:ext cx="2344680" cy="64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PlaceHolder 1"/>
          <p:cNvSpPr>
            <a:spLocks noGrp="1"/>
          </p:cNvSpPr>
          <p:nvPr>
            <p:ph type="body"/>
          </p:nvPr>
        </p:nvSpPr>
        <p:spPr>
          <a:xfrm>
            <a:off x="880560" y="1838160"/>
            <a:ext cx="7410600" cy="3834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spcBef>
                <a:spcPts val="601"/>
              </a:spcBef>
              <a:buClr>
                <a:srgbClr val="007FD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601"/>
              </a:spcBef>
              <a:buClr>
                <a:srgbClr val="007FD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01"/>
              </a:spcBef>
              <a:buClr>
                <a:srgbClr val="007FD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601"/>
              </a:spcBef>
              <a:buClr>
                <a:srgbClr val="007FD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601"/>
              </a:spcBef>
              <a:buClr>
                <a:srgbClr val="007FD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230040" indent="-230040" algn="l">
              <a:spcBef>
                <a:spcPts val="601"/>
              </a:spcBef>
              <a:buClr>
                <a:srgbClr val="007FD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79320" lvl="1" indent="-285480" algn="l">
              <a:spcBef>
                <a:spcPts val="601"/>
              </a:spcBef>
              <a:buClr>
                <a:srgbClr val="007FD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9640" lvl="2" indent="-228600" algn="l">
              <a:spcBef>
                <a:spcPts val="601"/>
              </a:spcBef>
              <a:buClr>
                <a:srgbClr val="007FD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87520" lvl="3" indent="-228600" algn="l">
              <a:spcBef>
                <a:spcPts val="601"/>
              </a:spcBef>
              <a:buClr>
                <a:srgbClr val="007FD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33480" lvl="4" indent="-228600" algn="l">
              <a:spcBef>
                <a:spcPts val="601"/>
              </a:spcBef>
              <a:buClr>
                <a:srgbClr val="007FD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33480" lvl="5" indent="-228600" algn="l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33480" lvl="6" indent="-228600" algn="l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title"/>
          </p:nvPr>
        </p:nvSpPr>
        <p:spPr>
          <a:xfrm>
            <a:off x="888480" y="479160"/>
            <a:ext cx="7394760" cy="9284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4000" b="1" u="none" strike="noStrike">
                <a:solidFill>
                  <a:srgbClr val="007FD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000" b="1" u="none" strike="noStrike">
                <a:solidFill>
                  <a:srgbClr val="007FD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000" b="1" u="none" strike="noStrik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7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007FD0"/>
                </a:solidFill>
                <a:effectLst/>
                <a:uFillTx/>
                <a:latin typeface="Times New Roman"/>
                <a:ea typeface="宋体"/>
              </a:defRPr>
            </a:lvl1pPr>
          </a:lstStyle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Times New Roman"/>
                <a:ea typeface="宋体"/>
              </a:rPr>
              <a:t>October 2007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8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007FD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Times New Roman"/>
              </a:rPr>
              <a:t>http://www.nipc.org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9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007FD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FCA120A-CDA4-4986-9671-A27387D433E0}" type="slidenum"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标题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Line 19"/>
          <p:cNvSpPr/>
          <p:nvPr/>
        </p:nvSpPr>
        <p:spPr>
          <a:xfrm flipH="1">
            <a:off x="2759040" y="1598760"/>
            <a:ext cx="3656160" cy="0"/>
          </a:xfrm>
          <a:prstGeom prst="line">
            <a:avLst/>
          </a:prstGeom>
          <a:ln w="25560">
            <a:solidFill>
              <a:srgbClr val="007FD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Line 21"/>
          <p:cNvSpPr/>
          <p:nvPr/>
        </p:nvSpPr>
        <p:spPr>
          <a:xfrm flipH="1">
            <a:off x="2759040" y="5919840"/>
            <a:ext cx="3656160" cy="0"/>
          </a:xfrm>
          <a:prstGeom prst="line">
            <a:avLst/>
          </a:prstGeom>
          <a:ln w="25560">
            <a:solidFill>
              <a:srgbClr val="007FD0"/>
            </a:solidFill>
            <a:miter/>
          </a:ln>
        </p:spPr>
        <p:style>
          <a:lnRef idx="0"/>
          <a:fillRef idx="0"/>
          <a:effectRef idx="0"/>
          <a:fontRef idx="minor"/>
        </p:style>
        <p:txBody>
          <a:bodyPr lIns="90000" tIns="-46800" rIns="90000" bIns="-46800" anchor="ctr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8" name="Picture 23"/>
          <p:cNvPicPr/>
          <p:nvPr/>
        </p:nvPicPr>
        <p:blipFill>
          <a:blip r:embed="rId2"/>
          <a:stretch/>
        </p:blipFill>
        <p:spPr>
          <a:xfrm>
            <a:off x="3370320" y="6076800"/>
            <a:ext cx="2344680" cy="64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PlaceHolder 1"/>
          <p:cNvSpPr>
            <a:spLocks noGrp="1"/>
          </p:cNvSpPr>
          <p:nvPr>
            <p:ph type="body"/>
          </p:nvPr>
        </p:nvSpPr>
        <p:spPr>
          <a:xfrm>
            <a:off x="880560" y="1838160"/>
            <a:ext cx="7410600" cy="38340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>
            <a:lvl1pPr algn="l">
              <a:spcBef>
                <a:spcPts val="601"/>
              </a:spcBef>
              <a:buClr>
                <a:srgbClr val="007FD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601"/>
              </a:spcBef>
              <a:buClr>
                <a:srgbClr val="007FD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601"/>
              </a:spcBef>
              <a:buClr>
                <a:srgbClr val="007FD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601"/>
              </a:spcBef>
              <a:buClr>
                <a:srgbClr val="007FD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601"/>
              </a:spcBef>
              <a:buClr>
                <a:srgbClr val="007FD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230040" indent="-230040" algn="l">
              <a:spcBef>
                <a:spcPts val="601"/>
              </a:spcBef>
              <a:buClr>
                <a:srgbClr val="007FD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点击以编辑提纲文本格式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679320" lvl="1" indent="-285480" algn="l">
              <a:spcBef>
                <a:spcPts val="601"/>
              </a:spcBef>
              <a:buClr>
                <a:srgbClr val="007FD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第二提纲级别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079640" lvl="2" indent="-228600" algn="l">
              <a:spcBef>
                <a:spcPts val="601"/>
              </a:spcBef>
              <a:buClr>
                <a:srgbClr val="007FD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第三提纲级别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487520" lvl="3" indent="-228600" algn="l">
              <a:spcBef>
                <a:spcPts val="601"/>
              </a:spcBef>
              <a:buClr>
                <a:srgbClr val="007FD0"/>
              </a:buClr>
              <a:buFont typeface="Arial"/>
              <a:buChar char="–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第四提纲级别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33480" lvl="4" indent="-228600" algn="l">
              <a:spcBef>
                <a:spcPts val="601"/>
              </a:spcBef>
              <a:buClr>
                <a:srgbClr val="007FD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第五提纲级别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33480" lvl="5" indent="-228600" algn="l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第六提纲级别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833480" lvl="6" indent="-228600" algn="l">
              <a:spcBef>
                <a:spcPts val="601"/>
              </a:spcBef>
              <a:buClr>
                <a:srgbClr val="000000"/>
              </a:buClr>
              <a:buFont typeface="Arial"/>
              <a:buChar char="»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第七提纲级别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title"/>
          </p:nvPr>
        </p:nvSpPr>
        <p:spPr>
          <a:xfrm>
            <a:off x="888480" y="479160"/>
            <a:ext cx="7394760" cy="92844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ctr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zh-CN" sz="4000" b="1" u="none" strike="noStrike">
                <a:solidFill>
                  <a:srgbClr val="007FD0"/>
                </a:solidFill>
                <a:effectLst/>
                <a:uFillTx/>
                <a:latin typeface="Arial"/>
              </a:defRPr>
            </a:lvl1pPr>
          </a:lstStyle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000" b="1" u="none" strike="noStrike">
                <a:solidFill>
                  <a:srgbClr val="007FD0"/>
                </a:solidFill>
                <a:effectLst/>
                <a:uFillTx/>
                <a:latin typeface="Arial"/>
              </a:rPr>
              <a:t>单击以编辑标题文本格式</a:t>
            </a:r>
            <a:endParaRPr lang="en-US" sz="4000" b="1" u="none" strike="noStrik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0"/>
          </p:nvPr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007FD0"/>
                </a:solidFill>
                <a:effectLst/>
                <a:uFillTx/>
                <a:latin typeface="Times New Roman"/>
                <a:ea typeface="宋体"/>
              </a:defRPr>
            </a:lvl1pPr>
          </a:lstStyle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Times New Roman"/>
                <a:ea typeface="宋体"/>
              </a:rPr>
              <a:t>October 2007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11"/>
          </p:nvPr>
        </p:nvSpPr>
        <p:spPr>
          <a:xfrm>
            <a:off x="3124080" y="6248520"/>
            <a:ext cx="289584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007FD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Times New Roman"/>
              </a:rPr>
              <a:t>http://www.nipc.org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sldNum" idx="12"/>
          </p:nvPr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Autofit/>
          </a:bodyPr>
          <a:lstStyle>
            <a:lvl1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lang="en-US" sz="1400" b="0" u="none" strike="noStrike">
                <a:solidFill>
                  <a:srgbClr val="007FD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73F16B56-005B-4591-B4EA-2AD4C3C18E5C}" type="slidenum"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Times New Roman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705960" y="2342880"/>
            <a:ext cx="7828200" cy="1143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3600" b="1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可持续性政策议题概览</a:t>
            </a:r>
            <a:endParaRPr lang="en-US" sz="3600" b="1" u="none" strike="noStrik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subTitle"/>
          </p:nvPr>
        </p:nvSpPr>
        <p:spPr>
          <a:xfrm>
            <a:off x="2412720" y="3166560"/>
            <a:ext cx="4319640" cy="1752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spcBef>
                <a:spcPts val="6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zh-CN" sz="2400" b="0" u="none" strike="noStrik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日期占位符 4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2007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年 </a:t>
            </a: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10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灯片编号占位符 6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50C4D621-BC0B-4935-BC4B-E0E548011E25}" type="slidenum"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888480" y="479160"/>
            <a:ext cx="7394760" cy="92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1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区域可持续性快照的组成部分</a:t>
            </a:r>
            <a:endParaRPr lang="en-US" sz="2800" b="1" u="none" strike="noStrik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880920" y="1838160"/>
            <a:ext cx="7196400" cy="383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30040" indent="-230040" algn="l">
              <a:spcBef>
                <a:spcPts val="901"/>
              </a:spcBef>
              <a:buClr>
                <a:srgbClr val="007FD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向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CMAP </a:t>
            </a: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董事会和各委员会提出工作人员建议：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 algn="l">
              <a:spcBef>
                <a:spcPts val="901"/>
              </a:spcBef>
              <a:buClr>
                <a:srgbClr val="007FD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定义并概念化可持续性，使其可应用于区域综合规划（以及其他活动）。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 algn="l">
              <a:spcBef>
                <a:spcPts val="901"/>
              </a:spcBef>
              <a:buClr>
                <a:srgbClr val="007FD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制定衡量可持续性的指标。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 algn="l">
              <a:spcBef>
                <a:spcPts val="901"/>
              </a:spcBef>
              <a:buClr>
                <a:srgbClr val="007FD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识别需要指导的重大政策议题。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日期占位符 4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2007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年 </a:t>
            </a: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10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灯片编号占位符 6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6DF67A3-4D7F-4245-9A6F-8C442EDF9A0F}" type="slidenum"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888480" y="479160"/>
            <a:ext cx="7394760" cy="92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1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可持续性定义</a:t>
            </a:r>
            <a:endParaRPr lang="en-US" sz="2800" b="1" u="none" strike="noStrik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880560" y="1838160"/>
            <a:ext cx="7348680" cy="383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30040" indent="-230040" algn="l">
              <a:spcBef>
                <a:spcPts val="901"/>
              </a:spcBef>
              <a:buClr>
                <a:srgbClr val="007FD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布伦特兰委员会：既满足当代人的需要，又不损害后代人满足其自身需要的能力。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 algn="l">
              <a:spcBef>
                <a:spcPts val="901"/>
              </a:spcBef>
              <a:buClr>
                <a:srgbClr val="007FD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3E</a:t>
            </a: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：同时追求经济、环境和社会公平目标。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 algn="l">
              <a:spcBef>
                <a:spcPts val="901"/>
              </a:spcBef>
              <a:buClr>
                <a:srgbClr val="007FD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基于资本：保护或增加自然资本、金融资本、制造资本和人力资本的存量。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日期占位符 4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2007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年 </a:t>
            </a: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10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灯片编号占位符 6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4B97C0A-C37D-4BF5-A3F1-75710953FBEA}" type="slidenum"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88840" y="479160"/>
            <a:ext cx="7569360" cy="92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1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可持续性定义中的建议原则</a:t>
            </a:r>
            <a:endParaRPr lang="en-US" sz="2800" b="1" u="none" strike="noStrik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grpSp>
        <p:nvGrpSpPr>
          <p:cNvPr id="54" name="Group 28"/>
          <p:cNvGrpSpPr/>
          <p:nvPr/>
        </p:nvGrpSpPr>
        <p:grpSpPr>
          <a:xfrm>
            <a:off x="838080" y="2057400"/>
            <a:ext cx="7492680" cy="2819160"/>
            <a:chOff x="838080" y="2057400"/>
            <a:chExt cx="7492680" cy="2819160"/>
          </a:xfrm>
        </p:grpSpPr>
        <p:grpSp>
          <p:nvGrpSpPr>
            <p:cNvPr id="55" name="Group 26"/>
            <p:cNvGrpSpPr/>
            <p:nvPr/>
          </p:nvGrpSpPr>
          <p:grpSpPr>
            <a:xfrm>
              <a:off x="843480" y="2061360"/>
              <a:ext cx="7481160" cy="2810520"/>
              <a:chOff x="843480" y="2061360"/>
              <a:chExt cx="7481160" cy="2810520"/>
            </a:xfrm>
          </p:grpSpPr>
          <p:grpSp>
            <p:nvGrpSpPr>
              <p:cNvPr id="56" name="Group 15"/>
              <p:cNvGrpSpPr/>
              <p:nvPr/>
            </p:nvGrpSpPr>
            <p:grpSpPr>
              <a:xfrm>
                <a:off x="843480" y="2061360"/>
                <a:ext cx="3740040" cy="745560"/>
                <a:chOff x="843480" y="2061360"/>
                <a:chExt cx="3740040" cy="745560"/>
              </a:xfrm>
            </p:grpSpPr>
            <p:sp>
              <p:nvSpPr>
                <p:cNvPr id="57" name="Rectangle 8"/>
                <p:cNvSpPr/>
                <p:nvPr/>
              </p:nvSpPr>
              <p:spPr>
                <a:xfrm>
                  <a:off x="957960" y="2061360"/>
                  <a:ext cx="3511080" cy="745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rmAutofit/>
                </a:bodyPr>
                <a:p>
                  <a: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800" b="1" u="none" strike="noStrike">
                      <a:solidFill>
                        <a:srgbClr val="007FD0"/>
                      </a:solidFill>
                      <a:effectLst/>
                      <a:uFillTx/>
                      <a:latin typeface="Arial"/>
                      <a:ea typeface="宋体"/>
                    </a:rPr>
                    <a:t>Future Conditions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58" name="Rectangle 14"/>
                <p:cNvSpPr/>
                <p:nvPr/>
              </p:nvSpPr>
              <p:spPr>
                <a:xfrm>
                  <a:off x="843480" y="2061360"/>
                  <a:ext cx="3740040" cy="74556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rmAutofit/>
                </a:bodyPr>
                <a:p>
                  <a: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59" name="Group 17"/>
              <p:cNvGrpSpPr/>
              <p:nvPr/>
            </p:nvGrpSpPr>
            <p:grpSpPr>
              <a:xfrm>
                <a:off x="4583880" y="2061360"/>
                <a:ext cx="3740760" cy="745560"/>
                <a:chOff x="4583880" y="2061360"/>
                <a:chExt cx="3740760" cy="745560"/>
              </a:xfrm>
            </p:grpSpPr>
            <p:sp>
              <p:nvSpPr>
                <p:cNvPr id="60" name="Rectangle 9"/>
                <p:cNvSpPr/>
                <p:nvPr/>
              </p:nvSpPr>
              <p:spPr>
                <a:xfrm>
                  <a:off x="4698360" y="2061360"/>
                  <a:ext cx="3511080" cy="74556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rmAutofit/>
                </a:bodyPr>
                <a:p>
                  <a: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800" b="1" u="none" strike="noStrike">
                      <a:solidFill>
                        <a:srgbClr val="007FD0"/>
                      </a:solidFill>
                      <a:effectLst/>
                      <a:uFillTx/>
                      <a:latin typeface="Arial"/>
                      <a:ea typeface="宋体"/>
                    </a:rPr>
                    <a:t>Present Conditions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1" name="Rectangle 16"/>
                <p:cNvSpPr/>
                <p:nvPr/>
              </p:nvSpPr>
              <p:spPr>
                <a:xfrm>
                  <a:off x="4583880" y="2061360"/>
                  <a:ext cx="3740760" cy="74556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rmAutofit/>
                </a:bodyPr>
                <a:p>
                  <a: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62" name="Group 19"/>
              <p:cNvGrpSpPr/>
              <p:nvPr/>
            </p:nvGrpSpPr>
            <p:grpSpPr>
              <a:xfrm>
                <a:off x="843480" y="2807280"/>
                <a:ext cx="3740040" cy="917640"/>
                <a:chOff x="843480" y="2807280"/>
                <a:chExt cx="3740040" cy="917640"/>
              </a:xfrm>
            </p:grpSpPr>
            <p:sp>
              <p:nvSpPr>
                <p:cNvPr id="63" name="Rectangle 10"/>
                <p:cNvSpPr/>
                <p:nvPr/>
              </p:nvSpPr>
              <p:spPr>
                <a:xfrm>
                  <a:off x="957960" y="2807280"/>
                  <a:ext cx="3511080" cy="91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rmAutofit/>
                </a:bodyPr>
                <a:p>
                  <a: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宋体"/>
                    </a:rPr>
                    <a:t>Protect environment and improve natural resources for future generations.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4" name="Rectangle 18"/>
                <p:cNvSpPr/>
                <p:nvPr/>
              </p:nvSpPr>
              <p:spPr>
                <a:xfrm>
                  <a:off x="843480" y="2807280"/>
                  <a:ext cx="3740040" cy="9176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rmAutofit/>
                </a:bodyPr>
                <a:p>
                  <a: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65" name="Group 21"/>
              <p:cNvGrpSpPr/>
              <p:nvPr/>
            </p:nvGrpSpPr>
            <p:grpSpPr>
              <a:xfrm>
                <a:off x="4583880" y="2807280"/>
                <a:ext cx="3740760" cy="917640"/>
                <a:chOff x="4583880" y="2807280"/>
                <a:chExt cx="3740760" cy="917640"/>
              </a:xfrm>
            </p:grpSpPr>
            <p:sp>
              <p:nvSpPr>
                <p:cNvPr id="66" name="Rectangle 11"/>
                <p:cNvSpPr/>
                <p:nvPr/>
              </p:nvSpPr>
              <p:spPr>
                <a:xfrm>
                  <a:off x="4698360" y="2807280"/>
                  <a:ext cx="3511080" cy="91764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rmAutofit/>
                </a:bodyPr>
                <a:p>
                  <a: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宋体"/>
                    </a:rPr>
                    <a:t>Improve economic performance and quality of life for individuals.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  <a:p>
                  <a: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67" name="Rectangle 20"/>
                <p:cNvSpPr/>
                <p:nvPr/>
              </p:nvSpPr>
              <p:spPr>
                <a:xfrm>
                  <a:off x="4583880" y="2807280"/>
                  <a:ext cx="3740760" cy="91764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rmAutofit/>
                </a:bodyPr>
                <a:p>
                  <a: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68" name="Group 23"/>
              <p:cNvGrpSpPr/>
              <p:nvPr/>
            </p:nvGrpSpPr>
            <p:grpSpPr>
              <a:xfrm>
                <a:off x="843480" y="3725280"/>
                <a:ext cx="3740040" cy="1146600"/>
                <a:chOff x="843480" y="3725280"/>
                <a:chExt cx="3740040" cy="1146600"/>
              </a:xfrm>
            </p:grpSpPr>
            <p:sp>
              <p:nvSpPr>
                <p:cNvPr id="69" name="Rectangle 12"/>
                <p:cNvSpPr/>
                <p:nvPr/>
              </p:nvSpPr>
              <p:spPr>
                <a:xfrm>
                  <a:off x="957960" y="3725280"/>
                  <a:ext cx="3511080" cy="1146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rmAutofit/>
                </a:bodyPr>
                <a:p>
                  <a: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宋体"/>
                    </a:rPr>
                    <a:t>Preserve the value of human and man-made capital for future generations.</a:t>
                  </a: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0" name="Rectangle 22"/>
                <p:cNvSpPr/>
                <p:nvPr/>
              </p:nvSpPr>
              <p:spPr>
                <a:xfrm>
                  <a:off x="843480" y="3725280"/>
                  <a:ext cx="3740040" cy="114660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rmAutofit/>
                </a:bodyPr>
                <a:p>
                  <a: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  <p:grpSp>
            <p:nvGrpSpPr>
              <p:cNvPr id="71" name="Group 25"/>
              <p:cNvGrpSpPr/>
              <p:nvPr/>
            </p:nvGrpSpPr>
            <p:grpSpPr>
              <a:xfrm>
                <a:off x="4583880" y="3725280"/>
                <a:ext cx="3740760" cy="1146600"/>
                <a:chOff x="4583880" y="3725280"/>
                <a:chExt cx="3740760" cy="1146600"/>
              </a:xfrm>
            </p:grpSpPr>
            <p:sp>
              <p:nvSpPr>
                <p:cNvPr id="72" name="Rectangle 13"/>
                <p:cNvSpPr/>
                <p:nvPr/>
              </p:nvSpPr>
              <p:spPr>
                <a:xfrm>
                  <a:off x="4698360" y="3725280"/>
                  <a:ext cx="3511080" cy="1146600"/>
                </a:xfrm>
                <a:prstGeom prst="rect">
                  <a:avLst/>
                </a:prstGeom>
                <a:noFill/>
                <a:ln w="0">
                  <a:noFill/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rmAutofit/>
                </a:bodyPr>
                <a:p>
                  <a: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r>
                    <a: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宋体"/>
                    </a:rPr>
                    <a:t>Ensure a fair distribution of life-quality.</a:t>
                  </a:r>
                  <a:r>
                    <a:rPr lang="en-US" sz="2400" b="0" u="none" strike="noStrike">
                      <a:solidFill>
                        <a:srgbClr val="000000"/>
                      </a:solidFill>
                      <a:effectLst/>
                      <a:uFillTx/>
                      <a:latin typeface="Arial"/>
                      <a:ea typeface="宋体"/>
                    </a:rPr>
                    <a:t> </a:t>
                  </a: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  <p:sp>
              <p:nvSpPr>
                <p:cNvPr id="73" name="Rectangle 24"/>
                <p:cNvSpPr/>
                <p:nvPr/>
              </p:nvSpPr>
              <p:spPr>
                <a:xfrm>
                  <a:off x="4583880" y="3725280"/>
                  <a:ext cx="3740760" cy="1146600"/>
                </a:xfrm>
                <a:prstGeom prst="rect">
                  <a:avLst/>
                </a:prstGeom>
                <a:noFill/>
                <a:ln w="0">
                  <a:solidFill>
                    <a:srgbClr val="A0A0A0"/>
                  </a:solidFill>
                </a:ln>
              </p:spPr>
              <p:style>
                <a:lnRef idx="0"/>
                <a:fillRef idx="0"/>
                <a:effectRef idx="0"/>
                <a:fontRef idx="minor"/>
              </p:style>
              <p:txBody>
                <a:bodyPr lIns="90000" tIns="46800" rIns="90000" bIns="46800" anchor="t">
                  <a:normAutofit/>
                </a:bodyPr>
                <a:p>
                  <a:pPr>
                    <a:tabLst>
                      <a:tab pos="0" algn="l"/>
                      <a:tab pos="914400" algn="l"/>
                      <a:tab pos="1828800" algn="l"/>
                      <a:tab pos="2743200" algn="l"/>
                      <a:tab pos="3657600" algn="l"/>
                      <a:tab pos="4572000" algn="l"/>
                      <a:tab pos="5486400" algn="l"/>
                      <a:tab pos="6400800" algn="l"/>
                      <a:tab pos="7315200" algn="l"/>
                      <a:tab pos="8229600" algn="l"/>
                      <a:tab pos="9144000" algn="l"/>
                      <a:tab pos="10058400" algn="l"/>
                    </a:tabLst>
                  </a:pPr>
                  <a:endParaRPr lang="en-US" sz="2400" b="0" u="none" strike="noStrike">
                    <a:solidFill>
                      <a:srgbClr val="000000"/>
                    </a:solidFill>
                    <a:effectLst/>
                    <a:uFillTx/>
                    <a:latin typeface="Arial"/>
                  </a:endParaRPr>
                </a:p>
              </p:txBody>
            </p:sp>
          </p:grpSp>
        </p:grpSp>
        <p:sp>
          <p:nvSpPr>
            <p:cNvPr id="74" name="Rectangle 27"/>
            <p:cNvSpPr/>
            <p:nvPr/>
          </p:nvSpPr>
          <p:spPr>
            <a:xfrm>
              <a:off x="838080" y="2057400"/>
              <a:ext cx="7492680" cy="2819160"/>
            </a:xfrm>
            <a:prstGeom prst="rect">
              <a:avLst/>
            </a:prstGeom>
            <a:noFill/>
            <a:ln w="7920">
              <a:solidFill>
                <a:srgbClr val="A0A0A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6800" rIns="90000" bIns="46800" anchor="t">
              <a:normAutofit/>
            </a:bodyPr>
            <a:p>
              <a:pPr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endPara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</p:spTree>
  </p:cSld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日期占位符 4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2007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年 </a:t>
            </a: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10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灯片编号占位符 6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57EE44D-EE2A-404A-8AFD-E8F657B8A74C}" type="slidenum"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PlaceHolder 1"/>
          <p:cNvSpPr>
            <a:spLocks noGrp="1"/>
          </p:cNvSpPr>
          <p:nvPr>
            <p:ph type="title"/>
          </p:nvPr>
        </p:nvSpPr>
        <p:spPr>
          <a:xfrm>
            <a:off x="888480" y="479160"/>
            <a:ext cx="7394760" cy="92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1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保护环境并为子孙后代改善自然资源。</a:t>
            </a:r>
            <a:endParaRPr lang="en-US" sz="2800" b="1" u="none" strike="noStrik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/>
          </p:nvPr>
        </p:nvSpPr>
        <p:spPr>
          <a:xfrm>
            <a:off x="914040" y="1904760"/>
            <a:ext cx="7348680" cy="3833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30040" indent="-230040" algn="l">
              <a:lnSpc>
                <a:spcPct val="85000"/>
              </a:lnSpc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落实这一原则的主要政策影响：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 algn="l">
              <a:lnSpc>
                <a:spcPct val="85000"/>
              </a:lnSpc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衡量基础设施投资诱导的新开发所产生的环境影响。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 algn="l">
              <a:lnSpc>
                <a:spcPct val="85000"/>
              </a:lnSpc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改善整体自然资源基础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- </a:t>
            </a: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对自然资源损失通过其他地区补偿提供“抵消”。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 algn="l">
              <a:lnSpc>
                <a:spcPct val="85000"/>
              </a:lnSpc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在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《</a:t>
            </a: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清洁空气法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》</a:t>
            </a: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要求之外进一步改善空气质量。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 algn="l">
              <a:lnSpc>
                <a:spcPct val="85000"/>
              </a:lnSpc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在情景评估中纳入水质与供水、栖息地破碎化及其他指标。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 nodeType="clickEffect">
                      <p:stCondLst>
                        <p:cond delay="indefinite"/>
                      </p:stCondLst>
                      <p:childTnLst>
                        <p:par>
                          <p:cTn id="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Effect">
                      <p:stCondLst>
                        <p:cond delay="indefinite"/>
                      </p:stCondLst>
                      <p:childTnLst>
                        <p:par>
                          <p:cTn id="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Effect">
                      <p:stCondLst>
                        <p:cond delay="indefinite"/>
                      </p:stCondLst>
                      <p:childTnLst>
                        <p:par>
                          <p:cTn id="1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Effect">
                      <p:stCondLst>
                        <p:cond delay="indefinite"/>
                      </p:stCondLst>
                      <p:childTnLst>
                        <p:par>
                          <p:cTn id="1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Effect">
                      <p:stCondLst>
                        <p:cond delay="indefinite"/>
                      </p:stCondLst>
                      <p:childTnLst>
                        <p:par>
                          <p:cTn id="2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日期占位符 3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2007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年 </a:t>
            </a: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10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灯片编号占位符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EFC40151-FEC6-4E72-AD1C-447DAD036E24}" type="slidenum"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120" y="479160"/>
            <a:ext cx="8001000" cy="92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1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指标 </a:t>
            </a:r>
            <a:r>
              <a:rPr lang="en-US" sz="2800" b="1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- </a:t>
            </a:r>
            <a:r>
              <a:rPr lang="zh-CN" sz="2800" b="1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保护环境并为子孙后代改善自然资源。</a:t>
            </a:r>
            <a:endParaRPr lang="en-US" sz="2800" b="1" u="none" strike="noStrik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82" name=""/>
          <p:cNvGraphicFramePr/>
          <p:nvPr/>
        </p:nvGraphicFramePr>
        <p:xfrm>
          <a:off x="804960" y="1838160"/>
          <a:ext cx="7729560" cy="3637080"/>
        </p:xfrm>
        <a:graphic>
          <a:graphicData uri="http://schemas.openxmlformats.org/drawingml/2006/table">
            <a:tbl>
              <a:tblPr/>
              <a:tblGrid>
                <a:gridCol w="2624040"/>
                <a:gridCol w="2895480"/>
                <a:gridCol w="1067040"/>
                <a:gridCol w="1143000"/>
              </a:tblGrid>
              <a:tr h="44244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Measure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Units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Type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Direction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</a:tr>
              <a:tr h="44244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Ground surface hardening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Percent impervious by watershed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Threshold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Down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6432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Natural resource damage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Group of several measures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Relative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Down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528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[Habitat fragmentation TBD]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[TBD]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[TBD]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[TBD]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4344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Greenhouse gas emissions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MMTCO</a:t>
                      </a:r>
                      <a:r>
                        <a:rPr lang="en-US" sz="1400" b="0" u="none" strike="noStrike" baseline="-30000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2</a:t>
                      </a: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Target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Down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528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Environmental Footprint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Acres per person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Relative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Down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528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Petroleum consumption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Millions of gallons per year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Relative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Down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528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[Air quality TBD]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[TBD]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[TBD]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[TBD]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528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Total energy use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Trillions of British Thermal Units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Relative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Down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876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Water use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Use/yield ratio; millions of gallons /day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Threshold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Optimized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日期占位符 3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2007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年 </a:t>
            </a: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10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灯片编号占位符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BAFF8CE-FE4B-4B32-9E28-03AE5B7AFC35}" type="slidenum"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888480" y="479160"/>
            <a:ext cx="7394760" cy="92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1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改善个人的经济表现和生活质量。</a:t>
            </a:r>
            <a:endParaRPr lang="en-US" sz="2800" b="1" u="none" strike="noStrik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838080" y="1904760"/>
            <a:ext cx="7500960" cy="3833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30040" indent="-230040" algn="l">
              <a:lnSpc>
                <a:spcPct val="85000"/>
              </a:lnSpc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落实这一原则的主要政策影响：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 algn="l">
              <a:lnSpc>
                <a:spcPct val="85000"/>
              </a:lnSpc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通过增加就业和提高收入推动经济发展。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 algn="l">
              <a:lnSpc>
                <a:spcPct val="85000"/>
              </a:lnSpc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将基础设施投资部分基于其可支持的经济发展潜力来确定优先级。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 algn="l">
              <a:lnSpc>
                <a:spcPct val="85000"/>
              </a:lnSpc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考虑提高生产率的非资本手段（如劳动力发展）。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 algn="l">
              <a:lnSpc>
                <a:spcPct val="85000"/>
              </a:lnSpc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考虑税收政策对开发的影响，并通过情景评估研究替代税制的可能性。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23" dur="indefinite" restart="never" nodeType="tmRoot">
          <p:childTnLst>
            <p:seq>
              <p:cTn id="24" dur="indefinite" nodeType="mainSeq">
                <p:childTnLst>
                  <p:par>
                    <p:cTn id="25" fill="hold" nodeType="clickEffect">
                      <p:stCondLst>
                        <p:cond delay="indefinite"/>
                      </p:stCondLst>
                      <p:childTnLst>
                        <p:par>
                          <p:cTn id="2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Effect">
                      <p:stCondLst>
                        <p:cond delay="indefinite"/>
                      </p:stCondLst>
                      <p:childTnLst>
                        <p:par>
                          <p:cTn id="3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Effect">
                      <p:stCondLst>
                        <p:cond delay="indefinite"/>
                      </p:stCondLst>
                      <p:childTnLst>
                        <p:par>
                          <p:cTn id="3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Effect">
                      <p:stCondLst>
                        <p:cond delay="indefinite"/>
                      </p:stCondLst>
                      <p:childTnLst>
                        <p:par>
                          <p:cTn id="3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Effect">
                      <p:stCondLst>
                        <p:cond delay="indefinite"/>
                      </p:stCondLst>
                      <p:childTnLst>
                        <p:par>
                          <p:cTn id="4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日期占位符 3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2007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年 </a:t>
            </a: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10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灯片编号占位符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54F3A31-4B65-4D5B-B1F5-8363403EE6DF}" type="slidenum"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762120" y="457200"/>
            <a:ext cx="7772400" cy="914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1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指标 </a:t>
            </a:r>
            <a:r>
              <a:rPr lang="en-US" sz="2800" b="1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- </a:t>
            </a:r>
            <a:r>
              <a:rPr lang="zh-CN" sz="2800" b="1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改善个人的经济表现和生活质量。</a:t>
            </a:r>
            <a:endParaRPr lang="en-US" sz="2800" b="1" u="none" strike="noStrik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0" name=""/>
          <p:cNvGraphicFramePr/>
          <p:nvPr/>
        </p:nvGraphicFramePr>
        <p:xfrm>
          <a:off x="880920" y="1838160"/>
          <a:ext cx="7410600" cy="3249720"/>
        </p:xfrm>
        <a:graphic>
          <a:graphicData uri="http://schemas.openxmlformats.org/drawingml/2006/table">
            <a:tbl>
              <a:tblPr/>
              <a:tblGrid>
                <a:gridCol w="2516400"/>
                <a:gridCol w="2774880"/>
                <a:gridCol w="1023840"/>
                <a:gridCol w="1095480"/>
              </a:tblGrid>
              <a:tr h="46368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Measure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Units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Type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Direction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</a:tr>
              <a:tr h="45540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Total factor productivity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Percent change from baseline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Relative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Up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512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Wage growth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Percent change from baseline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Relative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Up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528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Employment growth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Percent change from baseline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Relative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Up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876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Aggregate fiscal capacity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Equalized assessed value + taxable sales ($)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Relative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Up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528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Trip length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Miles, minutes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Relative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Down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0528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Hours of delay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Hours per year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Relative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Down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876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Availability of transportation modes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Percent of total trips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Relative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Up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日期占位符 3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2007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年 </a:t>
            </a: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10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灯片编号占位符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64271791-1034-4C7D-963E-879EF0C79A5C}" type="slidenum"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888480" y="479160"/>
            <a:ext cx="7394760" cy="92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1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为子孙后代保留人力资本和人造资本的价值。</a:t>
            </a:r>
            <a:endParaRPr lang="en-US" sz="2800" b="1" u="none" strike="noStrik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880560" y="1838160"/>
            <a:ext cx="7410600" cy="383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30040" indent="-230040" algn="l">
              <a:lnSpc>
                <a:spcPct val="85000"/>
              </a:lnSpc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落实这一原则的主要政策影响：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 algn="l">
              <a:lnSpc>
                <a:spcPct val="85000"/>
              </a:lnSpc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在确定维护和再投资优先事项时，考虑后代的福祉和需求。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 algn="l">
              <a:lnSpc>
                <a:spcPct val="85000"/>
              </a:lnSpc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利用生命周期成本法评估潜在重大资本投资。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 algn="l">
              <a:lnSpc>
                <a:spcPct val="85000"/>
              </a:lnSpc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承诺将高效城市形态作为长期解决方案。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45" dur="indefinite" restart="never" nodeType="tmRoot">
          <p:childTnLst>
            <p:seq>
              <p:cTn id="46" dur="indefinite" nodeType="mainSeq">
                <p:childTnLst>
                  <p:par>
                    <p:cTn id="47" fill="hold" nodeType="clickEffect">
                      <p:stCondLst>
                        <p:cond delay="indefinite"/>
                      </p:stCondLst>
                      <p:childTnLst>
                        <p:par>
                          <p:cTn id="4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Effect">
                      <p:stCondLst>
                        <p:cond delay="indefinite"/>
                      </p:stCondLst>
                      <p:childTnLst>
                        <p:par>
                          <p:cTn id="5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Effect">
                      <p:stCondLst>
                        <p:cond delay="indefinite"/>
                      </p:stCondLst>
                      <p:childTnLst>
                        <p:par>
                          <p:cTn id="5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Effect">
                      <p:stCondLst>
                        <p:cond delay="indefinite"/>
                      </p:stCondLst>
                      <p:childTnLst>
                        <p:par>
                          <p:cTn id="6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日期占位符 3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2007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年 </a:t>
            </a: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10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灯片编号占位符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0555C37B-CC84-4093-B1C7-D8F3328E2F41}" type="slidenum"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85800" y="380880"/>
            <a:ext cx="7848720" cy="92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1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指标 </a:t>
            </a:r>
            <a:r>
              <a:rPr lang="en-US" sz="2800" b="1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- </a:t>
            </a:r>
            <a:r>
              <a:rPr lang="zh-CN" sz="2800" b="1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为子孙后代保留人力资本和人造资本的价值。</a:t>
            </a:r>
            <a:endParaRPr lang="en-US" sz="2800" b="1" u="none" strike="noStrik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98" name=""/>
          <p:cNvGraphicFramePr/>
          <p:nvPr/>
        </p:nvGraphicFramePr>
        <p:xfrm>
          <a:off x="880920" y="2328840"/>
          <a:ext cx="7410600" cy="1633680"/>
        </p:xfrm>
        <a:graphic>
          <a:graphicData uri="http://schemas.openxmlformats.org/drawingml/2006/table">
            <a:tbl>
              <a:tblPr/>
              <a:tblGrid>
                <a:gridCol w="3005280"/>
                <a:gridCol w="2286000"/>
                <a:gridCol w="1023840"/>
                <a:gridCol w="1095480"/>
              </a:tblGrid>
              <a:tr h="46512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Measure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Units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Type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Direction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</a:tr>
              <a:tr h="45720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Roadway in disrepair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Miles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Relative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Down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620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Bridges in disrepair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Number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Relative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Down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3516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Condition of transit assets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USDOT rating index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Relative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400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6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Up</a:t>
                      </a:r>
                      <a:endParaRPr lang="en-US" sz="16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日期占位符 3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2007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年 </a:t>
            </a: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10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灯片编号占位符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A22A655B-429E-48AB-B25D-F2746FCF8CA2}" type="slidenum"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88480" y="479160"/>
            <a:ext cx="7394760" cy="92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1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确保生活质量的公平分配。</a:t>
            </a:r>
            <a:endParaRPr lang="en-US" sz="2800" b="1" u="none" strike="noStrik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880560" y="1838160"/>
            <a:ext cx="7410600" cy="383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30040" indent="-230040" algn="l">
              <a:lnSpc>
                <a:spcPct val="85000"/>
              </a:lnSpc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落实这一原则的主要政策影响：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 algn="l">
              <a:lnSpc>
                <a:spcPct val="85000"/>
              </a:lnSpc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使用“纵向公平”概念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- </a:t>
            </a: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从社会中最弱势群体的角度判断社会产品的分配。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 algn="l">
              <a:lnSpc>
                <a:spcPct val="85000"/>
              </a:lnSpc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延续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CATS </a:t>
            </a: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在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2030 RTP </a:t>
            </a: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中按少数族裔和收入状态考虑服务水平改善的既有努力。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 algn="l">
              <a:lnSpc>
                <a:spcPct val="85000"/>
              </a:lnSpc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处理家庭（收入分配）和征税区（税基分配）的非交通公平结果。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63" dur="indefinite" restart="never" nodeType="tmRoot">
          <p:childTnLst>
            <p:seq>
              <p:cTn id="64" dur="indefinite" nodeType="mainSeq">
                <p:childTnLst>
                  <p:par>
                    <p:cTn id="65" fill="hold" nodeType="clickEffect">
                      <p:stCondLst>
                        <p:cond delay="indefinite"/>
                      </p:stCondLst>
                      <p:childTnLst>
                        <p:par>
                          <p:cTn id="6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Effect">
                      <p:stCondLst>
                        <p:cond delay="indefinite"/>
                      </p:stCondLst>
                      <p:childTnLst>
                        <p:par>
                          <p:cTn id="7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Effect">
                      <p:stCondLst>
                        <p:cond delay="indefinite"/>
                      </p:stCondLst>
                      <p:childTnLst>
                        <p:par>
                          <p:cTn id="7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Effect">
                      <p:stCondLst>
                        <p:cond delay="indefinite"/>
                      </p:stCondLst>
                      <p:childTnLst>
                        <p:par>
                          <p:cTn id="7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日期占位符 3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2007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年 </a:t>
            </a: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10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灯片编号占位符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BCE2F8AE-AF62-49D1-B90E-4B76EF133204}" type="slidenum"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88480" y="479160"/>
            <a:ext cx="7394760" cy="92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1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指标 </a:t>
            </a:r>
            <a:r>
              <a:rPr lang="en-US" sz="2800" b="1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- </a:t>
            </a:r>
            <a:r>
              <a:rPr lang="zh-CN" sz="2800" b="1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确保生活质量的公平分配。</a:t>
            </a:r>
            <a:endParaRPr lang="en-US" sz="2800" b="1" u="none" strike="noStrik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106" name=""/>
          <p:cNvGraphicFramePr/>
          <p:nvPr/>
        </p:nvGraphicFramePr>
        <p:xfrm>
          <a:off x="880920" y="1838160"/>
          <a:ext cx="7410600" cy="2936880"/>
        </p:xfrm>
        <a:graphic>
          <a:graphicData uri="http://schemas.openxmlformats.org/drawingml/2006/table">
            <a:tbl>
              <a:tblPr/>
              <a:tblGrid>
                <a:gridCol w="2548080"/>
                <a:gridCol w="2895480"/>
                <a:gridCol w="871560"/>
                <a:gridCol w="1095480"/>
              </a:tblGrid>
              <a:tr h="51768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Measure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Units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Type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1" u="none" strike="noStrike">
                          <a:solidFill>
                            <a:srgbClr val="FFFFFF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Direction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7FD0"/>
                    </a:solidFill>
                  </a:tcPr>
                </a:tc>
              </a:tr>
              <a:tr h="50976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Gini for income distribution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0 to 1 scale, no units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Relative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Down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940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Gini for municipal tax base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0 to 1 scale, no units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Relative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Down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0976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Access to transit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Percent of total trips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Relative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Up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51876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Access to jobs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Percent jobs within given commute distance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Relative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Up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371520"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Trip length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Miles, minutes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Relative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90000" rIns="90000" anchor="t">
                      <a:noAutofit/>
                    </a:bodyPr>
                    <a:p>
                      <a:pPr marL="230040" indent="-230040">
                        <a:spcBef>
                          <a:spcPts val="349"/>
                        </a:spcBef>
                        <a:tabLst>
                          <a:tab pos="0" algn="l"/>
                          <a:tab pos="914400" algn="l"/>
                          <a:tab pos="1828800" algn="l"/>
                          <a:tab pos="2743200" algn="l"/>
                          <a:tab pos="3657600" algn="l"/>
                          <a:tab pos="4572000" algn="l"/>
                          <a:tab pos="5486400" algn="l"/>
                          <a:tab pos="6400800" algn="l"/>
                          <a:tab pos="7315200" algn="l"/>
                          <a:tab pos="8229600" algn="l"/>
                          <a:tab pos="9144000" algn="l"/>
                          <a:tab pos="10058400" algn="l"/>
                        </a:tabLst>
                      </a:pPr>
                      <a:r>
                        <a:rPr lang="en-US" sz="14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宋体"/>
                        </a:rPr>
                        <a:t>Down</a:t>
                      </a:r>
                      <a:endParaRPr lang="en-US" sz="14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90000" marR="90000" marT="45720" marB="4572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3680">
                      <a:solidFill>
                        <a:srgbClr val="007FD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日期占位符 3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2007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年 </a:t>
            </a: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10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灯片编号占位符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34EF45F0-14DA-48DF-86BD-DFA805D0AC64}" type="slidenum"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888480" y="479160"/>
            <a:ext cx="7394760" cy="92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1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“跨领域”议题：气候变化</a:t>
            </a:r>
            <a:endParaRPr lang="en-US" sz="2800" b="1" u="none" strike="noStrik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/>
          </p:nvPr>
        </p:nvSpPr>
        <p:spPr>
          <a:xfrm>
            <a:off x="880560" y="1837800"/>
            <a:ext cx="7410600" cy="3419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30040" indent="-230040" algn="l">
              <a:lnSpc>
                <a:spcPct val="85000"/>
              </a:lnSpc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应对气候变化的主要政策影响：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 algn="l">
              <a:lnSpc>
                <a:spcPct val="85000"/>
              </a:lnSpc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应用通过减少温室气体排放来缓解气候变化的策略。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 algn="l">
              <a:lnSpc>
                <a:spcPct val="85000"/>
              </a:lnSpc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考虑减少 </a:t>
            </a: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VMT</a:t>
            </a: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（替代交通、土地使用政策）的策略，同时进一步扩展到能源消费和生产。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 algn="l">
              <a:lnSpc>
                <a:spcPct val="85000"/>
              </a:lnSpc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应在情景分析中探索温室气体减排目标。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81" dur="indefinite" restart="never" nodeType="tmRoot">
          <p:childTnLst>
            <p:seq>
              <p:cTn id="82" dur="indefinite" nodeType="mainSeq">
                <p:childTnLst>
                  <p:par>
                    <p:cTn id="83" fill="hold" nodeType="clickEffect">
                      <p:stCondLst>
                        <p:cond delay="indefinite"/>
                      </p:stCondLst>
                      <p:childTnLst>
                        <p:par>
                          <p:cTn id="8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Effect">
                      <p:stCondLst>
                        <p:cond delay="indefinite"/>
                      </p:stCondLst>
                      <p:childTnLst>
                        <p:par>
                          <p:cTn id="8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Effect">
                      <p:stCondLst>
                        <p:cond delay="indefinite"/>
                      </p:stCondLst>
                      <p:childTnLst>
                        <p:par>
                          <p:cTn id="9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Effect">
                      <p:stCondLst>
                        <p:cond delay="indefinite"/>
                      </p:stCondLst>
                      <p:childTnLst>
                        <p:par>
                          <p:cTn id="9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日期占位符 3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2007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年 </a:t>
            </a: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10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灯片编号占位符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937FA7CA-9054-4751-9872-FB3632CBE468}" type="slidenum"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888480" y="479160"/>
            <a:ext cx="7394760" cy="92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1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“跨领域”议题：资源与能源</a:t>
            </a:r>
            <a:endParaRPr lang="en-US" sz="2800" b="1" u="none" strike="noStrik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880560" y="1838160"/>
            <a:ext cx="7410600" cy="383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30040" indent="-230040" algn="l"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处理能源使用、化石燃料依赖和供水问题的主要政策影响：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 algn="l"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通过情景评估探索替代燃料和替代能源的使用。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 algn="l"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通过土地使用和交通提高能源效率，同时改进建筑标准或提高区域对绿色建筑的承诺。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 algn="l">
              <a:spcBef>
                <a:spcPts val="1500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在确定增长应导向何处时，将供水作为考虑因素。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timing>
    <p:tnLst>
      <p:par>
        <p:cTn id="99" dur="indefinite" restart="never" nodeType="tmRoot">
          <p:childTnLst>
            <p:seq>
              <p:cTn id="100" dur="indefinite" nodeType="mainSeq">
                <p:childTnLst>
                  <p:par>
                    <p:cTn id="101" fill="hold" nodeType="clickEffect">
                      <p:stCondLst>
                        <p:cond delay="indefinite"/>
                      </p:stCondLst>
                      <p:childTnLst>
                        <p:par>
                          <p:cTn id="10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Effect">
                      <p:stCondLst>
                        <p:cond delay="indefinite"/>
                      </p:stCondLst>
                      <p:childTnLst>
                        <p:par>
                          <p:cTn id="106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Effect">
                      <p:stCondLst>
                        <p:cond delay="indefinite"/>
                      </p:stCondLst>
                      <p:childTnLst>
                        <p:par>
                          <p:cTn id="110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Effect">
                      <p:stCondLst>
                        <p:cond delay="indefinite"/>
                      </p:stCondLst>
                      <p:childTnLst>
                        <p:par>
                          <p:cTn id="114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Effect">
                      <p:stCondLst>
                        <p:cond delay="indefinite"/>
                      </p:stCondLst>
                      <p:childTnLst>
                        <p:par>
                          <p:cTn id="118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Effect">
                      <p:stCondLst>
                        <p:cond delay="indefinite"/>
                      </p:stCondLst>
                      <p:childTnLst>
                        <p:par>
                          <p:cTn id="122" fill="hold" nodeType="withEffect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日期占位符 3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2007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年 </a:t>
            </a: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10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灯片编号占位符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8588D9CE-477A-4F8C-AA54-23A846D84070}" type="slidenum"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37720" y="457200"/>
            <a:ext cx="7394760" cy="928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800" b="1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“跨领域”议题：适应性治理</a:t>
            </a:r>
            <a:endParaRPr lang="en-US" sz="2800" b="1" u="none" strike="noStrik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/>
          </p:nvPr>
        </p:nvSpPr>
        <p:spPr>
          <a:xfrm>
            <a:off x="880560" y="1838160"/>
            <a:ext cx="7410600" cy="3834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230040" indent="-230040" algn="l">
              <a:spcBef>
                <a:spcPts val="6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处理适应性治理的政策影响：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 algn="l">
              <a:spcBef>
                <a:spcPts val="6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确保地方具备应对未来威胁（如气候变化）的能力，并从其他地方的经验中学习。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30040" indent="-230040" algn="l">
              <a:spcBef>
                <a:spcPts val="601"/>
              </a:spcBef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CMAP </a:t>
            </a:r>
            <a:r>
              <a:rPr lang="zh-CN" sz="2400" b="0" u="none" strike="noStrike">
                <a:solidFill>
                  <a:srgbClr val="000000"/>
                </a:solidFill>
                <a:effectLst/>
                <a:uFillTx/>
                <a:latin typeface="Arial"/>
                <a:ea typeface="宋体"/>
              </a:rPr>
              <a:t>应作为区域层面有关气候变化及其潜在影响的资源。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日期占位符 3"/>
          <p:cNvSpPr/>
          <p:nvPr/>
        </p:nvSpPr>
        <p:spPr>
          <a:xfrm>
            <a:off x="68580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2007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年 </a:t>
            </a:r>
            <a:r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10 </a:t>
            </a:r>
            <a:r>
              <a:rPr lang="zh-CN" sz="1400" b="0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月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灯片编号占位符 5"/>
          <p:cNvSpPr/>
          <p:nvPr/>
        </p:nvSpPr>
        <p:spPr>
          <a:xfrm>
            <a:off x="6553080" y="6248520"/>
            <a:ext cx="1905120" cy="45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6800" rIns="90000" bIns="46800" anchor="t">
            <a:normAutofit/>
          </a:bodyPr>
          <a:p>
            <a:pPr algn="r"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fld id="{C5D0D283-CCDF-468E-85EE-CB68986A5699}" type="slidenum">
              <a:rPr lang="en-US" sz="1400" b="0" u="none" strike="noStrike">
                <a:solidFill>
                  <a:srgbClr val="007FD0"/>
                </a:solidFill>
                <a:effectLst/>
                <a:uFillTx/>
                <a:latin typeface="Arial"/>
              </a:rPr>
              <a:t>&lt;编号&gt;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888480" y="479160"/>
            <a:ext cx="7394760" cy="92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l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zh-CN" sz="4000" b="1" u="none" strike="noStrike">
                <a:solidFill>
                  <a:srgbClr val="007FD0"/>
                </a:solidFill>
                <a:effectLst/>
                <a:uFillTx/>
                <a:latin typeface="Arial"/>
                <a:ea typeface="宋体"/>
              </a:rPr>
              <a:t>问题？</a:t>
            </a:r>
            <a:endParaRPr lang="en-US" sz="4000" b="1" u="none" strike="noStrike">
              <a:solidFill>
                <a:srgbClr val="007FD0"/>
              </a:solidFill>
              <a:effectLst/>
              <a:uFillTx/>
              <a:latin typeface="Arial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880560" y="1838160"/>
            <a:ext cx="7410600" cy="3834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p>
            <a:pPr marL="230040" indent="-230040">
              <a:spcBef>
                <a:spcPts val="601"/>
              </a:spcBef>
              <a:buClr>
                <a:srgbClr val="007FD0"/>
              </a:buClr>
              <a:buFont typeface="Arial"/>
              <a:buChar char="•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15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12483</TotalTime>
  <Application>LibreOffice/26.2.3.2$Windows_X86_64 LibreOffice_project/70e089b17412e4cb7773e41413306b17a2328c34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2004-12-08T04:32:47Z</dcterms:created>
  <dc:creator>Jesse Elam</dc:creator>
  <dc:description/>
  <dc:language>zh-CN</dc:language>
  <cp:lastModifiedBy>Provence Jake</cp:lastModifiedBy>
  <cp:lastPrinted>2004-12-08T04:43:17Z</cp:lastPrinted>
  <dcterms:modified xsi:type="dcterms:W3CDTF">2026-05-10T13:38:55Z</dcterms:modified>
  <cp:revision>640</cp:revision>
  <dc:subject/>
  <dc:title>Overview of Snapshot Report on Sustainability</dc:title>
</cp:coreProperties>
</file>