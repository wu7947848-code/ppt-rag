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E8904AC-21F0-4B6B-B3B7-54058258DF4A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343080" indent="-343080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5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6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244920"/>
            <a:ext cx="1828800" cy="476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7086240" y="6244920"/>
            <a:ext cx="1600200" cy="476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6F97CE8-99E6-4C84-B132-B9C45CCAC2F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3129120" y="6324480"/>
            <a:ext cx="35985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Montana Office of Public Instruction 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Linda McCulloch Superintendent   www.opi.mt.gov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Picture 7"/>
          <p:cNvPicPr/>
          <p:nvPr/>
        </p:nvPicPr>
        <p:blipFill>
          <a:blip r:embed="rId2"/>
          <a:stretch/>
        </p:blipFill>
        <p:spPr>
          <a:xfrm>
            <a:off x="2666880" y="6400800"/>
            <a:ext cx="542880" cy="2649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/>
          <p:nvPr/>
        </p:nvSpPr>
        <p:spPr>
          <a:xfrm>
            <a:off x="7086600" y="6245280"/>
            <a:ext cx="160020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56EB911-7FAA-47B8-8941-7D0087C6E81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subTitle"/>
          </p:nvPr>
        </p:nvSpPr>
        <p:spPr>
          <a:xfrm>
            <a:off x="1676520" y="441972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科学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CRT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与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CRT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替代测评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年春季测评会议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WordArt 7"/>
          <p:cNvSpPr txBox="1"/>
          <p:nvPr/>
        </p:nvSpPr>
        <p:spPr>
          <a:xfrm>
            <a:off x="3429000" y="2438280"/>
            <a:ext cx="2895480" cy="1752840"/>
          </a:xfrm>
          <a:prstGeom prst="rect">
            <a:avLst/>
          </a:prstGeom>
        </p:spPr>
        <p:txBody>
          <a:bodyPr wrap="none" lIns="90000" tIns="46800" rIns="90000" bIns="46800" anchor="ctr" anchorCtr="1">
            <a:prstTxWarp prst="textPlain">
              <a:avLst>
                <a:gd name="adj" fmla="val 50000"/>
              </a:avLst>
            </a:prstTxWarp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pc="3" strike="noStrike">
                <a:ln w="0">
                  <a:noFill/>
                </a:ln>
                <a:solidFill>
                  <a:srgbClr val="009999"/>
                </a:solidFill>
                <a:effectLst>
                  <a:outerShdw dist="40186" dir="1096358" rotWithShape="0">
                    <a:srgbClr val="B2B2B2">
                      <a:alpha val="80000"/>
                    </a:srgbClr>
                  </a:outerShdw>
                </a:effectLst>
                <a:uFillTx/>
                <a:latin typeface="Times New Roman"/>
              </a:rPr>
              <a:t>MontCAS</a:t>
            </a:r>
            <a:endParaRPr lang="en-US" sz="1800" b="0" u="none" spc="3" strike="noStrike">
              <a:ln w="0">
                <a:noFill/>
              </a:ln>
              <a:solidFill>
                <a:srgbClr val="009999"/>
              </a:solidFill>
              <a:effectLst>
                <a:outerShdw dist="40186" dir="1096358" rotWithShape="0">
                  <a:srgbClr val="B2B2B2">
                    <a:alpha val="80000"/>
                  </a:srgbClr>
                </a:outerShdw>
              </a:effectLst>
              <a:uFillTx/>
              <a:latin typeface="Times New Roman"/>
            </a:endParaRPr>
          </a:p>
        </p:txBody>
      </p:sp>
      <p:sp>
        <p:nvSpPr>
          <p:cNvPr id="11" name="Text Box 8"/>
          <p:cNvSpPr/>
          <p:nvPr/>
        </p:nvSpPr>
        <p:spPr>
          <a:xfrm>
            <a:off x="2294280" y="1039680"/>
            <a:ext cx="525564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0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宋体"/>
              </a:rPr>
              <a:t>蒙大拿州综合测评系统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4"/>
          <p:cNvSpPr/>
          <p:nvPr/>
        </p:nvSpPr>
        <p:spPr>
          <a:xfrm>
            <a:off x="7086600" y="6245280"/>
            <a:ext cx="160020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F3AE35B-66E9-4168-895C-84B27040879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4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宋体"/>
              </a:rPr>
              <a:t>时间线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4</a:t>
            </a: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、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8</a:t>
            </a: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、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10 </a:t>
            </a: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年级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首次实施：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2008 </a:t>
            </a: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年春季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依据蒙大拿州科学内容标准开发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4"/>
          <p:cNvSpPr/>
          <p:nvPr/>
        </p:nvSpPr>
        <p:spPr>
          <a:xfrm>
            <a:off x="7086600" y="6245280"/>
            <a:ext cx="160020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3ED6357-A286-4E3F-B724-A0131CD31F6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4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宋体"/>
              </a:rPr>
              <a:t>科学 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宋体"/>
              </a:rPr>
              <a:t>CRT </a:t>
            </a:r>
            <a:r>
              <a:rPr lang="zh-CN" sz="44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宋体"/>
              </a:rPr>
              <a:t>开发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80880" y="99072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343080" indent="-343080" algn="l">
              <a:lnSpc>
                <a:spcPct val="80000"/>
              </a:lnSpc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2006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年秋季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初步试题开发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偏差审查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内容审查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选择试测题目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年春季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在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CRT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测试窗口期进行试测，覆盖蒙大拿州所有学校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年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6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月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样题上线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4"/>
          <p:cNvSpPr/>
          <p:nvPr/>
        </p:nvSpPr>
        <p:spPr>
          <a:xfrm>
            <a:off x="7086600" y="6245280"/>
            <a:ext cx="160020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53156D5-DD20-410B-BE50-D9B61992EE5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0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宋体"/>
              </a:rPr>
              <a:t>科学 </a:t>
            </a: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宋体"/>
              </a:rPr>
              <a:t>CRT </a:t>
            </a:r>
            <a:r>
              <a:rPr lang="zh-CN" sz="40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宋体"/>
              </a:rPr>
              <a:t>后续开发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p>
            <a:pPr marL="343080" indent="-343080" algn="l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年春季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偏差审查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内容审查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>
              <a:lnSpc>
                <a:spcPct val="90000"/>
              </a:lnSpc>
              <a:spcBef>
                <a:spcPts val="7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年夏季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试题选择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核验知识深度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>
              <a:lnSpc>
                <a:spcPct val="90000"/>
              </a:lnSpc>
              <a:spcBef>
                <a:spcPts val="7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年秋季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外部一致性研究，并按需调整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>
              <a:lnSpc>
                <a:spcPct val="90000"/>
              </a:lnSpc>
              <a:spcBef>
                <a:spcPts val="7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2008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年春季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首次实施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4"/>
          <p:cNvSpPr/>
          <p:nvPr/>
        </p:nvSpPr>
        <p:spPr>
          <a:xfrm>
            <a:off x="7086600" y="6245280"/>
            <a:ext cx="160020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2171E14-3FB0-4DCC-9776-A799E2C4AE2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宋体"/>
              </a:rPr>
              <a:t>CRT </a:t>
            </a:r>
            <a:r>
              <a:rPr lang="zh-CN" sz="44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宋体"/>
              </a:rPr>
              <a:t>科学测评蓝图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" name=""/>
          <p:cNvGraphicFramePr/>
          <p:nvPr/>
        </p:nvGraphicFramePr>
        <p:xfrm>
          <a:off x="685800" y="1981080"/>
          <a:ext cx="7772400" cy="4103640"/>
        </p:xfrm>
        <a:graphic>
          <a:graphicData uri="http://schemas.openxmlformats.org/drawingml/2006/table">
            <a:tbl>
              <a:tblPr/>
              <a:tblGrid>
                <a:gridCol w="1295280"/>
                <a:gridCol w="3382920"/>
                <a:gridCol w="1438560"/>
                <a:gridCol w="1655640"/>
              </a:tblGrid>
              <a:tr h="1243080"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Montana Standards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Reporting Categories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Multiple Choice Items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Constructed Response Items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93920"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1, 5, &amp; 6*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Scientific Investigation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Impact on Society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Historical Development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15-19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1 or 0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88880"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2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Physical  Science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10-14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1 or 0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88880"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3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Life Science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10-14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1 or 0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88880"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4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Earth and Space Science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10-14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1 or 0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Text Box 175"/>
          <p:cNvSpPr/>
          <p:nvPr/>
        </p:nvSpPr>
        <p:spPr>
          <a:xfrm>
            <a:off x="533520" y="5486400"/>
            <a:ext cx="76197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*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标准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6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通过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道选择题评估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4"/>
          <p:cNvSpPr/>
          <p:nvPr/>
        </p:nvSpPr>
        <p:spPr>
          <a:xfrm>
            <a:off x="7086600" y="6245280"/>
            <a:ext cx="160020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440F6E6-E2D4-42D3-BA81-4972ECF0B0C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4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宋体"/>
              </a:rPr>
              <a:t>科学 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宋体"/>
              </a:rPr>
              <a:t>CRT </a:t>
            </a:r>
            <a:r>
              <a:rPr lang="zh-CN" sz="44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宋体"/>
              </a:rPr>
              <a:t>替代测评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p>
            <a:pPr marL="343080" indent="-343080" algn="l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2006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年夏秋季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开发：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与蒙大拿州标准一致的扩展基准草案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表现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/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成就描述草案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>
              <a:lnSpc>
                <a:spcPct val="80000"/>
              </a:lnSpc>
              <a:spcBef>
                <a:spcPts val="7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年冬季至夏季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开发任务包和试题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>
              <a:lnSpc>
                <a:spcPct val="80000"/>
              </a:lnSpc>
              <a:spcBef>
                <a:spcPts val="7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年秋季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试题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Beta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测试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偏差和内容审查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最终一致性核验，并按需调整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>
              <a:lnSpc>
                <a:spcPct val="80000"/>
              </a:lnSpc>
              <a:spcBef>
                <a:spcPts val="7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2008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年春季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首次实施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2007-04-21T06:08:02Z</dcterms:created>
  <dc:creator>OPI User</dc:creator>
  <dc:description/>
  <dc:language>zh-CN</dc:language>
  <cp:lastModifiedBy>Provence Jake</cp:lastModifiedBy>
  <dcterms:modified xsi:type="dcterms:W3CDTF">2026-05-10T13:33:40Z</dcterms:modified>
  <cp:revision>10</cp:revision>
  <dc:subject/>
  <dc:title>Slide 1</dc:title>
</cp:coreProperties>
</file>