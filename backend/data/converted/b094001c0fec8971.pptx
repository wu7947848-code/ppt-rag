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embeddings/oleObject1.xlsx" ContentType="application/vnd.openxmlformats-officedocument.spreadsheetml.sheet"/>
  <Override PartName="/ppt/embeddings/oleObject2.xlsx" ContentType="application/vnd.openxmlformats-officedocument.spreadsheetml.sheet"/>
  <Override PartName="/ppt/embeddings/oleObject3.xlsx" ContentType="application/vnd.openxmlformats-officedocument.spreadsheetml.sheet"/>
  <Override PartName="/ppt/embeddings/oleObject4.xlsx" ContentType="application/vnd.openxmlformats-officedocument.spreadsheetml.sheet"/>
  <Override PartName="/ppt/embeddings/oleObject5.xlsx" ContentType="application/vnd.openxmlformats-officedocument.spreadsheetml.sheet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6257588" cy="9144000"/>
  <p:notesSz cx="9144000" cy="16257588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1625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0" y="1235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914400" y="7722360"/>
            <a:ext cx="7314840" cy="731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点击编辑备注格式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8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CE37C44-5F48-4A2D-806E-BEC4294EF79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0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05498ED-F029-4BF8-8163-9DC216FD655C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347CC37-1096-4907-93AF-C1121EFE63E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3635285-44AF-4BA9-B7E8-8FED1B519CC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39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556123B-BD1A-4F66-93BD-22450B2BC44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0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FC8D943-84F3-4BBA-A649-CFA18F71348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0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14DFE92-A61D-4D68-BE2D-18399332A44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0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9466CB6-269D-4C4D-88CD-7E90AEEC4D09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8CACFB-092B-4266-B21A-F0C3A0C0E75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3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4D1DE4-5777-4016-AA43-CB8B961CAAB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1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42CBBCF-22BA-45A1-ADF4-8FBEA4835D0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0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45BDCA-9C11-4AB3-AB48-E338278AE07C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C71F4E7-6A23-477D-A3EE-5BF745FD403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4D2B60E-DE9B-4811-A547-E37B1537B15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2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EE92470-2909-42A1-ABE1-C393246B88F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3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7135134-CB41-4BC0-9485-4522DD8ED9B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3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A07A27A-32A6-405C-9E6E-0F372CCDD604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3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03FA217-091D-4EA8-9B69-30EBE13661C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4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B801761-8EF2-44C0-94E1-12A7FAB095E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4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0C53E15-5C0B-45A1-ADFF-0994477CA87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4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09CD5EE-FF52-4A19-A66F-008346D2656B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50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9463EF3-F5EC-4725-820E-783A87246CD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53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BBB9547-5079-462F-AC51-2913F820C89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56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A405DA6-67A4-4DE9-912E-8481E890C2F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59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200FD0B-83A4-4FD3-892F-3000F57060D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62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240A01E-2D78-42B8-BF0C-3B2D8AEFF2A8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65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87A7F19-6789-4F74-A6A4-DC5F9546285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68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DE9C89C-12A5-4A0E-B191-934554BE6FF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71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C4796E8-C66B-4BAD-98C6-C0AA044C370A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74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E8941DA-5012-4239-8FC4-2BA5008645E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2147483647" y="2147483647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2147483647" y="2147483647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等线"/>
            </a:endParaRPr>
          </a:p>
        </p:txBody>
      </p:sp>
      <p:sp>
        <p:nvSpPr>
          <p:cNvPr id="477" name="Slide Number Placeholder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6440" rIns="90000" bIns="-46440" anchor="t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198328D-B1F7-490F-A7E5-5C1618AFA240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等线"/>
              </a:rPr>
              <a:t>&lt;编号&gt;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package" Target="../embeddings/oleObject2.xlsx"/><Relationship Id="rId2" Type="http://schemas.openxmlformats.org/officeDocument/2006/relationships/image" Target="../media/image8.png"/><Relationship Id="rId3" Type="http://schemas.openxmlformats.org/officeDocument/2006/relationships/package" Target="../embeddings/oleObject3.xlsx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package" Target="../embeddings/oleObject4.xlsx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package" Target="../embeddings/oleObject5.xlsx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Shape 0"/>
          <p:cNvGrpSpPr/>
          <p:nvPr/>
        </p:nvGrpSpPr>
        <p:grpSpPr>
          <a:xfrm>
            <a:off x="0" y="0"/>
            <a:ext cx="16268760" cy="9144000"/>
            <a:chOff x="0" y="0"/>
            <a:chExt cx="16268760" cy="9144000"/>
          </a:xfrm>
        </p:grpSpPr>
        <p:pic>
          <p:nvPicPr>
            <p:cNvPr id="6" name="Shape 0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6268760" cy="9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" name=""/>
            <p:cNvSpPr/>
            <p:nvPr/>
          </p:nvSpPr>
          <p:spPr>
            <a:xfrm>
              <a:off x="0" y="0"/>
              <a:ext cx="16256160" cy="9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" name="Shape 1"/>
          <p:cNvSpPr/>
          <p:nvPr/>
        </p:nvSpPr>
        <p:spPr>
          <a:xfrm>
            <a:off x="6858000" y="3048120"/>
            <a:ext cx="254016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Text 2"/>
          <p:cNvSpPr/>
          <p:nvPr/>
        </p:nvSpPr>
        <p:spPr>
          <a:xfrm>
            <a:off x="1778040" y="3301920"/>
            <a:ext cx="12700080" cy="20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光速算力：基于硅光集成的 </a:t>
            </a:r>
            <a:r>
              <a:rPr lang="en-US" sz="40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AI </a:t>
            </a:r>
            <a:r>
              <a:rPr lang="en-US" sz="40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加速器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光计算单元（</a:t>
            </a:r>
            <a:r>
              <a:rPr lang="en-US" sz="40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40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）与千兆瓦级数据中心全光化路线图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6858000" y="5460840"/>
            <a:ext cx="254016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4"/>
          <p:cNvSpPr/>
          <p:nvPr/>
        </p:nvSpPr>
        <p:spPr>
          <a:xfrm>
            <a:off x="3048120" y="5715000"/>
            <a:ext cx="101599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光维计算（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Lumina Photonics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CTO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战略报告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| 2026-2040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后摩尔时代光子计算商业化战略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Text 5"/>
          <p:cNvSpPr/>
          <p:nvPr/>
        </p:nvSpPr>
        <p:spPr>
          <a:xfrm>
            <a:off x="3048120" y="6667560"/>
            <a:ext cx="1015992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提交对象：全球半导体联盟（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GSA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）、超大规模数据中心客户、顶级风投机构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6"/>
          <p:cNvSpPr/>
          <p:nvPr/>
        </p:nvSpPr>
        <p:spPr>
          <a:xfrm>
            <a:off x="5587920" y="7365960"/>
            <a:ext cx="507996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LUMINA PHOTONICS </a:t>
            </a: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光维计算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7"/>
          <p:cNvSpPr/>
          <p:nvPr/>
        </p:nvSpPr>
        <p:spPr>
          <a:xfrm>
            <a:off x="5079960" y="8128080"/>
            <a:ext cx="609588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### --- SLIDE_DATA_SET_NODE_PHOTONICS_2026 --- ### | Slide 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 8"/>
          <p:cNvSpPr/>
          <p:nvPr/>
        </p:nvSpPr>
        <p:spPr>
          <a:xfrm>
            <a:off x="762120" y="8636040"/>
            <a:ext cx="76197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762120" y="635040"/>
            <a:ext cx="507996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议程总览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762120" y="1397160"/>
            <a:ext cx="1015920" cy="507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762120" y="1905120"/>
            <a:ext cx="7111800" cy="1143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3"/>
          <p:cNvSpPr/>
          <p:nvPr/>
        </p:nvSpPr>
        <p:spPr>
          <a:xfrm>
            <a:off x="1015920" y="1905120"/>
            <a:ext cx="10159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01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4"/>
          <p:cNvSpPr/>
          <p:nvPr/>
        </p:nvSpPr>
        <p:spPr>
          <a:xfrm>
            <a:off x="2158920" y="1905120"/>
            <a:ext cx="54612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摩尔定律的终结与光子计算的崛起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算力需求爆发、热墙瓶颈、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三维对比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8381880" y="1905120"/>
            <a:ext cx="7112160" cy="1143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6"/>
          <p:cNvSpPr/>
          <p:nvPr/>
        </p:nvSpPr>
        <p:spPr>
          <a:xfrm>
            <a:off x="8636040" y="1905120"/>
            <a:ext cx="10159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7"/>
          <p:cNvSpPr/>
          <p:nvPr/>
        </p:nvSpPr>
        <p:spPr>
          <a:xfrm>
            <a:off x="9779040" y="1905120"/>
            <a:ext cx="54608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组件性能矩阵、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算法、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通道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762120" y="3429000"/>
            <a:ext cx="7111800" cy="1143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9"/>
          <p:cNvSpPr/>
          <p:nvPr/>
        </p:nvSpPr>
        <p:spPr>
          <a:xfrm>
            <a:off x="1015920" y="3429000"/>
            <a:ext cx="10159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2158920" y="3429000"/>
            <a:ext cx="54612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链路预算、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对标、光交换与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PUE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优化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8381880" y="3429000"/>
            <a:ext cx="7112160" cy="1143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8636040" y="3429000"/>
            <a:ext cx="10159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04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9779040" y="3429000"/>
            <a:ext cx="54608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商业变现、全球芯片代工与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CAPEX/OPEX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晶圆成本、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TCO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模型、商业模式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762120" y="4952880"/>
            <a:ext cx="14731920" cy="1143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1015920" y="4952880"/>
            <a:ext cx="10159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05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2158920" y="4952880"/>
            <a:ext cx="1308096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产业生态标准、知识产权（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）堡垒与路线图总结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授权矩阵、技术标准、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2026-2040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战略路线图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Shape 17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02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 0" descr="https://images.unsplash.com/photo-1635070041078-e363dbe005cb?q=80&amp;w=2070&amp;auto=format&amp;fit=crop"/>
          <p:cNvPicPr/>
          <p:nvPr/>
        </p:nvPicPr>
        <p:blipFill>
          <a:blip r:embed="rId1"/>
          <a:srcRect l="0" t="7812" r="0" b="7812"/>
          <a:stretch/>
        </p:blipFill>
        <p:spPr>
          <a:xfrm>
            <a:off x="0" y="0"/>
            <a:ext cx="16256160" cy="9144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6" name="Shape 0"/>
          <p:cNvGrpSpPr/>
          <p:nvPr/>
        </p:nvGrpSpPr>
        <p:grpSpPr>
          <a:xfrm>
            <a:off x="0" y="0"/>
            <a:ext cx="16268760" cy="9144000"/>
            <a:chOff x="0" y="0"/>
            <a:chExt cx="16268760" cy="9144000"/>
          </a:xfrm>
        </p:grpSpPr>
        <p:pic>
          <p:nvPicPr>
            <p:cNvPr id="37" name="Shape 0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6268760" cy="9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" name=""/>
            <p:cNvSpPr/>
            <p:nvPr/>
          </p:nvSpPr>
          <p:spPr>
            <a:xfrm>
              <a:off x="0" y="0"/>
              <a:ext cx="16256160" cy="9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39" name="Text 1"/>
          <p:cNvPicPr/>
          <p:nvPr/>
        </p:nvPicPr>
        <p:blipFill>
          <a:blip r:embed="rId3"/>
          <a:stretch/>
        </p:blipFill>
        <p:spPr>
          <a:xfrm>
            <a:off x="25560" y="1968480"/>
            <a:ext cx="4546440" cy="25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2"/>
          <p:cNvSpPr/>
          <p:nvPr/>
        </p:nvSpPr>
        <p:spPr>
          <a:xfrm>
            <a:off x="762120" y="4064040"/>
            <a:ext cx="888984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摩尔定律的终结与光子计算的崛起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762120" y="5079960"/>
            <a:ext cx="1523880" cy="507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4"/>
          <p:cNvSpPr/>
          <p:nvPr/>
        </p:nvSpPr>
        <p:spPr>
          <a:xfrm>
            <a:off x="762120" y="5460840"/>
            <a:ext cx="888984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大模型对算力的指数级需求与传统电子芯片散热瓶颈的尖锐矛盾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03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01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摩尔定律的终结与光子计算的崛起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算力需求指数级爆发与电子芯片的物理极限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762120" y="1650960"/>
            <a:ext cx="4698720" cy="152388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015920" y="1778040"/>
            <a:ext cx="41911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10²³ 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FLOPS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5"/>
          <p:cNvSpPr/>
          <p:nvPr/>
        </p:nvSpPr>
        <p:spPr>
          <a:xfrm>
            <a:off x="1015920" y="2603520"/>
            <a:ext cx="419112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年全球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训练算力需求量级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5778360" y="1650960"/>
            <a:ext cx="4699080" cy="152388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7"/>
          <p:cNvSpPr/>
          <p:nvPr/>
        </p:nvSpPr>
        <p:spPr>
          <a:xfrm>
            <a:off x="6032520" y="1778040"/>
            <a:ext cx="41911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200 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W/cm²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032520" y="2603520"/>
            <a:ext cx="419112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3nm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节点功率密度，接近硅基散热极限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10794960" y="1650960"/>
            <a:ext cx="4699080" cy="152388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11049120" y="1778040"/>
            <a:ext cx="419076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60-90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11049120" y="2603520"/>
            <a:ext cx="419076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数据移动能耗占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加速器总能耗比例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762120" y="3556080"/>
            <a:ext cx="14731920" cy="45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算力需求指数级爆发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年全球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训练算力需求达到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10²³ FLOPS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量级，每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3.4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个月翻倍，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GPT-5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级模型参数突破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万亿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热墙（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Thermal Wall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7nm/5nm/3nm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节点下，功率密度超过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200 W/cm²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，接近硅基散热极限（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~250 W/cm²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），传统风冷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液冷技术边际效益递减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电子互连带宽瓶颈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：铜互连在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PCB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层级的信号衰减与串扰限制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I/O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带宽至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 Tbps/mm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，封装引脚密度成为扩展瓶颈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存储墙与功耗墙双重挤压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：数据移动能耗占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加速器总能耗的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60-90%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HBM3E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带宽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~1.2TB/s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仍无法满足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Transformer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计算强度需求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摩尔定律放缓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：晶体管微缩收益递减，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3nm→2nm→1.4nm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每代性能提升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&lt;15%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，成本增加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&gt;30%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，经济可行性逼近临界点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04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01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摩尔定律的终结与光子计算的崛起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"/>
          <p:cNvSpPr/>
          <p:nvPr/>
        </p:nvSpPr>
        <p:spPr>
          <a:xfrm>
            <a:off x="762120" y="635040"/>
            <a:ext cx="126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光子计算：突破摩尔定律极限的终极路径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 3"/>
          <p:cNvSpPr/>
          <p:nvPr/>
        </p:nvSpPr>
        <p:spPr>
          <a:xfrm>
            <a:off x="762120" y="1587600"/>
            <a:ext cx="7111800" cy="66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光子计算核心优势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THz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级带宽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：光学载波频率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~200 THz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，单纤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容量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&gt;100 Tbps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光子级功耗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：光信号传输能耗可达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fJ/bit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量级，比电子低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100-1000×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极低串扰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：光波导间串扰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&lt;-60 dB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，电磁免疫，无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RC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延迟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天然并行性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：光波在波导中传播即完成矩阵运算，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多通道独立并行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CMOS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兼容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：硅光集成电路（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）可利用现有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12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英寸硅晶圆产线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spcBef>
                <a:spcPts val="15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关键术语定义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Waveguide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（波导）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：约束并引导光信号传输的硅基结构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（波分复用）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：多波长光信号在同一波导中并行传输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（共封装光学）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：光学引擎与电芯片在同一封装内集成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Heterogeneous Integration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（异质集成）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III-V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族材料与硅基底键合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（光信噪比）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：光信号功率与噪声功率之比，单位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8381880" y="1587600"/>
            <a:ext cx="7112160" cy="660384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 5"/>
          <p:cNvSpPr/>
          <p:nvPr/>
        </p:nvSpPr>
        <p:spPr>
          <a:xfrm>
            <a:off x="8763120" y="1841400"/>
            <a:ext cx="6350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光计算单元（</a:t>
            </a: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）架构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8763120" y="2413080"/>
            <a:ext cx="635004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 7"/>
          <p:cNvSpPr/>
          <p:nvPr/>
        </p:nvSpPr>
        <p:spPr>
          <a:xfrm>
            <a:off x="8763120" y="2666880"/>
            <a:ext cx="6350040" cy="520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输入编码层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：电信号→光调制器（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MZI/MRR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多波长编码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②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光计算层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矩阵网络执行向量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-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矩阵乘法（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MVM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），光速完成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③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光电转换层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Ge-on-Si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探测器阵列将光信号转换为电流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④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电子控制层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CMOS TIA/CDR/DSP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电路，数字输出与反馈控制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spcBef>
                <a:spcPts val="11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光计算核心运算在光学域完成，仅输入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输出需光电转换，突破电子计算冯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·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诺依曼瓶颈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8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05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01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摩尔定律的终结与光子计算的崛起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1"/>
          <p:cNvSpPr/>
          <p:nvPr/>
        </p:nvSpPr>
        <p:spPr>
          <a:xfrm>
            <a:off x="762120" y="635040"/>
            <a:ext cx="13969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GPU vs 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电子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ASIC vs 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光子计算单元（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10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年趋势对比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4" name=""/>
          <p:cNvGraphicFramePr/>
          <p:nvPr/>
        </p:nvGraphicFramePr>
        <p:xfrm>
          <a:off x="762120" y="1587600"/>
          <a:ext cx="14731920" cy="4825800"/>
        </p:xfrm>
        <a:graphic>
          <a:graphicData uri="http://schemas.openxmlformats.org/drawingml/2006/table">
            <a:tbl>
              <a:tblPr/>
              <a:tblGrid>
                <a:gridCol w="2946240"/>
                <a:gridCol w="2946600"/>
                <a:gridCol w="2946240"/>
                <a:gridCol w="2946240"/>
                <a:gridCol w="2946600"/>
              </a:tblGrid>
              <a:tr h="5810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指标 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 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年份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2032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2035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10620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GPU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能效比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(TOPS/W)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1-5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2-6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3-8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5-10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10602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电子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ASIC (TOPS/W)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10-30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20-50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40-80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60-100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1062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OPU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能效比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(TOPS/W)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10-50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50-200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200-500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500-1000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10602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延迟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(ns)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GPU: 100-1000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ASIC: 10-100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OPU: &lt;1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OPU: &lt;0.5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75" name="Text 3"/>
          <p:cNvSpPr/>
          <p:nvPr/>
        </p:nvSpPr>
        <p:spPr>
          <a:xfrm>
            <a:off x="762120" y="6730920"/>
            <a:ext cx="14731920" cy="152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核心洞察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：电子方案能效比受限于热密度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~100 W/mm²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，光计算可实现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&gt;10×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提升。电子互连延迟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ns-μs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级，光波导传播延迟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&lt;1 ps/mm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。插入损耗对比：电子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PCB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走线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 dB@10 GHz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，硅光波导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&lt;0.1 dB/cm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算力密度：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目标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&gt;100 TOPS/mm²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，电子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ASIC~10 TOPS/mm² | </a:t>
            </a: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每比特能耗：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目标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0.1 pJ/bit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，电子方案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10-100 pJ/bit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06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01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摩尔定律的终结与光子计算的崛起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硅光子集成技术成熟度与产业化里程碑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2" name="Chart 0"/>
          <p:cNvGraphicFramePr/>
          <p:nvPr/>
        </p:nvGraphicFramePr>
        <p:xfrm>
          <a:off x="711360" y="1536840"/>
          <a:ext cx="14833440" cy="289548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83" name="Chart 0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11360" y="1536840"/>
                    <a:ext cx="14833440" cy="2895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4" name="Text 3"/>
          <p:cNvSpPr/>
          <p:nvPr/>
        </p:nvSpPr>
        <p:spPr>
          <a:xfrm>
            <a:off x="762120" y="4572000"/>
            <a:ext cx="14731920" cy="12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2004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Intel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首个硅光调制器 → </a:t>
            </a: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2010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CMOS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兼容工艺验证 → </a:t>
            </a: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2016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100G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硅光收发器商用 → </a:t>
            </a: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2020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400G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光模块规模部署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2024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800G CPO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原型验证 → </a:t>
            </a:r>
            <a:r>
              <a:rPr lang="en-US" sz="14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CPO/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光计算元年（本报告基准年） → </a:t>
            </a: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2028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OPU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商用化 → </a:t>
            </a:r>
            <a:r>
              <a:rPr lang="en-US" sz="14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2030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全光数据中心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4"/>
          <p:cNvSpPr/>
          <p:nvPr/>
        </p:nvSpPr>
        <p:spPr>
          <a:xfrm>
            <a:off x="762120" y="5969160"/>
            <a:ext cx="14731920" cy="20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全球硅光晶圆产能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年预计月产能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~50K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片（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12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英寸等效），主要集中于台积电（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TSMC SOIC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Intel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GlobalFoundries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关键工艺突破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SOI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波导损耗降至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&lt;0.5 dB/cm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SiN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平台损耗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&lt;0.1 dB/m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III-V/Si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键合对准精度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&lt;1 μm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异质集成技术路线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：晶圆键合（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Wafer Bonding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）、微转印（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Micro-Transfer Printing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III-V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直接外延生长（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Direct Epitaxy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5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7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07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1"/>
          <p:cNvSpPr/>
          <p:nvPr/>
        </p:nvSpPr>
        <p:spPr>
          <a:xfrm>
            <a:off x="762120" y="635040"/>
            <a:ext cx="126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光电混合架构：从电主导到光主导的系统演进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762120" y="1587600"/>
            <a:ext cx="14731920" cy="2286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015920" y="1714680"/>
            <a:ext cx="25401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光计算层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核心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 MZI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矩阵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94" name="Shape 5"/>
          <p:cNvCxnSpPr/>
          <p:nvPr/>
        </p:nvCxnSpPr>
        <p:spPr>
          <a:xfrm>
            <a:off x="3682800" y="2095200"/>
            <a:ext cx="50868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95" name="Text 6"/>
          <p:cNvSpPr/>
          <p:nvPr/>
        </p:nvSpPr>
        <p:spPr>
          <a:xfrm>
            <a:off x="4317840" y="1714680"/>
            <a:ext cx="25401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光电转换层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调制器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探测器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96" name="Shape 7"/>
          <p:cNvCxnSpPr/>
          <p:nvPr/>
        </p:nvCxnSpPr>
        <p:spPr>
          <a:xfrm>
            <a:off x="6984720" y="2095200"/>
            <a:ext cx="50868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97" name="Text 8"/>
          <p:cNvSpPr/>
          <p:nvPr/>
        </p:nvSpPr>
        <p:spPr>
          <a:xfrm>
            <a:off x="7620120" y="1714680"/>
            <a:ext cx="25398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电子控制层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CMOS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驱动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 DSP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98" name="Shape 9"/>
          <p:cNvCxnSpPr/>
          <p:nvPr/>
        </p:nvCxnSpPr>
        <p:spPr>
          <a:xfrm>
            <a:off x="10286640" y="2095200"/>
            <a:ext cx="50868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99" name="Text 10"/>
          <p:cNvSpPr/>
          <p:nvPr/>
        </p:nvSpPr>
        <p:spPr>
          <a:xfrm>
            <a:off x="10922040" y="1714680"/>
            <a:ext cx="253980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光互联层级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CPO /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板级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机架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100" name="Shape 11"/>
          <p:cNvCxnSpPr/>
          <p:nvPr/>
        </p:nvCxnSpPr>
        <p:spPr>
          <a:xfrm>
            <a:off x="13588560" y="2095200"/>
            <a:ext cx="50868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101" name="Text 12"/>
          <p:cNvSpPr/>
          <p:nvPr/>
        </p:nvSpPr>
        <p:spPr>
          <a:xfrm>
            <a:off x="14223960" y="1714680"/>
            <a:ext cx="101592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DC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1015920" y="2666880"/>
            <a:ext cx="1422396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光互连五级架构：片内（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On-chip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&gt;10 Tbps/mm → 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封装内（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In-package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1-10 Tbps/mm → 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板级（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On-board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100 Gbps-1 Tbps → 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机架级（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Rack-level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100 Gbps-400 Gbps → 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数据中心级（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DC-level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DWDM 100 Gbps-1.6 Tbps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 14"/>
          <p:cNvSpPr/>
          <p:nvPr/>
        </p:nvSpPr>
        <p:spPr>
          <a:xfrm>
            <a:off x="762120" y="4191120"/>
            <a:ext cx="14731920" cy="38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热光效应挑战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：硅材料热光系数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dn/dT ~ 1.8×10⁻⁴ /K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，温度变化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10°C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导致微环谐振器漂移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~1.8 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，需主动温控（功耗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 mW/nm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）或设计补偿算法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预算设计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系统中每通道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 &gt; 20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为可靠传输阈值，相干系统可容忍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&gt;12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，直接检测需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&gt;20 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光电协同设计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：光计算层需与电子控制层联合仿真，考虑寄生电容、阻抗匹配、热串扰与信号完整性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封装密度演进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平面封装→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2.5D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硅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interposer→3D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堆叠（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Hybrid Bonding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I/O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密度每代提升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2-4×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 15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5" name="Shape 16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08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762120" y="635040"/>
            <a:ext cx="126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硅光芯片关键组件性能指标矩阵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762120" y="1523880"/>
          <a:ext cx="14731920" cy="6604200"/>
        </p:xfrm>
        <a:graphic>
          <a:graphicData uri="http://schemas.openxmlformats.org/drawingml/2006/table">
            <a:tbl>
              <a:tblPr/>
              <a:tblGrid>
                <a:gridCol w="1473120"/>
                <a:gridCol w="1177920"/>
                <a:gridCol w="1179360"/>
                <a:gridCol w="1177920"/>
                <a:gridCol w="1179720"/>
                <a:gridCol w="1177920"/>
                <a:gridCol w="1177920"/>
                <a:gridCol w="1473120"/>
                <a:gridCol w="1179360"/>
                <a:gridCol w="1177920"/>
                <a:gridCol w="1179720"/>
                <a:gridCol w="1177920"/>
              </a:tblGrid>
              <a:tr h="547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组件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带宽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消光比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驱动电压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VπL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调谐效率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面积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材料体系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工艺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插入损耗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能耗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单价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5490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激光器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50 GHz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1.5 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InP / Si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47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MZI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调制器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 GHz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3.5 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1.5 V·cm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0.05 nm/mW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0.8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0.8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$30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475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MRR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调制器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60 GHz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1.2 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 V·cm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 nm/mW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0.01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49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探测器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 GHz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2.0 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Ge-on-Si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475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 dB/cm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47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微环谐振器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40 GHz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1.0 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0.08 nm/mW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0.005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490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光开关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2.5 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0.02 nm/mW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28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0.4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47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耦合器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0.02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0.8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475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分束器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0.3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493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AWG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2.5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$40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731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隔离器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 mm²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SiN /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磁光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 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pJ/bit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$35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</a:tbl>
          </a:graphicData>
        </a:graphic>
      </p:graphicFrame>
      <p:sp>
        <p:nvSpPr>
          <p:cNvPr id="111" name="Text 3"/>
          <p:cNvSpPr/>
          <p:nvPr/>
        </p:nvSpPr>
        <p:spPr>
          <a:xfrm>
            <a:off x="762120" y="8255160"/>
            <a:ext cx="147319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注：带宽单位为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GHz/Gbaud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，消光比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dB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，驱动电压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V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VπL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为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V·cm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，调谐效率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nm/mW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，面积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mm²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，插入损耗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dB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，能耗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pJ/bit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，单价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USD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2" name="Shape 4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09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调制器技术路线：从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到微环的竞争格局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3"/>
          <p:cNvSpPr/>
          <p:nvPr/>
        </p:nvSpPr>
        <p:spPr>
          <a:xfrm>
            <a:off x="762120" y="1587600"/>
            <a:ext cx="4698720" cy="30477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10159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MZI 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调制器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1015920" y="2158920"/>
            <a:ext cx="419112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技术成熟度最高，商用主流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消光比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25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V</a:t>
            </a:r>
            <a:r>
              <a:rPr lang="en-US" sz="1500" b="0" u="none" strike="noStrike" baseline="-40000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π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L ~ 1.5 V·cm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带宽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100 GHz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芯片面积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0.8 mm²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热稳定性优异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5778360" y="1587600"/>
            <a:ext cx="4699080" cy="30477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60325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微环谐振器 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(MRR)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6032520" y="2158920"/>
            <a:ext cx="419112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超高密度集成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footprint &lt; 10 μm²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调谐效率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0.1 nm/mW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带宽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60 GHz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每比特能耗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0.3 pJ/bit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热稳定性挑战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3" name="Shape 9"/>
          <p:cNvSpPr/>
          <p:nvPr/>
        </p:nvSpPr>
        <p:spPr>
          <a:xfrm>
            <a:off x="10794960" y="1587600"/>
            <a:ext cx="4699080" cy="30477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11049120" y="1714680"/>
            <a:ext cx="41907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电吸收调制器 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(EAM)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11"/>
          <p:cNvSpPr/>
          <p:nvPr/>
        </p:nvSpPr>
        <p:spPr>
          <a:xfrm>
            <a:off x="11049120" y="2158920"/>
            <a:ext cx="419076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III-V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族材料体系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超高带宽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200 GHz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与激光器单片集成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驱动电压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1.5 V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消光比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10-15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成本较高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762120" y="4952880"/>
            <a:ext cx="6350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三种物理调制机制对比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7" name=""/>
          <p:cNvGraphicFramePr/>
          <p:nvPr/>
        </p:nvGraphicFramePr>
        <p:xfrm>
          <a:off x="762120" y="5524560"/>
          <a:ext cx="14731920" cy="2286000"/>
        </p:xfrm>
        <a:graphic>
          <a:graphicData uri="http://schemas.openxmlformats.org/drawingml/2006/table">
            <a:tbl>
              <a:tblPr/>
              <a:tblGrid>
                <a:gridCol w="3682800"/>
                <a:gridCol w="3683160"/>
                <a:gridCol w="3682800"/>
                <a:gridCol w="3683160"/>
              </a:tblGrid>
              <a:tr h="571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物理机制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等离子色散效应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泡克耳斯效应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热光效应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571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材料体系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GeSi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LiNbO₃ / BTO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 / SiN /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聚合物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71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调谐效率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dn/dN ~ 10⁻²¹ cm³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r₃₃ ~ 30 pm/V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dn/dT ~ 1.8×10⁻⁴ /K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71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响应速度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100 ps (GHz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10 ps (THz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~ 10 μs (kHz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级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</a:tbl>
          </a:graphicData>
        </a:graphic>
      </p:graphicFrame>
      <p:sp>
        <p:nvSpPr>
          <p:cNvPr id="128" name="Text 13"/>
          <p:cNvSpPr/>
          <p:nvPr/>
        </p:nvSpPr>
        <p:spPr>
          <a:xfrm>
            <a:off x="762120" y="8001000"/>
            <a:ext cx="1473192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年调制速率目标：单通道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200 Gbaud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WDM 16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通道实现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3.2 Tbps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单纤传输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9" name="Shape 14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10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探测器与接收机：量子极限灵敏度突破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762120" y="1587600"/>
            <a:ext cx="342900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015920" y="1714680"/>
            <a:ext cx="29210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&gt;80 </a:t>
            </a:r>
            <a:r>
              <a:rPr lang="en-US" sz="18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GHz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015920" y="2413080"/>
            <a:ext cx="2921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Ge-on-Si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探测器带宽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4508640" y="1587600"/>
            <a:ext cx="342900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4762440" y="1714680"/>
            <a:ext cx="29210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1 </a:t>
            </a:r>
            <a:r>
              <a:rPr lang="en-US" sz="18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A/W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4762440" y="2413080"/>
            <a:ext cx="2921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响应度 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@ 1550 nm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8255160" y="1587600"/>
            <a:ext cx="342900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8508960" y="1714680"/>
            <a:ext cx="29210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-30 </a:t>
            </a:r>
            <a:r>
              <a:rPr lang="en-US" sz="18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dBm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8508960" y="2413080"/>
            <a:ext cx="2921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APD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量子限制灵敏度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12001680" y="1587600"/>
            <a:ext cx="349236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12255480" y="1714680"/>
            <a:ext cx="298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&lt;100 </a:t>
            </a:r>
            <a:r>
              <a:rPr lang="en-US" sz="18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12255480" y="2413080"/>
            <a:ext cx="298440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Ge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探测器暗电流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762120" y="3301920"/>
            <a:ext cx="14731920" cy="45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锗硅（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Ge-on-Si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）波导耦合探测器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：带宽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80 GHz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，响应度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1 A/W @ 1550 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，暗电流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100 nA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CMOS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工艺全兼容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雪崩光电二极管（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APD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：增益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10-30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倍，量子限制灵敏度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-30 dBm @ 25 Gbps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，适用于长距离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链路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相干接收机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：平衡探测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 DSP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补偿，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容忍度降低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5-10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，支持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QPSK/16-QAM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高阶调制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单光子探测器（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SPAD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：量子计算与量子通信应用，暗计数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100 Hz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，时间分辨率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100 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接收机灵敏度与速率折衷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NRZ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调制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@ 25 Gbps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灵敏度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-20 dBm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；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PAM4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调制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@ 50 Gbps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灵敏度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-14 dBm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；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QPSK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相干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@ 100 Gbps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灵敏度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-25 dBm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11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光子矩阵乘法：光计算核心算法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762120" y="1587600"/>
            <a:ext cx="14731920" cy="27939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015920" y="1714680"/>
            <a:ext cx="6350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核心酉变换公式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55" name="Text 5"/>
          <p:cNvPicPr/>
          <p:nvPr/>
        </p:nvPicPr>
        <p:blipFill>
          <a:blip r:embed="rId1"/>
          <a:stretch/>
        </p:blipFill>
        <p:spPr>
          <a:xfrm>
            <a:off x="1015920" y="2222640"/>
            <a:ext cx="14223960" cy="7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6"/>
          <p:cNvSpPr/>
          <p:nvPr/>
        </p:nvSpPr>
        <p:spPr>
          <a:xfrm>
            <a:off x="1015920" y="3111480"/>
            <a:ext cx="1422396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单个马赫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-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曾德尔干涉仪（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）通过热光或等离子色散调谐相位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θ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和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φ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，实现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2×2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酉矩阵运算。任意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N×N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酉矩阵可通过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Reck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分解或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Clements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分解为级联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网络。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1015920" y="4635360"/>
            <a:ext cx="635004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矩阵分解与光计算架构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158" name="Text 8"/>
          <p:cNvPicPr/>
          <p:nvPr/>
        </p:nvPicPr>
        <p:blipFill>
          <a:blip r:embed="rId2"/>
          <a:stretch/>
        </p:blipFill>
        <p:spPr>
          <a:xfrm>
            <a:off x="1015920" y="5143680"/>
            <a:ext cx="14223960" cy="6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 9"/>
          <p:cNvSpPr/>
          <p:nvPr/>
        </p:nvSpPr>
        <p:spPr>
          <a:xfrm>
            <a:off x="762120" y="5969160"/>
            <a:ext cx="14731920" cy="19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架构流程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：输入向量 →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多波长编码 →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矩阵网络执行向量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-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矩阵乘法（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MVM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）→ 探测器阵列输出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计算精度与噪声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8-bit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等效精度需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 &gt; 35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，相位误差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0.01 rad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消光比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20 dB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规模扩展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N×N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矩阵需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N(N-1)/2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个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64×64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矩阵需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2016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个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，芯片面积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50 mm²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12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762120" y="635040"/>
            <a:ext cx="126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波导损耗与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通道数：光计算系统的物理边界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66" name=""/>
          <p:cNvGraphicFramePr/>
          <p:nvPr/>
        </p:nvGraphicFramePr>
        <p:xfrm>
          <a:off x="762120" y="1587600"/>
          <a:ext cx="7111800" cy="3556080"/>
        </p:xfrm>
        <a:graphic>
          <a:graphicData uri="http://schemas.openxmlformats.org/drawingml/2006/table">
            <a:tbl>
              <a:tblPr/>
              <a:tblGrid>
                <a:gridCol w="2489040"/>
                <a:gridCol w="1565280"/>
                <a:gridCol w="1563840"/>
                <a:gridCol w="1493640"/>
              </a:tblGrid>
              <a:tr h="604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材料平台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波导损耗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弯曲损耗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适用场景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6062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SOI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硅波导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1-3 dB/cm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&lt;0.1 dB/90°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短距离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高密度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04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SiN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0.01-0.1 dB/cm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&lt;0.01 dB/90°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长距离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低损耗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605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InP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 dB/cm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0.05 dB/90°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激光器集成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680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聚合物波导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0.5 dB/cm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 dB/90°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低成本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封装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670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LiNbO₃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0.03 dB/cm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0.02 dB/90°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高性能调制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</a:tbl>
          </a:graphicData>
        </a:graphic>
      </p:graphicFrame>
      <p:sp>
        <p:nvSpPr>
          <p:cNvPr id="167" name="Shape 3"/>
          <p:cNvSpPr/>
          <p:nvPr/>
        </p:nvSpPr>
        <p:spPr>
          <a:xfrm>
            <a:off x="8381880" y="1587600"/>
            <a:ext cx="7112160" cy="355608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8636040" y="1714680"/>
            <a:ext cx="66038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通道配置演进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8636040" y="2222640"/>
            <a:ext cx="6603840" cy="273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5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CWDM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 nm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通道间隔，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8-18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通道，低成本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5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LWDM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4.5 nm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间隔，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4-8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通道，硅光主流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5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DWDM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100/50 GHz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间隔，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40-96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通道，长距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5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UDWDM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&lt;10 GHz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间隔，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&gt;200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通道，光计算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目标：单芯片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64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通道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，总带宽</a:t>
            </a:r>
            <a:r>
              <a:rPr lang="en-US" sz="15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&gt;12.8 Tbps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762120" y="5460840"/>
            <a:ext cx="14731920" cy="24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损耗机制分解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：散射损耗（侧壁粗糙度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RMS &lt; 5 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吸收损耗（掺杂浓度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&lt;10¹⁸ cm⁻³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弯曲损耗（曲率半径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&gt;5 μm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时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&lt;0.01 dB/90°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热光调谐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：硅材料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dn/dT ~ 1.8×10⁻⁴ /K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，微环谐振器热调谐范围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&gt;20 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，调谐功耗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 mW/nm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，需闭环温控算法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通道串扰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AWG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型解复用器相邻通道串扰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&lt;-25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，非相邻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&lt;-40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，级联滤波器可进一步抑制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2" name="Shape 8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13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02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硅光子集成（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PIC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）与光电混合架构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光计算能效比演进：从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pJ/bit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到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fJ/bit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的跨越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7" name="Chart 0"/>
          <p:cNvGraphicFramePr/>
          <p:nvPr/>
        </p:nvGraphicFramePr>
        <p:xfrm>
          <a:off x="711360" y="1536840"/>
          <a:ext cx="5181480" cy="36576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78" name="Chart 0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11360" y="1536840"/>
                    <a:ext cx="5181480" cy="36576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79" name="Chart 1"/>
          <p:cNvGraphicFramePr/>
          <p:nvPr/>
        </p:nvGraphicFramePr>
        <p:xfrm>
          <a:off x="6299280" y="1536840"/>
          <a:ext cx="9245520" cy="3657600"/>
        </p:xfrm>
        <a:graphic>
          <a:graphicData uri="http://schemas.openxmlformats.org/presentationml/2006/ole">
            <p:oleObj progId="Excel.Sheet.12" r:id="rId3" spid="">
              <p:embed/>
              <p:pic>
                <p:nvPicPr>
                  <p:cNvPr id="180" name="Chart 1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6299280" y="1536840"/>
                    <a:ext cx="9245520" cy="36576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1" name="Text 3"/>
          <p:cNvSpPr/>
          <p:nvPr/>
        </p:nvSpPr>
        <p:spPr>
          <a:xfrm>
            <a:off x="762120" y="5460840"/>
            <a:ext cx="14731920" cy="24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每比特能耗演进路线图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 pJ/bit → 2028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 pJ/bit → 2032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 pJ/bit → 2040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0.1 pJ/bit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fJ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光计算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电子计算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：电子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GPU ~ 1 pJ/MAC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，电子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ASIC ~ 0.1 pJ/MAC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，光计算目标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0.01 pJ/MAC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P12→P14→P22→P25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动态关联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SiN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平台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0.01 dB/cm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波导损耗使大规模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网络级联损耗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&lt;3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，支撑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TOPS/W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提升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，直接降低数据中心制冷成本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60-80%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14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Image 0" descr="https://images.unsplash.com/photo-1558494949-ef010cbdcc31?q=80&amp;w=2034&amp;auto=format&amp;fit=crop"/>
          <p:cNvPicPr/>
          <p:nvPr/>
        </p:nvPicPr>
        <p:blipFill>
          <a:blip r:embed="rId1"/>
          <a:srcRect l="138" t="0" r="138" b="0"/>
          <a:stretch/>
        </p:blipFill>
        <p:spPr>
          <a:xfrm>
            <a:off x="0" y="0"/>
            <a:ext cx="16256160" cy="9144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6" name="Shape 0"/>
          <p:cNvGrpSpPr/>
          <p:nvPr/>
        </p:nvGrpSpPr>
        <p:grpSpPr>
          <a:xfrm>
            <a:off x="0" y="0"/>
            <a:ext cx="16268760" cy="9144000"/>
            <a:chOff x="0" y="0"/>
            <a:chExt cx="16268760" cy="9144000"/>
          </a:xfrm>
        </p:grpSpPr>
        <p:pic>
          <p:nvPicPr>
            <p:cNvPr id="187" name="Shape 0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6268760" cy="9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8" name=""/>
            <p:cNvSpPr/>
            <p:nvPr/>
          </p:nvSpPr>
          <p:spPr>
            <a:xfrm>
              <a:off x="0" y="0"/>
              <a:ext cx="16256160" cy="9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189" name="Text 1"/>
          <p:cNvPicPr/>
          <p:nvPr/>
        </p:nvPicPr>
        <p:blipFill>
          <a:blip r:embed="rId3"/>
          <a:stretch/>
        </p:blipFill>
        <p:spPr>
          <a:xfrm>
            <a:off x="25560" y="1968480"/>
            <a:ext cx="4546440" cy="25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2"/>
          <p:cNvSpPr/>
          <p:nvPr/>
        </p:nvSpPr>
        <p:spPr>
          <a:xfrm>
            <a:off x="762120" y="4064040"/>
            <a:ext cx="101599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762120" y="5079960"/>
            <a:ext cx="1523880" cy="507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762120" y="5460840"/>
            <a:ext cx="888984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超大规模数据中心光互联链路预算与共封装光学（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）商业化路径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15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数据中心架构变革：从电互联到全光互联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762120" y="1587600"/>
            <a:ext cx="14731920" cy="31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传统数据中心网络瓶颈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ToR→Leaf→Spine→Core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层级架构，每层电交换引入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 μs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延迟与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~10 pJ/bit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能耗，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训练参数同步成为扩展瓶颈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全光互联愿景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：光交换（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OCS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）替代电交换，延迟降至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级，能耗降低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10-100×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，支持动态带宽分配与拓扑重构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光交换技术对比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：光路交换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OCS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级切换，成熟）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光突发交换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OBS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μs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级，中等成熟）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光分组交换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OPS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级，研究中）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行业实践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：谷歌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Palomar OCS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部署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&gt;10K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端口，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Meta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全光网络能耗降低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40%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NVIDIA Spectrum-X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探索光互联融合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98" name="Chart 0"/>
          <p:cNvGraphicFramePr/>
          <p:nvPr/>
        </p:nvGraphicFramePr>
        <p:xfrm>
          <a:off x="711360" y="5029200"/>
          <a:ext cx="14833440" cy="32767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99" name="Chart 0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11360" y="5029200"/>
                    <a:ext cx="14833440" cy="3276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00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16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超大规模数据中心光互联链路预算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06" name=""/>
          <p:cNvGraphicFramePr/>
          <p:nvPr/>
        </p:nvGraphicFramePr>
        <p:xfrm>
          <a:off x="762120" y="1587600"/>
          <a:ext cx="14731920" cy="4825800"/>
        </p:xfrm>
        <a:graphic>
          <a:graphicData uri="http://schemas.openxmlformats.org/drawingml/2006/table">
            <a:tbl>
              <a:tblPr/>
              <a:tblGrid>
                <a:gridCol w="2062080"/>
                <a:gridCol w="2062080"/>
                <a:gridCol w="2063880"/>
                <a:gridCol w="2062080"/>
                <a:gridCol w="2062080"/>
                <a:gridCol w="2210040"/>
                <a:gridCol w="2209680"/>
              </a:tblGrid>
              <a:tr h="533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距离层级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距离范围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光纤类型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链路损耗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延迟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信号恢复成本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链路成本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723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芯片内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1 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硅光波导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0.5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10 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无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集成在芯片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23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封装内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1-10 cm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光纤阵列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1-3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1 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无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 TIA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$5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723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机架内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10 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多模光纤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2-4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50 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VCSEL+PD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$10-30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23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跨机房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10-100 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单模光纤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3-6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500 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硅光模块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$50-200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723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跨区域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1-10 km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单模光纤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6-15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50 μs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EDFA+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相干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$1K-5K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728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长途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10-100 km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单模光纤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20-30 dB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500 μs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EDFA+Raman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$10K-50K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207" name="Text 3"/>
          <p:cNvSpPr/>
          <p:nvPr/>
        </p:nvSpPr>
        <p:spPr>
          <a:xfrm>
            <a:off x="762120" y="6730920"/>
            <a:ext cx="1473192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总链路预算公式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：发射功率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(dBm) + OSNR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容限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(dB) −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路径损耗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(dB) −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连接器损耗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(dB) −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分路损耗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(dB) &gt;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接收灵敏度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(dBm)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信号恢复机制：线性放大（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EDFA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增益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20-30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）、相干检测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+DSP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OSNR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增益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5-10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FEC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前向纠错（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25%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开销，净增益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6-9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9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17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（共封装光学）：数据中心光互联的终极形态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762120" y="1587600"/>
            <a:ext cx="14731920" cy="27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定义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：将光学引擎（硅光芯片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激光器）与交换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ASIC/CPU/GPU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在同一封装基板或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interposer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上集成，消除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PCB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走线损耗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核心优势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：带宽密度提升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Pluggable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），功耗降低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50%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，延迟降低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，信号完整性大幅提升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封装技术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2.5D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硅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interposer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TSV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间距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~40 μm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堆叠（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Hybrid Bonding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间距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~10 μm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）、光纤直接引出（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Fiber-to-the-Chip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热管理挑战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封装内功率密度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&gt;500 W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，需液冷或微流道冷却，热设计成为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量产关键瓶颈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762120" y="4699080"/>
            <a:ext cx="6350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行业标准进展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16" name=""/>
          <p:cNvGraphicFramePr/>
          <p:nvPr/>
        </p:nvGraphicFramePr>
        <p:xfrm>
          <a:off x="762120" y="5270400"/>
          <a:ext cx="14731920" cy="2540160"/>
        </p:xfrm>
        <a:graphic>
          <a:graphicData uri="http://schemas.openxmlformats.org/drawingml/2006/table">
            <a:tbl>
              <a:tblPr/>
              <a:tblGrid>
                <a:gridCol w="2946240"/>
                <a:gridCol w="2946600"/>
                <a:gridCol w="2946240"/>
                <a:gridCol w="2946240"/>
                <a:gridCol w="2946600"/>
              </a:tblGrid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标准组织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标准名称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目标带宽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状态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预计发布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508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OIF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CPO Framework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51.2 Tbps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草案阶段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2026 Q2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COBO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On-Board Optics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12.8 Tbps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已发布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IEEE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P802.3df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800 GbE/1.6 TbE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投票中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2026 Q4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JDFC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External Laser MSA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16-32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波长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已发布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2025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217" name="Text 5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8" name="Shape 6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18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供应链与制造：从晶圆到封装的完整链条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2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3" name="Shape 3"/>
          <p:cNvSpPr/>
          <p:nvPr/>
        </p:nvSpPr>
        <p:spPr>
          <a:xfrm>
            <a:off x="762120" y="1587600"/>
            <a:ext cx="14731920" cy="127008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1015920" y="1714680"/>
            <a:ext cx="17780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SOI/SiN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晶圆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25" name="Shape 5"/>
          <p:cNvCxnSpPr/>
          <p:nvPr/>
        </p:nvCxnSpPr>
        <p:spPr>
          <a:xfrm>
            <a:off x="2921040" y="1929960"/>
            <a:ext cx="38160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226" name="Text 6"/>
          <p:cNvSpPr/>
          <p:nvPr/>
        </p:nvSpPr>
        <p:spPr>
          <a:xfrm>
            <a:off x="3429000" y="1714680"/>
            <a:ext cx="17780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光刻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蚀刻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27" name="Shape 7"/>
          <p:cNvCxnSpPr/>
          <p:nvPr/>
        </p:nvCxnSpPr>
        <p:spPr>
          <a:xfrm>
            <a:off x="5334120" y="1929960"/>
            <a:ext cx="38160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228" name="Text 8"/>
          <p:cNvSpPr/>
          <p:nvPr/>
        </p:nvSpPr>
        <p:spPr>
          <a:xfrm>
            <a:off x="5842080" y="1714680"/>
            <a:ext cx="17780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沉积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外延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29" name="Shape 9"/>
          <p:cNvCxnSpPr/>
          <p:nvPr/>
        </p:nvCxnSpPr>
        <p:spPr>
          <a:xfrm>
            <a:off x="7746480" y="1929960"/>
            <a:ext cx="38196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230" name="Text 10"/>
          <p:cNvSpPr/>
          <p:nvPr/>
        </p:nvSpPr>
        <p:spPr>
          <a:xfrm>
            <a:off x="8255160" y="1714680"/>
            <a:ext cx="177768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CMP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平坦化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31" name="Shape 11"/>
          <p:cNvCxnSpPr/>
          <p:nvPr/>
        </p:nvCxnSpPr>
        <p:spPr>
          <a:xfrm>
            <a:off x="10159560" y="1929960"/>
            <a:ext cx="38196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232" name="Text 12"/>
          <p:cNvSpPr/>
          <p:nvPr/>
        </p:nvSpPr>
        <p:spPr>
          <a:xfrm>
            <a:off x="10667880" y="1714680"/>
            <a:ext cx="177804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III-V</a:t>
            </a: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键合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cxnSp>
        <p:nvCxnSpPr>
          <p:cNvPr id="233" name="Shape 13"/>
          <p:cNvCxnSpPr/>
          <p:nvPr/>
        </p:nvCxnSpPr>
        <p:spPr>
          <a:xfrm>
            <a:off x="12573000" y="1929960"/>
            <a:ext cx="381600" cy="1080"/>
          </a:xfrm>
          <a:prstGeom prst="straightConnector1">
            <a:avLst/>
          </a:prstGeom>
          <a:ln w="25560">
            <a:solidFill>
              <a:srgbClr val="D4A843"/>
            </a:solidFill>
            <a:miter/>
            <a:tailEnd len="med" type="arrow" w="med"/>
          </a:ln>
        </p:spPr>
      </p:cxnSp>
      <p:sp>
        <p:nvSpPr>
          <p:cNvPr id="234" name="Text 14"/>
          <p:cNvSpPr/>
          <p:nvPr/>
        </p:nvSpPr>
        <p:spPr>
          <a:xfrm>
            <a:off x="13080960" y="1714680"/>
            <a:ext cx="215892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先进封测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 15"/>
          <p:cNvSpPr/>
          <p:nvPr/>
        </p:nvSpPr>
        <p:spPr>
          <a:xfrm>
            <a:off x="1015920" y="2286000"/>
            <a:ext cx="1422396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硅光晶圆制造流程：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SOI/SiN wafer →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光刻（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ArF/EUV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）→ 蚀刻（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ICP/RIE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）→ 沉积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外延 → 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CMP → III-V</a:t>
            </a: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键合 → 先进封测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762120" y="3174840"/>
            <a:ext cx="14731920" cy="45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激光器集成方案对比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：外置激光器（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ELS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，可靠性高、成本低、功耗大）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片上激光器（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Monolithic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，集成度高、散热难、成本高）。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ELS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为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年主流，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Monolithic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目标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2030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光纤耦合工艺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：边缘耦合（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Edge Coupling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，带宽宽、效率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&gt;80%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，需端面抛光）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光栅耦合（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Grating Coupling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，垂直耦合、效率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&gt;60%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，波长敏感）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先进封测技术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TSV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（硅通孔，直径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~10 μm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）、微凸点（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μBump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，间距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~40 μm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）、倒装焊（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Flip-chip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）、热压键合（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TCB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，温度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~300°C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封测良率数据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：硅光芯片封测良率目前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~70-85%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，主要损失来自光纤耦合对准（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）、激光器老化（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~5%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）、热应力开裂（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~3%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）。目标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2028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&gt;90%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异质集成（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Heterogeneous Integration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：晶圆键合对准精度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&lt;1 μm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，键合强度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 MPa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，热膨胀系数匹配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&lt;5 ppm/K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 17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 19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19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762120" y="635040"/>
            <a:ext cx="139698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vs 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可插拔光模块：带宽密度与功耗实测对标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2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43" name=""/>
          <p:cNvGraphicFramePr/>
          <p:nvPr/>
        </p:nvGraphicFramePr>
        <p:xfrm>
          <a:off x="762120" y="1523880"/>
          <a:ext cx="14731920" cy="5842080"/>
        </p:xfrm>
        <a:graphic>
          <a:graphicData uri="http://schemas.openxmlformats.org/drawingml/2006/table">
            <a:tbl>
              <a:tblPr/>
              <a:tblGrid>
                <a:gridCol w="2357280"/>
                <a:gridCol w="2062080"/>
                <a:gridCol w="2062440"/>
                <a:gridCol w="1768320"/>
                <a:gridCol w="1766880"/>
                <a:gridCol w="1768320"/>
                <a:gridCol w="1473480"/>
                <a:gridCol w="1473120"/>
              </a:tblGrid>
              <a:tr h="5828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对比维度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Pluggable QSFP-DD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Pluggable OSFP-XD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CPO 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近封装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CPO 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共封装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I/O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芯粒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单位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趋势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760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带宽密度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0.2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Tbps/mm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↑100×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60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功耗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W/Tbps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↓15×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760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延迟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↓10×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60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成本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$50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$40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$35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$15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USD/Gbps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↓3×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760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可维护性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热插拔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热插拔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现场更换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板级更换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芯片级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60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热设计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风冷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风冷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液冷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液冷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微流道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微流道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↑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696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标准化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成熟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成熟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发展中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草案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研究中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→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</a:tbl>
          </a:graphicData>
        </a:graphic>
      </p:graphicFrame>
      <p:sp>
        <p:nvSpPr>
          <p:cNvPr id="244" name="Text 3"/>
          <p:cNvSpPr/>
          <p:nvPr/>
        </p:nvSpPr>
        <p:spPr>
          <a:xfrm>
            <a:off x="762120" y="7493040"/>
            <a:ext cx="1473192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数据来源：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OIF CPO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白皮书（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2025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Intel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硅光实验室实测数据、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LightCounting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市场报告（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2026Q1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）。光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I/O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芯粒（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Optical I/O Chiplet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）为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2028</a:t>
            </a:r>
            <a:r>
              <a:rPr lang="en-US" sz="14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年后技术目标。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20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光交换（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OCS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）与全光网络架构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762120" y="1587600"/>
            <a:ext cx="4698720" cy="27939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10159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MEMS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光开关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1015920" y="2158920"/>
            <a:ext cx="4191120" cy="20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端口规模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500×500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插入损耗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1-3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切换速度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ms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成熟商用（谷歌等）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无功耗保持状态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4" name="Shape 6"/>
          <p:cNvSpPr/>
          <p:nvPr/>
        </p:nvSpPr>
        <p:spPr>
          <a:xfrm>
            <a:off x="5778360" y="1587600"/>
            <a:ext cx="4699080" cy="27939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60325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硅光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开关矩阵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6032520" y="2158920"/>
            <a:ext cx="4191120" cy="20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端口规模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32×32-128×128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插入损耗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3-6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切换速度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ns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与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CMOS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集成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每次切换能耗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pJ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7" name="Shape 9"/>
          <p:cNvSpPr/>
          <p:nvPr/>
        </p:nvSpPr>
        <p:spPr>
          <a:xfrm>
            <a:off x="10794960" y="1587600"/>
            <a:ext cx="4699080" cy="279396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11049120" y="1714680"/>
            <a:ext cx="41907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半导体光放大器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(SOA)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 11"/>
          <p:cNvSpPr/>
          <p:nvPr/>
        </p:nvSpPr>
        <p:spPr>
          <a:xfrm>
            <a:off x="11049120" y="2158920"/>
            <a:ext cx="4190760" cy="20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门控切换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信号放大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增益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10-20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切换速度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 ns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噪声指数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6-8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与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兼容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762120" y="4699080"/>
            <a:ext cx="14731920" cy="31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全光数据中心网络拓扑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：光路交换环（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OCS Ring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）实现机架间任意互联，光互连拓扑（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Dragonfly/SlimFly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光版本）降低网络直径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波长路由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空间路由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波长选择（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AWG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路由，无切换延迟）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矩阵空间交换（灵活重构），混合方案为最优解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光电混合交换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OCS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处理大流长连接（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elephant flows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，占比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，流量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90%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），电交换处理短流突发（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mice flows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），动态流量适配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光交换能耗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MEMS~0 mW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（保持状态），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MZI~1-10 mW/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通道（热调谐），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SOA~100 mW/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通道（放大功耗）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21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03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体系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762120" y="635040"/>
            <a:ext cx="126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光计算能效比（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TOPS/W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）与数据中心制冷成本削减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762120" y="1587600"/>
            <a:ext cx="342900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 4"/>
          <p:cNvSpPr/>
          <p:nvPr/>
        </p:nvSpPr>
        <p:spPr>
          <a:xfrm>
            <a:off x="1015920" y="1714680"/>
            <a:ext cx="29210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1.5-2.0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PUE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1015920" y="2413080"/>
            <a:ext cx="2921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传统电子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集群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PUE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0" name="Shape 6"/>
          <p:cNvSpPr/>
          <p:nvPr/>
        </p:nvSpPr>
        <p:spPr>
          <a:xfrm>
            <a:off x="4508640" y="1587600"/>
            <a:ext cx="342900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 7"/>
          <p:cNvSpPr/>
          <p:nvPr/>
        </p:nvSpPr>
        <p:spPr>
          <a:xfrm>
            <a:off x="4762440" y="1714680"/>
            <a:ext cx="29210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1.1-1.2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PUE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4762440" y="2413080"/>
            <a:ext cx="2921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光计算集群目标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PUE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3" name="Shape 9"/>
          <p:cNvSpPr/>
          <p:nvPr/>
        </p:nvSpPr>
        <p:spPr>
          <a:xfrm>
            <a:off x="8255160" y="1587600"/>
            <a:ext cx="342900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8508960" y="1714680"/>
            <a:ext cx="292104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60-80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%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8508960" y="2413080"/>
            <a:ext cx="292104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制冷成本削减幅度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6" name="Shape 12"/>
          <p:cNvSpPr/>
          <p:nvPr/>
        </p:nvSpPr>
        <p:spPr>
          <a:xfrm>
            <a:off x="12001680" y="1587600"/>
            <a:ext cx="3492360" cy="13968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 13"/>
          <p:cNvSpPr/>
          <p:nvPr/>
        </p:nvSpPr>
        <p:spPr>
          <a:xfrm>
            <a:off x="12255480" y="1714680"/>
            <a:ext cx="2984400" cy="63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1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b="0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&gt;$1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亿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12255480" y="2413080"/>
            <a:ext cx="2984400" cy="44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千兆瓦级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DC</a:t>
            </a:r>
            <a:r>
              <a:rPr lang="en-US" sz="13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年节省电费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762120" y="3301920"/>
            <a:ext cx="1473192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P12 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波导损耗降低 → 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P14 TOPS/W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提升 → 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P22 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数据中心能效优化 → 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P25 </a:t>
            </a: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制冷成本削减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 16"/>
          <p:cNvSpPr/>
          <p:nvPr/>
        </p:nvSpPr>
        <p:spPr>
          <a:xfrm>
            <a:off x="762120" y="4191120"/>
            <a:ext cx="14731920" cy="35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动态逻辑关联验证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P12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中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SiN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平台波导损耗降至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0.01 dB/cm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，使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64×64 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网络级联总损耗从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降至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&lt;3 dB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，光计算能效比（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TOPS/W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提升至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100+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P14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PUE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与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TOPS/W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的数学关系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PUE =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总输入功率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/ IT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设备功率。光计算低功耗使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设备功率降低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50%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，制冷需求同比降低，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PUE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1.6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降至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1.15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千兆瓦级数据中心全光化经济模型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1000 MW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级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中，光互联替代电互联节省功耗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&gt;100 MW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$0.08/kWh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计算，年节省电费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&gt;$1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冷却方案降级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：光计算低热密度使液冷→风冷即可满足，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CAPEX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降低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，维护复杂度大幅下降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2" name="Shape 18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 19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22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Image 0" descr="https://images.unsplash.com/photo-1518770660439-4636190af475?q=80&amp;w=2070&amp;auto=format&amp;fit=crop"/>
          <p:cNvPicPr/>
          <p:nvPr/>
        </p:nvPicPr>
        <p:blipFill>
          <a:blip r:embed="rId1"/>
          <a:srcRect l="0" t="7812" r="0" b="7812"/>
          <a:stretch/>
        </p:blipFill>
        <p:spPr>
          <a:xfrm>
            <a:off x="0" y="0"/>
            <a:ext cx="16256160" cy="9144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5" name="Shape 0"/>
          <p:cNvGrpSpPr/>
          <p:nvPr/>
        </p:nvGrpSpPr>
        <p:grpSpPr>
          <a:xfrm>
            <a:off x="0" y="0"/>
            <a:ext cx="16268760" cy="9144000"/>
            <a:chOff x="0" y="0"/>
            <a:chExt cx="16268760" cy="9144000"/>
          </a:xfrm>
        </p:grpSpPr>
        <p:pic>
          <p:nvPicPr>
            <p:cNvPr id="286" name="Shape 0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6268760" cy="9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87" name=""/>
            <p:cNvSpPr/>
            <p:nvPr/>
          </p:nvSpPr>
          <p:spPr>
            <a:xfrm>
              <a:off x="0" y="0"/>
              <a:ext cx="16256160" cy="9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288" name="Text 1"/>
          <p:cNvPicPr/>
          <p:nvPr/>
        </p:nvPicPr>
        <p:blipFill>
          <a:blip r:embed="rId3"/>
          <a:stretch/>
        </p:blipFill>
        <p:spPr>
          <a:xfrm>
            <a:off x="25560" y="1968480"/>
            <a:ext cx="4546440" cy="25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2"/>
          <p:cNvSpPr/>
          <p:nvPr/>
        </p:nvSpPr>
        <p:spPr>
          <a:xfrm>
            <a:off x="762120" y="4064040"/>
            <a:ext cx="101599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商业变现、全球芯片代工与 </a:t>
            </a: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CAPEX/OPEX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762120" y="5079960"/>
            <a:ext cx="1523880" cy="507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762120" y="5460840"/>
            <a:ext cx="888984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硅光晶圆代工成本拆解、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TCO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模型与光子计算集群投资回报率分析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23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04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商业变现、全球芯片代工与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CAPEX/OPEX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12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英寸硅光晶圆代工成本拆解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5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96" name=""/>
          <p:cNvGraphicFramePr/>
          <p:nvPr/>
        </p:nvGraphicFramePr>
        <p:xfrm>
          <a:off x="762120" y="1587600"/>
          <a:ext cx="14731920" cy="4825800"/>
        </p:xfrm>
        <a:graphic>
          <a:graphicData uri="http://schemas.openxmlformats.org/drawingml/2006/table">
            <a:tbl>
              <a:tblPr/>
              <a:tblGrid>
                <a:gridCol w="2062080"/>
                <a:gridCol w="2062080"/>
                <a:gridCol w="2063880"/>
                <a:gridCol w="2062080"/>
                <a:gridCol w="2062080"/>
                <a:gridCol w="2210040"/>
                <a:gridCol w="2209680"/>
              </a:tblGrid>
              <a:tr h="4856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工艺环节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成本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占比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良率损失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良率影响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技术节点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降本路径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625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EPI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外延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$200-500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8-15%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2-3%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SOI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厚度均匀性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45-90nm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国产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SOI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衬底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25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光刻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$800-2000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25-35%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5-8%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套刻精度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ArF/EUV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EUV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量产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625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蚀刻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$300-600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10-15%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3-5%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侧壁粗糙度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ICP/RIE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原子级蚀刻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25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沉积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/CMP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$200-400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8-12%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2-3%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薄膜均匀性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ALD/CVD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批量沉积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6253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后端封测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$500-1500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20-30%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8-12%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光纤对准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TSV/μBump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自动化耦合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256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III-V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键合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$300-800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10-15%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5-8%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对准精度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晶圆键合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微转印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587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合计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$2.3K-5.8K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100%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25-42%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综合良率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60-75%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规模效应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</a:tbl>
          </a:graphicData>
        </a:graphic>
      </p:graphicFrame>
      <p:sp>
        <p:nvSpPr>
          <p:cNvPr id="297" name="Text 3"/>
          <p:cNvSpPr/>
          <p:nvPr/>
        </p:nvSpPr>
        <p:spPr>
          <a:xfrm>
            <a:off x="762120" y="6667560"/>
            <a:ext cx="147319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单片芯片成本公式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Unit Cost = Wafer Cost / (Die per Wafer × Yield × Test Yield)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12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英寸晶圆可用面积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~70,000 mm²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50 mm²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芯片可得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~1200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颗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片，综合良率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70%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可得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~840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颗有效芯片，单片成本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~$3-7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6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规模效应：月产能从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10K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增至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100K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片，单片成本降低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30-50%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，折旧摊薄为主要降本驱动力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24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04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商业变现、全球芯片代工与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CAPEX/OPEX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TCO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模型：光子计算集群投资回报率分析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3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4" name="Shape 3"/>
          <p:cNvSpPr/>
          <p:nvPr/>
        </p:nvSpPr>
        <p:spPr>
          <a:xfrm>
            <a:off x="762120" y="1587600"/>
            <a:ext cx="14731920" cy="203184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 4"/>
          <p:cNvSpPr/>
          <p:nvPr/>
        </p:nvSpPr>
        <p:spPr>
          <a:xfrm>
            <a:off x="1015920" y="1714680"/>
            <a:ext cx="63500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TCO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与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ROI</a:t>
            </a:r>
            <a:r>
              <a:rPr lang="en-US" sz="18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核心公式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6" name="Text 5"/>
          <p:cNvPicPr/>
          <p:nvPr/>
        </p:nvPicPr>
        <p:blipFill>
          <a:blip r:embed="rId1"/>
          <a:stretch/>
        </p:blipFill>
        <p:spPr>
          <a:xfrm>
            <a:off x="1015920" y="2222640"/>
            <a:ext cx="1422396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Text 6"/>
          <p:cNvPicPr/>
          <p:nvPr/>
        </p:nvPicPr>
        <p:blipFill>
          <a:blip r:embed="rId2"/>
          <a:stretch/>
        </p:blipFill>
        <p:spPr>
          <a:xfrm>
            <a:off x="1015920" y="2857680"/>
            <a:ext cx="14223960" cy="5839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08" name=""/>
          <p:cNvGraphicFramePr/>
          <p:nvPr/>
        </p:nvGraphicFramePr>
        <p:xfrm>
          <a:off x="762120" y="3936960"/>
          <a:ext cx="14731920" cy="3556080"/>
        </p:xfrm>
        <a:graphic>
          <a:graphicData uri="http://schemas.openxmlformats.org/drawingml/2006/table">
            <a:tbl>
              <a:tblPr/>
              <a:tblGrid>
                <a:gridCol w="3241440"/>
                <a:gridCol w="3829320"/>
                <a:gridCol w="3830400"/>
                <a:gridCol w="3830760"/>
              </a:tblGrid>
              <a:tr h="496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成本维度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传统电子集群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光子计算集群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节省比例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4971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硬件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CAPEX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$100M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$120M (+20%)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-20%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496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基建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机房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CAPEX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$40M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$20M (-50%)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+50%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496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年电费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OPEX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$25M/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$10M/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(-60%)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+60%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4986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年运维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OPEX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$8M/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$5M/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(-38%)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+38%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496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3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TCO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$239M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$175M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+27%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5731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5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ROI /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回收期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-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ROI &gt; 150%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&lt; 2.5</a:t>
                      </a:r>
                      <a:r>
                        <a:rPr lang="en-US" sz="1400" b="0" u="none" strike="noStrike">
                          <a:solidFill>
                            <a:srgbClr val="00E5C9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年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309" name="Text 7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0" name="Shape 8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25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04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商业变现、全球芯片代工与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CAPEX/OPEX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全球硅光代工格局与供应链安全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15" name=""/>
          <p:cNvGraphicFramePr/>
          <p:nvPr/>
        </p:nvGraphicFramePr>
        <p:xfrm>
          <a:off x="762120" y="1587600"/>
          <a:ext cx="14731920" cy="3556080"/>
        </p:xfrm>
        <a:graphic>
          <a:graphicData uri="http://schemas.openxmlformats.org/drawingml/2006/table">
            <a:tbl>
              <a:tblPr/>
              <a:tblGrid>
                <a:gridCol w="2357280"/>
                <a:gridCol w="2946600"/>
                <a:gridCol w="2946240"/>
                <a:gridCol w="2946240"/>
                <a:gridCol w="3535560"/>
              </a:tblGrid>
              <a:tr h="5698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代工厂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技术平台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工艺节点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产能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月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特色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限制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7459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台积电 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TSMC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SOIC / SiN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45nm / 28nm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~15K wpm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最先进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CMOS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兼容，产能紧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46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Intel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SiN + III-V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~10K wpm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异质集成领先，内部消化为主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74772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GlobalFoundries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Fotonix 45RFSOI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45nm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~8K wpm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开放代工，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RF-SOI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生态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74628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Tower Semi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SiPh / SiGe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90nm / 65nm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~5K wpm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成熟工艺，成本优势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316" name="Text 3"/>
          <p:cNvSpPr/>
          <p:nvPr/>
        </p:nvSpPr>
        <p:spPr>
          <a:xfrm>
            <a:off x="762120" y="5460840"/>
            <a:ext cx="14731920" cy="24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III-V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族材料供应链风险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衬底供应集中于日本住友（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Sumitomo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）、美国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AXT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，地缘政治影响显著，价格波动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&gt;20%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国产替代进展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：国内硅光代工能力（中芯国际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45nm SOI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、华虹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65nm SiN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衬底自主化（云南锗业、有研新材），目标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2028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年国产化率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&gt;50%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供应链韧性策略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：双源采购（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TSMC+GF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）、战略库存（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个月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InP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储备）、垂直整合（激光器自研），降低单一供应商风险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光维计算代工策略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TSMC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签订战略产能协议，与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GF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共建硅光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PDK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，确保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2026-2030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年产能锁定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8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26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04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商业变现、全球芯片代工与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CAPEX/OPEX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商业模式：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授权、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Fabless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与垂直整合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762120" y="1587600"/>
            <a:ext cx="4698720" cy="330192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 4"/>
          <p:cNvSpPr/>
          <p:nvPr/>
        </p:nvSpPr>
        <p:spPr>
          <a:xfrm>
            <a:off x="10159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授权 </a:t>
            </a: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(License)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 5"/>
          <p:cNvSpPr/>
          <p:nvPr/>
        </p:nvSpPr>
        <p:spPr>
          <a:xfrm>
            <a:off x="1015920" y="2222640"/>
            <a:ext cx="4191120" cy="24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硅光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PDK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工艺设计套件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核心调制器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IP (MZI/MRR)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耦合算法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IP (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光栅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边缘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授权费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$1M-10M/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节点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毛利率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90%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收入占比目标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6" name="Shape 6"/>
          <p:cNvSpPr/>
          <p:nvPr/>
        </p:nvSpPr>
        <p:spPr>
          <a:xfrm>
            <a:off x="5778360" y="1587600"/>
            <a:ext cx="4699080" cy="330192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 7"/>
          <p:cNvSpPr/>
          <p:nvPr/>
        </p:nvSpPr>
        <p:spPr>
          <a:xfrm>
            <a:off x="60325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Fabless</a:t>
            </a: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芯片销售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 8"/>
          <p:cNvSpPr/>
          <p:nvPr/>
        </p:nvSpPr>
        <p:spPr>
          <a:xfrm>
            <a:off x="6032520" y="2222640"/>
            <a:ext cx="4191120" cy="24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OPU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光计算芯片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CPO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光引擎模块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WDM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收发器系列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目标毛利率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60%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收入占比目标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60%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核心增长引擎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9" name="Shape 9"/>
          <p:cNvSpPr/>
          <p:nvPr/>
        </p:nvSpPr>
        <p:spPr>
          <a:xfrm>
            <a:off x="10794960" y="1587600"/>
            <a:ext cx="4699080" cy="330192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 10"/>
          <p:cNvSpPr/>
          <p:nvPr/>
        </p:nvSpPr>
        <p:spPr>
          <a:xfrm>
            <a:off x="11049120" y="1714680"/>
            <a:ext cx="41907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系统解决方案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 11"/>
          <p:cNvSpPr/>
          <p:nvPr/>
        </p:nvSpPr>
        <p:spPr>
          <a:xfrm>
            <a:off x="11049120" y="2222640"/>
            <a:ext cx="4190760" cy="24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全光互联数据中心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交钥匙工程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(Turnkey)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单项目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$100M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毛利率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30-40%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收入占比目标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品牌与生态壁垒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32" name="Chart 0"/>
          <p:cNvGraphicFramePr/>
          <p:nvPr/>
        </p:nvGraphicFramePr>
        <p:xfrm>
          <a:off x="711360" y="5219640"/>
          <a:ext cx="8991360" cy="289584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333" name="Chart 0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11360" y="5219640"/>
                    <a:ext cx="8991360" cy="28958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34" name="Text 12"/>
          <p:cNvSpPr/>
          <p:nvPr/>
        </p:nvSpPr>
        <p:spPr>
          <a:xfrm>
            <a:off x="10159920" y="5270400"/>
            <a:ext cx="5334120" cy="27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收入预测路径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2026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$50M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（原型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早期授权）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2028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$500M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量产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+OPU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验证）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2030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$2B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OPU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商用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+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全光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DC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2032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年：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$5B</a:t>
            </a:r>
            <a:r>
              <a:rPr lang="en-US" sz="16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（光计算纪元）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复合年增长率 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CAGR ~120%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（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2026-2030</a:t>
            </a:r>
            <a:r>
              <a:rPr lang="en-US" sz="16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 13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6" name="Shape 14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 1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27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Image 0" descr="https://images.unsplash.com/photo-1451187580459-43490279c0fa?q=80&amp;w=2072&amp;auto=format&amp;fit=crop"/>
          <p:cNvPicPr/>
          <p:nvPr/>
        </p:nvPicPr>
        <p:blipFill>
          <a:blip r:embed="rId1"/>
          <a:srcRect l="0" t="7741" r="0" b="7741"/>
          <a:stretch/>
        </p:blipFill>
        <p:spPr>
          <a:xfrm>
            <a:off x="0" y="0"/>
            <a:ext cx="16256160" cy="91440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9" name="Shape 0"/>
          <p:cNvGrpSpPr/>
          <p:nvPr/>
        </p:nvGrpSpPr>
        <p:grpSpPr>
          <a:xfrm>
            <a:off x="0" y="0"/>
            <a:ext cx="16268760" cy="9144000"/>
            <a:chOff x="0" y="0"/>
            <a:chExt cx="16268760" cy="9144000"/>
          </a:xfrm>
        </p:grpSpPr>
        <p:pic>
          <p:nvPicPr>
            <p:cNvPr id="340" name="Shape 0"/>
            <p:cNvPicPr/>
            <p:nvPr/>
          </p:nvPicPr>
          <p:blipFill>
            <a:blip r:embed="rId2"/>
            <a:stretch/>
          </p:blipFill>
          <p:spPr>
            <a:xfrm>
              <a:off x="0" y="0"/>
              <a:ext cx="16268760" cy="9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1" name=""/>
            <p:cNvSpPr/>
            <p:nvPr/>
          </p:nvSpPr>
          <p:spPr>
            <a:xfrm>
              <a:off x="0" y="0"/>
              <a:ext cx="16256160" cy="9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pic>
        <p:nvPicPr>
          <p:cNvPr id="342" name="Text 1"/>
          <p:cNvPicPr/>
          <p:nvPr/>
        </p:nvPicPr>
        <p:blipFill>
          <a:blip r:embed="rId3"/>
          <a:stretch/>
        </p:blipFill>
        <p:spPr>
          <a:xfrm>
            <a:off x="25560" y="1968480"/>
            <a:ext cx="4546440" cy="257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Text 2"/>
          <p:cNvSpPr/>
          <p:nvPr/>
        </p:nvSpPr>
        <p:spPr>
          <a:xfrm>
            <a:off x="762120" y="4064040"/>
            <a:ext cx="114300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产业生态标准、知识产权（</a:t>
            </a: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36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）堡垒与路线图总结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762120" y="5079960"/>
            <a:ext cx="1523880" cy="507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960" rIns="90000" bIns="39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762120" y="5460840"/>
            <a:ext cx="8889840" cy="101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全球硅光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授权格局、技术标准制定与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2026-2040</a:t>
            </a:r>
            <a:r>
              <a:rPr lang="en-US" sz="20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战略路线图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28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05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产业生态标准、知识产权（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）堡垒与路线图总结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 1"/>
          <p:cNvSpPr/>
          <p:nvPr/>
        </p:nvSpPr>
        <p:spPr>
          <a:xfrm>
            <a:off x="762120" y="635040"/>
            <a:ext cx="11430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全球硅光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授权与技术壁垒矩阵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9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50" name=""/>
          <p:cNvGraphicFramePr/>
          <p:nvPr/>
        </p:nvGraphicFramePr>
        <p:xfrm>
          <a:off x="762120" y="1587600"/>
          <a:ext cx="14731920" cy="4572000"/>
        </p:xfrm>
        <a:graphic>
          <a:graphicData uri="http://schemas.openxmlformats.org/drawingml/2006/table">
            <a:tbl>
              <a:tblPr/>
              <a:tblGrid>
                <a:gridCol w="2062080"/>
                <a:gridCol w="2652840"/>
                <a:gridCol w="2651040"/>
                <a:gridCol w="2651040"/>
                <a:gridCol w="2357280"/>
                <a:gridCol w="2357640"/>
              </a:tblGrid>
              <a:tr h="50796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IP</a:t>
                      </a: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类别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核心持有者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专利数量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技术壁垒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授权模式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合规风险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D4A843"/>
                    </a:solidFill>
                  </a:tcPr>
                </a:tc>
              </a:tr>
              <a:tr h="685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MZI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调制器结构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Intel / IBM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&gt;200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电极设计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热补偿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封闭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交叉授权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侵权诉讼风险高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85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微环谐振器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Cornell / UCSB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&gt;80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热稳定性算法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学术授权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FRAND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原则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685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光栅耦合器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IME / UBC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&gt;60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亚波长结构设计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开放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低费率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低风险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85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相干接收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DSP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Acacia / Inphi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&gt;150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算法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补偿专利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封闭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高费率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SEP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争议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  <a:tr h="68580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片上激光器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Lumentum / II-VI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&gt;300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III-V/Si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键合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封闭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组件销售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出口管制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(EAR)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0F1623"/>
                    </a:solidFill>
                  </a:tcPr>
                </a:tc>
              </a:tr>
              <a:tr h="635040"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驱动控制芯片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MACOM / TI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&gt;100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件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TIA/CDR/DSP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开放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/</a:t>
                      </a: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标准品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  <a:tc>
                  <a:txBody>
                    <a:bodyPr lIns="90000" tIns="0" rIns="90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E8ECF1"/>
                          </a:solidFill>
                          <a:effectLst/>
                          <a:uFillTx/>
                          <a:latin typeface="Liter"/>
                          <a:ea typeface="Liter"/>
                        </a:rPr>
                        <a:t>低风险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0000" marR="90000" marT="0" marB="0">
                    <a:lnL w="5760">
                      <a:solidFill>
                        <a:srgbClr val="2A3441"/>
                      </a:solidFill>
                      <a:prstDash val="solid"/>
                    </a:lnL>
                    <a:lnR w="5760">
                      <a:solidFill>
                        <a:srgbClr val="2A3441"/>
                      </a:solidFill>
                      <a:prstDash val="solid"/>
                    </a:lnR>
                    <a:lnT w="5760">
                      <a:solidFill>
                        <a:srgbClr val="2A3441"/>
                      </a:solidFill>
                      <a:prstDash val="solid"/>
                    </a:lnT>
                    <a:lnB w="5760">
                      <a:solidFill>
                        <a:srgbClr val="2A3441"/>
                      </a:solidFill>
                      <a:prstDash val="solid"/>
                    </a:lnB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351" name="Text 3"/>
          <p:cNvSpPr/>
          <p:nvPr/>
        </p:nvSpPr>
        <p:spPr>
          <a:xfrm>
            <a:off x="762120" y="6477120"/>
            <a:ext cx="1473192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开源与闭源生态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OpenROADM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OIF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IEEE P802.3df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等开放标准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vs Intel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Acacia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等厂商私有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，标准必要专利（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SEP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）需遵循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FRAND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原则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光维计算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战略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：自研核心专利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&gt;200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件（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MZI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优化结构、热补偿算法、耦合器设计），与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GSA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成员签订交叉授权协议，构建防御性专利组合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 4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3" name="Shape 5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29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0"/>
          <p:cNvSpPr/>
          <p:nvPr/>
        </p:nvSpPr>
        <p:spPr>
          <a:xfrm>
            <a:off x="762120" y="254160"/>
            <a:ext cx="6350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05 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产业生态标准、知识产权（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2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）堡垒与路线图总结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762120" y="635040"/>
            <a:ext cx="12699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3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2026-2040</a:t>
            </a:r>
            <a:r>
              <a:rPr lang="en-US" sz="2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战略路线图：从硅光模块到光计算纪元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762120" y="1270080"/>
            <a:ext cx="101592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8" name="Shape 3"/>
          <p:cNvSpPr/>
          <p:nvPr/>
        </p:nvSpPr>
        <p:spPr>
          <a:xfrm>
            <a:off x="762120" y="1587600"/>
            <a:ext cx="4698720" cy="4572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 4"/>
          <p:cNvSpPr/>
          <p:nvPr/>
        </p:nvSpPr>
        <p:spPr>
          <a:xfrm>
            <a:off x="10159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PHASE 1 | 2026-2028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 5"/>
          <p:cNvSpPr/>
          <p:nvPr/>
        </p:nvSpPr>
        <p:spPr>
          <a:xfrm>
            <a:off x="1015920" y="2158920"/>
            <a:ext cx="41911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2000" b="1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光引擎量产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 6"/>
          <p:cNvSpPr/>
          <p:nvPr/>
        </p:nvSpPr>
        <p:spPr>
          <a:xfrm>
            <a:off x="1015920" y="2666880"/>
            <a:ext cx="4191120" cy="33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800G/1.6T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光模块商用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CPO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交换芯片量产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OPU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原型验证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(10 TOPS/W)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波导损耗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0.5 dB/cm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调制速率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100 Gbaud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营收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$50M → $500M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客户：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Top 5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云厂商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2" name="Shape 7"/>
          <p:cNvSpPr/>
          <p:nvPr/>
        </p:nvSpPr>
        <p:spPr>
          <a:xfrm>
            <a:off x="5778360" y="1587600"/>
            <a:ext cx="4699080" cy="4572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 8"/>
          <p:cNvSpPr/>
          <p:nvPr/>
        </p:nvSpPr>
        <p:spPr>
          <a:xfrm>
            <a:off x="6032520" y="1714680"/>
            <a:ext cx="4191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PHASE 2 | 2029-2032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 9"/>
          <p:cNvSpPr/>
          <p:nvPr/>
        </p:nvSpPr>
        <p:spPr>
          <a:xfrm>
            <a:off x="6032520" y="2158920"/>
            <a:ext cx="419112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全光互联数据中心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 10"/>
          <p:cNvSpPr/>
          <p:nvPr/>
        </p:nvSpPr>
        <p:spPr>
          <a:xfrm>
            <a:off x="6032520" y="2666880"/>
            <a:ext cx="4191120" cy="33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OPU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商用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(50-200 TOPS/W)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WDM 128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通道集成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全光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DC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试点部署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波导损耗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0.1 dB/cm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调制速率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200 Gbaud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营收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$500M → $2B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主导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&gt;5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项国际标准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6" name="Shape 11"/>
          <p:cNvSpPr/>
          <p:nvPr/>
        </p:nvSpPr>
        <p:spPr>
          <a:xfrm>
            <a:off x="10794960" y="1587600"/>
            <a:ext cx="4699080" cy="4572000"/>
          </a:xfrm>
          <a:prstGeom prst="rect">
            <a:avLst/>
          </a:prstGeom>
          <a:solidFill>
            <a:srgbClr val="161E2E"/>
          </a:solidFill>
          <a:ln w="12600">
            <a:solidFill>
              <a:srgbClr val="2A344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 12"/>
          <p:cNvSpPr/>
          <p:nvPr/>
        </p:nvSpPr>
        <p:spPr>
          <a:xfrm>
            <a:off x="11049120" y="1714680"/>
            <a:ext cx="41907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u="none" strike="noStrike">
                <a:solidFill>
                  <a:srgbClr val="00E5C9"/>
                </a:solidFill>
                <a:effectLst/>
                <a:uFillTx/>
                <a:latin typeface="Liter"/>
                <a:ea typeface="Liter"/>
              </a:rPr>
              <a:t>PHASE 3 | 2033-2040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 13"/>
          <p:cNvSpPr/>
          <p:nvPr/>
        </p:nvSpPr>
        <p:spPr>
          <a:xfrm>
            <a:off x="11049120" y="2158920"/>
            <a:ext cx="419076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光计算纪元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9" name="Text 14"/>
          <p:cNvSpPr/>
          <p:nvPr/>
        </p:nvSpPr>
        <p:spPr>
          <a:xfrm>
            <a:off x="11049120" y="2666880"/>
            <a:ext cx="4190760" cy="33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OPU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大规模部署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100-1000 TOPS/W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全光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AI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训练集群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波导损耗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0.01 dB/cm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调制速率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400 Gbaud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每比特能耗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 fJ/bit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• 营收 </a:t>
            </a:r>
            <a:r>
              <a:rPr lang="en-US" sz="15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 $5B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 15"/>
          <p:cNvSpPr/>
          <p:nvPr/>
        </p:nvSpPr>
        <p:spPr>
          <a:xfrm>
            <a:off x="762120" y="6477120"/>
            <a:ext cx="14731920" cy="13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技术里程碑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：波导损耗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&lt;0.01 dB/cm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、调制速率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&gt;400 Gbaud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、每比特能耗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&lt;fJ/bit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封测良率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&gt;90%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、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WDM 256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通道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生态里程碑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：主导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/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参与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&gt;10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项国际标准（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OIF/IEEE/ITU-T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），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IP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授权覆盖全球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Top 10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代工厂，与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GSA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共建硅光生态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>
              <a:lnSpc>
                <a:spcPct val="17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■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 </a:t>
            </a:r>
            <a:r>
              <a:rPr lang="en-US" sz="1800" b="1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战略伙伴关系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：与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hyperscaler 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联合定义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CPO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标准，与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Top 3</a:t>
            </a:r>
            <a:r>
              <a:rPr lang="en-US" sz="18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云厂商签订长期供应协议，与风投共建光计算生态基金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 16"/>
          <p:cNvSpPr/>
          <p:nvPr/>
        </p:nvSpPr>
        <p:spPr>
          <a:xfrm>
            <a:off x="762120" y="825516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2" name="Shape 17"/>
          <p:cNvSpPr/>
          <p:nvPr/>
        </p:nvSpPr>
        <p:spPr>
          <a:xfrm>
            <a:off x="762120" y="8763120"/>
            <a:ext cx="14731920" cy="12600"/>
          </a:xfrm>
          <a:prstGeom prst="rect">
            <a:avLst/>
          </a:prstGeom>
          <a:solidFill>
            <a:srgbClr val="2A3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 18"/>
          <p:cNvSpPr/>
          <p:nvPr/>
        </p:nvSpPr>
        <p:spPr>
          <a:xfrm>
            <a:off x="10922040" y="8826480"/>
            <a:ext cx="48258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Slide 30 | ### --- SLIDE_DATA_SET_NODE_PHOTONICS_2026 --- ###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Shape 0"/>
          <p:cNvGrpSpPr/>
          <p:nvPr/>
        </p:nvGrpSpPr>
        <p:grpSpPr>
          <a:xfrm>
            <a:off x="0" y="0"/>
            <a:ext cx="16268760" cy="9144000"/>
            <a:chOff x="0" y="0"/>
            <a:chExt cx="16268760" cy="9144000"/>
          </a:xfrm>
        </p:grpSpPr>
        <p:pic>
          <p:nvPicPr>
            <p:cNvPr id="375" name="Shape 0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6268760" cy="9144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6" name=""/>
            <p:cNvSpPr/>
            <p:nvPr/>
          </p:nvSpPr>
          <p:spPr>
            <a:xfrm>
              <a:off x="0" y="0"/>
              <a:ext cx="16256160" cy="9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77" name="Shape 1"/>
          <p:cNvSpPr/>
          <p:nvPr/>
        </p:nvSpPr>
        <p:spPr>
          <a:xfrm>
            <a:off x="6858000" y="2793960"/>
            <a:ext cx="254016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 2"/>
          <p:cNvSpPr/>
          <p:nvPr/>
        </p:nvSpPr>
        <p:spPr>
          <a:xfrm>
            <a:off x="1778040" y="3048120"/>
            <a:ext cx="1270008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2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光速未来，算力无界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9" name="Shape 3"/>
          <p:cNvSpPr/>
          <p:nvPr/>
        </p:nvSpPr>
        <p:spPr>
          <a:xfrm>
            <a:off x="6858000" y="4317840"/>
            <a:ext cx="2540160" cy="38160"/>
          </a:xfrm>
          <a:prstGeom prst="rect">
            <a:avLst/>
          </a:prstGeom>
          <a:solidFill>
            <a:srgbClr val="D4A8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0" name="Text 4"/>
          <p:cNvSpPr/>
          <p:nvPr/>
        </p:nvSpPr>
        <p:spPr>
          <a:xfrm>
            <a:off x="3048120" y="4699080"/>
            <a:ext cx="10159920" cy="6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4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光维计算 </a:t>
            </a:r>
            <a:r>
              <a:rPr lang="en-US" sz="22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Lumina Photonics | </a:t>
            </a:r>
            <a:r>
              <a:rPr lang="en-US" sz="2200" b="0" u="none" strike="noStrike">
                <a:solidFill>
                  <a:srgbClr val="E8ECF1"/>
                </a:solidFill>
                <a:effectLst/>
                <a:uFillTx/>
                <a:latin typeface="Liter"/>
                <a:ea typeface="Liter"/>
              </a:rPr>
              <a:t>以光子为笔，重写算力边界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 5"/>
          <p:cNvSpPr/>
          <p:nvPr/>
        </p:nvSpPr>
        <p:spPr>
          <a:xfrm>
            <a:off x="4317840" y="5587920"/>
            <a:ext cx="762012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联系我们：</a:t>
            </a:r>
            <a:r>
              <a:rPr lang="en-US" sz="18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cto@luminaphotonics.com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 6"/>
          <p:cNvSpPr/>
          <p:nvPr/>
        </p:nvSpPr>
        <p:spPr>
          <a:xfrm>
            <a:off x="4317840" y="6350040"/>
            <a:ext cx="7620120" cy="5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LUMINA PHOTONICS </a:t>
            </a:r>
            <a:r>
              <a:rPr lang="en-US" sz="1800" b="0" u="none" strike="noStrike">
                <a:solidFill>
                  <a:srgbClr val="D4A843"/>
                </a:solidFill>
                <a:effectLst/>
                <a:uFillTx/>
                <a:latin typeface="Liter"/>
                <a:ea typeface="Liter"/>
              </a:rPr>
              <a:t>光维计算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 7"/>
          <p:cNvSpPr/>
          <p:nvPr/>
        </p:nvSpPr>
        <p:spPr>
          <a:xfrm>
            <a:off x="4317840" y="7365960"/>
            <a:ext cx="76201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### --- SLIDE_DATA_SET_NODE_PHOTONICS_2026 --- ### | Slide 31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 8"/>
          <p:cNvSpPr/>
          <p:nvPr/>
        </p:nvSpPr>
        <p:spPr>
          <a:xfrm>
            <a:off x="762120" y="8636040"/>
            <a:ext cx="88898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[Visual: 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硅光芯片层级示意图，展示光信号在波导、微环谐振器和探测器之间的流动</a:t>
            </a:r>
            <a:r>
              <a:rPr lang="en-US" sz="1100" b="0" u="none" strike="noStrike">
                <a:solidFill>
                  <a:srgbClr val="8A95A8"/>
                </a:solidFill>
                <a:effectLst/>
                <a:uFillTx/>
                <a:latin typeface="Liter"/>
                <a:ea typeface="Liter"/>
              </a:rPr>
              <a:t>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2026-04-30T13:33:59Z</dcterms:created>
  <dc:creator>Kimi</dc:creator>
  <dc:description/>
  <dc:language>zh-CN</dc:language>
  <cp:lastModifiedBy>Provence Jake</cp:lastModifiedBy>
  <dcterms:modified xsi:type="dcterms:W3CDTF">2026-05-10T14:00:24Z</dcterms:modified>
  <cp:revision>2</cp:revision>
  <dc:subject>光速算力：基于硅光集成的 AI 加速器、光计算单元（OPU）与千兆瓦级数据中心全光化路线图</dc:subject>
  <dc:title>光速算力：基于硅光集成的 AI 加速器、光计算单元（OPU）与千兆瓦级数据中心全光化路线图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{"Label":"光速算力：基于硅光集成的 AI 加速器、光计算单元（OPU）与千兆瓦级数据中心全光化路线图","ContentProducer":"001191110108MACG2KBH8F10000","ProduceID":"19ddc8bf-56d2-826e-8000-0000424b8dea","ReservedCode1":"","ContentPropagator":"001191110108MACG2KBH8F20000","PropagateID":"19ddc8bf-56d2-826e-8000-0000424b8dea","ReservedCode2":""}</vt:lpwstr>
  </property>
</Properties>
</file>