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3.xml" ContentType="application/vnd.openxmlformats-officedocument.theme+xml"/>
  <Override PartName="/ppt/presentation.xml" ContentType="application/vnd.openxmlformats-officedocument.presentationml.presentation.main+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embeddings/oleObject1.xlsx" ContentType="application/vnd.openxmlformats-officedocument.spreadsheetml.sheet"/>
  <Override PartName="/ppt/embeddings/oleObject2.xlsx" ContentType="application/vnd.openxmlformats-officedocument.spreadsheetml.sheet"/>
  <Override PartName="/ppt/embeddings/oleObject3.xlsx" ContentType="application/vnd.openxmlformats-officedocument.spreadsheetml.sheet"/>
  <Override PartName="/ppt/embeddings/oleObject4.xlsx" ContentType="application/vnd.openxmlformats-officedocument.spreadsheetml.sheet"/>
  <Override PartName="/ppt/embeddings/oleObject5.xlsx" ContentType="application/vnd.openxmlformats-officedocument.spreadsheetml.sheet"/>
  <Override PartName="/ppt/embeddings/oleObject6.xlsx" ContentType="application/vnd.openxmlformats-officedocument.spreadsheetml.sheet"/>
  <Override PartName="/ppt/embeddings/oleObject7.xlsx" ContentType="application/vnd.openxmlformats-officedocument.spreadsheetml.sheet"/>
  <Override PartName="/ppt/embeddings/oleObject8.xlsx" ContentType="application/vnd.openxmlformats-officedocument.spreadsheetml.sheet"/>
  <Override PartName="/ppt/embeddings/oleObject10.xlsx" ContentType="application/vnd.openxmlformats-officedocument.spreadsheetml.sheet"/>
  <Override PartName="/ppt/embeddings/oleObject9.xlsx" ContentType="application/vnd.openxmlformats-officedocument.spreadsheetml.sheet"/>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9.xml" ContentType="application/vnd.openxmlformats-officedocument.presentationml.notesSlide+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Lst>
  <p:sldSz cx="16257588" cy="9144000"/>
  <p:notesSz cx="9144000" cy="16257588"/>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
          <p:cNvSpPr/>
          <p:nvPr/>
        </p:nvSpPr>
        <p:spPr>
          <a:xfrm>
            <a:off x="0" y="0"/>
            <a:ext cx="9144000" cy="16257600"/>
          </a:xfrm>
          <a:prstGeom prst="rect">
            <a:avLst/>
          </a:prstGeom>
          <a:solidFill>
            <a:srgbClr val="FFFFFF"/>
          </a:solidFill>
          <a:ln w="0">
            <a:noFill/>
          </a:ln>
        </p:spPr>
        <p:txBody>
          <a:bodyPr lIns="90000" tIns="45000" rIns="90000" bIns="45000" anchor="ctr" anchorCtr="1">
            <a:noAutofit/>
          </a:bodyPr>
          <a:p>
            <a:endParaRPr lang="en-US" sz="1800" b="0" u="none" strike="noStrike">
              <a:solidFill>
                <a:srgbClr val="000000"/>
              </a:solidFill>
              <a:effectLst/>
              <a:uFillTx/>
              <a:latin typeface="Calibri"/>
            </a:endParaRPr>
          </a:p>
        </p:txBody>
      </p:sp>
      <p:sp>
        <p:nvSpPr>
          <p:cNvPr id="3" name="PlaceHolder 1"/>
          <p:cNvSpPr>
            <a:spLocks noGrp="1"/>
          </p:cNvSpPr>
          <p:nvPr>
            <p:ph type="sldImg"/>
          </p:nvPr>
        </p:nvSpPr>
        <p:spPr>
          <a:xfrm>
            <a:off x="0" y="1712160"/>
            <a:ext cx="9143640" cy="5142600"/>
          </a:xfrm>
          <a:prstGeom prst="rect">
            <a:avLst/>
          </a:prstGeom>
          <a:noFill/>
          <a:ln w="0">
            <a:noFill/>
          </a:ln>
        </p:spPr>
        <p:txBody>
          <a:bodyPr lIns="0" tIns="0" rIns="0" bIns="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400" b="0" u="none" strike="noStrike">
                <a:solidFill>
                  <a:srgbClr val="000000"/>
                </a:solidFill>
                <a:effectLst/>
                <a:uFillTx/>
                <a:latin typeface="Calibri Light"/>
              </a:rPr>
              <a:t>单击以移动幻灯片</a:t>
            </a:r>
            <a:endParaRPr lang="en-US" sz="4400" b="0" u="none" strike="noStrike">
              <a:solidFill>
                <a:srgbClr val="000000"/>
              </a:solidFill>
              <a:effectLst/>
              <a:uFillTx/>
              <a:latin typeface="Calibri Light"/>
            </a:endParaRPr>
          </a:p>
        </p:txBody>
      </p:sp>
      <p:sp>
        <p:nvSpPr>
          <p:cNvPr id="4" name="PlaceHolder 2"/>
          <p:cNvSpPr>
            <a:spLocks noGrp="1"/>
          </p:cNvSpPr>
          <p:nvPr>
            <p:ph type="body"/>
          </p:nvPr>
        </p:nvSpPr>
        <p:spPr>
          <a:xfrm>
            <a:off x="914400" y="7722360"/>
            <a:ext cx="7314840" cy="73155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200" b="0" u="none" strike="noStrike">
                <a:solidFill>
                  <a:srgbClr val="000000"/>
                </a:solidFill>
                <a:effectLst/>
                <a:uFillTx/>
                <a:latin typeface="等线"/>
              </a:rPr>
              <a:t>点击编辑备注格式</a:t>
            </a:r>
            <a:endParaRPr lang="en-US" sz="1200" b="0" u="none" strike="noStrike">
              <a:solidFill>
                <a:srgbClr val="000000"/>
              </a:solidFill>
              <a:effectLst/>
              <a:uFillTx/>
              <a:latin typeface="等线"/>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2147483056" y="2147483056"/>
            <a:ext cx="0" cy="0"/>
          </a:xfrm>
          <a:prstGeom prst="rect">
            <a:avLst/>
          </a:prstGeom>
          <a:ln w="0">
            <a:noFill/>
          </a:ln>
        </p:spPr>
      </p:sp>
      <p:sp>
        <p:nvSpPr>
          <p:cNvPr id="361"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362"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4E4C99D-5B31-472F-A717-6E17ED10FD1E}"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2147483056" y="2147483056"/>
            <a:ext cx="0" cy="0"/>
          </a:xfrm>
          <a:prstGeom prst="rect">
            <a:avLst/>
          </a:prstGeom>
          <a:ln w="0">
            <a:noFill/>
          </a:ln>
        </p:spPr>
      </p:sp>
      <p:sp>
        <p:nvSpPr>
          <p:cNvPr id="364"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365"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8326E64-F2F5-47F3-A775-7A4C8ABC0B49}"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2147483056" y="2147483056"/>
            <a:ext cx="0" cy="0"/>
          </a:xfrm>
          <a:prstGeom prst="rect">
            <a:avLst/>
          </a:prstGeom>
          <a:ln w="0">
            <a:noFill/>
          </a:ln>
        </p:spPr>
      </p:sp>
      <p:sp>
        <p:nvSpPr>
          <p:cNvPr id="367"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368"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8F39384-1C3B-47FF-B56E-21B2C7AC2DDD}"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2147483056" y="2147483056"/>
            <a:ext cx="0" cy="0"/>
          </a:xfrm>
          <a:prstGeom prst="rect">
            <a:avLst/>
          </a:prstGeom>
          <a:ln w="0">
            <a:noFill/>
          </a:ln>
        </p:spPr>
      </p:sp>
      <p:sp>
        <p:nvSpPr>
          <p:cNvPr id="370"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371"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77A3EBD-F7FA-488D-B6FA-22BB9EF1D9D4}"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2147483056" y="2147483056"/>
            <a:ext cx="0" cy="0"/>
          </a:xfrm>
          <a:prstGeom prst="rect">
            <a:avLst/>
          </a:prstGeom>
          <a:ln w="0">
            <a:noFill/>
          </a:ln>
        </p:spPr>
      </p:sp>
      <p:sp>
        <p:nvSpPr>
          <p:cNvPr id="373"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374"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4BA8C56-71AD-4D45-A939-4E82C1E8C8DD}"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2147483056" y="2147483056"/>
            <a:ext cx="0" cy="0"/>
          </a:xfrm>
          <a:prstGeom prst="rect">
            <a:avLst/>
          </a:prstGeom>
          <a:ln w="0">
            <a:noFill/>
          </a:ln>
        </p:spPr>
      </p:sp>
      <p:sp>
        <p:nvSpPr>
          <p:cNvPr id="376"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377"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C562E98-AF10-47F3-8853-F27FD5862CFA}"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sldImg"/>
          </p:nvPr>
        </p:nvSpPr>
        <p:spPr>
          <a:xfrm>
            <a:off x="2147483056" y="2147483056"/>
            <a:ext cx="0" cy="0"/>
          </a:xfrm>
          <a:prstGeom prst="rect">
            <a:avLst/>
          </a:prstGeom>
          <a:ln w="0">
            <a:noFill/>
          </a:ln>
        </p:spPr>
      </p:sp>
      <p:sp>
        <p:nvSpPr>
          <p:cNvPr id="379"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380"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26932FE-CDD2-4503-85BF-8382B9246DB9}"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2147483056" y="2147483056"/>
            <a:ext cx="0" cy="0"/>
          </a:xfrm>
          <a:prstGeom prst="rect">
            <a:avLst/>
          </a:prstGeom>
          <a:ln w="0">
            <a:noFill/>
          </a:ln>
        </p:spPr>
      </p:sp>
      <p:sp>
        <p:nvSpPr>
          <p:cNvPr id="382"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383"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A2DA3D2-1D80-46A4-9C7C-7C94E357C8B1}"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2147483056" y="2147483056"/>
            <a:ext cx="0" cy="0"/>
          </a:xfrm>
          <a:prstGeom prst="rect">
            <a:avLst/>
          </a:prstGeom>
          <a:ln w="0">
            <a:noFill/>
          </a:ln>
        </p:spPr>
      </p:sp>
      <p:sp>
        <p:nvSpPr>
          <p:cNvPr id="385"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386"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5A60AE0-49E4-4312-8FC1-2201A45A270A}"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sldImg"/>
          </p:nvPr>
        </p:nvSpPr>
        <p:spPr>
          <a:xfrm>
            <a:off x="2147483056" y="2147483056"/>
            <a:ext cx="0" cy="0"/>
          </a:xfrm>
          <a:prstGeom prst="rect">
            <a:avLst/>
          </a:prstGeom>
          <a:ln w="0">
            <a:noFill/>
          </a:ln>
        </p:spPr>
      </p:sp>
      <p:sp>
        <p:nvSpPr>
          <p:cNvPr id="388"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389"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58A5993-B7EE-4D15-B3F6-BD471FEE04CE}"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sldImg"/>
          </p:nvPr>
        </p:nvSpPr>
        <p:spPr>
          <a:xfrm>
            <a:off x="2147483056" y="2147483056"/>
            <a:ext cx="0" cy="0"/>
          </a:xfrm>
          <a:prstGeom prst="rect">
            <a:avLst/>
          </a:prstGeom>
          <a:ln w="0">
            <a:noFill/>
          </a:ln>
        </p:spPr>
      </p:sp>
      <p:sp>
        <p:nvSpPr>
          <p:cNvPr id="391"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392"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B6442D6-CEA3-412C-8795-68BD4421D511}"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sldImg"/>
          </p:nvPr>
        </p:nvSpPr>
        <p:spPr>
          <a:xfrm>
            <a:off x="2147483056" y="2147483056"/>
            <a:ext cx="0" cy="0"/>
          </a:xfrm>
          <a:prstGeom prst="rect">
            <a:avLst/>
          </a:prstGeom>
          <a:ln w="0">
            <a:noFill/>
          </a:ln>
        </p:spPr>
      </p:sp>
      <p:sp>
        <p:nvSpPr>
          <p:cNvPr id="394"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395"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ACE698D-5235-4A2C-B1F9-38EE743EB0B3}"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sldImg"/>
          </p:nvPr>
        </p:nvSpPr>
        <p:spPr>
          <a:xfrm>
            <a:off x="2147483056" y="2147483056"/>
            <a:ext cx="0" cy="0"/>
          </a:xfrm>
          <a:prstGeom prst="rect">
            <a:avLst/>
          </a:prstGeom>
          <a:ln w="0">
            <a:noFill/>
          </a:ln>
        </p:spPr>
      </p:sp>
      <p:sp>
        <p:nvSpPr>
          <p:cNvPr id="397"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398"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1855DBD-1887-463E-BA36-C93AF60AB373}"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sldImg"/>
          </p:nvPr>
        </p:nvSpPr>
        <p:spPr>
          <a:xfrm>
            <a:off x="2147483056" y="2147483056"/>
            <a:ext cx="0" cy="0"/>
          </a:xfrm>
          <a:prstGeom prst="rect">
            <a:avLst/>
          </a:prstGeom>
          <a:ln w="0">
            <a:noFill/>
          </a:ln>
        </p:spPr>
      </p:sp>
      <p:sp>
        <p:nvSpPr>
          <p:cNvPr id="400"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01"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7CBBBA2-82A3-4969-A5FC-EA22381CC7BF}"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sldImg"/>
          </p:nvPr>
        </p:nvSpPr>
        <p:spPr>
          <a:xfrm>
            <a:off x="2147483056" y="2147483056"/>
            <a:ext cx="0" cy="0"/>
          </a:xfrm>
          <a:prstGeom prst="rect">
            <a:avLst/>
          </a:prstGeom>
          <a:ln w="0">
            <a:noFill/>
          </a:ln>
        </p:spPr>
      </p:sp>
      <p:sp>
        <p:nvSpPr>
          <p:cNvPr id="403"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04"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7853696-ADCF-46BC-9512-3EB4DFC55026}"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sldImg"/>
          </p:nvPr>
        </p:nvSpPr>
        <p:spPr>
          <a:xfrm>
            <a:off x="2147483056" y="2147483056"/>
            <a:ext cx="0" cy="0"/>
          </a:xfrm>
          <a:prstGeom prst="rect">
            <a:avLst/>
          </a:prstGeom>
          <a:ln w="0">
            <a:noFill/>
          </a:ln>
        </p:spPr>
      </p:sp>
      <p:sp>
        <p:nvSpPr>
          <p:cNvPr id="406"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07"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B37C3AC-379A-4A60-8CCE-82293AA6169C}"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sldImg"/>
          </p:nvPr>
        </p:nvSpPr>
        <p:spPr>
          <a:xfrm>
            <a:off x="2147483056" y="2147483056"/>
            <a:ext cx="0" cy="0"/>
          </a:xfrm>
          <a:prstGeom prst="rect">
            <a:avLst/>
          </a:prstGeom>
          <a:ln w="0">
            <a:noFill/>
          </a:ln>
        </p:spPr>
      </p:sp>
      <p:sp>
        <p:nvSpPr>
          <p:cNvPr id="409"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10"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02A5AD6-2767-471D-BCA3-6493DD4FFC51}"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sldImg"/>
          </p:nvPr>
        </p:nvSpPr>
        <p:spPr>
          <a:xfrm>
            <a:off x="2147483056" y="2147483056"/>
            <a:ext cx="0" cy="0"/>
          </a:xfrm>
          <a:prstGeom prst="rect">
            <a:avLst/>
          </a:prstGeom>
          <a:ln w="0">
            <a:noFill/>
          </a:ln>
        </p:spPr>
      </p:sp>
      <p:sp>
        <p:nvSpPr>
          <p:cNvPr id="412"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13"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0B3B847-DBD8-4398-80D9-F1F01C0F246D}"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sldImg"/>
          </p:nvPr>
        </p:nvSpPr>
        <p:spPr>
          <a:xfrm>
            <a:off x="2147483056" y="2147483056"/>
            <a:ext cx="0" cy="0"/>
          </a:xfrm>
          <a:prstGeom prst="rect">
            <a:avLst/>
          </a:prstGeom>
          <a:ln w="0">
            <a:noFill/>
          </a:ln>
        </p:spPr>
      </p:sp>
      <p:sp>
        <p:nvSpPr>
          <p:cNvPr id="415"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16"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780769C-51B3-4768-943E-1C80AAB680CA}"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sldImg"/>
          </p:nvPr>
        </p:nvSpPr>
        <p:spPr>
          <a:xfrm>
            <a:off x="2147483056" y="2147483056"/>
            <a:ext cx="0" cy="0"/>
          </a:xfrm>
          <a:prstGeom prst="rect">
            <a:avLst/>
          </a:prstGeom>
          <a:ln w="0">
            <a:noFill/>
          </a:ln>
        </p:spPr>
      </p:sp>
      <p:sp>
        <p:nvSpPr>
          <p:cNvPr id="418"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19"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4A9A051-3E7C-463A-99F4-04CD5CE3C692}"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sldImg"/>
          </p:nvPr>
        </p:nvSpPr>
        <p:spPr>
          <a:xfrm>
            <a:off x="2147483056" y="2147483056"/>
            <a:ext cx="0" cy="0"/>
          </a:xfrm>
          <a:prstGeom prst="rect">
            <a:avLst/>
          </a:prstGeom>
          <a:ln w="0">
            <a:noFill/>
          </a:ln>
        </p:spPr>
      </p:sp>
      <p:sp>
        <p:nvSpPr>
          <p:cNvPr id="421"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22"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2E622FC-E3AD-4DF5-9970-5E4C847E57BB}"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sldImg"/>
          </p:nvPr>
        </p:nvSpPr>
        <p:spPr>
          <a:xfrm>
            <a:off x="2147483056" y="2147483056"/>
            <a:ext cx="0" cy="0"/>
          </a:xfrm>
          <a:prstGeom prst="rect">
            <a:avLst/>
          </a:prstGeom>
          <a:ln w="0">
            <a:noFill/>
          </a:ln>
        </p:spPr>
      </p:sp>
      <p:sp>
        <p:nvSpPr>
          <p:cNvPr id="424"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25"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34927C3-9E2E-4092-AE69-B5986EDCD81F}"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sldImg"/>
          </p:nvPr>
        </p:nvSpPr>
        <p:spPr>
          <a:xfrm>
            <a:off x="2147483056" y="2147483056"/>
            <a:ext cx="0" cy="0"/>
          </a:xfrm>
          <a:prstGeom prst="rect">
            <a:avLst/>
          </a:prstGeom>
          <a:ln w="0">
            <a:noFill/>
          </a:ln>
        </p:spPr>
      </p:sp>
      <p:sp>
        <p:nvSpPr>
          <p:cNvPr id="427"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28"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9CC6EB0-A102-4753-B37C-1439DDA776B6}"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sldImg"/>
          </p:nvPr>
        </p:nvSpPr>
        <p:spPr>
          <a:xfrm>
            <a:off x="2147483056" y="2147483056"/>
            <a:ext cx="0" cy="0"/>
          </a:xfrm>
          <a:prstGeom prst="rect">
            <a:avLst/>
          </a:prstGeom>
          <a:ln w="0">
            <a:noFill/>
          </a:ln>
        </p:spPr>
      </p:sp>
      <p:sp>
        <p:nvSpPr>
          <p:cNvPr id="430"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31"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1E80480-B59B-4ADE-9EE1-368ACF9534D0}"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PlaceHolder 1"/>
          <p:cNvSpPr>
            <a:spLocks noGrp="1"/>
          </p:cNvSpPr>
          <p:nvPr>
            <p:ph type="sldImg"/>
          </p:nvPr>
        </p:nvSpPr>
        <p:spPr>
          <a:xfrm>
            <a:off x="2147483056" y="2147483056"/>
            <a:ext cx="0" cy="0"/>
          </a:xfrm>
          <a:prstGeom prst="rect">
            <a:avLst/>
          </a:prstGeom>
          <a:ln w="0">
            <a:noFill/>
          </a:ln>
        </p:spPr>
      </p:sp>
      <p:sp>
        <p:nvSpPr>
          <p:cNvPr id="433"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34"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E83E08A-CD09-4739-A629-CCBE01E8FFA8}"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sldImg"/>
          </p:nvPr>
        </p:nvSpPr>
        <p:spPr>
          <a:xfrm>
            <a:off x="2147483056" y="2147483056"/>
            <a:ext cx="0" cy="0"/>
          </a:xfrm>
          <a:prstGeom prst="rect">
            <a:avLst/>
          </a:prstGeom>
          <a:ln w="0">
            <a:noFill/>
          </a:ln>
        </p:spPr>
      </p:sp>
      <p:sp>
        <p:nvSpPr>
          <p:cNvPr id="436"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37"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A3C4318-786F-48FE-BDEE-8BE781152268}"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sldImg"/>
          </p:nvPr>
        </p:nvSpPr>
        <p:spPr>
          <a:xfrm>
            <a:off x="2147483056" y="2147483056"/>
            <a:ext cx="0" cy="0"/>
          </a:xfrm>
          <a:prstGeom prst="rect">
            <a:avLst/>
          </a:prstGeom>
          <a:ln w="0">
            <a:noFill/>
          </a:ln>
        </p:spPr>
      </p:sp>
      <p:sp>
        <p:nvSpPr>
          <p:cNvPr id="439"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40"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0214B98-ED64-4C28-9FA6-0A0ECFD6EF78}"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sldImg"/>
          </p:nvPr>
        </p:nvSpPr>
        <p:spPr>
          <a:xfrm>
            <a:off x="2147483056" y="2147483056"/>
            <a:ext cx="0" cy="0"/>
          </a:xfrm>
          <a:prstGeom prst="rect">
            <a:avLst/>
          </a:prstGeom>
          <a:ln w="0">
            <a:noFill/>
          </a:ln>
        </p:spPr>
      </p:sp>
      <p:sp>
        <p:nvSpPr>
          <p:cNvPr id="442"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43"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95F5E19-6896-4FF2-84D4-41B49BB0949C}"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sldImg"/>
          </p:nvPr>
        </p:nvSpPr>
        <p:spPr>
          <a:xfrm>
            <a:off x="2147483056" y="2147483056"/>
            <a:ext cx="0" cy="0"/>
          </a:xfrm>
          <a:prstGeom prst="rect">
            <a:avLst/>
          </a:prstGeom>
          <a:ln w="0">
            <a:noFill/>
          </a:ln>
        </p:spPr>
      </p:sp>
      <p:sp>
        <p:nvSpPr>
          <p:cNvPr id="445"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46"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71A9A15-0E18-470A-91B3-314C1EE834E4}"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sldImg"/>
          </p:nvPr>
        </p:nvSpPr>
        <p:spPr>
          <a:xfrm>
            <a:off x="2147483056" y="2147483056"/>
            <a:ext cx="0" cy="0"/>
          </a:xfrm>
          <a:prstGeom prst="rect">
            <a:avLst/>
          </a:prstGeom>
          <a:ln w="0">
            <a:noFill/>
          </a:ln>
        </p:spPr>
      </p:sp>
      <p:sp>
        <p:nvSpPr>
          <p:cNvPr id="448" name="PlaceHolder 2"/>
          <p:cNvSpPr>
            <a:spLocks noGrp="1"/>
          </p:cNvSpPr>
          <p:nvPr>
            <p:ph type="body"/>
          </p:nvPr>
        </p:nvSpPr>
        <p:spPr>
          <a:xfrm>
            <a:off x="2147483056" y="2147483056"/>
            <a:ext cx="360" cy="3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等线"/>
            </a:endParaRPr>
          </a:p>
        </p:txBody>
      </p:sp>
      <p:sp>
        <p:nvSpPr>
          <p:cNvPr id="449" name="Slide Number Placeholder 3"/>
          <p:cNvSpPr/>
          <p:nvPr/>
        </p:nvSpPr>
        <p:spPr>
          <a:xfrm>
            <a:off x="0" y="0"/>
            <a:ext cx="360" cy="360"/>
          </a:xfrm>
          <a:prstGeom prst="rect">
            <a:avLst/>
          </a:prstGeom>
          <a:noFill/>
          <a:ln w="0">
            <a:noFill/>
          </a:ln>
        </p:spPr>
        <p:style>
          <a:lnRef idx="0"/>
          <a:fillRef idx="0"/>
          <a:effectRef idx="0"/>
          <a:fontRef idx="minor"/>
        </p:style>
        <p:txBody>
          <a:bodyPr lIns="90000" tIns="-46440" rIns="90000" bIns="-46440" anchor="t">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E1C3524-32E4-43A0-8AEA-0A4911390D1E}" type="slidenum">
              <a:rPr lang="en-US" sz="1800" b="0" u="none" strike="noStrike">
                <a:solidFill>
                  <a:srgbClr val="000000"/>
                </a:solidFill>
                <a:effectLst/>
                <a:uFillTx/>
                <a:latin typeface="等线"/>
              </a:rPr>
              <a:t>&lt;编号&gt;</a:t>
            </a:fld>
            <a:endParaRPr lang="en-US" sz="1800" b="0" u="none" strike="noStrike">
              <a:solidFill>
                <a:srgbClr val="000000"/>
              </a:solidFill>
              <a:effectLst/>
              <a:uFillTx/>
              <a:latin typeface="Calibri"/>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默认">
    <p:bg>
      <p:bgPr>
        <a:solidFill>
          <a:srgbClr val="FFFFFF"/>
        </a:solidFill>
      </p:bgPr>
    </p:bg>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package" Target="../embeddings/oleObject2.xlsx"/><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package" Target="../embeddings/oleObject3.xlsx"/><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package" Target="../embeddings/oleObject4.xlsx"/><Relationship Id="rId2" Type="http://schemas.openxmlformats.org/officeDocument/2006/relationships/image" Target="../media/image8.png"/><Relationship Id="rId3" Type="http://schemas.openxmlformats.org/officeDocument/2006/relationships/slideLayout" Target="../slideLayouts/slideLayout1.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package" Target="../embeddings/oleObject5.xlsx"/><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package" Target="../embeddings/oleObject6.xlsx"/><Relationship Id="rId2" Type="http://schemas.openxmlformats.org/officeDocument/2006/relationships/image" Target="../media/image10.png"/><Relationship Id="rId3" Type="http://schemas.openxmlformats.org/officeDocument/2006/relationships/slideLayout" Target="../slideLayouts/slideLayout1.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package" Target="../embeddings/oleObject7.xlsx"/><Relationship Id="rId2" Type="http://schemas.openxmlformats.org/officeDocument/2006/relationships/image" Target="../media/image13.png"/><Relationship Id="rId3" Type="http://schemas.openxmlformats.org/officeDocument/2006/relationships/package" Target="../embeddings/oleObject8.xlsx"/><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package" Target="../embeddings/oleObject9.xlsx"/><Relationship Id="rId2" Type="http://schemas.openxmlformats.org/officeDocument/2006/relationships/image" Target="../media/image15.png"/><Relationship Id="rId3" Type="http://schemas.openxmlformats.org/officeDocument/2006/relationships/slideLayout" Target="../slideLayouts/slideLayout1.xml"/><Relationship Id="rId4"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package" Target="../embeddings/oleObject10.xlsx"/><Relationship Id="rId2" Type="http://schemas.openxmlformats.org/officeDocument/2006/relationships/image" Target="../media/image16.png"/><Relationship Id="rId3" Type="http://schemas.openxmlformats.org/officeDocument/2006/relationships/slideLayout" Target="../slideLayouts/slideLayout1.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 name="Image 0" descr="https://images.unsplash.com/photo-1473341304170-971dccb5ac1e?w=1280&amp;q=80"/>
          <p:cNvPicPr/>
          <p:nvPr/>
        </p:nvPicPr>
        <p:blipFill>
          <a:blip r:embed="rId1"/>
          <a:srcRect l="0" t="7796" r="0" b="7796"/>
          <a:stretch/>
        </p:blipFill>
        <p:spPr>
          <a:xfrm>
            <a:off x="0" y="0"/>
            <a:ext cx="16256160" cy="9144000"/>
          </a:xfrm>
          <a:prstGeom prst="rect">
            <a:avLst/>
          </a:prstGeom>
          <a:noFill/>
          <a:ln w="0">
            <a:noFill/>
          </a:ln>
        </p:spPr>
      </p:pic>
      <p:grpSp>
        <p:nvGrpSpPr>
          <p:cNvPr id="6" name="Shape 0"/>
          <p:cNvGrpSpPr/>
          <p:nvPr/>
        </p:nvGrpSpPr>
        <p:grpSpPr>
          <a:xfrm>
            <a:off x="-12600" y="-12600"/>
            <a:ext cx="16281360" cy="9169200"/>
            <a:chOff x="-12600" y="-12600"/>
            <a:chExt cx="16281360" cy="9169200"/>
          </a:xfrm>
        </p:grpSpPr>
        <p:pic>
          <p:nvPicPr>
            <p:cNvPr id="7" name="Shape 0"/>
            <p:cNvPicPr/>
            <p:nvPr/>
          </p:nvPicPr>
          <p:blipFill>
            <a:blip r:embed="rId2"/>
            <a:stretch/>
          </p:blipFill>
          <p:spPr>
            <a:xfrm>
              <a:off x="-12600" y="-12600"/>
              <a:ext cx="16281360" cy="9169200"/>
            </a:xfrm>
            <a:prstGeom prst="rect">
              <a:avLst/>
            </a:prstGeom>
            <a:noFill/>
            <a:ln w="0">
              <a:noFill/>
            </a:ln>
          </p:spPr>
        </p:pic>
        <p:sp>
          <p:nvSpPr>
            <p:cNvPr id="8" name=""/>
            <p:cNvSpPr/>
            <p:nvPr/>
          </p:nvSpPr>
          <p:spPr>
            <a:xfrm>
              <a:off x="0" y="0"/>
              <a:ext cx="16256160" cy="9144000"/>
            </a:xfrm>
            <a:prstGeom prst="rect">
              <a:avLst/>
            </a:prstGeom>
            <a:no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grpSp>
      <p:sp>
        <p:nvSpPr>
          <p:cNvPr id="9" name="Text 1"/>
          <p:cNvSpPr/>
          <p:nvPr/>
        </p:nvSpPr>
        <p:spPr>
          <a:xfrm>
            <a:off x="1778040" y="2793960"/>
            <a:ext cx="12700080" cy="1778040"/>
          </a:xfrm>
          <a:prstGeom prst="rect">
            <a:avLst/>
          </a:prstGeom>
          <a:noFill/>
          <a:ln w="0">
            <a:noFill/>
          </a:ln>
        </p:spPr>
        <p:style>
          <a:lnRef idx="0"/>
          <a:fillRef idx="0"/>
          <a:effectRef idx="0"/>
          <a:fontRef idx="minor"/>
        </p:style>
        <p:txBody>
          <a:bodyPr lIns="0" tIns="0" rIns="0" bIns="0" anchor="ctr">
            <a:noAutofit/>
          </a:bodyPr>
          <a:p>
            <a:pPr algn="ct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800" b="0" u="none" strike="noStrike">
                <a:solidFill>
                  <a:srgbClr val="FFFFFF"/>
                </a:solidFill>
                <a:effectLst/>
                <a:uFillTx/>
                <a:latin typeface="Liter"/>
                <a:ea typeface="Liter"/>
              </a:rPr>
              <a:t>泰坦动力</a:t>
            </a:r>
            <a:r>
              <a:rPr lang="en-US" sz="4800" b="0" u="none" strike="noStrike">
                <a:solidFill>
                  <a:srgbClr val="FFFFFF"/>
                </a:solidFill>
                <a:effectLst/>
                <a:uFillTx/>
                <a:latin typeface="Liter"/>
                <a:ea typeface="Liter"/>
              </a:rPr>
              <a:t></a:t>
            </a:r>
            <a:r>
              <a:rPr lang="zh-CN" sz="4800" b="0" u="none" strike="noStrike">
                <a:solidFill>
                  <a:srgbClr val="FFFFFF"/>
                </a:solidFill>
                <a:effectLst/>
                <a:uFillTx/>
                <a:latin typeface="Liter"/>
                <a:ea typeface="Liter"/>
              </a:rPr>
              <a:t>与能源转型战略</a:t>
            </a:r>
            <a:endParaRPr lang="en-US" sz="4800" b="0" u="none" strike="noStrike">
              <a:solidFill>
                <a:srgbClr val="000000"/>
              </a:solidFill>
              <a:effectLst/>
              <a:uFillTx/>
              <a:latin typeface="Calibri"/>
            </a:endParaRPr>
          </a:p>
          <a:p>
            <a:pPr algn="ctr">
              <a:lnSpc>
                <a:spcPct val="12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800" b="0" u="none" strike="noStrike">
                <a:solidFill>
                  <a:srgbClr val="FFFFFF"/>
                </a:solidFill>
                <a:effectLst/>
                <a:uFillTx/>
                <a:latin typeface="Liter"/>
                <a:ea typeface="Liter"/>
              </a:rPr>
              <a:t>战略汇报</a:t>
            </a:r>
            <a:endParaRPr lang="en-US" sz="4800" b="0" u="none" strike="noStrike">
              <a:solidFill>
                <a:srgbClr val="000000"/>
              </a:solidFill>
              <a:effectLst/>
              <a:uFillTx/>
              <a:latin typeface="Calibri"/>
            </a:endParaRPr>
          </a:p>
        </p:txBody>
      </p:sp>
      <p:sp>
        <p:nvSpPr>
          <p:cNvPr id="10" name="Shape 2"/>
          <p:cNvSpPr/>
          <p:nvPr/>
        </p:nvSpPr>
        <p:spPr>
          <a:xfrm>
            <a:off x="6858000" y="4826160"/>
            <a:ext cx="25401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1" name="Text 3"/>
          <p:cNvSpPr/>
          <p:nvPr/>
        </p:nvSpPr>
        <p:spPr>
          <a:xfrm>
            <a:off x="2413080" y="5079960"/>
            <a:ext cx="11430000" cy="1523880"/>
          </a:xfrm>
          <a:prstGeom prst="rect">
            <a:avLst/>
          </a:prstGeom>
          <a:noFill/>
          <a:ln w="0">
            <a:noFill/>
          </a:ln>
        </p:spPr>
        <p:style>
          <a:lnRef idx="0"/>
          <a:fillRef idx="0"/>
          <a:effectRef idx="0"/>
          <a:fontRef idx="minor"/>
        </p:style>
        <p:txBody>
          <a:bodyPr lIns="0" tIns="0" rIns="0" bIns="0" anchor="t">
            <a:noAutofit/>
          </a:bodyPr>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D1D5DB"/>
                </a:solidFill>
                <a:effectLst/>
                <a:uFillTx/>
                <a:latin typeface="QuattrocentoSans"/>
                <a:ea typeface="QuattrocentoSans"/>
              </a:rPr>
              <a:t>迈向</a:t>
            </a:r>
            <a:r>
              <a:rPr lang="en-US" sz="2400" b="0" u="none" strike="noStrike">
                <a:solidFill>
                  <a:srgbClr val="D1D5DB"/>
                </a:solidFill>
                <a:effectLst/>
                <a:uFillTx/>
                <a:latin typeface="QuattrocentoSans"/>
                <a:ea typeface="QuattrocentoSans"/>
              </a:rPr>
              <a:t>2030</a:t>
            </a:r>
            <a:r>
              <a:rPr lang="en-US" sz="2400" b="0" u="none" strike="noStrike">
                <a:solidFill>
                  <a:srgbClr val="D1D5DB"/>
                </a:solidFill>
                <a:effectLst/>
                <a:uFillTx/>
                <a:latin typeface="QuattrocentoSans"/>
                <a:ea typeface="QuattrocentoSans"/>
              </a:rPr>
              <a:t>零碳目标 </a:t>
            </a:r>
            <a:r>
              <a:rPr lang="en-US" sz="2400" b="0" u="none" strike="noStrike">
                <a:solidFill>
                  <a:srgbClr val="D1D5DB"/>
                </a:solidFill>
                <a:effectLst/>
                <a:uFillTx/>
                <a:latin typeface="QuattrocentoSans"/>
                <a:ea typeface="QuattrocentoSans"/>
              </a:rPr>
              <a:t>· 250</a:t>
            </a:r>
            <a:r>
              <a:rPr lang="en-US" sz="2400" b="0" u="none" strike="noStrike">
                <a:solidFill>
                  <a:srgbClr val="D1D5DB"/>
                </a:solidFill>
                <a:effectLst/>
                <a:uFillTx/>
                <a:latin typeface="QuattrocentoSans"/>
                <a:ea typeface="QuattrocentoSans"/>
              </a:rPr>
              <a:t>亿美金战略投资路线图</a:t>
            </a:r>
            <a:endParaRPr lang="en-US" sz="2400" b="0" u="none" strike="noStrike">
              <a:solidFill>
                <a:srgbClr val="000000"/>
              </a:solidFill>
              <a:effectLst/>
              <a:uFillTx/>
              <a:latin typeface="Calibri"/>
            </a:endParaRPr>
          </a:p>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D1D5DB"/>
                </a:solidFill>
                <a:effectLst/>
                <a:uFillTx/>
                <a:latin typeface="QuattrocentoSans"/>
                <a:ea typeface="QuattrocentoSans"/>
              </a:rPr>
              <a:t>核心减排</a:t>
            </a:r>
            <a:r>
              <a:rPr lang="en-US" sz="2400" b="0" u="none" strike="noStrike">
                <a:solidFill>
                  <a:srgbClr val="D1D5DB"/>
                </a:solidFill>
                <a:effectLst/>
                <a:uFillTx/>
                <a:latin typeface="QuattrocentoSans"/>
                <a:ea typeface="QuattrocentoSans"/>
              </a:rPr>
              <a:t>45%</a:t>
            </a:r>
            <a:r>
              <a:rPr lang="en-US" sz="2400" b="0" u="none" strike="noStrike">
                <a:solidFill>
                  <a:srgbClr val="D1D5DB"/>
                </a:solidFill>
                <a:effectLst/>
                <a:uFillTx/>
                <a:latin typeface="QuattrocentoSans"/>
                <a:ea typeface="QuattrocentoSans"/>
              </a:rPr>
              <a:t>执行框架</a:t>
            </a:r>
            <a:endParaRPr lang="en-US" sz="2400" b="0" u="none" strike="noStrike">
              <a:solidFill>
                <a:srgbClr val="000000"/>
              </a:solidFill>
              <a:effectLst/>
              <a:uFillTx/>
              <a:latin typeface="Calibri"/>
            </a:endParaRPr>
          </a:p>
        </p:txBody>
      </p:sp>
      <p:sp>
        <p:nvSpPr>
          <p:cNvPr id="12" name="Text 4"/>
          <p:cNvSpPr/>
          <p:nvPr/>
        </p:nvSpPr>
        <p:spPr>
          <a:xfrm>
            <a:off x="5587920" y="6858000"/>
            <a:ext cx="5079960" cy="38088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D1D5DB"/>
                </a:solidFill>
                <a:effectLst/>
                <a:uFillTx/>
                <a:latin typeface="Quattrocento Sans"/>
              </a:rPr>
              <a:t>2026</a:t>
            </a:r>
            <a:r>
              <a:rPr lang="en-US" sz="1600" b="0" u="none" strike="noStrike">
                <a:solidFill>
                  <a:srgbClr val="D1D5DB"/>
                </a:solidFill>
                <a:effectLst/>
                <a:uFillTx/>
                <a:latin typeface="Quattrocento Sans"/>
              </a:rPr>
              <a:t>年</a:t>
            </a:r>
            <a:r>
              <a:rPr lang="en-US" sz="1600" b="0" u="none" strike="noStrike">
                <a:solidFill>
                  <a:srgbClr val="D1D5DB"/>
                </a:solidFill>
                <a:effectLst/>
                <a:uFillTx/>
                <a:latin typeface="Quattrocento Sans"/>
              </a:rPr>
              <a:t>4</a:t>
            </a:r>
            <a:r>
              <a:rPr lang="en-US" sz="1600" b="0" u="none" strike="noStrike">
                <a:solidFill>
                  <a:srgbClr val="D1D5DB"/>
                </a:solidFill>
                <a:effectLst/>
                <a:uFillTx/>
                <a:latin typeface="Quattrocento Sans"/>
              </a:rPr>
              <a:t>月 </a:t>
            </a:r>
            <a:r>
              <a:rPr lang="en-US" sz="1600" b="0" u="none" strike="noStrike">
                <a:solidFill>
                  <a:srgbClr val="D1D5DB"/>
                </a:solidFill>
                <a:effectLst/>
                <a:uFillTx/>
                <a:latin typeface="Quattrocento Sans"/>
              </a:rPr>
              <a:t>· </a:t>
            </a:r>
            <a:r>
              <a:rPr lang="en-US" sz="1600" b="0" u="none" strike="noStrike">
                <a:solidFill>
                  <a:srgbClr val="D1D5DB"/>
                </a:solidFill>
                <a:effectLst/>
                <a:uFillTx/>
                <a:latin typeface="Quattrocento Sans"/>
              </a:rPr>
              <a:t>首席战略科学家</a:t>
            </a:r>
            <a:endParaRPr lang="en-US" sz="1600" b="0" u="none" strike="noStrike">
              <a:solidFill>
                <a:srgbClr val="000000"/>
              </a:solidFill>
              <a:effectLst/>
              <a:uFillTx/>
              <a:latin typeface="Calibri"/>
            </a:endParaRPr>
          </a:p>
        </p:txBody>
      </p:sp>
      <p:sp>
        <p:nvSpPr>
          <p:cNvPr id="13" name="Shape 5"/>
          <p:cNvSpPr/>
          <p:nvPr/>
        </p:nvSpPr>
        <p:spPr>
          <a:xfrm>
            <a:off x="762120" y="8128080"/>
            <a:ext cx="2031840" cy="457200"/>
          </a:xfrm>
          <a:prstGeom prst="rect">
            <a:avLst/>
          </a:prstGeom>
          <a:solidFill>
            <a:srgbClr val="C8A265"/>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4" name="Text 6"/>
          <p:cNvSpPr/>
          <p:nvPr/>
        </p:nvSpPr>
        <p:spPr>
          <a:xfrm>
            <a:off x="762120" y="8128080"/>
            <a:ext cx="2031840" cy="457200"/>
          </a:xfrm>
          <a:prstGeom prst="rect">
            <a:avLst/>
          </a:prstGeom>
          <a:noFill/>
          <a:ln w="0">
            <a:noFill/>
          </a:ln>
        </p:spPr>
        <p:style>
          <a:lnRef idx="0"/>
          <a:fillRef idx="0"/>
          <a:effectRef idx="0"/>
          <a:fontRef idx="minor"/>
        </p:style>
        <p:txBody>
          <a:bodyPr wrap="none" lIns="0" tIns="0" rIns="0" bIns="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Tree>
  </p:cSld>
  <p:transition>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15" name="Shape 0"/>
          <p:cNvSpPr/>
          <p:nvPr/>
        </p:nvSpPr>
        <p:spPr>
          <a:xfrm>
            <a:off x="0" y="0"/>
            <a:ext cx="6095880" cy="9144000"/>
          </a:xfrm>
          <a:prstGeom prst="rect">
            <a:avLst/>
          </a:prstGeom>
          <a:solidFill>
            <a:srgbClr val="0A1628"/>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6" name="Text 1"/>
          <p:cNvSpPr/>
          <p:nvPr/>
        </p:nvSpPr>
        <p:spPr>
          <a:xfrm>
            <a:off x="762120" y="1015920"/>
            <a:ext cx="4572000" cy="7621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FFFFFF"/>
                </a:solidFill>
                <a:effectLst/>
                <a:uFillTx/>
                <a:latin typeface="Liter"/>
                <a:ea typeface="Liter"/>
              </a:rPr>
              <a:t></a:t>
            </a:r>
            <a:endParaRPr lang="en-US" sz="3600" b="0" u="none" strike="noStrike">
              <a:solidFill>
                <a:srgbClr val="000000"/>
              </a:solidFill>
              <a:effectLst/>
              <a:uFillTx/>
              <a:latin typeface="Calibri"/>
            </a:endParaRPr>
          </a:p>
        </p:txBody>
      </p:sp>
      <p:sp>
        <p:nvSpPr>
          <p:cNvPr id="17" name="Shape 2"/>
          <p:cNvSpPr/>
          <p:nvPr/>
        </p:nvSpPr>
        <p:spPr>
          <a:xfrm>
            <a:off x="762120" y="1905120"/>
            <a:ext cx="635040" cy="38160"/>
          </a:xfrm>
          <a:prstGeom prst="rect">
            <a:avLst/>
          </a:prstGeom>
          <a:solidFill>
            <a:srgbClr val="C8A265"/>
          </a:solidFill>
          <a:ln w="0">
            <a:noFill/>
          </a:ln>
        </p:spPr>
        <p:style>
          <a:lnRef idx="0"/>
          <a:fillRef idx="0"/>
          <a:effectRef idx="0"/>
          <a:fontRef idx="minor"/>
        </p:style>
        <p:txBody>
          <a:bodyPr lIns="90000" tIns="-8640" rIns="90000" bIns="-86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8" name="Text 3"/>
          <p:cNvSpPr/>
          <p:nvPr/>
        </p:nvSpPr>
        <p:spPr>
          <a:xfrm>
            <a:off x="762120" y="2286000"/>
            <a:ext cx="4572000" cy="3049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D1D5DB"/>
                </a:solidFill>
                <a:effectLst/>
                <a:uFillTx/>
                <a:latin typeface="Quattrocento Sans"/>
              </a:rPr>
              <a:t>战略投资总额</a:t>
            </a:r>
            <a:endParaRPr lang="en-US" sz="1400" b="0" u="none" strike="noStrike">
              <a:solidFill>
                <a:srgbClr val="000000"/>
              </a:solidFill>
              <a:effectLst/>
              <a:uFillTx/>
              <a:latin typeface="Calibri"/>
            </a:endParaRPr>
          </a:p>
        </p:txBody>
      </p:sp>
      <p:sp>
        <p:nvSpPr>
          <p:cNvPr id="19" name="Text 4"/>
          <p:cNvSpPr/>
          <p:nvPr/>
        </p:nvSpPr>
        <p:spPr>
          <a:xfrm>
            <a:off x="762120" y="2666880"/>
            <a:ext cx="4572000" cy="88920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5200" b="0" u="none" strike="noStrike">
                <a:solidFill>
                  <a:srgbClr val="C8A265"/>
                </a:solidFill>
                <a:effectLst/>
                <a:uFillTx/>
                <a:latin typeface="Liter"/>
                <a:ea typeface="Liter"/>
              </a:rPr>
              <a:t>亿</a:t>
            </a:r>
            <a:endParaRPr lang="en-US" sz="5200" b="0" u="none" strike="noStrike">
              <a:solidFill>
                <a:srgbClr val="000000"/>
              </a:solidFill>
              <a:effectLst/>
              <a:uFillTx/>
              <a:latin typeface="Calibri"/>
            </a:endParaRPr>
          </a:p>
        </p:txBody>
      </p:sp>
      <p:sp>
        <p:nvSpPr>
          <p:cNvPr id="20" name="Text 5"/>
          <p:cNvSpPr/>
          <p:nvPr/>
        </p:nvSpPr>
        <p:spPr>
          <a:xfrm>
            <a:off x="762120" y="3683160"/>
            <a:ext cx="4572000" cy="76176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D1D5DB"/>
                </a:solidFill>
                <a:effectLst/>
                <a:uFillTx/>
                <a:latin typeface="Quattrocento Sans"/>
              </a:rPr>
              <a:t>2030</a:t>
            </a:r>
            <a:r>
              <a:rPr lang="en-US" sz="1400" b="0" u="none" strike="noStrike">
                <a:solidFill>
                  <a:srgbClr val="D1D5DB"/>
                </a:solidFill>
                <a:effectLst/>
                <a:uFillTx/>
                <a:latin typeface="Quattrocento Sans"/>
              </a:rPr>
              <a:t>年减排目标 </a:t>
            </a:r>
            <a:r>
              <a:rPr lang="en-US" sz="1400" b="0" u="none" strike="noStrike">
                <a:solidFill>
                  <a:srgbClr val="D1D5DB"/>
                </a:solidFill>
                <a:effectLst/>
                <a:uFillTx/>
                <a:latin typeface="Quattrocento Sans"/>
              </a:rPr>
              <a:t>45%</a:t>
            </a:r>
            <a:endParaRPr lang="en-US" sz="14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D1D5DB"/>
                </a:solidFill>
                <a:effectLst/>
                <a:uFillTx/>
                <a:latin typeface="Quattrocento Sans"/>
              </a:rPr>
              <a:t>五年</a:t>
            </a:r>
            <a:r>
              <a:rPr lang="en-US" sz="1400" b="0" u="none" strike="noStrike">
                <a:solidFill>
                  <a:srgbClr val="D1D5DB"/>
                </a:solidFill>
                <a:effectLst/>
                <a:uFillTx/>
                <a:latin typeface="Quattrocento Sans"/>
              </a:rPr>
              <a:t>CAPEX</a:t>
            </a:r>
            <a:r>
              <a:rPr lang="en-US" sz="1400" b="0" u="none" strike="noStrike">
                <a:solidFill>
                  <a:srgbClr val="D1D5DB"/>
                </a:solidFill>
                <a:effectLst/>
                <a:uFillTx/>
                <a:latin typeface="Quattrocento Sans"/>
              </a:rPr>
              <a:t>执行周期 </a:t>
            </a:r>
            <a:r>
              <a:rPr lang="en-US" sz="1400" b="0" u="none" strike="noStrike">
                <a:solidFill>
                  <a:srgbClr val="D1D5DB"/>
                </a:solidFill>
                <a:effectLst/>
                <a:uFillTx/>
                <a:latin typeface="Quattrocento Sans"/>
              </a:rPr>
              <a:t>2026-2030</a:t>
            </a:r>
            <a:endParaRPr lang="en-US" sz="1400" b="0" u="none" strike="noStrike">
              <a:solidFill>
                <a:srgbClr val="000000"/>
              </a:solidFill>
              <a:effectLst/>
              <a:uFillTx/>
              <a:latin typeface="Calibri"/>
            </a:endParaRPr>
          </a:p>
        </p:txBody>
      </p:sp>
      <p:sp>
        <p:nvSpPr>
          <p:cNvPr id="21" name="Text 6"/>
          <p:cNvSpPr/>
          <p:nvPr/>
        </p:nvSpPr>
        <p:spPr>
          <a:xfrm>
            <a:off x="762120" y="7620120"/>
            <a:ext cx="4572000" cy="101592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200" b="0" u="none" strike="noStrike">
                <a:solidFill>
                  <a:srgbClr val="8B9AAB"/>
                </a:solidFill>
                <a:effectLst/>
                <a:uFillTx/>
                <a:latin typeface="Quattrocento Sans"/>
              </a:rPr>
              <a:t>五大核心篇章</a:t>
            </a:r>
            <a:endParaRPr lang="en-US" sz="12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8B9AAB"/>
                </a:solidFill>
                <a:effectLst/>
                <a:uFillTx/>
                <a:latin typeface="Quattrocento Sans"/>
              </a:rPr>
              <a:t>30</a:t>
            </a:r>
            <a:r>
              <a:rPr lang="zh-CN" sz="1200" b="0" u="none" strike="noStrike">
                <a:solidFill>
                  <a:srgbClr val="8B9AAB"/>
                </a:solidFill>
                <a:effectLst/>
                <a:uFillTx/>
                <a:latin typeface="Quattrocento Sans"/>
              </a:rPr>
              <a:t>页深度决策支撑</a:t>
            </a:r>
            <a:endParaRPr lang="en-US" sz="12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Calibri"/>
            </a:endParaRPr>
          </a:p>
        </p:txBody>
      </p:sp>
      <p:sp>
        <p:nvSpPr>
          <p:cNvPr id="22" name="Text 7"/>
          <p:cNvSpPr/>
          <p:nvPr/>
        </p:nvSpPr>
        <p:spPr>
          <a:xfrm>
            <a:off x="6603840" y="1015920"/>
            <a:ext cx="762120" cy="5079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8A265"/>
                </a:solidFill>
                <a:effectLst/>
                <a:uFillTx/>
                <a:latin typeface="Liter"/>
                <a:ea typeface="Liter"/>
              </a:rPr>
              <a:t></a:t>
            </a:r>
            <a:endParaRPr lang="en-US" sz="2800" b="0" u="none" strike="noStrike">
              <a:solidFill>
                <a:srgbClr val="000000"/>
              </a:solidFill>
              <a:effectLst/>
              <a:uFillTx/>
              <a:latin typeface="Calibri"/>
            </a:endParaRPr>
          </a:p>
        </p:txBody>
      </p:sp>
      <p:sp>
        <p:nvSpPr>
          <p:cNvPr id="23" name="Text 8"/>
          <p:cNvSpPr/>
          <p:nvPr/>
        </p:nvSpPr>
        <p:spPr>
          <a:xfrm>
            <a:off x="7365960" y="1015920"/>
            <a:ext cx="7873920" cy="5079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A1628"/>
                </a:solidFill>
                <a:effectLst/>
                <a:uFillTx/>
                <a:latin typeface="Liter"/>
                <a:ea typeface="Liter"/>
              </a:rPr>
              <a:t>宏观背景与行业阵痛</a:t>
            </a:r>
            <a:endParaRPr lang="en-US" sz="2000" b="0" u="none" strike="noStrike">
              <a:solidFill>
                <a:srgbClr val="000000"/>
              </a:solidFill>
              <a:effectLst/>
              <a:uFillTx/>
              <a:latin typeface="Calibri"/>
            </a:endParaRPr>
          </a:p>
        </p:txBody>
      </p:sp>
      <p:sp>
        <p:nvSpPr>
          <p:cNvPr id="24" name="Text 9"/>
          <p:cNvSpPr/>
          <p:nvPr/>
        </p:nvSpPr>
        <p:spPr>
          <a:xfrm>
            <a:off x="7365960" y="1523880"/>
            <a:ext cx="2540160" cy="3049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5A6D7F"/>
                </a:solidFill>
                <a:effectLst/>
                <a:uFillTx/>
                <a:latin typeface="Quattrocento Sans"/>
              </a:rPr>
              <a:t>P3 - P7</a:t>
            </a:r>
            <a:endParaRPr lang="en-US" sz="1200" b="0" u="none" strike="noStrike">
              <a:solidFill>
                <a:srgbClr val="000000"/>
              </a:solidFill>
              <a:effectLst/>
              <a:uFillTx/>
              <a:latin typeface="Calibri"/>
            </a:endParaRPr>
          </a:p>
        </p:txBody>
      </p:sp>
      <p:sp>
        <p:nvSpPr>
          <p:cNvPr id="25" name="Shape 10"/>
          <p:cNvSpPr/>
          <p:nvPr/>
        </p:nvSpPr>
        <p:spPr>
          <a:xfrm>
            <a:off x="6603840" y="2031840"/>
            <a:ext cx="8890200" cy="12960"/>
          </a:xfrm>
          <a:prstGeom prst="rect">
            <a:avLst/>
          </a:prstGeom>
          <a:solidFill>
            <a:srgbClr val="D1D5DB"/>
          </a:solidFill>
          <a:ln w="0">
            <a:noFill/>
          </a:ln>
        </p:spPr>
        <p:style>
          <a:lnRef idx="0"/>
          <a:fillRef idx="0"/>
          <a:effectRef idx="0"/>
          <a:fontRef idx="minor"/>
        </p:style>
        <p:txBody>
          <a:bodyPr lIns="90000" tIns="-33840" rIns="90000" bIns="-338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6" name="Text 11"/>
          <p:cNvSpPr/>
          <p:nvPr/>
        </p:nvSpPr>
        <p:spPr>
          <a:xfrm>
            <a:off x="6603840" y="2286000"/>
            <a:ext cx="762120" cy="5079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8A265"/>
                </a:solidFill>
                <a:effectLst/>
                <a:uFillTx/>
                <a:latin typeface="Liter"/>
                <a:ea typeface="Liter"/>
              </a:rPr>
              <a:t></a:t>
            </a:r>
            <a:endParaRPr lang="en-US" sz="2800" b="0" u="none" strike="noStrike">
              <a:solidFill>
                <a:srgbClr val="000000"/>
              </a:solidFill>
              <a:effectLst/>
              <a:uFillTx/>
              <a:latin typeface="Calibri"/>
            </a:endParaRPr>
          </a:p>
        </p:txBody>
      </p:sp>
      <p:sp>
        <p:nvSpPr>
          <p:cNvPr id="27" name="Text 12"/>
          <p:cNvSpPr/>
          <p:nvPr/>
        </p:nvSpPr>
        <p:spPr>
          <a:xfrm>
            <a:off x="7365960" y="2286000"/>
            <a:ext cx="7873920" cy="5079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A1628"/>
                </a:solidFill>
                <a:effectLst/>
                <a:uFillTx/>
                <a:latin typeface="Liter"/>
                <a:ea typeface="Liter"/>
              </a:rPr>
              <a:t>技术路线图：从化石能源到零碳系统</a:t>
            </a:r>
            <a:endParaRPr lang="en-US" sz="2000" b="0" u="none" strike="noStrike">
              <a:solidFill>
                <a:srgbClr val="000000"/>
              </a:solidFill>
              <a:effectLst/>
              <a:uFillTx/>
              <a:latin typeface="Calibri"/>
            </a:endParaRPr>
          </a:p>
        </p:txBody>
      </p:sp>
      <p:sp>
        <p:nvSpPr>
          <p:cNvPr id="28" name="Text 13"/>
          <p:cNvSpPr/>
          <p:nvPr/>
        </p:nvSpPr>
        <p:spPr>
          <a:xfrm>
            <a:off x="7365960" y="2793960"/>
            <a:ext cx="2540160" cy="3049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5A6D7F"/>
                </a:solidFill>
                <a:effectLst/>
                <a:uFillTx/>
                <a:latin typeface="Quattrocento Sans"/>
              </a:rPr>
              <a:t>P8 - P13</a:t>
            </a:r>
            <a:endParaRPr lang="en-US" sz="1200" b="0" u="none" strike="noStrike">
              <a:solidFill>
                <a:srgbClr val="000000"/>
              </a:solidFill>
              <a:effectLst/>
              <a:uFillTx/>
              <a:latin typeface="Calibri"/>
            </a:endParaRPr>
          </a:p>
        </p:txBody>
      </p:sp>
      <p:sp>
        <p:nvSpPr>
          <p:cNvPr id="29" name="Shape 14"/>
          <p:cNvSpPr/>
          <p:nvPr/>
        </p:nvSpPr>
        <p:spPr>
          <a:xfrm>
            <a:off x="6603840" y="3301920"/>
            <a:ext cx="8890200" cy="12960"/>
          </a:xfrm>
          <a:prstGeom prst="rect">
            <a:avLst/>
          </a:prstGeom>
          <a:solidFill>
            <a:srgbClr val="D1D5DB"/>
          </a:solidFill>
          <a:ln w="0">
            <a:noFill/>
          </a:ln>
        </p:spPr>
        <p:style>
          <a:lnRef idx="0"/>
          <a:fillRef idx="0"/>
          <a:effectRef idx="0"/>
          <a:fontRef idx="minor"/>
        </p:style>
        <p:txBody>
          <a:bodyPr lIns="90000" tIns="-33840" rIns="90000" bIns="-338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0" name="Text 15"/>
          <p:cNvSpPr/>
          <p:nvPr/>
        </p:nvSpPr>
        <p:spPr>
          <a:xfrm>
            <a:off x="6603840" y="3556080"/>
            <a:ext cx="762120" cy="5079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8A265"/>
                </a:solidFill>
                <a:effectLst/>
                <a:uFillTx/>
                <a:latin typeface="Liter"/>
                <a:ea typeface="Liter"/>
              </a:rPr>
              <a:t></a:t>
            </a:r>
            <a:endParaRPr lang="en-US" sz="2800" b="0" u="none" strike="noStrike">
              <a:solidFill>
                <a:srgbClr val="000000"/>
              </a:solidFill>
              <a:effectLst/>
              <a:uFillTx/>
              <a:latin typeface="Calibri"/>
            </a:endParaRPr>
          </a:p>
        </p:txBody>
      </p:sp>
      <p:sp>
        <p:nvSpPr>
          <p:cNvPr id="31" name="Text 16"/>
          <p:cNvSpPr/>
          <p:nvPr/>
        </p:nvSpPr>
        <p:spPr>
          <a:xfrm>
            <a:off x="7365960" y="3556080"/>
            <a:ext cx="7873920" cy="5079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A1628"/>
                </a:solidFill>
                <a:effectLst/>
                <a:uFillTx/>
                <a:latin typeface="Liter"/>
                <a:ea typeface="Liter"/>
              </a:rPr>
              <a:t>全球供应链布局与风险</a:t>
            </a:r>
            <a:endParaRPr lang="en-US" sz="2000" b="0" u="none" strike="noStrike">
              <a:solidFill>
                <a:srgbClr val="000000"/>
              </a:solidFill>
              <a:effectLst/>
              <a:uFillTx/>
              <a:latin typeface="Calibri"/>
            </a:endParaRPr>
          </a:p>
        </p:txBody>
      </p:sp>
      <p:sp>
        <p:nvSpPr>
          <p:cNvPr id="32" name="Text 17"/>
          <p:cNvSpPr/>
          <p:nvPr/>
        </p:nvSpPr>
        <p:spPr>
          <a:xfrm>
            <a:off x="7365960" y="4064040"/>
            <a:ext cx="2540160" cy="3049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5A6D7F"/>
                </a:solidFill>
                <a:effectLst/>
                <a:uFillTx/>
                <a:latin typeface="Quattrocento Sans"/>
              </a:rPr>
              <a:t>P14 - P20</a:t>
            </a:r>
            <a:endParaRPr lang="en-US" sz="1200" b="0" u="none" strike="noStrike">
              <a:solidFill>
                <a:srgbClr val="000000"/>
              </a:solidFill>
              <a:effectLst/>
              <a:uFillTx/>
              <a:latin typeface="Calibri"/>
            </a:endParaRPr>
          </a:p>
        </p:txBody>
      </p:sp>
      <p:sp>
        <p:nvSpPr>
          <p:cNvPr id="33" name="Shape 18"/>
          <p:cNvSpPr/>
          <p:nvPr/>
        </p:nvSpPr>
        <p:spPr>
          <a:xfrm>
            <a:off x="6603840" y="4572000"/>
            <a:ext cx="8890200" cy="12600"/>
          </a:xfrm>
          <a:prstGeom prst="rect">
            <a:avLst/>
          </a:prstGeom>
          <a:solidFill>
            <a:srgbClr val="D1D5DB"/>
          </a:solidFill>
          <a:ln w="0">
            <a:noFill/>
          </a:ln>
        </p:spPr>
        <p:style>
          <a:lnRef idx="0"/>
          <a:fillRef idx="0"/>
          <a:effectRef idx="0"/>
          <a:fontRef idx="minor"/>
        </p:style>
        <p:txBody>
          <a:bodyPr lIns="90000" tIns="-34200" rIns="90000" bIns="-342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4" name="Text 19"/>
          <p:cNvSpPr/>
          <p:nvPr/>
        </p:nvSpPr>
        <p:spPr>
          <a:xfrm>
            <a:off x="6603840" y="4826160"/>
            <a:ext cx="762120" cy="5079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8A265"/>
                </a:solidFill>
                <a:effectLst/>
                <a:uFillTx/>
                <a:latin typeface="Liter"/>
                <a:ea typeface="Liter"/>
              </a:rPr>
              <a:t></a:t>
            </a:r>
            <a:endParaRPr lang="en-US" sz="2800" b="0" u="none" strike="noStrike">
              <a:solidFill>
                <a:srgbClr val="000000"/>
              </a:solidFill>
              <a:effectLst/>
              <a:uFillTx/>
              <a:latin typeface="Calibri"/>
            </a:endParaRPr>
          </a:p>
        </p:txBody>
      </p:sp>
      <p:sp>
        <p:nvSpPr>
          <p:cNvPr id="35" name="Text 20"/>
          <p:cNvSpPr/>
          <p:nvPr/>
        </p:nvSpPr>
        <p:spPr>
          <a:xfrm>
            <a:off x="7365960" y="4826160"/>
            <a:ext cx="7873920" cy="5079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A1628"/>
                </a:solidFill>
                <a:effectLst/>
                <a:uFillTx/>
                <a:latin typeface="Liter"/>
                <a:ea typeface="Liter"/>
              </a:rPr>
              <a:t>财务模型与五年资本开支（）</a:t>
            </a:r>
            <a:endParaRPr lang="en-US" sz="2000" b="0" u="none" strike="noStrike">
              <a:solidFill>
                <a:srgbClr val="000000"/>
              </a:solidFill>
              <a:effectLst/>
              <a:uFillTx/>
              <a:latin typeface="Calibri"/>
            </a:endParaRPr>
          </a:p>
        </p:txBody>
      </p:sp>
      <p:sp>
        <p:nvSpPr>
          <p:cNvPr id="36" name="Text 21"/>
          <p:cNvSpPr/>
          <p:nvPr/>
        </p:nvSpPr>
        <p:spPr>
          <a:xfrm>
            <a:off x="7365960" y="5334120"/>
            <a:ext cx="2540160" cy="3045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5A6D7F"/>
                </a:solidFill>
                <a:effectLst/>
                <a:uFillTx/>
                <a:latin typeface="Quattrocento Sans"/>
              </a:rPr>
              <a:t>P21 - P25</a:t>
            </a:r>
            <a:endParaRPr lang="en-US" sz="1200" b="0" u="none" strike="noStrike">
              <a:solidFill>
                <a:srgbClr val="000000"/>
              </a:solidFill>
              <a:effectLst/>
              <a:uFillTx/>
              <a:latin typeface="Calibri"/>
            </a:endParaRPr>
          </a:p>
        </p:txBody>
      </p:sp>
      <p:sp>
        <p:nvSpPr>
          <p:cNvPr id="37" name="Shape 22"/>
          <p:cNvSpPr/>
          <p:nvPr/>
        </p:nvSpPr>
        <p:spPr>
          <a:xfrm>
            <a:off x="6603840" y="5842080"/>
            <a:ext cx="8890200" cy="12600"/>
          </a:xfrm>
          <a:prstGeom prst="rect">
            <a:avLst/>
          </a:prstGeom>
          <a:solidFill>
            <a:srgbClr val="D1D5DB"/>
          </a:solidFill>
          <a:ln w="0">
            <a:noFill/>
          </a:ln>
        </p:spPr>
        <p:style>
          <a:lnRef idx="0"/>
          <a:fillRef idx="0"/>
          <a:effectRef idx="0"/>
          <a:fontRef idx="minor"/>
        </p:style>
        <p:txBody>
          <a:bodyPr lIns="90000" tIns="-34200" rIns="90000" bIns="-342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8" name="Text 23"/>
          <p:cNvSpPr/>
          <p:nvPr/>
        </p:nvSpPr>
        <p:spPr>
          <a:xfrm>
            <a:off x="6603840" y="6095880"/>
            <a:ext cx="762120" cy="5079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8A265"/>
                </a:solidFill>
                <a:effectLst/>
                <a:uFillTx/>
                <a:latin typeface="Liter"/>
                <a:ea typeface="Liter"/>
              </a:rPr>
              <a:t></a:t>
            </a:r>
            <a:endParaRPr lang="en-US" sz="2800" b="0" u="none" strike="noStrike">
              <a:solidFill>
                <a:srgbClr val="000000"/>
              </a:solidFill>
              <a:effectLst/>
              <a:uFillTx/>
              <a:latin typeface="Calibri"/>
            </a:endParaRPr>
          </a:p>
        </p:txBody>
      </p:sp>
      <p:sp>
        <p:nvSpPr>
          <p:cNvPr id="39" name="Text 24"/>
          <p:cNvSpPr/>
          <p:nvPr/>
        </p:nvSpPr>
        <p:spPr>
          <a:xfrm>
            <a:off x="7365960" y="6095880"/>
            <a:ext cx="7873920" cy="5079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A1628"/>
                </a:solidFill>
                <a:effectLst/>
                <a:uFillTx/>
                <a:latin typeface="Liter"/>
                <a:ea typeface="Liter"/>
              </a:rPr>
              <a:t>执行计划、组织变革与总结</a:t>
            </a:r>
            <a:endParaRPr lang="en-US" sz="2000" b="0" u="none" strike="noStrike">
              <a:solidFill>
                <a:srgbClr val="000000"/>
              </a:solidFill>
              <a:effectLst/>
              <a:uFillTx/>
              <a:latin typeface="Calibri"/>
            </a:endParaRPr>
          </a:p>
        </p:txBody>
      </p:sp>
      <p:sp>
        <p:nvSpPr>
          <p:cNvPr id="40" name="Text 25"/>
          <p:cNvSpPr/>
          <p:nvPr/>
        </p:nvSpPr>
        <p:spPr>
          <a:xfrm>
            <a:off x="7365960" y="6603840"/>
            <a:ext cx="2540160" cy="3049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5A6D7F"/>
                </a:solidFill>
                <a:effectLst/>
                <a:uFillTx/>
                <a:latin typeface="Quattrocento Sans"/>
              </a:rPr>
              <a:t>P26 - P30</a:t>
            </a:r>
            <a:endParaRPr lang="en-US" sz="1200" b="0" u="none" strike="noStrike">
              <a:solidFill>
                <a:srgbClr val="000000"/>
              </a:solidFill>
              <a:effectLst/>
              <a:uFillTx/>
              <a:latin typeface="Calibri"/>
            </a:endParaRPr>
          </a:p>
        </p:txBody>
      </p:sp>
      <p:sp>
        <p:nvSpPr>
          <p:cNvPr id="41" name="Text 26"/>
          <p:cNvSpPr/>
          <p:nvPr/>
        </p:nvSpPr>
        <p:spPr>
          <a:xfrm>
            <a:off x="6603840" y="8636040"/>
            <a:ext cx="8890200" cy="304920"/>
          </a:xfrm>
          <a:prstGeom prst="rect">
            <a:avLst/>
          </a:prstGeom>
          <a:noFill/>
          <a:ln w="0">
            <a:noFill/>
          </a:ln>
        </p:spPr>
        <p:style>
          <a:lnRef idx="0"/>
          <a:fillRef idx="0"/>
          <a:effectRef idx="0"/>
          <a:fontRef idx="minor"/>
        </p:style>
        <p:txBody>
          <a:bodyPr wrap="none" lIns="0" tIns="0" rIns="0" bIns="0" anchor="ctr">
            <a:noAutofit/>
          </a:bodyPr>
          <a:p>
            <a:pPr algn="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Titan Energy Group · Board Decision Report · 2026</a:t>
            </a:r>
            <a:endParaRPr lang="en-US" sz="1000" b="0" u="none" strike="noStrike">
              <a:solidFill>
                <a:srgbClr val="000000"/>
              </a:solidFill>
              <a:effectLst/>
              <a:uFillTx/>
              <a:latin typeface="Calibri"/>
            </a:endParaRPr>
          </a:p>
        </p:txBody>
      </p:sp>
    </p:spTree>
  </p:cSld>
  <p:transition>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pic>
        <p:nvPicPr>
          <p:cNvPr id="42" name="Text 0"/>
          <p:cNvPicPr/>
          <p:nvPr/>
        </p:nvPicPr>
        <p:blipFill>
          <a:blip r:embed="rId1"/>
          <a:stretch/>
        </p:blipFill>
        <p:spPr>
          <a:xfrm>
            <a:off x="-774720" y="1574640"/>
            <a:ext cx="6616800" cy="5359680"/>
          </a:xfrm>
          <a:prstGeom prst="rect">
            <a:avLst/>
          </a:prstGeom>
          <a:noFill/>
          <a:ln w="0">
            <a:noFill/>
          </a:ln>
        </p:spPr>
      </p:pic>
      <p:sp>
        <p:nvSpPr>
          <p:cNvPr id="43" name="Shape 1"/>
          <p:cNvSpPr/>
          <p:nvPr/>
        </p:nvSpPr>
        <p:spPr>
          <a:xfrm>
            <a:off x="762120" y="5842080"/>
            <a:ext cx="1015920" cy="38160"/>
          </a:xfrm>
          <a:prstGeom prst="rect">
            <a:avLst/>
          </a:prstGeom>
          <a:solidFill>
            <a:srgbClr val="C8A265"/>
          </a:solidFill>
          <a:ln w="0">
            <a:noFill/>
          </a:ln>
        </p:spPr>
        <p:style>
          <a:lnRef idx="0"/>
          <a:fillRef idx="0"/>
          <a:effectRef idx="0"/>
          <a:fontRef idx="minor"/>
        </p:style>
        <p:txBody>
          <a:bodyPr lIns="90000" tIns="-8640" rIns="90000" bIns="-86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44" name="Text 2"/>
          <p:cNvSpPr/>
          <p:nvPr/>
        </p:nvSpPr>
        <p:spPr>
          <a:xfrm>
            <a:off x="762120" y="6095880"/>
            <a:ext cx="8889840" cy="7621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0" u="none" strike="noStrike">
                <a:solidFill>
                  <a:srgbClr val="FFFFFF"/>
                </a:solidFill>
                <a:effectLst/>
                <a:uFillTx/>
                <a:latin typeface="Liter"/>
                <a:ea typeface="Liter"/>
              </a:rPr>
              <a:t>宏观背景与行业阵痛</a:t>
            </a:r>
            <a:endParaRPr lang="en-US" sz="4000" b="0" u="none" strike="noStrike">
              <a:solidFill>
                <a:srgbClr val="000000"/>
              </a:solidFill>
              <a:effectLst/>
              <a:uFillTx/>
              <a:latin typeface="Calibri"/>
            </a:endParaRPr>
          </a:p>
        </p:txBody>
      </p:sp>
      <p:sp>
        <p:nvSpPr>
          <p:cNvPr id="45" name="Text 3"/>
          <p:cNvSpPr/>
          <p:nvPr/>
        </p:nvSpPr>
        <p:spPr>
          <a:xfrm>
            <a:off x="762120" y="6985080"/>
            <a:ext cx="10159920" cy="101592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D1D5DB"/>
                </a:solidFill>
                <a:effectLst/>
                <a:uFillTx/>
                <a:latin typeface="Quattrocento Sans"/>
              </a:rPr>
              <a:t>全球能源格局重构、碳关税壁垒升级与价格波动加剧的三重挤压下，</a:t>
            </a:r>
            <a:endParaRPr lang="en-US" sz="18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D1D5DB"/>
                </a:solidFill>
                <a:effectLst/>
                <a:uFillTx/>
                <a:latin typeface="Quattrocento Sans"/>
              </a:rPr>
              <a:t>泰坦动力的战略窗口期正在收窄。</a:t>
            </a:r>
            <a:endParaRPr lang="en-US" sz="1800" b="0" u="none" strike="noStrike">
              <a:solidFill>
                <a:srgbClr val="000000"/>
              </a:solidFill>
              <a:effectLst/>
              <a:uFillTx/>
              <a:latin typeface="Calibri"/>
            </a:endParaRPr>
          </a:p>
        </p:txBody>
      </p:sp>
      <p:sp>
        <p:nvSpPr>
          <p:cNvPr id="46" name="Text 4"/>
          <p:cNvSpPr/>
          <p:nvPr/>
        </p:nvSpPr>
        <p:spPr>
          <a:xfrm>
            <a:off x="762120" y="8636040"/>
            <a:ext cx="507996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8B9AAB"/>
                </a:solidFill>
                <a:effectLst/>
                <a:uFillTx/>
                <a:latin typeface="QuattrocentoSans"/>
                <a:ea typeface="QuattrocentoSans"/>
              </a:rPr>
              <a:t>Chapter 01 · P3-P7</a:t>
            </a:r>
            <a:endParaRPr lang="en-US" sz="1000" b="0" u="none" strike="noStrike">
              <a:solidFill>
                <a:srgbClr val="000000"/>
              </a:solidFill>
              <a:effectLst/>
              <a:uFillTx/>
              <a:latin typeface="Calibri"/>
            </a:endParaRPr>
          </a:p>
        </p:txBody>
      </p:sp>
    </p:spTree>
  </p:cSld>
  <p:transition>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47" name="Text 0"/>
          <p:cNvSpPr/>
          <p:nvPr/>
        </p:nvSpPr>
        <p:spPr>
          <a:xfrm>
            <a:off x="762120" y="507960"/>
            <a:ext cx="1143000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全球能源价格波动与碳价传导机制</a:t>
            </a:r>
            <a:endParaRPr lang="en-US" sz="2800" b="0" u="none" strike="noStrike">
              <a:solidFill>
                <a:srgbClr val="000000"/>
              </a:solidFill>
              <a:effectLst/>
              <a:uFillTx/>
              <a:latin typeface="Calibri"/>
            </a:endParaRPr>
          </a:p>
        </p:txBody>
      </p:sp>
      <p:sp>
        <p:nvSpPr>
          <p:cNvPr id="48"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49" name="Text 2"/>
          <p:cNvSpPr/>
          <p:nvPr/>
        </p:nvSpPr>
        <p:spPr>
          <a:xfrm>
            <a:off x="762120" y="1333440"/>
            <a:ext cx="6858000" cy="355608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2020</a:t>
            </a:r>
            <a:r>
              <a:rPr lang="en-US" sz="1600" b="0" u="none" strike="noStrike">
                <a:solidFill>
                  <a:srgbClr val="1E293B"/>
                </a:solidFill>
                <a:effectLst/>
                <a:uFillTx/>
                <a:latin typeface="QuattrocentoSans"/>
                <a:ea typeface="QuattrocentoSans"/>
              </a:rPr>
              <a:t>年新冠疫情冲击下布伦特原油一度跌至</a:t>
            </a:r>
            <a:r>
              <a:rPr lang="en-US" sz="1600" b="1" u="none" strike="noStrike">
                <a:solidFill>
                  <a:srgbClr val="1E293B"/>
                </a:solidFill>
                <a:effectLst/>
                <a:uFillTx/>
                <a:latin typeface="QuattrocentoSans"/>
                <a:ea typeface="QuattrocentoSans"/>
              </a:rPr>
              <a:t>19.33</a:t>
            </a:r>
            <a:r>
              <a:rPr lang="en-US" sz="1600" b="1" u="none" strike="noStrike">
                <a:solidFill>
                  <a:srgbClr val="1E293B"/>
                </a:solidFill>
                <a:effectLst/>
                <a:uFillTx/>
                <a:latin typeface="QuattrocentoSans"/>
                <a:ea typeface="QuattrocentoSans"/>
              </a:rPr>
              <a:t>美元</a:t>
            </a:r>
            <a:r>
              <a:rPr lang="en-US" sz="1600" b="1"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桶</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2022</a:t>
            </a:r>
            <a:r>
              <a:rPr lang="en-US" sz="1600" b="0" u="none" strike="noStrike">
                <a:solidFill>
                  <a:srgbClr val="1E293B"/>
                </a:solidFill>
                <a:effectLst/>
                <a:uFillTx/>
                <a:latin typeface="QuattrocentoSans"/>
                <a:ea typeface="QuattrocentoSans"/>
              </a:rPr>
              <a:t>年俄乌冲突推升至</a:t>
            </a:r>
            <a:r>
              <a:rPr lang="en-US" sz="1600" b="1" u="none" strike="noStrike">
                <a:solidFill>
                  <a:srgbClr val="1E293B"/>
                </a:solidFill>
                <a:effectLst/>
                <a:uFillTx/>
                <a:latin typeface="QuattrocentoSans"/>
                <a:ea typeface="QuattrocentoSans"/>
              </a:rPr>
              <a:t>139</a:t>
            </a:r>
            <a:r>
              <a:rPr lang="en-US" sz="1600" b="1" u="none" strike="noStrike">
                <a:solidFill>
                  <a:srgbClr val="1E293B"/>
                </a:solidFill>
                <a:effectLst/>
                <a:uFillTx/>
                <a:latin typeface="QuattrocentoSans"/>
                <a:ea typeface="QuattrocentoSans"/>
              </a:rPr>
              <a:t>美元峰值</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2024-2026</a:t>
            </a:r>
            <a:r>
              <a:rPr lang="en-US" sz="1600" b="0" u="none" strike="noStrike">
                <a:solidFill>
                  <a:srgbClr val="1E293B"/>
                </a:solidFill>
                <a:effectLst/>
                <a:uFillTx/>
                <a:latin typeface="QuattrocentoSans"/>
                <a:ea typeface="QuattrocentoSans"/>
              </a:rPr>
              <a:t>年稳定在</a:t>
            </a:r>
            <a:r>
              <a:rPr lang="en-US" sz="1600" b="0" u="none" strike="noStrike">
                <a:solidFill>
                  <a:srgbClr val="1E293B"/>
                </a:solidFill>
                <a:effectLst/>
                <a:uFillTx/>
                <a:latin typeface="QuattrocentoSans"/>
                <a:ea typeface="QuattrocentoSans"/>
              </a:rPr>
              <a:t>75-85</a:t>
            </a:r>
            <a:r>
              <a:rPr lang="en-US" sz="1600" b="0" u="none" strike="noStrike">
                <a:solidFill>
                  <a:srgbClr val="1E293B"/>
                </a:solidFill>
                <a:effectLst/>
                <a:uFillTx/>
                <a:latin typeface="QuattrocentoSans"/>
                <a:ea typeface="QuattrocentoSans"/>
              </a:rPr>
              <a:t>美元区间震荡。</a:t>
            </a:r>
            <a:endParaRPr lang="en-US" sz="1600" b="0" u="none" strike="noStrike">
              <a:solidFill>
                <a:srgbClr val="000000"/>
              </a:solidFill>
              <a:effectLst/>
              <a:uFillTx/>
              <a:latin typeface="Calibri"/>
            </a:endParaRPr>
          </a:p>
          <a:p>
            <a:pPr>
              <a:lnSpc>
                <a:spcPct val="15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同期欧盟碳价从</a:t>
            </a:r>
            <a:r>
              <a:rPr lang="en-US" sz="1600" b="0" u="none" strike="noStrike">
                <a:solidFill>
                  <a:srgbClr val="1E293B"/>
                </a:solidFill>
                <a:effectLst/>
                <a:uFillTx/>
                <a:latin typeface="QuattrocentoSans"/>
                <a:ea typeface="QuattrocentoSans"/>
              </a:rPr>
              <a:t>25</a:t>
            </a:r>
            <a:r>
              <a:rPr lang="en-US" sz="1600" b="0" u="none" strike="noStrike">
                <a:solidFill>
                  <a:srgbClr val="1E293B"/>
                </a:solidFill>
                <a:effectLst/>
                <a:uFillTx/>
                <a:latin typeface="QuattrocentoSans"/>
                <a:ea typeface="QuattrocentoSans"/>
              </a:rPr>
              <a:t>欧元</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吨飙升至</a:t>
            </a:r>
            <a:r>
              <a:rPr lang="en-US" sz="1600" b="1" u="none" strike="noStrike">
                <a:solidFill>
                  <a:srgbClr val="1E293B"/>
                </a:solidFill>
                <a:effectLst/>
                <a:uFillTx/>
                <a:latin typeface="QuattrocentoSans"/>
                <a:ea typeface="QuattrocentoSans"/>
              </a:rPr>
              <a:t>95</a:t>
            </a:r>
            <a:r>
              <a:rPr lang="en-US" sz="1600" b="1" u="none" strike="noStrike">
                <a:solidFill>
                  <a:srgbClr val="1E293B"/>
                </a:solidFill>
                <a:effectLst/>
                <a:uFillTx/>
                <a:latin typeface="QuattrocentoSans"/>
                <a:ea typeface="QuattrocentoSans"/>
              </a:rPr>
              <a:t>欧元</a:t>
            </a:r>
            <a:r>
              <a:rPr lang="en-US" sz="1600" b="1"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吨</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2026</a:t>
            </a:r>
            <a:r>
              <a:rPr lang="en-US" sz="1600" b="0" u="none" strike="noStrike">
                <a:solidFill>
                  <a:srgbClr val="1E293B"/>
                </a:solidFill>
                <a:effectLst/>
                <a:uFillTx/>
                <a:latin typeface="QuattrocentoSans"/>
                <a:ea typeface="QuattrocentoSans"/>
              </a:rPr>
              <a:t>年</a:t>
            </a:r>
            <a:r>
              <a:rPr lang="en-US" sz="1600" b="0" u="none" strike="noStrike">
                <a:solidFill>
                  <a:srgbClr val="1E293B"/>
                </a:solidFill>
                <a:effectLst/>
                <a:uFillTx/>
                <a:latin typeface="QuattrocentoSans"/>
                <a:ea typeface="QuattrocentoSans"/>
              </a:rPr>
              <a:t>4</a:t>
            </a:r>
            <a:r>
              <a:rPr lang="en-US" sz="1600" b="0" u="none" strike="noStrike">
                <a:solidFill>
                  <a:srgbClr val="1E293B"/>
                </a:solidFill>
                <a:effectLst/>
                <a:uFillTx/>
                <a:latin typeface="QuattrocentoSans"/>
                <a:ea typeface="QuattrocentoSans"/>
              </a:rPr>
              <a:t>月），碳成本已占欧洲天然气发电成本的</a:t>
            </a:r>
            <a:r>
              <a:rPr lang="en-US" sz="1600" b="1" u="none" strike="noStrike">
                <a:solidFill>
                  <a:srgbClr val="1E293B"/>
                </a:solidFill>
                <a:effectLst/>
                <a:uFillTx/>
                <a:latin typeface="QuattrocentoSans"/>
                <a:ea typeface="QuattrocentoSans"/>
              </a:rPr>
              <a:t>35%</a:t>
            </a:r>
            <a:r>
              <a:rPr lang="en-US" sz="1600" b="0" u="none" strike="noStrike">
                <a:solidFill>
                  <a:srgbClr val="1E293B"/>
                </a:solidFill>
                <a:effectLst/>
                <a:uFillTx/>
                <a:latin typeface="QuattrocentoSans"/>
                <a:ea typeface="QuattrocentoSans"/>
              </a:rPr>
              <a:t>。全球</a:t>
            </a:r>
            <a:r>
              <a:rPr lang="en-US" sz="1600" b="0" u="none" strike="noStrike">
                <a:solidFill>
                  <a:srgbClr val="1E293B"/>
                </a:solidFill>
                <a:effectLst/>
                <a:uFillTx/>
                <a:latin typeface="QuattrocentoSans"/>
                <a:ea typeface="QuattrocentoSans"/>
              </a:rPr>
              <a:t>LNG</a:t>
            </a:r>
            <a:r>
              <a:rPr lang="en-US" sz="1600" b="0" u="none" strike="noStrike">
                <a:solidFill>
                  <a:srgbClr val="1E293B"/>
                </a:solidFill>
                <a:effectLst/>
                <a:uFillTx/>
                <a:latin typeface="QuattrocentoSans"/>
                <a:ea typeface="QuattrocentoSans"/>
              </a:rPr>
              <a:t>现货价格波动系数（</a:t>
            </a:r>
            <a:r>
              <a:rPr lang="en-US" sz="1600" b="0" u="none" strike="noStrike">
                <a:solidFill>
                  <a:srgbClr val="1E293B"/>
                </a:solidFill>
                <a:effectLst/>
                <a:uFillTx/>
                <a:latin typeface="QuattrocentoSans"/>
                <a:ea typeface="QuattrocentoSans"/>
              </a:rPr>
              <a:t>CV</a:t>
            </a:r>
            <a:r>
              <a:rPr lang="en-US" sz="1600" b="0" u="none" strike="noStrike">
                <a:solidFill>
                  <a:srgbClr val="1E293B"/>
                </a:solidFill>
                <a:effectLst/>
                <a:uFillTx/>
                <a:latin typeface="QuattrocentoSans"/>
                <a:ea typeface="QuattrocentoSans"/>
              </a:rPr>
              <a:t>）达</a:t>
            </a:r>
            <a:r>
              <a:rPr lang="en-US" sz="1600" b="1" u="none" strike="noStrike">
                <a:solidFill>
                  <a:srgbClr val="1E293B"/>
                </a:solidFill>
                <a:effectLst/>
                <a:uFillTx/>
                <a:latin typeface="QuattrocentoSans"/>
                <a:ea typeface="QuattrocentoSans"/>
              </a:rPr>
              <a:t>0.42</a:t>
            </a:r>
            <a:r>
              <a:rPr lang="en-US" sz="1600" b="0" u="none" strike="noStrike">
                <a:solidFill>
                  <a:srgbClr val="1E293B"/>
                </a:solidFill>
                <a:effectLst/>
                <a:uFillTx/>
                <a:latin typeface="QuattrocentoSans"/>
                <a:ea typeface="QuattrocentoSans"/>
              </a:rPr>
              <a:t>，远超</a:t>
            </a:r>
            <a:r>
              <a:rPr lang="en-US" sz="1600" b="0" u="none" strike="noStrike">
                <a:solidFill>
                  <a:srgbClr val="1E293B"/>
                </a:solidFill>
                <a:effectLst/>
                <a:uFillTx/>
                <a:latin typeface="QuattrocentoSans"/>
                <a:ea typeface="QuattrocentoSans"/>
              </a:rPr>
              <a:t>2010-2019</a:t>
            </a:r>
            <a:r>
              <a:rPr lang="en-US" sz="1600" b="0" u="none" strike="noStrike">
                <a:solidFill>
                  <a:srgbClr val="1E293B"/>
                </a:solidFill>
                <a:effectLst/>
                <a:uFillTx/>
                <a:latin typeface="QuattrocentoSans"/>
                <a:ea typeface="QuattrocentoSans"/>
              </a:rPr>
              <a:t>年均值</a:t>
            </a:r>
            <a:r>
              <a:rPr lang="en-US" sz="1600" b="0" u="none" strike="noStrike">
                <a:solidFill>
                  <a:srgbClr val="1E293B"/>
                </a:solidFill>
                <a:effectLst/>
                <a:uFillTx/>
                <a:latin typeface="QuattrocentoSans"/>
                <a:ea typeface="QuattrocentoSans"/>
              </a:rPr>
              <a:t>0.18</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a:p>
            <a:pPr>
              <a:lnSpc>
                <a:spcPct val="15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泰坦动力在欧洲、亚太的燃气发电资产面临边际成本倒挂风险。传统化石能源定价体系正被</a:t>
            </a:r>
            <a:r>
              <a:rPr lang="en-US" sz="1600" b="1"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碳价</a:t>
            </a:r>
            <a:r>
              <a:rPr lang="en-US" sz="1600" b="1"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地缘溢价</a:t>
            </a:r>
            <a:r>
              <a:rPr lang="en-US" sz="1600" b="1"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金融波动</a:t>
            </a:r>
            <a:r>
              <a:rPr lang="en-US" sz="1600" b="1"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三重变量重构。</a:t>
            </a:r>
            <a:endParaRPr lang="en-US" sz="1600" b="0" u="none" strike="noStrike">
              <a:solidFill>
                <a:srgbClr val="000000"/>
              </a:solidFill>
              <a:effectLst/>
              <a:uFillTx/>
              <a:latin typeface="Calibri"/>
            </a:endParaRPr>
          </a:p>
        </p:txBody>
      </p:sp>
      <p:graphicFrame>
        <p:nvGraphicFramePr>
          <p:cNvPr id="50" name="Chart 0"/>
          <p:cNvGraphicFramePr/>
          <p:nvPr/>
        </p:nvGraphicFramePr>
        <p:xfrm>
          <a:off x="7950240" y="1282680"/>
          <a:ext cx="7594560" cy="3657600"/>
        </p:xfrm>
        <a:graphic>
          <a:graphicData uri="http://schemas.openxmlformats.org/presentationml/2006/ole">
            <p:oleObj progId="Excel.Sheet.12" r:id="rId1" spid="">
              <p:embed/>
              <p:pic>
                <p:nvPicPr>
                  <p:cNvPr id="51" name="Chart 0"/>
                  <p:cNvPicPr/>
                  <p:nvPr/>
                </p:nvPicPr>
                <p:blipFill>
                  <a:blip r:embed="rId2"/>
                  <a:stretch/>
                </p:blipFill>
                <p:spPr>
                  <a:xfrm>
                    <a:off x="7950240" y="1282680"/>
                    <a:ext cx="7594560" cy="3657600"/>
                  </a:xfrm>
                  <a:prstGeom prst="rect">
                    <a:avLst/>
                  </a:prstGeom>
                  <a:noFill/>
                  <a:ln w="0">
                    <a:noFill/>
                  </a:ln>
                </p:spPr>
              </p:pic>
            </p:oleObj>
          </a:graphicData>
        </a:graphic>
      </p:graphicFrame>
      <p:sp>
        <p:nvSpPr>
          <p:cNvPr id="52" name="Shape 3"/>
          <p:cNvSpPr/>
          <p:nvPr/>
        </p:nvSpPr>
        <p:spPr>
          <a:xfrm>
            <a:off x="762120" y="5207040"/>
            <a:ext cx="3429000" cy="12700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53" name="Text 4"/>
          <p:cNvSpPr/>
          <p:nvPr/>
        </p:nvSpPr>
        <p:spPr>
          <a:xfrm>
            <a:off x="1015920" y="5334120"/>
            <a:ext cx="2921040" cy="6350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8A265"/>
                </a:solidFill>
                <a:effectLst/>
                <a:uFillTx/>
                <a:latin typeface="Liter"/>
                <a:ea typeface="Liter"/>
              </a:rPr>
              <a:t></a:t>
            </a:r>
            <a:endParaRPr lang="en-US" sz="3600" b="0" u="none" strike="noStrike">
              <a:solidFill>
                <a:srgbClr val="000000"/>
              </a:solidFill>
              <a:effectLst/>
              <a:uFillTx/>
              <a:latin typeface="Calibri"/>
            </a:endParaRPr>
          </a:p>
        </p:txBody>
      </p:sp>
      <p:sp>
        <p:nvSpPr>
          <p:cNvPr id="54" name="Text 5"/>
          <p:cNvSpPr/>
          <p:nvPr/>
        </p:nvSpPr>
        <p:spPr>
          <a:xfrm>
            <a:off x="1015920" y="5969160"/>
            <a:ext cx="2921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5A6D7F"/>
                </a:solidFill>
                <a:effectLst/>
                <a:uFillTx/>
                <a:latin typeface="Quattrocento Sans"/>
              </a:rPr>
              <a:t>2026</a:t>
            </a:r>
            <a:r>
              <a:rPr lang="en-US" sz="1200" b="0" u="none" strike="noStrike">
                <a:solidFill>
                  <a:srgbClr val="5A6D7F"/>
                </a:solidFill>
                <a:effectLst/>
                <a:uFillTx/>
                <a:latin typeface="Quattrocento Sans"/>
              </a:rPr>
              <a:t>年欧盟碳价 </a:t>
            </a:r>
            <a:r>
              <a:rPr lang="en-US" sz="1200" b="0" u="none" strike="noStrike">
                <a:solidFill>
                  <a:srgbClr val="5A6D7F"/>
                </a:solidFill>
                <a:effectLst/>
                <a:uFillTx/>
                <a:latin typeface="Quattrocento Sans"/>
              </a:rPr>
              <a:t>(</a:t>
            </a:r>
            <a:r>
              <a:rPr lang="en-US" sz="1200" b="0" u="none" strike="noStrike">
                <a:solidFill>
                  <a:srgbClr val="5A6D7F"/>
                </a:solidFill>
                <a:effectLst/>
                <a:uFillTx/>
                <a:latin typeface="Quattrocento Sans"/>
              </a:rPr>
              <a:t>每吨</a:t>
            </a:r>
            <a:r>
              <a:rPr lang="en-US" sz="1200" b="0" u="none" strike="noStrike">
                <a:solidFill>
                  <a:srgbClr val="5A6D7F"/>
                </a:solidFill>
                <a:effectLst/>
                <a:uFillTx/>
                <a:latin typeface="Quattrocento Sans"/>
              </a:rPr>
              <a:t>)</a:t>
            </a:r>
            <a:endParaRPr lang="en-US" sz="1200" b="0" u="none" strike="noStrike">
              <a:solidFill>
                <a:srgbClr val="000000"/>
              </a:solidFill>
              <a:effectLst/>
              <a:uFillTx/>
              <a:latin typeface="Calibri"/>
            </a:endParaRPr>
          </a:p>
        </p:txBody>
      </p:sp>
      <p:sp>
        <p:nvSpPr>
          <p:cNvPr id="55" name="Shape 6"/>
          <p:cNvSpPr/>
          <p:nvPr/>
        </p:nvSpPr>
        <p:spPr>
          <a:xfrm>
            <a:off x="4444920" y="5207040"/>
            <a:ext cx="3429000" cy="12700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56" name="Text 7"/>
          <p:cNvSpPr/>
          <p:nvPr/>
        </p:nvSpPr>
        <p:spPr>
          <a:xfrm>
            <a:off x="4699080" y="5334120"/>
            <a:ext cx="2921040" cy="6350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8A265"/>
                </a:solidFill>
                <a:effectLst/>
                <a:uFillTx/>
                <a:latin typeface="Liter"/>
                <a:ea typeface="Liter"/>
              </a:rPr>
              <a:t></a:t>
            </a:r>
            <a:endParaRPr lang="en-US" sz="3600" b="0" u="none" strike="noStrike">
              <a:solidFill>
                <a:srgbClr val="000000"/>
              </a:solidFill>
              <a:effectLst/>
              <a:uFillTx/>
              <a:latin typeface="Calibri"/>
            </a:endParaRPr>
          </a:p>
        </p:txBody>
      </p:sp>
      <p:sp>
        <p:nvSpPr>
          <p:cNvPr id="57" name="Text 8"/>
          <p:cNvSpPr/>
          <p:nvPr/>
        </p:nvSpPr>
        <p:spPr>
          <a:xfrm>
            <a:off x="4699080" y="5969160"/>
            <a:ext cx="2921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5A6D7F"/>
                </a:solidFill>
                <a:effectLst/>
                <a:uFillTx/>
                <a:latin typeface="Quattrocento Sans"/>
              </a:rPr>
              <a:t>全球</a:t>
            </a:r>
            <a:r>
              <a:rPr lang="en-US" sz="1200" b="0" u="none" strike="noStrike">
                <a:solidFill>
                  <a:srgbClr val="5A6D7F"/>
                </a:solidFill>
                <a:effectLst/>
                <a:uFillTx/>
                <a:latin typeface="Quattrocento Sans"/>
              </a:rPr>
              <a:t>LNG</a:t>
            </a:r>
            <a:r>
              <a:rPr lang="en-US" sz="1200" b="0" u="none" strike="noStrike">
                <a:solidFill>
                  <a:srgbClr val="5A6D7F"/>
                </a:solidFill>
                <a:effectLst/>
                <a:uFillTx/>
                <a:latin typeface="Quattrocento Sans"/>
              </a:rPr>
              <a:t>价格波动系数 </a:t>
            </a:r>
            <a:r>
              <a:rPr lang="en-US" sz="1200" b="0" u="none" strike="noStrike">
                <a:solidFill>
                  <a:srgbClr val="5A6D7F"/>
                </a:solidFill>
                <a:effectLst/>
                <a:uFillTx/>
                <a:latin typeface="Quattrocento Sans"/>
              </a:rPr>
              <a:t>CV</a:t>
            </a:r>
            <a:endParaRPr lang="en-US" sz="1200" b="0" u="none" strike="noStrike">
              <a:solidFill>
                <a:srgbClr val="000000"/>
              </a:solidFill>
              <a:effectLst/>
              <a:uFillTx/>
              <a:latin typeface="Calibri"/>
            </a:endParaRPr>
          </a:p>
        </p:txBody>
      </p:sp>
      <p:sp>
        <p:nvSpPr>
          <p:cNvPr id="58" name="Shape 9"/>
          <p:cNvSpPr/>
          <p:nvPr/>
        </p:nvSpPr>
        <p:spPr>
          <a:xfrm>
            <a:off x="8128080" y="5207040"/>
            <a:ext cx="3429000" cy="12700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59" name="Text 10"/>
          <p:cNvSpPr/>
          <p:nvPr/>
        </p:nvSpPr>
        <p:spPr>
          <a:xfrm>
            <a:off x="8381880" y="5334120"/>
            <a:ext cx="2921040" cy="6350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8A265"/>
                </a:solidFill>
                <a:effectLst/>
                <a:uFillTx/>
                <a:latin typeface="Liter"/>
                <a:ea typeface="Liter"/>
              </a:rPr>
              <a:t></a:t>
            </a:r>
            <a:endParaRPr lang="en-US" sz="3600" b="0" u="none" strike="noStrike">
              <a:solidFill>
                <a:srgbClr val="000000"/>
              </a:solidFill>
              <a:effectLst/>
              <a:uFillTx/>
              <a:latin typeface="Calibri"/>
            </a:endParaRPr>
          </a:p>
        </p:txBody>
      </p:sp>
      <p:sp>
        <p:nvSpPr>
          <p:cNvPr id="60" name="Text 11"/>
          <p:cNvSpPr/>
          <p:nvPr/>
        </p:nvSpPr>
        <p:spPr>
          <a:xfrm>
            <a:off x="8381880" y="5969160"/>
            <a:ext cx="2921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5A6D7F"/>
                </a:solidFill>
                <a:effectLst/>
                <a:uFillTx/>
                <a:latin typeface="Quattrocento Sans"/>
              </a:rPr>
              <a:t>碳成本占欧气电成本比重</a:t>
            </a:r>
            <a:endParaRPr lang="en-US" sz="1200" b="0" u="none" strike="noStrike">
              <a:solidFill>
                <a:srgbClr val="000000"/>
              </a:solidFill>
              <a:effectLst/>
              <a:uFillTx/>
              <a:latin typeface="Calibri"/>
            </a:endParaRPr>
          </a:p>
        </p:txBody>
      </p:sp>
      <p:sp>
        <p:nvSpPr>
          <p:cNvPr id="61" name="Shape 12"/>
          <p:cNvSpPr/>
          <p:nvPr/>
        </p:nvSpPr>
        <p:spPr>
          <a:xfrm>
            <a:off x="11810880" y="5207040"/>
            <a:ext cx="3429000" cy="12700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62" name="Text 13"/>
          <p:cNvSpPr/>
          <p:nvPr/>
        </p:nvSpPr>
        <p:spPr>
          <a:xfrm>
            <a:off x="12065040" y="5334120"/>
            <a:ext cx="2921040" cy="6350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8A265"/>
                </a:solidFill>
                <a:effectLst/>
                <a:uFillTx/>
                <a:latin typeface="Liter"/>
                <a:ea typeface="Liter"/>
              </a:rPr>
              <a:t></a:t>
            </a:r>
            <a:endParaRPr lang="en-US" sz="3600" b="0" u="none" strike="noStrike">
              <a:solidFill>
                <a:srgbClr val="000000"/>
              </a:solidFill>
              <a:effectLst/>
              <a:uFillTx/>
              <a:latin typeface="Calibri"/>
            </a:endParaRPr>
          </a:p>
        </p:txBody>
      </p:sp>
      <p:sp>
        <p:nvSpPr>
          <p:cNvPr id="63" name="Text 14"/>
          <p:cNvSpPr/>
          <p:nvPr/>
        </p:nvSpPr>
        <p:spPr>
          <a:xfrm>
            <a:off x="12065040" y="5969160"/>
            <a:ext cx="2921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5A6D7F"/>
                </a:solidFill>
                <a:effectLst/>
                <a:uFillTx/>
                <a:latin typeface="Quattrocento Sans"/>
              </a:rPr>
              <a:t>2022</a:t>
            </a:r>
            <a:r>
              <a:rPr lang="en-US" sz="1200" b="0" u="none" strike="noStrike">
                <a:solidFill>
                  <a:srgbClr val="5A6D7F"/>
                </a:solidFill>
                <a:effectLst/>
                <a:uFillTx/>
                <a:latin typeface="Quattrocento Sans"/>
              </a:rPr>
              <a:t>年原油峰值 </a:t>
            </a:r>
            <a:r>
              <a:rPr lang="en-US" sz="1200" b="0" u="none" strike="noStrike">
                <a:solidFill>
                  <a:srgbClr val="5A6D7F"/>
                </a:solidFill>
                <a:effectLst/>
                <a:uFillTx/>
                <a:latin typeface="Quattrocento Sans"/>
              </a:rPr>
              <a:t>(USD/</a:t>
            </a:r>
            <a:r>
              <a:rPr lang="en-US" sz="1200" b="0" u="none" strike="noStrike">
                <a:solidFill>
                  <a:srgbClr val="5A6D7F"/>
                </a:solidFill>
                <a:effectLst/>
                <a:uFillTx/>
                <a:latin typeface="Quattrocento Sans"/>
              </a:rPr>
              <a:t>桶</a:t>
            </a:r>
            <a:r>
              <a:rPr lang="en-US" sz="1200" b="0" u="none" strike="noStrike">
                <a:solidFill>
                  <a:srgbClr val="5A6D7F"/>
                </a:solidFill>
                <a:effectLst/>
                <a:uFillTx/>
                <a:latin typeface="Quattrocento Sans"/>
              </a:rPr>
              <a:t>)</a:t>
            </a:r>
            <a:endParaRPr lang="en-US" sz="1200" b="0" u="none" strike="noStrike">
              <a:solidFill>
                <a:srgbClr val="000000"/>
              </a:solidFill>
              <a:effectLst/>
              <a:uFillTx/>
              <a:latin typeface="Calibri"/>
            </a:endParaRPr>
          </a:p>
        </p:txBody>
      </p:sp>
      <p:sp>
        <p:nvSpPr>
          <p:cNvPr id="64" name="Shape 15"/>
          <p:cNvSpPr/>
          <p:nvPr/>
        </p:nvSpPr>
        <p:spPr>
          <a:xfrm>
            <a:off x="762120" y="6730920"/>
            <a:ext cx="14731920" cy="1143000"/>
          </a:xfrm>
          <a:prstGeom prst="rect">
            <a:avLst/>
          </a:prstGeom>
          <a:solidFill>
            <a:srgbClr val="0A1628"/>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65" name="Text 16"/>
          <p:cNvSpPr/>
          <p:nvPr/>
        </p:nvSpPr>
        <p:spPr>
          <a:xfrm>
            <a:off x="1015920" y="6858000"/>
            <a:ext cx="14223960" cy="888840"/>
          </a:xfrm>
          <a:prstGeom prst="rect">
            <a:avLst/>
          </a:prstGeom>
          <a:noFill/>
          <a:ln w="0">
            <a:noFill/>
          </a:ln>
        </p:spPr>
        <p:style>
          <a:lnRef idx="0"/>
          <a:fillRef idx="0"/>
          <a:effectRef idx="0"/>
          <a:fontRef idx="minor"/>
        </p:style>
        <p:txBody>
          <a:bodyPr lIns="0" tIns="0" rIns="0" bIns="0" anchor="ctr">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FFFFFF"/>
                </a:solidFill>
                <a:effectLst/>
                <a:uFillTx/>
                <a:latin typeface="Quattrocento Sans"/>
              </a:rPr>
              <a:t>战略洞察</a:t>
            </a:r>
            <a:r>
              <a:rPr lang="en-US" sz="1600" b="0" u="none" strike="noStrike">
                <a:solidFill>
                  <a:srgbClr val="FFFFFF"/>
                </a:solidFill>
                <a:effectLst/>
                <a:uFillTx/>
                <a:latin typeface="Quattrocento Sans"/>
              </a:rPr>
              <a:t>：传统化石能源定价体系正被</a:t>
            </a:r>
            <a:r>
              <a:rPr lang="en-US" sz="1600" b="0" u="none" strike="noStrike">
                <a:solidFill>
                  <a:srgbClr val="FFFFFF"/>
                </a:solidFill>
                <a:effectLst/>
                <a:uFillTx/>
                <a:latin typeface="Quattrocento Sans"/>
              </a:rPr>
              <a:t>"</a:t>
            </a:r>
            <a:r>
              <a:rPr lang="en-US" sz="1600" b="0" u="none" strike="noStrike">
                <a:solidFill>
                  <a:srgbClr val="FFFFFF"/>
                </a:solidFill>
                <a:effectLst/>
                <a:uFillTx/>
                <a:latin typeface="Quattrocento Sans"/>
              </a:rPr>
              <a:t>碳价</a:t>
            </a:r>
            <a:r>
              <a:rPr lang="en-US" sz="1600" b="0" u="none" strike="noStrike">
                <a:solidFill>
                  <a:srgbClr val="FFFFFF"/>
                </a:solidFill>
                <a:effectLst/>
                <a:uFillTx/>
                <a:latin typeface="Quattrocento Sans"/>
              </a:rPr>
              <a:t>+</a:t>
            </a:r>
            <a:r>
              <a:rPr lang="en-US" sz="1600" b="0" u="none" strike="noStrike">
                <a:solidFill>
                  <a:srgbClr val="FFFFFF"/>
                </a:solidFill>
                <a:effectLst/>
                <a:uFillTx/>
                <a:latin typeface="Quattrocento Sans"/>
              </a:rPr>
              <a:t>地缘溢价</a:t>
            </a:r>
            <a:r>
              <a:rPr lang="en-US" sz="1600" b="0" u="none" strike="noStrike">
                <a:solidFill>
                  <a:srgbClr val="FFFFFF"/>
                </a:solidFill>
                <a:effectLst/>
                <a:uFillTx/>
                <a:latin typeface="Quattrocento Sans"/>
              </a:rPr>
              <a:t>+</a:t>
            </a:r>
            <a:r>
              <a:rPr lang="en-US" sz="1600" b="0" u="none" strike="noStrike">
                <a:solidFill>
                  <a:srgbClr val="FFFFFF"/>
                </a:solidFill>
                <a:effectLst/>
                <a:uFillTx/>
                <a:latin typeface="Quattrocento Sans"/>
              </a:rPr>
              <a:t>金融波动</a:t>
            </a:r>
            <a:r>
              <a:rPr lang="en-US" sz="1600" b="0" u="none" strike="noStrike">
                <a:solidFill>
                  <a:srgbClr val="FFFFFF"/>
                </a:solidFill>
                <a:effectLst/>
                <a:uFillTx/>
                <a:latin typeface="Quattrocento Sans"/>
              </a:rPr>
              <a:t>"</a:t>
            </a:r>
            <a:r>
              <a:rPr lang="en-US" sz="1600" b="0" u="none" strike="noStrike">
                <a:solidFill>
                  <a:srgbClr val="FFFFFF"/>
                </a:solidFill>
                <a:effectLst/>
                <a:uFillTx/>
                <a:latin typeface="Quattrocento Sans"/>
              </a:rPr>
              <a:t>三重变量重构，企业必须建立动态对冲机制。泰坦动力在欧洲、亚太的燃气发电资产面临边际成本倒挂风险。</a:t>
            </a:r>
            <a:endParaRPr lang="en-US" sz="1600" b="0" u="none" strike="noStrike">
              <a:solidFill>
                <a:srgbClr val="000000"/>
              </a:solidFill>
              <a:effectLst/>
              <a:uFillTx/>
              <a:latin typeface="Calibri"/>
            </a:endParaRPr>
          </a:p>
        </p:txBody>
      </p:sp>
      <p:sp>
        <p:nvSpPr>
          <p:cNvPr id="66" name="Text 17"/>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IEA World Energy Outlook 2025, Bloomberg NEF, ICE Futures Europe · Slide 04</a:t>
            </a:r>
            <a:endParaRPr lang="en-US" sz="1000" b="0" u="none" strike="noStrike">
              <a:solidFill>
                <a:srgbClr val="000000"/>
              </a:solidFill>
              <a:effectLst/>
              <a:uFillTx/>
              <a:latin typeface="Calibri"/>
            </a:endParaRPr>
          </a:p>
        </p:txBody>
      </p:sp>
    </p:spTree>
  </p:cSld>
  <p:transition>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67" name="Text 0"/>
          <p:cNvSpPr/>
          <p:nvPr/>
        </p:nvSpPr>
        <p:spPr>
          <a:xfrm>
            <a:off x="762120" y="507960"/>
            <a:ext cx="1396980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全球前大经济体碳关税（）对标与合规成本矩阵</a:t>
            </a:r>
            <a:endParaRPr lang="en-US" sz="2800" b="0" u="none" strike="noStrike">
              <a:solidFill>
                <a:srgbClr val="000000"/>
              </a:solidFill>
              <a:effectLst/>
              <a:uFillTx/>
              <a:latin typeface="Calibri"/>
            </a:endParaRPr>
          </a:p>
        </p:txBody>
      </p:sp>
      <p:sp>
        <p:nvSpPr>
          <p:cNvPr id="68"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69" name="Text 2"/>
          <p:cNvSpPr/>
          <p:nvPr/>
        </p:nvSpPr>
        <p:spPr>
          <a:xfrm>
            <a:off x="762120" y="1270080"/>
            <a:ext cx="14731920" cy="101592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欧盟</a:t>
            </a:r>
            <a:r>
              <a:rPr lang="en-US" sz="1600" b="0" u="none" strike="noStrike">
                <a:solidFill>
                  <a:srgbClr val="1E293B"/>
                </a:solidFill>
                <a:effectLst/>
                <a:uFillTx/>
                <a:latin typeface="QuattrocentoSans"/>
                <a:ea typeface="QuattrocentoSans"/>
              </a:rPr>
              <a:t>CBAM</a:t>
            </a:r>
            <a:r>
              <a:rPr lang="en-US" sz="1600" b="0" u="none" strike="noStrike">
                <a:solidFill>
                  <a:srgbClr val="1E293B"/>
                </a:solidFill>
                <a:effectLst/>
                <a:uFillTx/>
                <a:latin typeface="QuattrocentoSans"/>
                <a:ea typeface="QuattrocentoSans"/>
              </a:rPr>
              <a:t>于</a:t>
            </a:r>
            <a:r>
              <a:rPr lang="en-US" sz="1600" b="0" u="none" strike="noStrike">
                <a:solidFill>
                  <a:srgbClr val="1E293B"/>
                </a:solidFill>
                <a:effectLst/>
                <a:uFillTx/>
                <a:latin typeface="QuattrocentoSans"/>
                <a:ea typeface="QuattrocentoSans"/>
              </a:rPr>
              <a:t>2026</a:t>
            </a:r>
            <a:r>
              <a:rPr lang="en-US" sz="1600" b="0" u="none" strike="noStrike">
                <a:solidFill>
                  <a:srgbClr val="1E293B"/>
                </a:solidFill>
                <a:effectLst/>
                <a:uFillTx/>
                <a:latin typeface="QuattrocentoSans"/>
                <a:ea typeface="QuattrocentoSans"/>
              </a:rPr>
              <a:t>年</a:t>
            </a:r>
            <a:r>
              <a:rPr lang="en-US" sz="1600" b="0" u="none" strike="noStrike">
                <a:solidFill>
                  <a:srgbClr val="1E293B"/>
                </a:solidFill>
                <a:effectLst/>
                <a:uFillTx/>
                <a:latin typeface="QuattrocentoSans"/>
                <a:ea typeface="QuattrocentoSans"/>
              </a:rPr>
              <a:t>1</a:t>
            </a:r>
            <a:r>
              <a:rPr lang="en-US" sz="1600" b="0" u="none" strike="noStrike">
                <a:solidFill>
                  <a:srgbClr val="1E293B"/>
                </a:solidFill>
                <a:effectLst/>
                <a:uFillTx/>
                <a:latin typeface="QuattrocentoSans"/>
                <a:ea typeface="QuattrocentoSans"/>
              </a:rPr>
              <a:t>月</a:t>
            </a:r>
            <a:r>
              <a:rPr lang="en-US" sz="1600" b="0" u="none" strike="noStrike">
                <a:solidFill>
                  <a:srgbClr val="1E293B"/>
                </a:solidFill>
                <a:effectLst/>
                <a:uFillTx/>
                <a:latin typeface="QuattrocentoSans"/>
                <a:ea typeface="QuattrocentoSans"/>
              </a:rPr>
              <a:t>1</a:t>
            </a:r>
            <a:r>
              <a:rPr lang="en-US" sz="1600" b="0" u="none" strike="noStrike">
                <a:solidFill>
                  <a:srgbClr val="1E293B"/>
                </a:solidFill>
                <a:effectLst/>
                <a:uFillTx/>
                <a:latin typeface="QuattrocentoSans"/>
                <a:ea typeface="QuattrocentoSans"/>
              </a:rPr>
              <a:t>日进入全面实施阶段，覆盖钢铁、水泥、铝、化肥、电力及氢六大行业。美国</a:t>
            </a:r>
            <a:r>
              <a:rPr lang="en-US" sz="1600" b="0" u="none" strike="noStrike">
                <a:solidFill>
                  <a:srgbClr val="1E293B"/>
                </a:solidFill>
                <a:effectLst/>
                <a:uFillTx/>
                <a:latin typeface="QuattrocentoSans"/>
                <a:ea typeface="QuattrocentoSans"/>
              </a:rPr>
              <a:t>CCA</a:t>
            </a:r>
            <a:r>
              <a:rPr lang="en-US" sz="1600" b="0" u="none" strike="noStrike">
                <a:solidFill>
                  <a:srgbClr val="1E293B"/>
                </a:solidFill>
                <a:effectLst/>
                <a:uFillTx/>
                <a:latin typeface="QuattrocentoSans"/>
                <a:ea typeface="QuattrocentoSans"/>
              </a:rPr>
              <a:t>提案设定</a:t>
            </a:r>
            <a:r>
              <a:rPr lang="en-US" sz="1600" b="0" u="none" strike="noStrike">
                <a:solidFill>
                  <a:srgbClr val="1E293B"/>
                </a:solidFill>
                <a:effectLst/>
                <a:uFillTx/>
                <a:latin typeface="QuattrocentoSans"/>
                <a:ea typeface="QuattrocentoSans"/>
              </a:rPr>
              <a:t>55</a:t>
            </a:r>
            <a:r>
              <a:rPr lang="en-US" sz="1600" b="0" u="none" strike="noStrike">
                <a:solidFill>
                  <a:srgbClr val="1E293B"/>
                </a:solidFill>
                <a:effectLst/>
                <a:uFillTx/>
                <a:latin typeface="QuattrocentoSans"/>
                <a:ea typeface="QuattrocentoSans"/>
              </a:rPr>
              <a:t>美元</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吨基准碳价。泰坦动力在欧盟、北美的</a:t>
            </a:r>
            <a:r>
              <a:rPr lang="en-US" sz="1600" b="0" u="none" strike="noStrike">
                <a:solidFill>
                  <a:srgbClr val="1E293B"/>
                </a:solidFill>
                <a:effectLst/>
                <a:uFillTx/>
                <a:latin typeface="QuattrocentoSans"/>
                <a:ea typeface="QuattrocentoSans"/>
              </a:rPr>
              <a:t>12</a:t>
            </a:r>
            <a:r>
              <a:rPr lang="en-US" sz="1600" b="0" u="none" strike="noStrike">
                <a:solidFill>
                  <a:srgbClr val="1E293B"/>
                </a:solidFill>
                <a:effectLst/>
                <a:uFillTx/>
                <a:latin typeface="QuattrocentoSans"/>
                <a:ea typeface="QuattrocentoSans"/>
              </a:rPr>
              <a:t>座燃煤</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燃气电厂年出口电量折合碳排放约</a:t>
            </a:r>
            <a:r>
              <a:rPr lang="en-US" sz="1600" b="1" u="none" strike="noStrike">
                <a:solidFill>
                  <a:srgbClr val="1E293B"/>
                </a:solidFill>
                <a:effectLst/>
                <a:uFillTx/>
                <a:latin typeface="QuattrocentoSans"/>
                <a:ea typeface="QuattrocentoSans"/>
              </a:rPr>
              <a:t>4200</a:t>
            </a:r>
            <a:r>
              <a:rPr lang="en-US" sz="1600" b="1" u="none" strike="noStrike">
                <a:solidFill>
                  <a:srgbClr val="1E293B"/>
                </a:solidFill>
                <a:effectLst/>
                <a:uFillTx/>
                <a:latin typeface="QuattrocentoSans"/>
                <a:ea typeface="QuattrocentoSans"/>
              </a:rPr>
              <a:t>万吨</a:t>
            </a:r>
            <a:r>
              <a:rPr lang="en-US" sz="1600" b="0" u="none" strike="noStrike">
                <a:solidFill>
                  <a:srgbClr val="1E293B"/>
                </a:solidFill>
                <a:effectLst/>
                <a:uFillTx/>
                <a:latin typeface="QuattrocentoSans"/>
                <a:ea typeface="QuattrocentoSans"/>
              </a:rPr>
              <a:t>，若不实施减排改造，</a:t>
            </a:r>
            <a:r>
              <a:rPr lang="en-US" sz="1600" b="0" u="none" strike="noStrike">
                <a:solidFill>
                  <a:srgbClr val="1E293B"/>
                </a:solidFill>
                <a:effectLst/>
                <a:uFillTx/>
                <a:latin typeface="QuattrocentoSans"/>
                <a:ea typeface="QuattrocentoSans"/>
              </a:rPr>
              <a:t>2030</a:t>
            </a:r>
            <a:r>
              <a:rPr lang="en-US" sz="1600" b="0" u="none" strike="noStrike">
                <a:solidFill>
                  <a:srgbClr val="1E293B"/>
                </a:solidFill>
                <a:effectLst/>
                <a:uFillTx/>
                <a:latin typeface="QuattrocentoSans"/>
                <a:ea typeface="QuattrocentoSans"/>
              </a:rPr>
              <a:t>年年度</a:t>
            </a:r>
            <a:r>
              <a:rPr lang="en-US" sz="1600" b="0" u="none" strike="noStrike">
                <a:solidFill>
                  <a:srgbClr val="1E293B"/>
                </a:solidFill>
                <a:effectLst/>
                <a:uFillTx/>
                <a:latin typeface="QuattrocentoSans"/>
                <a:ea typeface="QuattrocentoSans"/>
              </a:rPr>
              <a:t>CBAM</a:t>
            </a:r>
            <a:r>
              <a:rPr lang="en-US" sz="1600" b="0" u="none" strike="noStrike">
                <a:solidFill>
                  <a:srgbClr val="1E293B"/>
                </a:solidFill>
                <a:effectLst/>
                <a:uFillTx/>
                <a:latin typeface="QuattrocentoSans"/>
                <a:ea typeface="QuattrocentoSans"/>
              </a:rPr>
              <a:t>合规成本预计达</a:t>
            </a:r>
            <a:r>
              <a:rPr lang="en-US" sz="1600" b="1" u="none" strike="noStrike">
                <a:solidFill>
                  <a:srgbClr val="1E293B"/>
                </a:solidFill>
                <a:effectLst/>
                <a:uFillTx/>
                <a:latin typeface="QuattrocentoSans"/>
                <a:ea typeface="QuattrocentoSans"/>
              </a:rPr>
              <a:t>18.7</a:t>
            </a:r>
            <a:r>
              <a:rPr lang="en-US" sz="1600" b="1" u="none" strike="noStrike">
                <a:solidFill>
                  <a:srgbClr val="1E293B"/>
                </a:solidFill>
                <a:effectLst/>
                <a:uFillTx/>
                <a:latin typeface="QuattrocentoSans"/>
                <a:ea typeface="QuattrocentoSans"/>
              </a:rPr>
              <a:t>亿美元</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p:txBody>
      </p:sp>
      <p:graphicFrame>
        <p:nvGraphicFramePr>
          <p:cNvPr id="70" name=""/>
          <p:cNvGraphicFramePr/>
          <p:nvPr/>
        </p:nvGraphicFramePr>
        <p:xfrm>
          <a:off x="762120" y="2476440"/>
          <a:ext cx="14731920" cy="5461200"/>
        </p:xfrm>
        <a:graphic>
          <a:graphicData uri="http://schemas.openxmlformats.org/drawingml/2006/table">
            <a:tbl>
              <a:tblPr/>
              <a:tblGrid>
                <a:gridCol w="1473120"/>
                <a:gridCol w="1473120"/>
                <a:gridCol w="1177920"/>
                <a:gridCol w="1473120"/>
                <a:gridCol w="1473480"/>
                <a:gridCol w="1473120"/>
                <a:gridCol w="1768320"/>
                <a:gridCol w="2210040"/>
                <a:gridCol w="2209680"/>
              </a:tblGrid>
              <a:tr h="4269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经济体</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CBAM</a:t>
                      </a:r>
                      <a:r>
                        <a:rPr lang="en-US" sz="1100" b="1" u="none" strike="noStrike">
                          <a:solidFill>
                            <a:srgbClr val="FFFFFF"/>
                          </a:solidFill>
                          <a:effectLst/>
                          <a:uFillTx/>
                          <a:latin typeface="QuattrocentoSans"/>
                          <a:ea typeface="QuattrocentoSans"/>
                        </a:rPr>
                        <a:t>状态</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覆盖行业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基准碳价</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生效日期</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Titan</a:t>
                      </a:r>
                      <a:r>
                        <a:rPr lang="en-US" sz="1100" b="1" u="none" strike="noStrike">
                          <a:solidFill>
                            <a:srgbClr val="FFFFFF"/>
                          </a:solidFill>
                          <a:effectLst/>
                          <a:uFillTx/>
                          <a:latin typeface="QuattrocentoSans"/>
                          <a:ea typeface="QuattrocentoSans"/>
                        </a:rPr>
                        <a:t>暴露度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预估年合规成本</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应对策略</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备注</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r>
              <a:tr h="252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欧盟 </a:t>
                      </a:r>
                      <a:r>
                        <a:rPr lang="en-US" sz="1100" b="0" u="none" strike="noStrike">
                          <a:solidFill>
                            <a:srgbClr val="1E293B"/>
                          </a:solidFill>
                          <a:effectLst/>
                          <a:uFillTx/>
                          <a:latin typeface="QuattrocentoSans"/>
                          <a:ea typeface="QuattrocentoSans"/>
                        </a:rPr>
                        <a:t>(EU-27)</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全面实施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a:t>
                      </a:r>
                      <a:r>
                        <a:rPr lang="en-US" sz="1100" b="0" u="none" strike="noStrike">
                          <a:solidFill>
                            <a:srgbClr val="1E293B"/>
                          </a:solidFill>
                          <a:effectLst/>
                          <a:uFillTx/>
                          <a:latin typeface="QuattrocentoSans"/>
                          <a:ea typeface="QuattrocentoSans"/>
                        </a:rPr>
                        <a:t>大行业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$95/t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2026.01</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$187M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绿电替代</a:t>
                      </a:r>
                      <a:r>
                        <a:rPr lang="en-US" sz="1100" b="0" u="none" strike="noStrike">
                          <a:solidFill>
                            <a:srgbClr val="1E293B"/>
                          </a:solidFill>
                          <a:effectLst/>
                          <a:uFillTx/>
                          <a:latin typeface="QuattrocentoSans"/>
                          <a:ea typeface="QuattrocentoSans"/>
                        </a:rPr>
                        <a:t>+CCS</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覆盖电力出口</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2523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美国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立法推进</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a:t>
                      </a:r>
                      <a:r>
                        <a:rPr lang="en-US" sz="1100" b="0" u="none" strike="noStrike">
                          <a:solidFill>
                            <a:srgbClr val="1E293B"/>
                          </a:solidFill>
                          <a:effectLst/>
                          <a:uFillTx/>
                          <a:latin typeface="QuattrocentoSans"/>
                          <a:ea typeface="QuattrocentoSans"/>
                        </a:rPr>
                        <a:t>大行业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$55/t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2027(E)</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$98M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燃气替代煤电</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CCA</a:t>
                      </a:r>
                      <a:r>
                        <a:rPr lang="en-US" sz="1100" b="0" u="none" strike="noStrike">
                          <a:solidFill>
                            <a:srgbClr val="1E293B"/>
                          </a:solidFill>
                          <a:effectLst/>
                          <a:uFillTx/>
                          <a:latin typeface="QuattrocentoSans"/>
                          <a:ea typeface="QuattrocentoSans"/>
                        </a:rPr>
                        <a:t>提案阶段</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2505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英国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已实施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a:t>
                      </a:r>
                      <a:r>
                        <a:rPr lang="en-US" sz="1100" b="0" u="none" strike="noStrike">
                          <a:solidFill>
                            <a:srgbClr val="1E293B"/>
                          </a:solidFill>
                          <a:effectLst/>
                          <a:uFillTx/>
                          <a:latin typeface="QuattrocentoSans"/>
                          <a:ea typeface="QuattrocentoSans"/>
                        </a:rPr>
                        <a:t>大行业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$88/t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2025.01</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$32M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海上风电购电</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与</a:t>
                      </a:r>
                      <a:r>
                        <a:rPr lang="en-US" sz="1100" b="0" u="none" strike="noStrike">
                          <a:solidFill>
                            <a:srgbClr val="1E293B"/>
                          </a:solidFill>
                          <a:effectLst/>
                          <a:uFillTx/>
                          <a:latin typeface="QuattrocentoSans"/>
                          <a:ea typeface="QuattrocentoSans"/>
                        </a:rPr>
                        <a:t>EU CBAM</a:t>
                      </a:r>
                      <a:r>
                        <a:rPr lang="en-US" sz="1100" b="0" u="none" strike="noStrike">
                          <a:solidFill>
                            <a:srgbClr val="1E293B"/>
                          </a:solidFill>
                          <a:effectLst/>
                          <a:uFillTx/>
                          <a:latin typeface="QuattrocentoSans"/>
                          <a:ea typeface="QuattrocentoSans"/>
                        </a:rPr>
                        <a:t>挂钩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252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日本</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框架制定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a:t>
                      </a:r>
                      <a:r>
                        <a:rPr lang="en-US" sz="1100" b="0" u="none" strike="noStrike">
                          <a:solidFill>
                            <a:srgbClr val="1E293B"/>
                          </a:solidFill>
                          <a:effectLst/>
                          <a:uFillTx/>
                          <a:latin typeface="QuattrocentoSans"/>
                          <a:ea typeface="QuattrocentoSans"/>
                        </a:rPr>
                        <a:t>大行业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待定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2028(E)</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氨混烧试点</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参考</a:t>
                      </a:r>
                      <a:r>
                        <a:rPr lang="en-US" sz="1100" b="0" u="none" strike="noStrike">
                          <a:solidFill>
                            <a:srgbClr val="1E293B"/>
                          </a:solidFill>
                          <a:effectLst/>
                          <a:uFillTx/>
                          <a:latin typeface="QuattrocentoSans"/>
                          <a:ea typeface="QuattrocentoSans"/>
                        </a:rPr>
                        <a:t>EU</a:t>
                      </a:r>
                      <a:r>
                        <a:rPr lang="en-US" sz="1100" b="0" u="none" strike="noStrike">
                          <a:solidFill>
                            <a:srgbClr val="1E293B"/>
                          </a:solidFill>
                          <a:effectLst/>
                          <a:uFillTx/>
                          <a:latin typeface="QuattrocentoSans"/>
                          <a:ea typeface="QuattrocentoSans"/>
                        </a:rPr>
                        <a:t>标准</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2505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加拿大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省级试点</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a:t>
                      </a:r>
                      <a:r>
                        <a:rPr lang="en-US" sz="1100" b="0" u="none" strike="noStrike">
                          <a:solidFill>
                            <a:srgbClr val="1E293B"/>
                          </a:solidFill>
                          <a:effectLst/>
                          <a:uFillTx/>
                          <a:latin typeface="QuattrocentoSans"/>
                          <a:ea typeface="QuattrocentoSans"/>
                        </a:rPr>
                        <a:t>大行业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$65/t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2026.07</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水电扩容</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BC</a:t>
                      </a:r>
                      <a:r>
                        <a:rPr lang="en-US" sz="1100" b="0" u="none" strike="noStrike">
                          <a:solidFill>
                            <a:srgbClr val="1E293B"/>
                          </a:solidFill>
                          <a:effectLst/>
                          <a:uFillTx/>
                          <a:latin typeface="QuattrocentoSans"/>
                          <a:ea typeface="QuattrocentoSans"/>
                        </a:rPr>
                        <a:t>省先行</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2523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澳大利亚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咨询阶段</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a:t>
                      </a:r>
                      <a:r>
                        <a:rPr lang="en-US" sz="1100" b="0" u="none" strike="noStrike">
                          <a:solidFill>
                            <a:srgbClr val="1E293B"/>
                          </a:solidFill>
                          <a:effectLst/>
                          <a:uFillTx/>
                          <a:latin typeface="QuattrocentoSans"/>
                          <a:ea typeface="QuattrocentoSans"/>
                        </a:rPr>
                        <a:t>大行业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待定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2029(E)</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绿氢出口</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与</a:t>
                      </a:r>
                      <a:r>
                        <a:rPr lang="en-US" sz="1100" b="0" u="none" strike="noStrike">
                          <a:solidFill>
                            <a:srgbClr val="1E293B"/>
                          </a:solidFill>
                          <a:effectLst/>
                          <a:uFillTx/>
                          <a:latin typeface="QuattrocentoSans"/>
                          <a:ea typeface="QuattrocentoSans"/>
                        </a:rPr>
                        <a:t>EU</a:t>
                      </a:r>
                      <a:r>
                        <a:rPr lang="en-US" sz="1100" b="0" u="none" strike="noStrike">
                          <a:solidFill>
                            <a:srgbClr val="1E293B"/>
                          </a:solidFill>
                          <a:effectLst/>
                          <a:uFillTx/>
                          <a:latin typeface="QuattrocentoSans"/>
                          <a:ea typeface="QuattrocentoSans"/>
                        </a:rPr>
                        <a:t>谈判中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2509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韩国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立法草案</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a:t>
                      </a:r>
                      <a:r>
                        <a:rPr lang="en-US" sz="1100" b="0" u="none" strike="noStrike">
                          <a:solidFill>
                            <a:srgbClr val="1E293B"/>
                          </a:solidFill>
                          <a:effectLst/>
                          <a:uFillTx/>
                          <a:latin typeface="QuattrocentoSans"/>
                          <a:ea typeface="QuattrocentoSans"/>
                        </a:rPr>
                        <a:t>大行业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$45/t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2027(E)</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$22M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核电</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储能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K-ETS</a:t>
                      </a:r>
                      <a:r>
                        <a:rPr lang="en-US" sz="1100" b="0" u="none" strike="noStrike">
                          <a:solidFill>
                            <a:srgbClr val="1E293B"/>
                          </a:solidFill>
                          <a:effectLst/>
                          <a:uFillTx/>
                          <a:latin typeface="QuattrocentoSans"/>
                          <a:ea typeface="QuattrocentoSans"/>
                        </a:rPr>
                        <a:t>挂钩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2523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国内</a:t>
                      </a:r>
                      <a:r>
                        <a:rPr lang="en-US" sz="1100" b="0" u="none" strike="noStrike">
                          <a:solidFill>
                            <a:srgbClr val="1E293B"/>
                          </a:solidFill>
                          <a:effectLst/>
                          <a:uFillTx/>
                          <a:latin typeface="QuattrocentoSans"/>
                          <a:ea typeface="QuattrocentoSans"/>
                        </a:rPr>
                        <a:t>ETS</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电力行业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2021</a:t>
                      </a:r>
                      <a:r>
                        <a:rPr lang="en-US" sz="1100" b="0" u="none" strike="noStrike">
                          <a:solidFill>
                            <a:srgbClr val="1E293B"/>
                          </a:solidFill>
                          <a:effectLst/>
                          <a:uFillTx/>
                          <a:latin typeface="QuattrocentoSans"/>
                          <a:ea typeface="QuattrocentoSans"/>
                        </a:rPr>
                        <a:t>运行</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$15M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煤电机组改造</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全国</a:t>
                      </a:r>
                      <a:r>
                        <a:rPr lang="en-US" sz="1100" b="0" u="none" strike="noStrike">
                          <a:solidFill>
                            <a:srgbClr val="1E293B"/>
                          </a:solidFill>
                          <a:effectLst/>
                          <a:uFillTx/>
                          <a:latin typeface="QuattrocentoSans"/>
                          <a:ea typeface="QuattrocentoSans"/>
                        </a:rPr>
                        <a:t>ETS</a:t>
                      </a:r>
                      <a:r>
                        <a:rPr lang="en-US" sz="1100" b="0" u="none" strike="noStrike">
                          <a:solidFill>
                            <a:srgbClr val="1E293B"/>
                          </a:solidFill>
                          <a:effectLst/>
                          <a:uFillTx/>
                          <a:latin typeface="QuattrocentoSans"/>
                          <a:ea typeface="QuattrocentoSans"/>
                        </a:rPr>
                        <a:t>扩容中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2509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印度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研究阶段</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待定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待定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2030(E)</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光伏自发自用</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CBAM</a:t>
                      </a:r>
                      <a:r>
                        <a:rPr lang="en-US" sz="1100" b="0" u="none" strike="noStrike">
                          <a:solidFill>
                            <a:srgbClr val="1E293B"/>
                          </a:solidFill>
                          <a:effectLst/>
                          <a:uFillTx/>
                          <a:latin typeface="QuattrocentoSans"/>
                          <a:ea typeface="QuattrocentoSans"/>
                        </a:rPr>
                        <a:t>被动承受</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2523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巴西</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无计划</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维持水电优势</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南美避风港</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2509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墨西哥</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无计划</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近岸制造基地</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USMCA</a:t>
                      </a:r>
                      <a:r>
                        <a:rPr lang="en-US" sz="1100" b="0" u="none" strike="noStrike">
                          <a:solidFill>
                            <a:srgbClr val="1E293B"/>
                          </a:solidFill>
                          <a:effectLst/>
                          <a:uFillTx/>
                          <a:latin typeface="QuattrocentoSans"/>
                          <a:ea typeface="QuattrocentoSans"/>
                        </a:rPr>
                        <a:t>优势</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2523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印尼</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无计划</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镍</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电池一体化</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资源出口国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2509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沙特</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无计划</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绿氢出口欧洲</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NEOM</a:t>
                      </a:r>
                      <a:r>
                        <a:rPr lang="en-US" sz="1100" b="0" u="none" strike="noStrike">
                          <a:solidFill>
                            <a:srgbClr val="1E293B"/>
                          </a:solidFill>
                          <a:effectLst/>
                          <a:uFillTx/>
                          <a:latin typeface="QuattrocentoSans"/>
                          <a:ea typeface="QuattrocentoSans"/>
                        </a:rPr>
                        <a:t>枢纽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2523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土耳其</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对齐</a:t>
                      </a:r>
                      <a:r>
                        <a:rPr lang="en-US" sz="1100" b="0" u="none" strike="noStrike">
                          <a:solidFill>
                            <a:srgbClr val="1E293B"/>
                          </a:solidFill>
                          <a:effectLst/>
                          <a:uFillTx/>
                          <a:latin typeface="QuattrocentoSans"/>
                          <a:ea typeface="QuattrocentoSans"/>
                        </a:rPr>
                        <a:t>EU</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a:t>
                      </a:r>
                      <a:r>
                        <a:rPr lang="en-US" sz="1100" b="0" u="none" strike="noStrike">
                          <a:solidFill>
                            <a:srgbClr val="1E293B"/>
                          </a:solidFill>
                          <a:effectLst/>
                          <a:uFillTx/>
                          <a:latin typeface="QuattrocentoSans"/>
                          <a:ea typeface="QuattrocentoSans"/>
                        </a:rPr>
                        <a:t>大行业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$75/t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2026.04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地热</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光伏</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EU</a:t>
                      </a:r>
                      <a:r>
                        <a:rPr lang="en-US" sz="1100" b="0" u="none" strike="noStrike">
                          <a:solidFill>
                            <a:srgbClr val="1E293B"/>
                          </a:solidFill>
                          <a:effectLst/>
                          <a:uFillTx/>
                          <a:latin typeface="QuattrocentoSans"/>
                          <a:ea typeface="QuattrocentoSans"/>
                        </a:rPr>
                        <a:t>候选国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2509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瑞士</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已实施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a:t>
                      </a:r>
                      <a:r>
                        <a:rPr lang="en-US" sz="1100" b="0" u="none" strike="noStrike">
                          <a:solidFill>
                            <a:srgbClr val="1E293B"/>
                          </a:solidFill>
                          <a:effectLst/>
                          <a:uFillTx/>
                          <a:latin typeface="QuattrocentoSans"/>
                          <a:ea typeface="QuattrocentoSans"/>
                        </a:rPr>
                        <a:t>大行业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$95/t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2026.01</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水电全覆盖</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与</a:t>
                      </a:r>
                      <a:r>
                        <a:rPr lang="en-US" sz="1100" b="0" u="none" strike="noStrike">
                          <a:solidFill>
                            <a:srgbClr val="1E293B"/>
                          </a:solidFill>
                          <a:effectLst/>
                          <a:uFillTx/>
                          <a:latin typeface="QuattrocentoSans"/>
                          <a:ea typeface="QuattrocentoSans"/>
                        </a:rPr>
                        <a:t>EU</a:t>
                      </a:r>
                      <a:r>
                        <a:rPr lang="en-US" sz="1100" b="0" u="none" strike="noStrike">
                          <a:solidFill>
                            <a:srgbClr val="1E293B"/>
                          </a:solidFill>
                          <a:effectLst/>
                          <a:uFillTx/>
                          <a:latin typeface="QuattrocentoSans"/>
                          <a:ea typeface="QuattrocentoSans"/>
                        </a:rPr>
                        <a:t>同步</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2523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挪威</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已实施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a:t>
                      </a:r>
                      <a:r>
                        <a:rPr lang="en-US" sz="1100" b="0" u="none" strike="noStrike">
                          <a:solidFill>
                            <a:srgbClr val="1E293B"/>
                          </a:solidFill>
                          <a:effectLst/>
                          <a:uFillTx/>
                          <a:latin typeface="QuattrocentoSans"/>
                          <a:ea typeface="QuattrocentoSans"/>
                        </a:rPr>
                        <a:t>大行业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$95/t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2026.01</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水电全覆盖</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EEA</a:t>
                      </a:r>
                      <a:r>
                        <a:rPr lang="en-US" sz="1100" b="0" u="none" strike="noStrike">
                          <a:solidFill>
                            <a:srgbClr val="1E293B"/>
                          </a:solidFill>
                          <a:effectLst/>
                          <a:uFillTx/>
                          <a:latin typeface="QuattrocentoSans"/>
                          <a:ea typeface="QuattrocentoSans"/>
                        </a:rPr>
                        <a:t>同步</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2509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俄罗斯</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被排除</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制裁中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无</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资产已剥离</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全面退出</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2523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南非</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无计划</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绿氢出口</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非洲枢纽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2505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阿联酋</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无计划</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绿氢</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氨出口</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ADNOC</a:t>
                      </a:r>
                      <a:r>
                        <a:rPr lang="en-US" sz="1100" b="0" u="none" strike="noStrike">
                          <a:solidFill>
                            <a:srgbClr val="1E293B"/>
                          </a:solidFill>
                          <a:effectLst/>
                          <a:uFillTx/>
                          <a:latin typeface="QuattrocentoSans"/>
                          <a:ea typeface="QuattrocentoSans"/>
                        </a:rPr>
                        <a:t>合作</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252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新加坡</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无计划</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区域贸易中心</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转口港优势</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bl>
          </a:graphicData>
        </a:graphic>
      </p:graphicFrame>
      <p:sp>
        <p:nvSpPr>
          <p:cNvPr id="71" name="Text 3"/>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European Commission CBAM Regulation, US Senate CCA Proposal 2025, OECD Carbon Pricing Dashboard · Slide 05</a:t>
            </a:r>
            <a:endParaRPr lang="en-US" sz="1000" b="0" u="none" strike="noStrike">
              <a:solidFill>
                <a:srgbClr val="000000"/>
              </a:solidFill>
              <a:effectLst/>
              <a:uFillTx/>
              <a:latin typeface="Calibri"/>
            </a:endParaRPr>
          </a:p>
        </p:txBody>
      </p:sp>
    </p:spTree>
  </p:cSld>
  <p:transition>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72" name="Text 0"/>
          <p:cNvSpPr/>
          <p:nvPr/>
        </p:nvSpPr>
        <p:spPr>
          <a:xfrm>
            <a:off x="762120" y="507960"/>
            <a:ext cx="126997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行业阵痛：传统能源资产的搁浅风险与估值重构</a:t>
            </a:r>
            <a:endParaRPr lang="en-US" sz="2800" b="0" u="none" strike="noStrike">
              <a:solidFill>
                <a:srgbClr val="000000"/>
              </a:solidFill>
              <a:effectLst/>
              <a:uFillTx/>
              <a:latin typeface="Calibri"/>
            </a:endParaRPr>
          </a:p>
        </p:txBody>
      </p:sp>
      <p:sp>
        <p:nvSpPr>
          <p:cNvPr id="73"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74" name="Text 2"/>
          <p:cNvSpPr/>
          <p:nvPr/>
        </p:nvSpPr>
        <p:spPr>
          <a:xfrm>
            <a:off x="762120" y="1333440"/>
            <a:ext cx="7111800" cy="330192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全球能源转型加速导致化石能源资产面临系统性</a:t>
            </a:r>
            <a:r>
              <a:rPr lang="en-US" sz="1600" b="1"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搁浅</a:t>
            </a:r>
            <a:r>
              <a:rPr lang="en-US" sz="1600" b="1"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风险。根据</a:t>
            </a:r>
            <a:r>
              <a:rPr lang="en-US" sz="1600" b="0" u="none" strike="noStrike">
                <a:solidFill>
                  <a:srgbClr val="1E293B"/>
                </a:solidFill>
                <a:effectLst/>
                <a:uFillTx/>
                <a:latin typeface="QuattrocentoSans"/>
                <a:ea typeface="QuattrocentoSans"/>
              </a:rPr>
              <a:t>Carbon Tracker 2025</a:t>
            </a:r>
            <a:r>
              <a:rPr lang="en-US" sz="1600" b="0" u="none" strike="noStrike">
                <a:solidFill>
                  <a:srgbClr val="1E293B"/>
                </a:solidFill>
                <a:effectLst/>
                <a:uFillTx/>
                <a:latin typeface="QuattrocentoSans"/>
                <a:ea typeface="QuattrocentoSans"/>
              </a:rPr>
              <a:t>报告，全球油气资产搁浅风险估值达</a:t>
            </a:r>
            <a:r>
              <a:rPr lang="en-US" sz="1600" b="1" u="none" strike="noStrike">
                <a:solidFill>
                  <a:srgbClr val="1E293B"/>
                </a:solidFill>
                <a:effectLst/>
                <a:uFillTx/>
                <a:latin typeface="QuattrocentoSans"/>
                <a:ea typeface="QuattrocentoSans"/>
              </a:rPr>
              <a:t>1.4</a:t>
            </a:r>
            <a:r>
              <a:rPr lang="en-US" sz="1600" b="1" u="none" strike="noStrike">
                <a:solidFill>
                  <a:srgbClr val="1E293B"/>
                </a:solidFill>
                <a:effectLst/>
                <a:uFillTx/>
                <a:latin typeface="QuattrocentoSans"/>
                <a:ea typeface="QuattrocentoSans"/>
              </a:rPr>
              <a:t>万亿美元</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a:p>
            <a:pPr>
              <a:lnSpc>
                <a:spcPct val="15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泰坦动力持有的煤炭发电资产账面净值</a:t>
            </a:r>
            <a:r>
              <a:rPr lang="en-US" sz="1600" b="1" u="none" strike="noStrike">
                <a:solidFill>
                  <a:srgbClr val="1E293B"/>
                </a:solidFill>
                <a:effectLst/>
                <a:uFillTx/>
                <a:latin typeface="QuattrocentoSans"/>
                <a:ea typeface="QuattrocentoSans"/>
              </a:rPr>
              <a:t>87</a:t>
            </a:r>
            <a:r>
              <a:rPr lang="en-US" sz="1600" b="1" u="none" strike="noStrike">
                <a:solidFill>
                  <a:srgbClr val="1E293B"/>
                </a:solidFill>
                <a:effectLst/>
                <a:uFillTx/>
                <a:latin typeface="QuattrocentoSans"/>
                <a:ea typeface="QuattrocentoSans"/>
              </a:rPr>
              <a:t>亿美元</a:t>
            </a:r>
            <a:r>
              <a:rPr lang="en-US" sz="1600" b="0" u="none" strike="noStrike">
                <a:solidFill>
                  <a:srgbClr val="1E293B"/>
                </a:solidFill>
                <a:effectLst/>
                <a:uFillTx/>
                <a:latin typeface="QuattrocentoSans"/>
                <a:ea typeface="QuattrocentoSans"/>
              </a:rPr>
              <a:t>，但按</a:t>
            </a:r>
            <a:r>
              <a:rPr lang="en-US" sz="1600" b="0" u="none" strike="noStrike">
                <a:solidFill>
                  <a:srgbClr val="1E293B"/>
                </a:solidFill>
                <a:effectLst/>
                <a:uFillTx/>
                <a:latin typeface="QuattrocentoSans"/>
                <a:ea typeface="QuattrocentoSans"/>
              </a:rPr>
              <a:t>NPV</a:t>
            </a:r>
            <a:r>
              <a:rPr lang="en-US" sz="1600" b="0" u="none" strike="noStrike">
                <a:solidFill>
                  <a:srgbClr val="1E293B"/>
                </a:solidFill>
                <a:effectLst/>
                <a:uFillTx/>
                <a:latin typeface="QuattrocentoSans"/>
                <a:ea typeface="QuattrocentoSans"/>
              </a:rPr>
              <a:t>法以</a:t>
            </a:r>
            <a:r>
              <a:rPr lang="en-US" sz="1600" b="0" u="none" strike="noStrike">
                <a:solidFill>
                  <a:srgbClr val="1E293B"/>
                </a:solidFill>
                <a:effectLst/>
                <a:uFillTx/>
                <a:latin typeface="QuattrocentoSans"/>
                <a:ea typeface="QuattrocentoSans"/>
              </a:rPr>
              <a:t>2030</a:t>
            </a:r>
            <a:r>
              <a:rPr lang="en-US" sz="1600" b="0" u="none" strike="noStrike">
                <a:solidFill>
                  <a:srgbClr val="1E293B"/>
                </a:solidFill>
                <a:effectLst/>
                <a:uFillTx/>
                <a:latin typeface="QuattrocentoSans"/>
                <a:ea typeface="QuattrocentoSans"/>
              </a:rPr>
              <a:t>年碳价</a:t>
            </a:r>
            <a:r>
              <a:rPr lang="en-US" sz="1600" b="0" u="none" strike="noStrike">
                <a:solidFill>
                  <a:srgbClr val="1E293B"/>
                </a:solidFill>
                <a:effectLst/>
                <a:uFillTx/>
                <a:latin typeface="QuattrocentoSans"/>
                <a:ea typeface="QuattrocentoSans"/>
              </a:rPr>
              <a:t>150</a:t>
            </a:r>
            <a:r>
              <a:rPr lang="en-US" sz="1600" b="0" u="none" strike="noStrike">
                <a:solidFill>
                  <a:srgbClr val="1E293B"/>
                </a:solidFill>
                <a:effectLst/>
                <a:uFillTx/>
                <a:latin typeface="QuattrocentoSans"/>
                <a:ea typeface="QuattrocentoSans"/>
              </a:rPr>
              <a:t>美元</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吨折现，可回收价值仅</a:t>
            </a:r>
            <a:r>
              <a:rPr lang="en-US" sz="1600" b="1" u="none" strike="noStrike">
                <a:solidFill>
                  <a:srgbClr val="1E293B"/>
                </a:solidFill>
                <a:effectLst/>
                <a:uFillTx/>
                <a:latin typeface="QuattrocentoSans"/>
                <a:ea typeface="QuattrocentoSans"/>
              </a:rPr>
              <a:t>31</a:t>
            </a:r>
            <a:r>
              <a:rPr lang="en-US" sz="1600" b="1" u="none" strike="noStrike">
                <a:solidFill>
                  <a:srgbClr val="1E293B"/>
                </a:solidFill>
                <a:effectLst/>
                <a:uFillTx/>
                <a:latin typeface="QuattrocentoSans"/>
                <a:ea typeface="QuattrocentoSans"/>
              </a:rPr>
              <a:t>亿美元</a:t>
            </a:r>
            <a:r>
              <a:rPr lang="en-US" sz="1600" b="0" u="none" strike="noStrike">
                <a:solidFill>
                  <a:srgbClr val="1E293B"/>
                </a:solidFill>
                <a:effectLst/>
                <a:uFillTx/>
                <a:latin typeface="QuattrocentoSans"/>
                <a:ea typeface="QuattrocentoSans"/>
              </a:rPr>
              <a:t>，减值风险</a:t>
            </a:r>
            <a:r>
              <a:rPr lang="en-US" sz="1600" b="1" u="none" strike="noStrike">
                <a:solidFill>
                  <a:srgbClr val="1E293B"/>
                </a:solidFill>
                <a:effectLst/>
                <a:uFillTx/>
                <a:latin typeface="QuattrocentoSans"/>
                <a:ea typeface="QuattrocentoSans"/>
              </a:rPr>
              <a:t>56</a:t>
            </a:r>
            <a:r>
              <a:rPr lang="en-US" sz="1600" b="1" u="none" strike="noStrike">
                <a:solidFill>
                  <a:srgbClr val="1E293B"/>
                </a:solidFill>
                <a:effectLst/>
                <a:uFillTx/>
                <a:latin typeface="QuattrocentoSans"/>
                <a:ea typeface="QuattrocentoSans"/>
              </a:rPr>
              <a:t>亿美元</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a:p>
            <a:pPr>
              <a:lnSpc>
                <a:spcPct val="15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天然气资产虽为过渡能源，但在欧盟</a:t>
            </a:r>
            <a:r>
              <a:rPr lang="en-US" sz="1600" b="0" u="none" strike="noStrike">
                <a:solidFill>
                  <a:srgbClr val="1E293B"/>
                </a:solidFill>
                <a:effectLst/>
                <a:uFillTx/>
                <a:latin typeface="QuattrocentoSans"/>
                <a:ea typeface="QuattrocentoSans"/>
              </a:rPr>
              <a:t>"REPowerEU"</a:t>
            </a:r>
            <a:r>
              <a:rPr lang="en-US" sz="1600" b="0" u="none" strike="noStrike">
                <a:solidFill>
                  <a:srgbClr val="1E293B"/>
                </a:solidFill>
                <a:effectLst/>
                <a:uFillTx/>
                <a:latin typeface="QuattrocentoSans"/>
                <a:ea typeface="QuattrocentoSans"/>
              </a:rPr>
              <a:t>加速去俄气背景下，长期购气协议（</a:t>
            </a:r>
            <a:r>
              <a:rPr lang="en-US" sz="1600" b="0" u="none" strike="noStrike">
                <a:solidFill>
                  <a:srgbClr val="1E293B"/>
                </a:solidFill>
                <a:effectLst/>
                <a:uFillTx/>
                <a:latin typeface="QuattrocentoSans"/>
                <a:ea typeface="QuattrocentoSans"/>
              </a:rPr>
              <a:t>LTA</a:t>
            </a:r>
            <a:r>
              <a:rPr lang="en-US" sz="1600" b="0" u="none" strike="noStrike">
                <a:solidFill>
                  <a:srgbClr val="1E293B"/>
                </a:solidFill>
                <a:effectLst/>
                <a:uFillTx/>
                <a:latin typeface="QuattrocentoSans"/>
                <a:ea typeface="QuattrocentoSans"/>
              </a:rPr>
              <a:t>）价格挂钩公式面临重新谈判。</a:t>
            </a:r>
            <a:endParaRPr lang="en-US" sz="1600" b="0" u="none" strike="noStrike">
              <a:solidFill>
                <a:srgbClr val="000000"/>
              </a:solidFill>
              <a:effectLst/>
              <a:uFillTx/>
              <a:latin typeface="Calibri"/>
            </a:endParaRPr>
          </a:p>
        </p:txBody>
      </p:sp>
      <p:graphicFrame>
        <p:nvGraphicFramePr>
          <p:cNvPr id="75" name="Chart 0"/>
          <p:cNvGraphicFramePr/>
          <p:nvPr/>
        </p:nvGraphicFramePr>
        <p:xfrm>
          <a:off x="8204040" y="1282680"/>
          <a:ext cx="7340760" cy="3403800"/>
        </p:xfrm>
        <a:graphic>
          <a:graphicData uri="http://schemas.openxmlformats.org/presentationml/2006/ole">
            <p:oleObj progId="Excel.Sheet.12" r:id="rId1" spid="">
              <p:embed/>
              <p:pic>
                <p:nvPicPr>
                  <p:cNvPr id="76" name="Chart 0"/>
                  <p:cNvPicPr/>
                  <p:nvPr/>
                </p:nvPicPr>
                <p:blipFill>
                  <a:blip r:embed="rId2"/>
                  <a:stretch/>
                </p:blipFill>
                <p:spPr>
                  <a:xfrm>
                    <a:off x="8204040" y="1282680"/>
                    <a:ext cx="7340760" cy="3403800"/>
                  </a:xfrm>
                  <a:prstGeom prst="rect">
                    <a:avLst/>
                  </a:prstGeom>
                  <a:noFill/>
                  <a:ln w="0">
                    <a:noFill/>
                  </a:ln>
                </p:spPr>
              </p:pic>
            </p:oleObj>
          </a:graphicData>
        </a:graphic>
      </p:graphicFrame>
      <p:sp>
        <p:nvSpPr>
          <p:cNvPr id="77" name="Shape 3"/>
          <p:cNvSpPr/>
          <p:nvPr/>
        </p:nvSpPr>
        <p:spPr>
          <a:xfrm>
            <a:off x="762120" y="4952880"/>
            <a:ext cx="3429000" cy="12700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78" name="Text 4"/>
          <p:cNvSpPr/>
          <p:nvPr/>
        </p:nvSpPr>
        <p:spPr>
          <a:xfrm>
            <a:off x="1015920" y="5079960"/>
            <a:ext cx="2921040" cy="6350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8A265"/>
                </a:solidFill>
                <a:effectLst/>
                <a:uFillTx/>
                <a:latin typeface="Liter"/>
                <a:ea typeface="Liter"/>
              </a:rPr>
              <a:t>万亿</a:t>
            </a:r>
            <a:endParaRPr lang="en-US" sz="3600" b="0" u="none" strike="noStrike">
              <a:solidFill>
                <a:srgbClr val="000000"/>
              </a:solidFill>
              <a:effectLst/>
              <a:uFillTx/>
              <a:latin typeface="Calibri"/>
            </a:endParaRPr>
          </a:p>
        </p:txBody>
      </p:sp>
      <p:sp>
        <p:nvSpPr>
          <p:cNvPr id="79" name="Text 5"/>
          <p:cNvSpPr/>
          <p:nvPr/>
        </p:nvSpPr>
        <p:spPr>
          <a:xfrm>
            <a:off x="1015920" y="5715000"/>
            <a:ext cx="2921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5A6D7F"/>
                </a:solidFill>
                <a:effectLst/>
                <a:uFillTx/>
                <a:latin typeface="Quattrocento Sans"/>
              </a:rPr>
              <a:t>全球油气资产搁浅风险</a:t>
            </a:r>
            <a:endParaRPr lang="en-US" sz="1200" b="0" u="none" strike="noStrike">
              <a:solidFill>
                <a:srgbClr val="000000"/>
              </a:solidFill>
              <a:effectLst/>
              <a:uFillTx/>
              <a:latin typeface="Calibri"/>
            </a:endParaRPr>
          </a:p>
        </p:txBody>
      </p:sp>
      <p:sp>
        <p:nvSpPr>
          <p:cNvPr id="80" name="Shape 6"/>
          <p:cNvSpPr/>
          <p:nvPr/>
        </p:nvSpPr>
        <p:spPr>
          <a:xfrm>
            <a:off x="4444920" y="4952880"/>
            <a:ext cx="3429000" cy="12700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81" name="Text 7"/>
          <p:cNvSpPr/>
          <p:nvPr/>
        </p:nvSpPr>
        <p:spPr>
          <a:xfrm>
            <a:off x="4699080" y="5079960"/>
            <a:ext cx="2921040" cy="6350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8A265"/>
                </a:solidFill>
                <a:effectLst/>
                <a:uFillTx/>
                <a:latin typeface="Liter"/>
                <a:ea typeface="Liter"/>
              </a:rPr>
              <a:t>亿</a:t>
            </a:r>
            <a:endParaRPr lang="en-US" sz="3600" b="0" u="none" strike="noStrike">
              <a:solidFill>
                <a:srgbClr val="000000"/>
              </a:solidFill>
              <a:effectLst/>
              <a:uFillTx/>
              <a:latin typeface="Calibri"/>
            </a:endParaRPr>
          </a:p>
        </p:txBody>
      </p:sp>
      <p:sp>
        <p:nvSpPr>
          <p:cNvPr id="82" name="Text 8"/>
          <p:cNvSpPr/>
          <p:nvPr/>
        </p:nvSpPr>
        <p:spPr>
          <a:xfrm>
            <a:off x="4699080" y="5715000"/>
            <a:ext cx="2921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5A6D7F"/>
                </a:solidFill>
                <a:effectLst/>
                <a:uFillTx/>
                <a:latin typeface="Quattrocento Sans"/>
              </a:rPr>
              <a:t>泰坦煤炭资产减值风险</a:t>
            </a:r>
            <a:endParaRPr lang="en-US" sz="1200" b="0" u="none" strike="noStrike">
              <a:solidFill>
                <a:srgbClr val="000000"/>
              </a:solidFill>
              <a:effectLst/>
              <a:uFillTx/>
              <a:latin typeface="Calibri"/>
            </a:endParaRPr>
          </a:p>
        </p:txBody>
      </p:sp>
      <p:sp>
        <p:nvSpPr>
          <p:cNvPr id="83" name="Shape 9"/>
          <p:cNvSpPr/>
          <p:nvPr/>
        </p:nvSpPr>
        <p:spPr>
          <a:xfrm>
            <a:off x="8128080" y="4952880"/>
            <a:ext cx="3429000" cy="12700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84" name="Text 10"/>
          <p:cNvSpPr/>
          <p:nvPr/>
        </p:nvSpPr>
        <p:spPr>
          <a:xfrm>
            <a:off x="8381880" y="5079960"/>
            <a:ext cx="2921040" cy="6350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8A265"/>
                </a:solidFill>
                <a:effectLst/>
                <a:uFillTx/>
                <a:latin typeface="Liter"/>
                <a:ea typeface="Liter"/>
              </a:rPr>
              <a:t>亿</a:t>
            </a:r>
            <a:endParaRPr lang="en-US" sz="3600" b="0" u="none" strike="noStrike">
              <a:solidFill>
                <a:srgbClr val="000000"/>
              </a:solidFill>
              <a:effectLst/>
              <a:uFillTx/>
              <a:latin typeface="Calibri"/>
            </a:endParaRPr>
          </a:p>
        </p:txBody>
      </p:sp>
      <p:sp>
        <p:nvSpPr>
          <p:cNvPr id="85" name="Text 11"/>
          <p:cNvSpPr/>
          <p:nvPr/>
        </p:nvSpPr>
        <p:spPr>
          <a:xfrm>
            <a:off x="8381880" y="5715000"/>
            <a:ext cx="2921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5A6D7F"/>
                </a:solidFill>
                <a:effectLst/>
                <a:uFillTx/>
                <a:latin typeface="Quattrocento Sans"/>
              </a:rPr>
              <a:t>可回收价值 </a:t>
            </a:r>
            <a:r>
              <a:rPr lang="en-US" sz="1200" b="0" u="none" strike="noStrike">
                <a:solidFill>
                  <a:srgbClr val="5A6D7F"/>
                </a:solidFill>
                <a:effectLst/>
                <a:uFillTx/>
                <a:latin typeface="Quattrocento Sans"/>
              </a:rPr>
              <a:t>(NPV</a:t>
            </a:r>
            <a:r>
              <a:rPr lang="en-US" sz="1200" b="0" u="none" strike="noStrike">
                <a:solidFill>
                  <a:srgbClr val="5A6D7F"/>
                </a:solidFill>
                <a:effectLst/>
                <a:uFillTx/>
                <a:latin typeface="Quattrocento Sans"/>
              </a:rPr>
              <a:t>折现</a:t>
            </a:r>
            <a:r>
              <a:rPr lang="en-US" sz="1200" b="0" u="none" strike="noStrike">
                <a:solidFill>
                  <a:srgbClr val="5A6D7F"/>
                </a:solidFill>
                <a:effectLst/>
                <a:uFillTx/>
                <a:latin typeface="Quattrocento Sans"/>
              </a:rPr>
              <a:t>)</a:t>
            </a:r>
            <a:endParaRPr lang="en-US" sz="1200" b="0" u="none" strike="noStrike">
              <a:solidFill>
                <a:srgbClr val="000000"/>
              </a:solidFill>
              <a:effectLst/>
              <a:uFillTx/>
              <a:latin typeface="Calibri"/>
            </a:endParaRPr>
          </a:p>
        </p:txBody>
      </p:sp>
      <p:sp>
        <p:nvSpPr>
          <p:cNvPr id="86" name="Shape 12"/>
          <p:cNvSpPr/>
          <p:nvPr/>
        </p:nvSpPr>
        <p:spPr>
          <a:xfrm>
            <a:off x="11810880" y="4952880"/>
            <a:ext cx="3429000" cy="12700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87" name="Text 13"/>
          <p:cNvSpPr/>
          <p:nvPr/>
        </p:nvSpPr>
        <p:spPr>
          <a:xfrm>
            <a:off x="12065040" y="5079960"/>
            <a:ext cx="2921040" cy="6350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8A265"/>
                </a:solidFill>
                <a:effectLst/>
                <a:uFillTx/>
                <a:latin typeface="Liter"/>
                <a:ea typeface="Liter"/>
              </a:rPr>
              <a:t></a:t>
            </a:r>
            <a:endParaRPr lang="en-US" sz="3600" b="0" u="none" strike="noStrike">
              <a:solidFill>
                <a:srgbClr val="000000"/>
              </a:solidFill>
              <a:effectLst/>
              <a:uFillTx/>
              <a:latin typeface="Calibri"/>
            </a:endParaRPr>
          </a:p>
        </p:txBody>
      </p:sp>
      <p:sp>
        <p:nvSpPr>
          <p:cNvPr id="88" name="Text 14"/>
          <p:cNvSpPr/>
          <p:nvPr/>
        </p:nvSpPr>
        <p:spPr>
          <a:xfrm>
            <a:off x="12065040" y="5715000"/>
            <a:ext cx="2921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5A6D7F"/>
                </a:solidFill>
                <a:effectLst/>
                <a:uFillTx/>
                <a:latin typeface="Quattrocento Sans"/>
              </a:rPr>
              <a:t>2030</a:t>
            </a:r>
            <a:r>
              <a:rPr lang="en-US" sz="1200" b="0" u="none" strike="noStrike">
                <a:solidFill>
                  <a:srgbClr val="5A6D7F"/>
                </a:solidFill>
                <a:effectLst/>
                <a:uFillTx/>
                <a:latin typeface="Quattrocento Sans"/>
              </a:rPr>
              <a:t>年折现碳价 </a:t>
            </a:r>
            <a:r>
              <a:rPr lang="en-US" sz="1200" b="0" u="none" strike="noStrike">
                <a:solidFill>
                  <a:srgbClr val="5A6D7F"/>
                </a:solidFill>
                <a:effectLst/>
                <a:uFillTx/>
                <a:latin typeface="Quattrocento Sans"/>
              </a:rPr>
              <a:t>(USD/t)</a:t>
            </a:r>
            <a:endParaRPr lang="en-US" sz="1200" b="0" u="none" strike="noStrike">
              <a:solidFill>
                <a:srgbClr val="000000"/>
              </a:solidFill>
              <a:effectLst/>
              <a:uFillTx/>
              <a:latin typeface="Calibri"/>
            </a:endParaRPr>
          </a:p>
        </p:txBody>
      </p:sp>
      <p:sp>
        <p:nvSpPr>
          <p:cNvPr id="89" name="Shape 15"/>
          <p:cNvSpPr/>
          <p:nvPr/>
        </p:nvSpPr>
        <p:spPr>
          <a:xfrm>
            <a:off x="762120" y="6477120"/>
            <a:ext cx="14731920" cy="1143000"/>
          </a:xfrm>
          <a:prstGeom prst="rect">
            <a:avLst/>
          </a:prstGeom>
          <a:solidFill>
            <a:srgbClr val="0A1628"/>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90" name="Text 16"/>
          <p:cNvSpPr/>
          <p:nvPr/>
        </p:nvSpPr>
        <p:spPr>
          <a:xfrm>
            <a:off x="1015920" y="6603840"/>
            <a:ext cx="14223960" cy="889200"/>
          </a:xfrm>
          <a:prstGeom prst="rect">
            <a:avLst/>
          </a:prstGeom>
          <a:noFill/>
          <a:ln w="0">
            <a:noFill/>
          </a:ln>
        </p:spPr>
        <p:style>
          <a:lnRef idx="0"/>
          <a:fillRef idx="0"/>
          <a:effectRef idx="0"/>
          <a:fontRef idx="minor"/>
        </p:style>
        <p:txBody>
          <a:bodyPr lIns="0" tIns="0" rIns="0" bIns="0" anchor="ctr">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FFFFFF"/>
                </a:solidFill>
                <a:effectLst/>
                <a:uFillTx/>
                <a:latin typeface="Quattrocento Sans"/>
              </a:rPr>
              <a:t>战略洞察</a:t>
            </a:r>
            <a:r>
              <a:rPr lang="en-US" sz="1600" b="0" u="none" strike="noStrike">
                <a:solidFill>
                  <a:srgbClr val="FFFFFF"/>
                </a:solidFill>
                <a:effectLst/>
                <a:uFillTx/>
                <a:latin typeface="Quattrocento Sans"/>
              </a:rPr>
              <a:t>：泰坦动力必须在</a:t>
            </a:r>
            <a:r>
              <a:rPr lang="en-US" sz="1600" b="0" u="none" strike="noStrike">
                <a:solidFill>
                  <a:srgbClr val="FFFFFF"/>
                </a:solidFill>
                <a:effectLst/>
                <a:uFillTx/>
                <a:latin typeface="Quattrocento Sans"/>
              </a:rPr>
              <a:t>2026-2028</a:t>
            </a:r>
            <a:r>
              <a:rPr lang="en-US" sz="1600" b="0" u="none" strike="noStrike">
                <a:solidFill>
                  <a:srgbClr val="FFFFFF"/>
                </a:solidFill>
                <a:effectLst/>
                <a:uFillTx/>
                <a:latin typeface="Quattrocento Sans"/>
              </a:rPr>
              <a:t>年完成传统资产组合的战略性剥离与改造，否则资产负债表将面临评级下调压力。延迟一年行动，减值风险增加</a:t>
            </a:r>
            <a:r>
              <a:rPr lang="en-US" sz="1600" b="0" u="none" strike="noStrike">
                <a:solidFill>
                  <a:srgbClr val="FFFFFF"/>
                </a:solidFill>
                <a:effectLst/>
                <a:uFillTx/>
                <a:latin typeface="Quattrocento Sans"/>
              </a:rPr>
              <a:t>12-18%</a:t>
            </a:r>
            <a:r>
              <a:rPr lang="en-US" sz="1600" b="0" u="none" strike="noStrike">
                <a:solidFill>
                  <a:srgbClr val="FFFFFF"/>
                </a:solidFill>
                <a:effectLst/>
                <a:uFillTx/>
                <a:latin typeface="Quattrocento Sans"/>
              </a:rPr>
              <a:t>。</a:t>
            </a:r>
            <a:endParaRPr lang="en-US" sz="1600" b="0" u="none" strike="noStrike">
              <a:solidFill>
                <a:srgbClr val="000000"/>
              </a:solidFill>
              <a:effectLst/>
              <a:uFillTx/>
              <a:latin typeface="Calibri"/>
            </a:endParaRPr>
          </a:p>
        </p:txBody>
      </p:sp>
      <p:sp>
        <p:nvSpPr>
          <p:cNvPr id="91" name="Text 17"/>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Carbon Tracker Initiative 2025, Moody's ESG Analytics, Titan Internal Asset Review Q1 2026 · Slide 06</a:t>
            </a:r>
            <a:endParaRPr lang="en-US" sz="1000" b="0" u="none" strike="noStrike">
              <a:solidFill>
                <a:srgbClr val="000000"/>
              </a:solidFill>
              <a:effectLst/>
              <a:uFillTx/>
              <a:latin typeface="Calibri"/>
            </a:endParaRPr>
          </a:p>
        </p:txBody>
      </p:sp>
    </p:spTree>
  </p:cSld>
  <p:transition>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92" name="Text 0"/>
          <p:cNvSpPr/>
          <p:nvPr/>
        </p:nvSpPr>
        <p:spPr>
          <a:xfrm>
            <a:off x="762120" y="507960"/>
            <a:ext cx="126997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战略窗口期：为何年是决策临界点</a:t>
            </a:r>
            <a:endParaRPr lang="en-US" sz="2800" b="0" u="none" strike="noStrike">
              <a:solidFill>
                <a:srgbClr val="000000"/>
              </a:solidFill>
              <a:effectLst/>
              <a:uFillTx/>
              <a:latin typeface="Calibri"/>
            </a:endParaRPr>
          </a:p>
        </p:txBody>
      </p:sp>
      <p:sp>
        <p:nvSpPr>
          <p:cNvPr id="93"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94" name="Text 2"/>
          <p:cNvSpPr/>
          <p:nvPr/>
        </p:nvSpPr>
        <p:spPr>
          <a:xfrm>
            <a:off x="762120" y="1333440"/>
            <a:ext cx="14731920" cy="152424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从政策周期、技术成熟度与资本窗口三个维度分析，</a:t>
            </a:r>
            <a:r>
              <a:rPr lang="en-US" sz="1600" b="0" u="none" strike="noStrike">
                <a:solidFill>
                  <a:srgbClr val="1E293B"/>
                </a:solidFill>
                <a:effectLst/>
                <a:uFillTx/>
                <a:latin typeface="QuattrocentoSans"/>
                <a:ea typeface="QuattrocentoSans"/>
              </a:rPr>
              <a:t>2026</a:t>
            </a:r>
            <a:r>
              <a:rPr lang="en-US" sz="1600" b="0" u="none" strike="noStrike">
                <a:solidFill>
                  <a:srgbClr val="1E293B"/>
                </a:solidFill>
                <a:effectLst/>
                <a:uFillTx/>
                <a:latin typeface="QuattrocentoSans"/>
                <a:ea typeface="QuattrocentoSans"/>
              </a:rPr>
              <a:t>年是泰坦动力启动全面转型的</a:t>
            </a:r>
            <a:r>
              <a:rPr lang="en-US" sz="1600" b="1" u="none" strike="noStrike">
                <a:solidFill>
                  <a:srgbClr val="1E293B"/>
                </a:solidFill>
                <a:effectLst/>
                <a:uFillTx/>
                <a:latin typeface="QuattrocentoSans"/>
                <a:ea typeface="QuattrocentoSans"/>
              </a:rPr>
              <a:t>最后战略窗口</a:t>
            </a:r>
            <a:r>
              <a:rPr lang="en-US" sz="1600" b="0" u="none" strike="noStrike">
                <a:solidFill>
                  <a:srgbClr val="1E293B"/>
                </a:solidFill>
                <a:effectLst/>
                <a:uFillTx/>
                <a:latin typeface="QuattrocentoSans"/>
                <a:ea typeface="QuattrocentoSans"/>
              </a:rPr>
              <a:t>。政策维度：美国</a:t>
            </a:r>
            <a:r>
              <a:rPr lang="en-US" sz="1600" b="0" u="none" strike="noStrike">
                <a:solidFill>
                  <a:srgbClr val="1E293B"/>
                </a:solidFill>
                <a:effectLst/>
                <a:uFillTx/>
                <a:latin typeface="QuattrocentoSans"/>
                <a:ea typeface="QuattrocentoSans"/>
              </a:rPr>
              <a:t>IRA 2.0</a:t>
            </a:r>
            <a:r>
              <a:rPr lang="en-US" sz="1600" b="0" u="none" strike="noStrike">
                <a:solidFill>
                  <a:srgbClr val="1E293B"/>
                </a:solidFill>
                <a:effectLst/>
                <a:uFillTx/>
                <a:latin typeface="QuattrocentoSans"/>
                <a:ea typeface="QuattrocentoSans"/>
              </a:rPr>
              <a:t>预计</a:t>
            </a:r>
            <a:r>
              <a:rPr lang="en-US" sz="1600" b="0" u="none" strike="noStrike">
                <a:solidFill>
                  <a:srgbClr val="1E293B"/>
                </a:solidFill>
                <a:effectLst/>
                <a:uFillTx/>
                <a:latin typeface="QuattrocentoSans"/>
                <a:ea typeface="QuattrocentoSans"/>
              </a:rPr>
              <a:t>2027</a:t>
            </a:r>
            <a:r>
              <a:rPr lang="en-US" sz="1600" b="0" u="none" strike="noStrike">
                <a:solidFill>
                  <a:srgbClr val="1E293B"/>
                </a:solidFill>
                <a:effectLst/>
                <a:uFillTx/>
                <a:latin typeface="QuattrocentoSans"/>
                <a:ea typeface="QuattrocentoSans"/>
              </a:rPr>
              <a:t>年到期，当前</a:t>
            </a:r>
            <a:r>
              <a:rPr lang="en-US" sz="1600" b="0" u="none" strike="noStrike">
                <a:solidFill>
                  <a:srgbClr val="1E293B"/>
                </a:solidFill>
                <a:effectLst/>
                <a:uFillTx/>
                <a:latin typeface="QuattrocentoSans"/>
                <a:ea typeface="QuattrocentoSans"/>
              </a:rPr>
              <a:t>30% ITC</a:t>
            </a:r>
            <a:r>
              <a:rPr lang="en-US" sz="1600" b="0" u="none" strike="noStrike">
                <a:solidFill>
                  <a:srgbClr val="1E293B"/>
                </a:solidFill>
                <a:effectLst/>
                <a:uFillTx/>
                <a:latin typeface="QuattrocentoSans"/>
                <a:ea typeface="QuattrocentoSans"/>
              </a:rPr>
              <a:t>为项目提供确定性回报；欧盟补贴池剩余额度约</a:t>
            </a:r>
            <a:r>
              <a:rPr lang="en-US" sz="1600" b="0" u="none" strike="noStrike">
                <a:solidFill>
                  <a:srgbClr val="1E293B"/>
                </a:solidFill>
                <a:effectLst/>
                <a:uFillTx/>
                <a:latin typeface="QuattrocentoSans"/>
                <a:ea typeface="QuattrocentoSans"/>
              </a:rPr>
              <a:t>1800</a:t>
            </a:r>
            <a:r>
              <a:rPr lang="en-US" sz="1600" b="0" u="none" strike="noStrike">
                <a:solidFill>
                  <a:srgbClr val="1E293B"/>
                </a:solidFill>
                <a:effectLst/>
                <a:uFillTx/>
                <a:latin typeface="QuattrocentoSans"/>
                <a:ea typeface="QuattrocentoSans"/>
              </a:rPr>
              <a:t>亿欧元。技术维度：光伏组件价格已从</a:t>
            </a:r>
            <a:r>
              <a:rPr lang="en-US" sz="1600" b="0" u="none" strike="noStrike">
                <a:solidFill>
                  <a:srgbClr val="1E293B"/>
                </a:solidFill>
                <a:effectLst/>
                <a:uFillTx/>
                <a:latin typeface="QuattrocentoSans"/>
                <a:ea typeface="QuattrocentoSans"/>
              </a:rPr>
              <a:t>0.28</a:t>
            </a:r>
            <a:r>
              <a:rPr lang="en-US" sz="1600" b="0" u="none" strike="noStrike">
                <a:solidFill>
                  <a:srgbClr val="1E293B"/>
                </a:solidFill>
                <a:effectLst/>
                <a:uFillTx/>
                <a:latin typeface="QuattrocentoSans"/>
                <a:ea typeface="QuattrocentoSans"/>
              </a:rPr>
              <a:t>降至</a:t>
            </a:r>
            <a:r>
              <a:rPr lang="en-US" sz="1600" b="0" u="none" strike="noStrike">
                <a:solidFill>
                  <a:srgbClr val="1E293B"/>
                </a:solidFill>
                <a:effectLst/>
                <a:uFillTx/>
                <a:latin typeface="QuattrocentoSans"/>
                <a:ea typeface="QuattrocentoSans"/>
              </a:rPr>
              <a:t>0.11 USD/W</a:t>
            </a:r>
            <a:r>
              <a:rPr lang="en-US" sz="1600" b="0" u="none" strike="noStrike">
                <a:solidFill>
                  <a:srgbClr val="1E293B"/>
                </a:solidFill>
                <a:effectLst/>
                <a:uFillTx/>
                <a:latin typeface="QuattrocentoSans"/>
                <a:ea typeface="QuattrocentoSans"/>
              </a:rPr>
              <a:t>，但</a:t>
            </a:r>
            <a:r>
              <a:rPr lang="en-US" sz="1600" b="0" u="none" strike="noStrike">
                <a:solidFill>
                  <a:srgbClr val="1E293B"/>
                </a:solidFill>
                <a:effectLst/>
                <a:uFillTx/>
                <a:latin typeface="QuattrocentoSans"/>
                <a:ea typeface="QuattrocentoSans"/>
              </a:rPr>
              <a:t>PERC</a:t>
            </a:r>
            <a:r>
              <a:rPr lang="en-US" sz="1600" b="0" u="none" strike="noStrike">
                <a:solidFill>
                  <a:srgbClr val="1E293B"/>
                </a:solidFill>
                <a:effectLst/>
                <a:uFillTx/>
                <a:latin typeface="QuattrocentoSans"/>
                <a:ea typeface="QuattrocentoSans"/>
              </a:rPr>
              <a:t>效率逼近理论极限，下一代技术窗口期仅</a:t>
            </a:r>
            <a:r>
              <a:rPr lang="en-US" sz="1600" b="0" u="none" strike="noStrike">
                <a:solidFill>
                  <a:srgbClr val="1E293B"/>
                </a:solidFill>
                <a:effectLst/>
                <a:uFillTx/>
                <a:latin typeface="QuattrocentoSans"/>
                <a:ea typeface="QuattrocentoSans"/>
              </a:rPr>
              <a:t>18</a:t>
            </a:r>
            <a:r>
              <a:rPr lang="en-US" sz="1600" b="0" u="none" strike="noStrike">
                <a:solidFill>
                  <a:srgbClr val="1E293B"/>
                </a:solidFill>
                <a:effectLst/>
                <a:uFillTx/>
                <a:latin typeface="QuattrocentoSans"/>
                <a:ea typeface="QuattrocentoSans"/>
              </a:rPr>
              <a:t>个月。资本维度：当前</a:t>
            </a:r>
            <a:r>
              <a:rPr lang="en-US" sz="1600" b="0" u="none" strike="noStrike">
                <a:solidFill>
                  <a:srgbClr val="1E293B"/>
                </a:solidFill>
                <a:effectLst/>
                <a:uFillTx/>
                <a:latin typeface="QuattrocentoSans"/>
                <a:ea typeface="QuattrocentoSans"/>
              </a:rPr>
              <a:t>BBB+</a:t>
            </a:r>
            <a:r>
              <a:rPr lang="en-US" sz="1600" b="0" u="none" strike="noStrike">
                <a:solidFill>
                  <a:srgbClr val="1E293B"/>
                </a:solidFill>
                <a:effectLst/>
                <a:uFillTx/>
                <a:latin typeface="QuattrocentoSans"/>
                <a:ea typeface="QuattrocentoSans"/>
              </a:rPr>
              <a:t>评级可锁定</a:t>
            </a:r>
            <a:r>
              <a:rPr lang="en-US" sz="1600" b="0" u="none" strike="noStrike">
                <a:solidFill>
                  <a:srgbClr val="1E293B"/>
                </a:solidFill>
                <a:effectLst/>
                <a:uFillTx/>
                <a:latin typeface="QuattrocentoSans"/>
                <a:ea typeface="QuattrocentoSans"/>
              </a:rPr>
              <a:t>4.2%</a:t>
            </a:r>
            <a:r>
              <a:rPr lang="en-US" sz="1600" b="0" u="none" strike="noStrike">
                <a:solidFill>
                  <a:srgbClr val="1E293B"/>
                </a:solidFill>
                <a:effectLst/>
                <a:uFillTx/>
                <a:latin typeface="QuattrocentoSans"/>
                <a:ea typeface="QuattrocentoSans"/>
              </a:rPr>
              <a:t>的</a:t>
            </a:r>
            <a:r>
              <a:rPr lang="en-US" sz="1600" b="0" u="none" strike="noStrike">
                <a:solidFill>
                  <a:srgbClr val="1E293B"/>
                </a:solidFill>
                <a:effectLst/>
                <a:uFillTx/>
                <a:latin typeface="QuattrocentoSans"/>
                <a:ea typeface="QuattrocentoSans"/>
              </a:rPr>
              <a:t>10</a:t>
            </a:r>
            <a:r>
              <a:rPr lang="en-US" sz="1600" b="0" u="none" strike="noStrike">
                <a:solidFill>
                  <a:srgbClr val="1E293B"/>
                </a:solidFill>
                <a:effectLst/>
                <a:uFillTx/>
                <a:latin typeface="QuattrocentoSans"/>
                <a:ea typeface="QuattrocentoSans"/>
              </a:rPr>
              <a:t>年期绿色债券成本，延迟至</a:t>
            </a:r>
            <a:r>
              <a:rPr lang="en-US" sz="1600" b="0" u="none" strike="noStrike">
                <a:solidFill>
                  <a:srgbClr val="1E293B"/>
                </a:solidFill>
                <a:effectLst/>
                <a:uFillTx/>
                <a:latin typeface="QuattrocentoSans"/>
                <a:ea typeface="QuattrocentoSans"/>
              </a:rPr>
              <a:t>2028</a:t>
            </a:r>
            <a:r>
              <a:rPr lang="en-US" sz="1600" b="0" u="none" strike="noStrike">
                <a:solidFill>
                  <a:srgbClr val="1E293B"/>
                </a:solidFill>
                <a:effectLst/>
                <a:uFillTx/>
                <a:latin typeface="QuattrocentoSans"/>
                <a:ea typeface="QuattrocentoSans"/>
              </a:rPr>
              <a:t>年融资成本预计上升</a:t>
            </a:r>
            <a:r>
              <a:rPr lang="en-US" sz="1600" b="0" u="none" strike="noStrike">
                <a:solidFill>
                  <a:srgbClr val="1E293B"/>
                </a:solidFill>
                <a:effectLst/>
                <a:uFillTx/>
                <a:latin typeface="QuattrocentoSans"/>
                <a:ea typeface="QuattrocentoSans"/>
              </a:rPr>
              <a:t>120-150bps</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p:txBody>
      </p:sp>
      <p:sp>
        <p:nvSpPr>
          <p:cNvPr id="95" name="Shape 3"/>
          <p:cNvSpPr/>
          <p:nvPr/>
        </p:nvSpPr>
        <p:spPr>
          <a:xfrm>
            <a:off x="762120" y="3174840"/>
            <a:ext cx="4572000" cy="35560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96" name="Text 4"/>
          <p:cNvSpPr/>
          <p:nvPr/>
        </p:nvSpPr>
        <p:spPr>
          <a:xfrm>
            <a:off x="1015920" y="3301920"/>
            <a:ext cx="4064040" cy="3812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A1628"/>
                </a:solidFill>
                <a:effectLst/>
                <a:uFillTx/>
                <a:latin typeface="Liter"/>
                <a:ea typeface="Liter"/>
              </a:rPr>
              <a:t>政策周期</a:t>
            </a:r>
            <a:endParaRPr lang="en-US" sz="1600" b="0" u="none" strike="noStrike">
              <a:solidFill>
                <a:srgbClr val="000000"/>
              </a:solidFill>
              <a:effectLst/>
              <a:uFillTx/>
              <a:latin typeface="Calibri"/>
            </a:endParaRPr>
          </a:p>
        </p:txBody>
      </p:sp>
      <p:sp>
        <p:nvSpPr>
          <p:cNvPr id="97" name="Text 5"/>
          <p:cNvSpPr/>
          <p:nvPr/>
        </p:nvSpPr>
        <p:spPr>
          <a:xfrm>
            <a:off x="1015920" y="3746520"/>
            <a:ext cx="4064040" cy="279396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C8A265"/>
                </a:solidFill>
                <a:effectLst/>
                <a:uFillTx/>
                <a:latin typeface="Quattrocento Sans"/>
              </a:rPr>
              <a:t>■</a:t>
            </a:r>
            <a:r>
              <a:rPr lang="en-US" sz="1300" b="0" u="none" strike="noStrike">
                <a:solidFill>
                  <a:srgbClr val="1E293B"/>
                </a:solidFill>
                <a:effectLst/>
                <a:uFillTx/>
                <a:latin typeface="Quattrocento Sans"/>
              </a:rPr>
              <a:t> 2026 Q3: IRA 2.0 ITC 30%</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C8A265"/>
                </a:solidFill>
                <a:effectLst/>
                <a:uFillTx/>
                <a:latin typeface="Quattrocento Sans"/>
              </a:rPr>
              <a:t>■</a:t>
            </a:r>
            <a:r>
              <a:rPr lang="en-US" sz="1300" b="0" u="none" strike="noStrike">
                <a:solidFill>
                  <a:srgbClr val="1E293B"/>
                </a:solidFill>
                <a:effectLst/>
                <a:uFillTx/>
                <a:latin typeface="Quattrocento Sans"/>
              </a:rPr>
              <a:t> 2027: IRA</a:t>
            </a:r>
            <a:r>
              <a:rPr lang="en-US" sz="1300" b="0" u="none" strike="noStrike">
                <a:solidFill>
                  <a:srgbClr val="1E293B"/>
                </a:solidFill>
                <a:effectLst/>
                <a:uFillTx/>
                <a:latin typeface="Quattrocento Sans"/>
              </a:rPr>
              <a:t>到期风险窗口</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C8A265"/>
                </a:solidFill>
                <a:effectLst/>
                <a:uFillTx/>
                <a:latin typeface="Quattrocento Sans"/>
              </a:rPr>
              <a:t>■</a:t>
            </a:r>
            <a:r>
              <a:rPr lang="en-US" sz="1300" b="0" u="none" strike="noStrike">
                <a:solidFill>
                  <a:srgbClr val="1E293B"/>
                </a:solidFill>
                <a:effectLst/>
                <a:uFillTx/>
                <a:latin typeface="Quattrocento Sans"/>
              </a:rPr>
              <a:t> 2026: EU</a:t>
            </a:r>
            <a:r>
              <a:rPr lang="en-US" sz="1300" b="0" u="none" strike="noStrike">
                <a:solidFill>
                  <a:srgbClr val="1E293B"/>
                </a:solidFill>
                <a:effectLst/>
                <a:uFillTx/>
                <a:latin typeface="Quattrocento Sans"/>
              </a:rPr>
              <a:t>补贴池</a:t>
            </a:r>
            <a:r>
              <a:rPr lang="en-US" sz="1300" b="0" u="none" strike="noStrike">
                <a:solidFill>
                  <a:srgbClr val="1E293B"/>
                </a:solidFill>
                <a:effectLst/>
                <a:uFillTx/>
                <a:latin typeface="Quattrocento Sans"/>
              </a:rPr>
              <a:t>1800</a:t>
            </a:r>
            <a:r>
              <a:rPr lang="en-US" sz="1300" b="0" u="none" strike="noStrike">
                <a:solidFill>
                  <a:srgbClr val="1E293B"/>
                </a:solidFill>
                <a:effectLst/>
                <a:uFillTx/>
                <a:latin typeface="Quattrocento Sans"/>
              </a:rPr>
              <a:t>亿</a:t>
            </a:r>
            <a:r>
              <a:rPr lang="en-US" sz="1300" b="0" u="none" strike="noStrike">
                <a:solidFill>
                  <a:srgbClr val="1E293B"/>
                </a:solidFill>
                <a:effectLst/>
                <a:uFillTx/>
                <a:latin typeface="Quattrocento Sans"/>
              </a:rPr>
              <a:t>EUR</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C8A265"/>
                </a:solidFill>
                <a:effectLst/>
                <a:uFillTx/>
                <a:latin typeface="Quattrocento Sans"/>
              </a:rPr>
              <a:t>■</a:t>
            </a:r>
            <a:r>
              <a:rPr lang="en-US" sz="1300" b="0" u="none" strike="noStrike">
                <a:solidFill>
                  <a:srgbClr val="1E293B"/>
                </a:solidFill>
                <a:effectLst/>
                <a:uFillTx/>
                <a:latin typeface="Quattrocento Sans"/>
              </a:rPr>
              <a:t> 2028: CBAM</a:t>
            </a:r>
            <a:r>
              <a:rPr lang="en-US" sz="1300" b="0" u="none" strike="noStrike">
                <a:solidFill>
                  <a:srgbClr val="1E293B"/>
                </a:solidFill>
                <a:effectLst/>
                <a:uFillTx/>
                <a:latin typeface="Quattrocento Sans"/>
              </a:rPr>
              <a:t>全面覆盖下游</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C8A265"/>
                </a:solidFill>
                <a:effectLst/>
                <a:uFillTx/>
                <a:latin typeface="Quattrocento Sans"/>
              </a:rPr>
              <a:t>■</a:t>
            </a:r>
            <a:r>
              <a:rPr lang="en-US" sz="1300" b="0" u="none" strike="noStrike">
                <a:solidFill>
                  <a:srgbClr val="1E293B"/>
                </a:solidFill>
                <a:effectLst/>
                <a:uFillTx/>
                <a:latin typeface="Quattrocento Sans"/>
              </a:rPr>
              <a:t> 2029: </a:t>
            </a:r>
            <a:r>
              <a:rPr lang="en-US" sz="1300" b="0" u="none" strike="noStrike">
                <a:solidFill>
                  <a:srgbClr val="1E293B"/>
                </a:solidFill>
                <a:effectLst/>
                <a:uFillTx/>
                <a:latin typeface="Quattrocento Sans"/>
              </a:rPr>
              <a:t>中国全国</a:t>
            </a:r>
            <a:r>
              <a:rPr lang="en-US" sz="1300" b="0" u="none" strike="noStrike">
                <a:solidFill>
                  <a:srgbClr val="1E293B"/>
                </a:solidFill>
                <a:effectLst/>
                <a:uFillTx/>
                <a:latin typeface="Quattrocento Sans"/>
              </a:rPr>
              <a:t>ETS</a:t>
            </a:r>
            <a:r>
              <a:rPr lang="en-US" sz="1300" b="0" u="none" strike="noStrike">
                <a:solidFill>
                  <a:srgbClr val="1E293B"/>
                </a:solidFill>
                <a:effectLst/>
                <a:uFillTx/>
                <a:latin typeface="Quattrocento Sans"/>
              </a:rPr>
              <a:t>扩容</a:t>
            </a:r>
            <a:endParaRPr lang="en-US" sz="1300" b="0" u="none" strike="noStrike">
              <a:solidFill>
                <a:srgbClr val="000000"/>
              </a:solidFill>
              <a:effectLst/>
              <a:uFillTx/>
              <a:latin typeface="Calibri"/>
            </a:endParaRPr>
          </a:p>
        </p:txBody>
      </p:sp>
      <p:sp>
        <p:nvSpPr>
          <p:cNvPr id="98" name="Shape 6"/>
          <p:cNvSpPr/>
          <p:nvPr/>
        </p:nvSpPr>
        <p:spPr>
          <a:xfrm>
            <a:off x="5587920" y="3174840"/>
            <a:ext cx="4572000" cy="35560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99" name="Text 7"/>
          <p:cNvSpPr/>
          <p:nvPr/>
        </p:nvSpPr>
        <p:spPr>
          <a:xfrm>
            <a:off x="5842080" y="3301920"/>
            <a:ext cx="4064040" cy="3812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A1628"/>
                </a:solidFill>
                <a:effectLst/>
                <a:uFillTx/>
                <a:latin typeface="Liter"/>
                <a:ea typeface="Liter"/>
              </a:rPr>
              <a:t>技术成熟度</a:t>
            </a:r>
            <a:endParaRPr lang="en-US" sz="1600" b="0" u="none" strike="noStrike">
              <a:solidFill>
                <a:srgbClr val="000000"/>
              </a:solidFill>
              <a:effectLst/>
              <a:uFillTx/>
              <a:latin typeface="Calibri"/>
            </a:endParaRPr>
          </a:p>
        </p:txBody>
      </p:sp>
      <p:sp>
        <p:nvSpPr>
          <p:cNvPr id="100" name="Text 8"/>
          <p:cNvSpPr/>
          <p:nvPr/>
        </p:nvSpPr>
        <p:spPr>
          <a:xfrm>
            <a:off x="5842080" y="3746520"/>
            <a:ext cx="4064040" cy="279396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C8A265"/>
                </a:solidFill>
                <a:effectLst/>
                <a:uFillTx/>
                <a:latin typeface="Quattrocento Sans"/>
              </a:rPr>
              <a:t>■</a:t>
            </a:r>
            <a:r>
              <a:rPr lang="en-US" sz="1300" b="0" u="none" strike="noStrike">
                <a:solidFill>
                  <a:srgbClr val="1E293B"/>
                </a:solidFill>
                <a:effectLst/>
                <a:uFillTx/>
                <a:latin typeface="Quattrocento Sans"/>
              </a:rPr>
              <a:t> 2026: TOPCon</a:t>
            </a:r>
            <a:r>
              <a:rPr lang="en-US" sz="1300" b="0" u="none" strike="noStrike">
                <a:solidFill>
                  <a:srgbClr val="1E293B"/>
                </a:solidFill>
                <a:effectLst/>
                <a:uFillTx/>
                <a:latin typeface="Quattrocento Sans"/>
              </a:rPr>
              <a:t>量产</a:t>
            </a:r>
            <a:r>
              <a:rPr lang="en-US" sz="1300" b="0" u="none" strike="noStrike">
                <a:solidFill>
                  <a:srgbClr val="1E293B"/>
                </a:solidFill>
                <a:effectLst/>
                <a:uFillTx/>
                <a:latin typeface="Quattrocento Sans"/>
              </a:rPr>
              <a:t>26.2%</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C8A265"/>
                </a:solidFill>
                <a:effectLst/>
                <a:uFillTx/>
                <a:latin typeface="Quattrocento Sans"/>
              </a:rPr>
              <a:t>■</a:t>
            </a:r>
            <a:r>
              <a:rPr lang="en-US" sz="1300" b="0" u="none" strike="noStrike">
                <a:solidFill>
                  <a:srgbClr val="1E293B"/>
                </a:solidFill>
                <a:effectLst/>
                <a:uFillTx/>
                <a:latin typeface="Quattrocento Sans"/>
              </a:rPr>
              <a:t> 2027: HJT</a:t>
            </a:r>
            <a:r>
              <a:rPr lang="en-US" sz="1300" b="0" u="none" strike="noStrike">
                <a:solidFill>
                  <a:srgbClr val="1E293B"/>
                </a:solidFill>
                <a:effectLst/>
                <a:uFillTx/>
                <a:latin typeface="Quattrocento Sans"/>
              </a:rPr>
              <a:t>良率突破</a:t>
            </a:r>
            <a:r>
              <a:rPr lang="en-US" sz="1300" b="0" u="none" strike="noStrike">
                <a:solidFill>
                  <a:srgbClr val="1E293B"/>
                </a:solidFill>
                <a:effectLst/>
                <a:uFillTx/>
                <a:latin typeface="Quattrocento Sans"/>
              </a:rPr>
              <a:t>97%</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C8A265"/>
                </a:solidFill>
                <a:effectLst/>
                <a:uFillTx/>
                <a:latin typeface="Quattrocento Sans"/>
              </a:rPr>
              <a:t>■</a:t>
            </a:r>
            <a:r>
              <a:rPr lang="en-US" sz="1300" b="0" u="none" strike="noStrike">
                <a:solidFill>
                  <a:srgbClr val="1E293B"/>
                </a:solidFill>
                <a:effectLst/>
                <a:uFillTx/>
                <a:latin typeface="Quattrocento Sans"/>
              </a:rPr>
              <a:t> 2028: </a:t>
            </a:r>
            <a:r>
              <a:rPr lang="en-US" sz="1300" b="0" u="none" strike="noStrike">
                <a:solidFill>
                  <a:srgbClr val="1E293B"/>
                </a:solidFill>
                <a:effectLst/>
                <a:uFillTx/>
                <a:latin typeface="Quattrocento Sans"/>
              </a:rPr>
              <a:t>钙钛矿叠层</a:t>
            </a:r>
            <a:r>
              <a:rPr lang="en-US" sz="1300" b="0" u="none" strike="noStrike">
                <a:solidFill>
                  <a:srgbClr val="1E293B"/>
                </a:solidFill>
                <a:effectLst/>
                <a:uFillTx/>
                <a:latin typeface="Quattrocento Sans"/>
              </a:rPr>
              <a:t>29%</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C8A265"/>
                </a:solidFill>
                <a:effectLst/>
                <a:uFillTx/>
                <a:latin typeface="Quattrocento Sans"/>
              </a:rPr>
              <a:t>■</a:t>
            </a:r>
            <a:r>
              <a:rPr lang="en-US" sz="1300" b="0" u="none" strike="noStrike">
                <a:solidFill>
                  <a:srgbClr val="1E293B"/>
                </a:solidFill>
                <a:effectLst/>
                <a:uFillTx/>
                <a:latin typeface="Quattrocento Sans"/>
              </a:rPr>
              <a:t> 2027: </a:t>
            </a:r>
            <a:r>
              <a:rPr lang="en-US" sz="1300" b="0" u="none" strike="noStrike">
                <a:solidFill>
                  <a:srgbClr val="1E293B"/>
                </a:solidFill>
                <a:effectLst/>
                <a:uFillTx/>
                <a:latin typeface="Quattrocento Sans"/>
              </a:rPr>
              <a:t>绿氢</a:t>
            </a:r>
            <a:r>
              <a:rPr lang="en-US" sz="1300" b="0" u="none" strike="noStrike">
                <a:solidFill>
                  <a:srgbClr val="1E293B"/>
                </a:solidFill>
                <a:effectLst/>
                <a:uFillTx/>
                <a:latin typeface="Quattrocento Sans"/>
              </a:rPr>
              <a:t>ALK</a:t>
            </a:r>
            <a:r>
              <a:rPr lang="en-US" sz="1300" b="0" u="none" strike="noStrike">
                <a:solidFill>
                  <a:srgbClr val="1E293B"/>
                </a:solidFill>
                <a:effectLst/>
                <a:uFillTx/>
                <a:latin typeface="Quattrocento Sans"/>
              </a:rPr>
              <a:t>达</a:t>
            </a:r>
            <a:r>
              <a:rPr lang="en-US" sz="1300" b="0" u="none" strike="noStrike">
                <a:solidFill>
                  <a:srgbClr val="1E293B"/>
                </a:solidFill>
                <a:effectLst/>
                <a:uFillTx/>
                <a:latin typeface="Quattrocento Sans"/>
              </a:rPr>
              <a:t>TRL 9</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C8A265"/>
                </a:solidFill>
                <a:effectLst/>
                <a:uFillTx/>
                <a:latin typeface="Quattrocento Sans"/>
              </a:rPr>
              <a:t>■</a:t>
            </a:r>
            <a:r>
              <a:rPr lang="en-US" sz="1300" b="0" u="none" strike="noStrike">
                <a:solidFill>
                  <a:srgbClr val="1E293B"/>
                </a:solidFill>
                <a:effectLst/>
                <a:uFillTx/>
                <a:latin typeface="Quattrocento Sans"/>
              </a:rPr>
              <a:t> 2029: </a:t>
            </a:r>
            <a:r>
              <a:rPr lang="en-US" sz="1300" b="0" u="none" strike="noStrike">
                <a:solidFill>
                  <a:srgbClr val="1E293B"/>
                </a:solidFill>
                <a:effectLst/>
                <a:uFillTx/>
                <a:latin typeface="Quattrocento Sans"/>
              </a:rPr>
              <a:t>固态电池量产</a:t>
            </a:r>
            <a:endParaRPr lang="en-US" sz="1300" b="0" u="none" strike="noStrike">
              <a:solidFill>
                <a:srgbClr val="000000"/>
              </a:solidFill>
              <a:effectLst/>
              <a:uFillTx/>
              <a:latin typeface="Calibri"/>
            </a:endParaRPr>
          </a:p>
        </p:txBody>
      </p:sp>
      <p:sp>
        <p:nvSpPr>
          <p:cNvPr id="101" name="Shape 9"/>
          <p:cNvSpPr/>
          <p:nvPr/>
        </p:nvSpPr>
        <p:spPr>
          <a:xfrm>
            <a:off x="10414080" y="3174840"/>
            <a:ext cx="5079960" cy="35560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02" name="Text 10"/>
          <p:cNvSpPr/>
          <p:nvPr/>
        </p:nvSpPr>
        <p:spPr>
          <a:xfrm>
            <a:off x="10667880" y="3301920"/>
            <a:ext cx="4572000" cy="3812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A1628"/>
                </a:solidFill>
                <a:effectLst/>
                <a:uFillTx/>
                <a:latin typeface="Liter"/>
                <a:ea typeface="Liter"/>
              </a:rPr>
              <a:t>资本窗口</a:t>
            </a:r>
            <a:endParaRPr lang="en-US" sz="1600" b="0" u="none" strike="noStrike">
              <a:solidFill>
                <a:srgbClr val="000000"/>
              </a:solidFill>
              <a:effectLst/>
              <a:uFillTx/>
              <a:latin typeface="Calibri"/>
            </a:endParaRPr>
          </a:p>
        </p:txBody>
      </p:sp>
      <p:sp>
        <p:nvSpPr>
          <p:cNvPr id="103" name="Text 11"/>
          <p:cNvSpPr/>
          <p:nvPr/>
        </p:nvSpPr>
        <p:spPr>
          <a:xfrm>
            <a:off x="10667880" y="3746520"/>
            <a:ext cx="4572000" cy="279396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C8A265"/>
                </a:solidFill>
                <a:effectLst/>
                <a:uFillTx/>
                <a:latin typeface="Quattrocento Sans"/>
              </a:rPr>
              <a:t>■</a:t>
            </a:r>
            <a:r>
              <a:rPr lang="en-US" sz="1300" b="0" u="none" strike="noStrike">
                <a:solidFill>
                  <a:srgbClr val="1E293B"/>
                </a:solidFill>
                <a:effectLst/>
                <a:uFillTx/>
                <a:latin typeface="Quattrocento Sans"/>
              </a:rPr>
              <a:t> 2026: </a:t>
            </a:r>
            <a:r>
              <a:rPr lang="en-US" sz="1300" b="0" u="none" strike="noStrike">
                <a:solidFill>
                  <a:srgbClr val="1E293B"/>
                </a:solidFill>
                <a:effectLst/>
                <a:uFillTx/>
                <a:latin typeface="Quattrocento Sans"/>
              </a:rPr>
              <a:t>绿色债券 </a:t>
            </a:r>
            <a:r>
              <a:rPr lang="en-US" sz="1300" b="0" u="none" strike="noStrike">
                <a:solidFill>
                  <a:srgbClr val="1E293B"/>
                </a:solidFill>
                <a:effectLst/>
                <a:uFillTx/>
                <a:latin typeface="Quattrocento Sans"/>
              </a:rPr>
              <a:t>4.2%</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C8A265"/>
                </a:solidFill>
                <a:effectLst/>
                <a:uFillTx/>
                <a:latin typeface="Quattrocento Sans"/>
              </a:rPr>
              <a:t>■</a:t>
            </a:r>
            <a:r>
              <a:rPr lang="en-US" sz="1300" b="0" u="none" strike="noStrike">
                <a:solidFill>
                  <a:srgbClr val="1E293B"/>
                </a:solidFill>
                <a:effectLst/>
                <a:uFillTx/>
                <a:latin typeface="Quattrocento Sans"/>
              </a:rPr>
              <a:t> 2027: </a:t>
            </a:r>
            <a:r>
              <a:rPr lang="en-US" sz="1300" b="0" u="none" strike="noStrike">
                <a:solidFill>
                  <a:srgbClr val="1E293B"/>
                </a:solidFill>
                <a:effectLst/>
                <a:uFillTx/>
                <a:latin typeface="Quattrocento Sans"/>
              </a:rPr>
              <a:t>预计 </a:t>
            </a:r>
            <a:r>
              <a:rPr lang="en-US" sz="1300" b="0" u="none" strike="noStrike">
                <a:solidFill>
                  <a:srgbClr val="1E293B"/>
                </a:solidFill>
                <a:effectLst/>
                <a:uFillTx/>
                <a:latin typeface="Quattrocento Sans"/>
              </a:rPr>
              <a:t>4.8%</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C8A265"/>
                </a:solidFill>
                <a:effectLst/>
                <a:uFillTx/>
                <a:latin typeface="Quattrocento Sans"/>
              </a:rPr>
              <a:t>■</a:t>
            </a:r>
            <a:r>
              <a:rPr lang="en-US" sz="1300" b="0" u="none" strike="noStrike">
                <a:solidFill>
                  <a:srgbClr val="1E293B"/>
                </a:solidFill>
                <a:effectLst/>
                <a:uFillTx/>
                <a:latin typeface="Quattrocento Sans"/>
              </a:rPr>
              <a:t> 2028: </a:t>
            </a:r>
            <a:r>
              <a:rPr lang="en-US" sz="1300" b="0" u="none" strike="noStrike">
                <a:solidFill>
                  <a:srgbClr val="1E293B"/>
                </a:solidFill>
                <a:effectLst/>
                <a:uFillTx/>
                <a:latin typeface="Quattrocento Sans"/>
              </a:rPr>
              <a:t>预计 </a:t>
            </a:r>
            <a:r>
              <a:rPr lang="en-US" sz="1300" b="0" u="none" strike="noStrike">
                <a:solidFill>
                  <a:srgbClr val="1E293B"/>
                </a:solidFill>
                <a:effectLst/>
                <a:uFillTx/>
                <a:latin typeface="Quattrocento Sans"/>
              </a:rPr>
              <a:t>5.4-5.7%</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C8A265"/>
                </a:solidFill>
                <a:effectLst/>
                <a:uFillTx/>
                <a:latin typeface="Quattrocento Sans"/>
              </a:rPr>
              <a:t>■</a:t>
            </a:r>
            <a:r>
              <a:rPr lang="en-US" sz="1300" b="0" u="none" strike="noStrike">
                <a:solidFill>
                  <a:srgbClr val="1E293B"/>
                </a:solidFill>
                <a:effectLst/>
                <a:uFillTx/>
                <a:latin typeface="Quattrocento Sans"/>
              </a:rPr>
              <a:t> BBB+</a:t>
            </a:r>
            <a:r>
              <a:rPr lang="en-US" sz="1300" b="0" u="none" strike="noStrike">
                <a:solidFill>
                  <a:srgbClr val="1E293B"/>
                </a:solidFill>
                <a:effectLst/>
                <a:uFillTx/>
                <a:latin typeface="Quattrocento Sans"/>
              </a:rPr>
              <a:t>评级窗口收窄</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C8A265"/>
                </a:solidFill>
                <a:effectLst/>
                <a:uFillTx/>
                <a:latin typeface="Quattrocento Sans"/>
              </a:rPr>
              <a:t>■</a:t>
            </a:r>
            <a:r>
              <a:rPr lang="en-US" sz="1300" b="0" u="none" strike="noStrike">
                <a:solidFill>
                  <a:srgbClr val="1E293B"/>
                </a:solidFill>
                <a:effectLst/>
                <a:uFillTx/>
                <a:latin typeface="Quattrocento Sans"/>
              </a:rPr>
              <a:t> ESG</a:t>
            </a:r>
            <a:r>
              <a:rPr lang="en-US" sz="1300" b="0" u="none" strike="noStrike">
                <a:solidFill>
                  <a:srgbClr val="1E293B"/>
                </a:solidFill>
                <a:effectLst/>
                <a:uFillTx/>
                <a:latin typeface="Quattrocento Sans"/>
              </a:rPr>
              <a:t>评级挂钩融资成本</a:t>
            </a:r>
            <a:endParaRPr lang="en-US" sz="1300" b="0" u="none" strike="noStrike">
              <a:solidFill>
                <a:srgbClr val="000000"/>
              </a:solidFill>
              <a:effectLst/>
              <a:uFillTx/>
              <a:latin typeface="Calibri"/>
            </a:endParaRPr>
          </a:p>
        </p:txBody>
      </p:sp>
      <p:sp>
        <p:nvSpPr>
          <p:cNvPr id="104" name="Shape 12"/>
          <p:cNvSpPr/>
          <p:nvPr/>
        </p:nvSpPr>
        <p:spPr>
          <a:xfrm>
            <a:off x="762120" y="6985080"/>
            <a:ext cx="14731920" cy="1143000"/>
          </a:xfrm>
          <a:prstGeom prst="rect">
            <a:avLst/>
          </a:prstGeom>
          <a:solidFill>
            <a:srgbClr val="0A1628"/>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05" name="Text 13"/>
          <p:cNvSpPr/>
          <p:nvPr/>
        </p:nvSpPr>
        <p:spPr>
          <a:xfrm>
            <a:off x="1015920" y="7112160"/>
            <a:ext cx="14223960" cy="888840"/>
          </a:xfrm>
          <a:prstGeom prst="rect">
            <a:avLst/>
          </a:prstGeom>
          <a:noFill/>
          <a:ln w="0">
            <a:noFill/>
          </a:ln>
        </p:spPr>
        <p:style>
          <a:lnRef idx="0"/>
          <a:fillRef idx="0"/>
          <a:effectRef idx="0"/>
          <a:fontRef idx="minor"/>
        </p:style>
        <p:txBody>
          <a:bodyPr lIns="0" tIns="0" rIns="0" bIns="0" anchor="ctr">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FFFFFF"/>
                </a:solidFill>
                <a:effectLst/>
                <a:uFillTx/>
                <a:latin typeface="Quattrocento Sans"/>
              </a:rPr>
              <a:t>战略决议</a:t>
            </a:r>
            <a:r>
              <a:rPr lang="en-US" sz="1600" b="0" u="none" strike="noStrike">
                <a:solidFill>
                  <a:srgbClr val="FFFFFF"/>
                </a:solidFill>
                <a:effectLst/>
                <a:uFillTx/>
                <a:latin typeface="Quattrocento Sans"/>
              </a:rPr>
              <a:t>：</a:t>
            </a:r>
            <a:r>
              <a:rPr lang="en-US" sz="1600" b="0" u="none" strike="noStrike">
                <a:solidFill>
                  <a:srgbClr val="FFFFFF"/>
                </a:solidFill>
                <a:effectLst/>
                <a:uFillTx/>
                <a:latin typeface="Quattrocento Sans"/>
              </a:rPr>
              <a:t>250</a:t>
            </a:r>
            <a:r>
              <a:rPr lang="en-US" sz="1600" b="0" u="none" strike="noStrike">
                <a:solidFill>
                  <a:srgbClr val="FFFFFF"/>
                </a:solidFill>
                <a:effectLst/>
                <a:uFillTx/>
                <a:latin typeface="Quattrocento Sans"/>
              </a:rPr>
              <a:t>亿美金投资决策必须在</a:t>
            </a:r>
            <a:r>
              <a:rPr lang="en-US" sz="1600" b="0" u="none" strike="noStrike">
                <a:solidFill>
                  <a:srgbClr val="FFFFFF"/>
                </a:solidFill>
                <a:effectLst/>
                <a:uFillTx/>
                <a:latin typeface="Quattrocento Sans"/>
              </a:rPr>
              <a:t>2026</a:t>
            </a:r>
            <a:r>
              <a:rPr lang="en-US" sz="1600" b="0" u="none" strike="noStrike">
                <a:solidFill>
                  <a:srgbClr val="FFFFFF"/>
                </a:solidFill>
                <a:effectLst/>
                <a:uFillTx/>
                <a:latin typeface="Quattrocento Sans"/>
              </a:rPr>
              <a:t>年</a:t>
            </a:r>
            <a:r>
              <a:rPr lang="en-US" sz="1600" b="0" u="none" strike="noStrike">
                <a:solidFill>
                  <a:srgbClr val="FFFFFF"/>
                </a:solidFill>
                <a:effectLst/>
                <a:uFillTx/>
                <a:latin typeface="Quattrocento Sans"/>
              </a:rPr>
              <a:t>Q3</a:t>
            </a:r>
            <a:r>
              <a:rPr lang="en-US" sz="1600" b="0" u="none" strike="noStrike">
                <a:solidFill>
                  <a:srgbClr val="FFFFFF"/>
                </a:solidFill>
                <a:effectLst/>
                <a:uFillTx/>
                <a:latin typeface="Quattrocento Sans"/>
              </a:rPr>
              <a:t>前通过董事会决议，以确保</a:t>
            </a:r>
            <a:r>
              <a:rPr lang="en-US" sz="1600" b="0" u="none" strike="noStrike">
                <a:solidFill>
                  <a:srgbClr val="FFFFFF"/>
                </a:solidFill>
                <a:effectLst/>
                <a:uFillTx/>
                <a:latin typeface="Quattrocento Sans"/>
              </a:rPr>
              <a:t>2027</a:t>
            </a:r>
            <a:r>
              <a:rPr lang="en-US" sz="1600" b="0" u="none" strike="noStrike">
                <a:solidFill>
                  <a:srgbClr val="FFFFFF"/>
                </a:solidFill>
                <a:effectLst/>
                <a:uFillTx/>
                <a:latin typeface="Quattrocento Sans"/>
              </a:rPr>
              <a:t>年项目开工、</a:t>
            </a:r>
            <a:r>
              <a:rPr lang="en-US" sz="1600" b="0" u="none" strike="noStrike">
                <a:solidFill>
                  <a:srgbClr val="FFFFFF"/>
                </a:solidFill>
                <a:effectLst/>
                <a:uFillTx/>
                <a:latin typeface="Quattrocento Sans"/>
              </a:rPr>
              <a:t>2030</a:t>
            </a:r>
            <a:r>
              <a:rPr lang="en-US" sz="1600" b="0" u="none" strike="noStrike">
                <a:solidFill>
                  <a:srgbClr val="FFFFFF"/>
                </a:solidFill>
                <a:effectLst/>
                <a:uFillTx/>
                <a:latin typeface="Quattrocento Sans"/>
              </a:rPr>
              <a:t>年减排</a:t>
            </a:r>
            <a:r>
              <a:rPr lang="en-US" sz="1600" b="0" u="none" strike="noStrike">
                <a:solidFill>
                  <a:srgbClr val="FFFFFF"/>
                </a:solidFill>
                <a:effectLst/>
                <a:uFillTx/>
                <a:latin typeface="Quattrocento Sans"/>
              </a:rPr>
              <a:t>45%</a:t>
            </a:r>
            <a:r>
              <a:rPr lang="en-US" sz="1600" b="0" u="none" strike="noStrike">
                <a:solidFill>
                  <a:srgbClr val="FFFFFF"/>
                </a:solidFill>
                <a:effectLst/>
                <a:uFillTx/>
                <a:latin typeface="Quattrocento Sans"/>
              </a:rPr>
              <a:t>目标如期达成。延迟一年，综合成本增加</a:t>
            </a:r>
            <a:r>
              <a:rPr lang="en-US" sz="1600" b="0" u="none" strike="noStrike">
                <a:solidFill>
                  <a:srgbClr val="FFFFFF"/>
                </a:solidFill>
                <a:effectLst/>
                <a:uFillTx/>
                <a:latin typeface="Quattrocento Sans"/>
              </a:rPr>
              <a:t>23-31</a:t>
            </a:r>
            <a:r>
              <a:rPr lang="en-US" sz="1600" b="0" u="none" strike="noStrike">
                <a:solidFill>
                  <a:srgbClr val="FFFFFF"/>
                </a:solidFill>
                <a:effectLst/>
                <a:uFillTx/>
                <a:latin typeface="Quattrocento Sans"/>
              </a:rPr>
              <a:t>亿美元。</a:t>
            </a:r>
            <a:endParaRPr lang="en-US" sz="1600" b="0" u="none" strike="noStrike">
              <a:solidFill>
                <a:srgbClr val="000000"/>
              </a:solidFill>
              <a:effectLst/>
              <a:uFillTx/>
              <a:latin typeface="Calibri"/>
            </a:endParaRPr>
          </a:p>
        </p:txBody>
      </p:sp>
      <p:sp>
        <p:nvSpPr>
          <p:cNvPr id="106" name="Text 14"/>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BNEF Renewable Energy Investment Trends 2026, IEA Critical Minerals Market Review, Titan Treasury Forecast · Slide 07</a:t>
            </a:r>
            <a:endParaRPr lang="en-US" sz="1000" b="0" u="none" strike="noStrike">
              <a:solidFill>
                <a:srgbClr val="000000"/>
              </a:solidFill>
              <a:effectLst/>
              <a:uFillTx/>
              <a:latin typeface="Calibri"/>
            </a:endParaRPr>
          </a:p>
        </p:txBody>
      </p:sp>
    </p:spTree>
  </p:cSld>
  <p:transition>
    <p:fad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pic>
        <p:nvPicPr>
          <p:cNvPr id="107" name="Text 0"/>
          <p:cNvPicPr/>
          <p:nvPr/>
        </p:nvPicPr>
        <p:blipFill>
          <a:blip r:embed="rId1"/>
          <a:stretch/>
        </p:blipFill>
        <p:spPr>
          <a:xfrm>
            <a:off x="-774720" y="1676520"/>
            <a:ext cx="6616800" cy="5333760"/>
          </a:xfrm>
          <a:prstGeom prst="rect">
            <a:avLst/>
          </a:prstGeom>
          <a:noFill/>
          <a:ln w="0">
            <a:noFill/>
          </a:ln>
        </p:spPr>
      </p:pic>
      <p:sp>
        <p:nvSpPr>
          <p:cNvPr id="108" name="Shape 1"/>
          <p:cNvSpPr/>
          <p:nvPr/>
        </p:nvSpPr>
        <p:spPr>
          <a:xfrm>
            <a:off x="762120" y="5842080"/>
            <a:ext cx="1015920" cy="38160"/>
          </a:xfrm>
          <a:prstGeom prst="rect">
            <a:avLst/>
          </a:prstGeom>
          <a:solidFill>
            <a:srgbClr val="C8A265"/>
          </a:solidFill>
          <a:ln w="0">
            <a:noFill/>
          </a:ln>
        </p:spPr>
        <p:style>
          <a:lnRef idx="0"/>
          <a:fillRef idx="0"/>
          <a:effectRef idx="0"/>
          <a:fontRef idx="minor"/>
        </p:style>
        <p:txBody>
          <a:bodyPr lIns="90000" tIns="-8640" rIns="90000" bIns="-86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09" name="Text 2"/>
          <p:cNvSpPr/>
          <p:nvPr/>
        </p:nvSpPr>
        <p:spPr>
          <a:xfrm>
            <a:off x="762120" y="5587920"/>
            <a:ext cx="11430000" cy="7621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FFFFFF"/>
                </a:solidFill>
                <a:effectLst/>
                <a:uFillTx/>
                <a:latin typeface="Liter"/>
                <a:ea typeface="Liter"/>
              </a:rPr>
              <a:t>技术路线图：从化石能源到零碳系统</a:t>
            </a:r>
            <a:endParaRPr lang="en-US" sz="3600" b="0" u="none" strike="noStrike">
              <a:solidFill>
                <a:srgbClr val="000000"/>
              </a:solidFill>
              <a:effectLst/>
              <a:uFillTx/>
              <a:latin typeface="Calibri"/>
            </a:endParaRPr>
          </a:p>
        </p:txBody>
      </p:sp>
      <p:sp>
        <p:nvSpPr>
          <p:cNvPr id="110" name="Text 3"/>
          <p:cNvSpPr/>
          <p:nvPr/>
        </p:nvSpPr>
        <p:spPr>
          <a:xfrm>
            <a:off x="762120" y="6985080"/>
            <a:ext cx="10159920" cy="101592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D1D5DB"/>
                </a:solidFill>
                <a:effectLst/>
                <a:uFillTx/>
                <a:latin typeface="Quattrocento Sans"/>
              </a:rPr>
              <a:t>以技术成熟度（</a:t>
            </a:r>
            <a:r>
              <a:rPr lang="en-US" sz="1800" b="0" u="none" strike="noStrike">
                <a:solidFill>
                  <a:srgbClr val="D1D5DB"/>
                </a:solidFill>
                <a:effectLst/>
                <a:uFillTx/>
                <a:latin typeface="Quattrocento Sans"/>
              </a:rPr>
              <a:t>TRL</a:t>
            </a:r>
            <a:r>
              <a:rPr lang="en-US" sz="1800" b="0" u="none" strike="noStrike">
                <a:solidFill>
                  <a:srgbClr val="D1D5DB"/>
                </a:solidFill>
                <a:effectLst/>
                <a:uFillTx/>
                <a:latin typeface="Quattrocento Sans"/>
              </a:rPr>
              <a:t>）为坐标，构建从化石能源退出到零碳系统</a:t>
            </a:r>
            <a:endParaRPr lang="en-US" sz="18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D1D5DB"/>
                </a:solidFill>
                <a:effectLst/>
                <a:uFillTx/>
                <a:latin typeface="Quattrocento Sans"/>
              </a:rPr>
              <a:t>全面商用的技术跃迁路径。</a:t>
            </a:r>
            <a:endParaRPr lang="en-US" sz="1800" b="0" u="none" strike="noStrike">
              <a:solidFill>
                <a:srgbClr val="000000"/>
              </a:solidFill>
              <a:effectLst/>
              <a:uFillTx/>
              <a:latin typeface="Calibri"/>
            </a:endParaRPr>
          </a:p>
        </p:txBody>
      </p:sp>
      <p:sp>
        <p:nvSpPr>
          <p:cNvPr id="111" name="Text 4"/>
          <p:cNvSpPr/>
          <p:nvPr/>
        </p:nvSpPr>
        <p:spPr>
          <a:xfrm>
            <a:off x="762120" y="8636040"/>
            <a:ext cx="507996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8B9AAB"/>
                </a:solidFill>
                <a:effectLst/>
                <a:uFillTx/>
                <a:latin typeface="QuattrocentoSans"/>
                <a:ea typeface="QuattrocentoSans"/>
              </a:rPr>
              <a:t>Chapter 02 · P8-P13</a:t>
            </a:r>
            <a:endParaRPr lang="en-US" sz="1000" b="0" u="none" strike="noStrike">
              <a:solidFill>
                <a:srgbClr val="000000"/>
              </a:solidFill>
              <a:effectLst/>
              <a:uFillTx/>
              <a:latin typeface="Calibri"/>
            </a:endParaRPr>
          </a:p>
        </p:txBody>
      </p:sp>
    </p:spTree>
  </p:cSld>
  <p:transition>
    <p:fad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112" name="Text 0"/>
          <p:cNvSpPr/>
          <p:nvPr/>
        </p:nvSpPr>
        <p:spPr>
          <a:xfrm>
            <a:off x="762120" y="380880"/>
            <a:ext cx="13969800" cy="45720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A1628"/>
                </a:solidFill>
                <a:effectLst/>
                <a:uFillTx/>
                <a:latin typeface="Liter"/>
                <a:ea typeface="Liter"/>
              </a:rPr>
              <a:t>能源转换技术成熟度（）全谱系对标矩阵</a:t>
            </a:r>
            <a:endParaRPr lang="en-US" sz="2400" b="0" u="none" strike="noStrike">
              <a:solidFill>
                <a:srgbClr val="000000"/>
              </a:solidFill>
              <a:effectLst/>
              <a:uFillTx/>
              <a:latin typeface="Calibri"/>
            </a:endParaRPr>
          </a:p>
        </p:txBody>
      </p:sp>
      <p:sp>
        <p:nvSpPr>
          <p:cNvPr id="113" name="Shape 1"/>
          <p:cNvSpPr/>
          <p:nvPr/>
        </p:nvSpPr>
        <p:spPr>
          <a:xfrm>
            <a:off x="762120" y="863640"/>
            <a:ext cx="761760" cy="25200"/>
          </a:xfrm>
          <a:prstGeom prst="rect">
            <a:avLst/>
          </a:prstGeom>
          <a:solidFill>
            <a:srgbClr val="C8A265"/>
          </a:solidFill>
          <a:ln w="0">
            <a:noFill/>
          </a:ln>
        </p:spPr>
        <p:style>
          <a:lnRef idx="0"/>
          <a:fillRef idx="0"/>
          <a:effectRef idx="0"/>
          <a:fontRef idx="minor"/>
        </p:style>
        <p:txBody>
          <a:bodyPr lIns="90000" tIns="-21600" rIns="90000" bIns="-216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graphicFrame>
        <p:nvGraphicFramePr>
          <p:cNvPr id="114" name=""/>
          <p:cNvGraphicFramePr/>
          <p:nvPr/>
        </p:nvGraphicFramePr>
        <p:xfrm>
          <a:off x="762120" y="1015920"/>
          <a:ext cx="14731920" cy="7239240"/>
        </p:xfrm>
        <a:graphic>
          <a:graphicData uri="http://schemas.openxmlformats.org/drawingml/2006/table">
            <a:tbl>
              <a:tblPr/>
              <a:tblGrid>
                <a:gridCol w="1473120"/>
                <a:gridCol w="1031760"/>
                <a:gridCol w="1177920"/>
                <a:gridCol w="1177920"/>
                <a:gridCol w="1032120"/>
                <a:gridCol w="1031760"/>
                <a:gridCol w="1177920"/>
                <a:gridCol w="1177920"/>
                <a:gridCol w="1179360"/>
                <a:gridCol w="1177920"/>
                <a:gridCol w="1179720"/>
                <a:gridCol w="1177920"/>
                <a:gridCol w="736560"/>
              </a:tblGrid>
              <a:tr h="4748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技术名称</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TRL</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能量密度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当前成本</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循环寿命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环境评分</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专利密度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主要对手</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2026</a:t>
                      </a:r>
                      <a:r>
                        <a:rPr lang="en-US" sz="1100" b="1" u="none" strike="noStrike">
                          <a:solidFill>
                            <a:srgbClr val="FFFFFF"/>
                          </a:solidFill>
                          <a:effectLst/>
                          <a:uFillTx/>
                          <a:latin typeface="QuattrocentoSans"/>
                          <a:ea typeface="QuattrocentoSans"/>
                        </a:rPr>
                        <a:t>进度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2028</a:t>
                      </a:r>
                      <a:r>
                        <a:rPr lang="en-US" sz="1100" b="1" u="none" strike="noStrike">
                          <a:solidFill>
                            <a:srgbClr val="FFFFFF"/>
                          </a:solidFill>
                          <a:effectLst/>
                          <a:uFillTx/>
                          <a:latin typeface="QuattrocentoSans"/>
                          <a:ea typeface="QuattrocentoSans"/>
                        </a:rPr>
                        <a:t>预期成本</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2030</a:t>
                      </a:r>
                      <a:r>
                        <a:rPr lang="en-US" sz="1100" b="1" u="none" strike="noStrike">
                          <a:solidFill>
                            <a:srgbClr val="FFFFFF"/>
                          </a:solidFill>
                          <a:effectLst/>
                          <a:uFillTx/>
                          <a:latin typeface="QuattrocentoSans"/>
                          <a:ea typeface="QuattrocentoSans"/>
                        </a:rPr>
                        <a:t>预期成本</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风险评级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优先级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r>
              <a:tr h="5634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PERC</a:t>
                      </a:r>
                      <a:r>
                        <a:rPr lang="en-US" sz="1100" b="0" u="none" strike="noStrike">
                          <a:solidFill>
                            <a:srgbClr val="1E293B"/>
                          </a:solidFill>
                          <a:effectLst/>
                          <a:uFillTx/>
                          <a:latin typeface="QuattrocentoSans"/>
                          <a:ea typeface="QuattrocentoSans"/>
                        </a:rPr>
                        <a:t>光伏</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$0.11/W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a:t>
                      </a:r>
                      <a:r>
                        <a:rPr lang="en-US" sz="1100" b="0" u="none" strike="noStrike">
                          <a:solidFill>
                            <a:srgbClr val="1E293B"/>
                          </a:solidFill>
                          <a:effectLst/>
                          <a:uFillTx/>
                          <a:latin typeface="QuattrocentoSans"/>
                          <a:ea typeface="QuattrocentoSans"/>
                        </a:rPr>
                        <a:t>年</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45/GW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LONGi</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量产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$0.10/W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$0.09/W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63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TOPCon</a:t>
                      </a:r>
                      <a:r>
                        <a:rPr lang="en-US" sz="1100" b="0" u="none" strike="noStrike">
                          <a:solidFill>
                            <a:srgbClr val="1E293B"/>
                          </a:solidFill>
                          <a:effectLst/>
                          <a:uFillTx/>
                          <a:latin typeface="QuattrocentoSans"/>
                          <a:ea typeface="QuattrocentoSans"/>
                        </a:rPr>
                        <a:t>光伏</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$0.13/W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30</a:t>
                      </a:r>
                      <a:r>
                        <a:rPr lang="en-US" sz="1100" b="0" u="none" strike="noStrike">
                          <a:solidFill>
                            <a:srgbClr val="1E293B"/>
                          </a:solidFill>
                          <a:effectLst/>
                          <a:uFillTx/>
                          <a:latin typeface="QuattrocentoSans"/>
                          <a:ea typeface="QuattrocentoSans"/>
                        </a:rPr>
                        <a:t>年</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62/GW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Jinko</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量产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$0.11/W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$0.09/W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634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HJT</a:t>
                      </a:r>
                      <a:r>
                        <a:rPr lang="en-US" sz="1100" b="0" u="none" strike="noStrike">
                          <a:solidFill>
                            <a:srgbClr val="1E293B"/>
                          </a:solidFill>
                          <a:effectLst/>
                          <a:uFillTx/>
                          <a:latin typeface="QuattrocentoSans"/>
                          <a:ea typeface="QuattrocentoSans"/>
                        </a:rPr>
                        <a:t>光伏</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$0.18/W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30</a:t>
                      </a:r>
                      <a:r>
                        <a:rPr lang="en-US" sz="1100" b="0" u="none" strike="noStrike">
                          <a:solidFill>
                            <a:srgbClr val="1E293B"/>
                          </a:solidFill>
                          <a:effectLst/>
                          <a:uFillTx/>
                          <a:latin typeface="QuattrocentoSans"/>
                          <a:ea typeface="QuattrocentoSans"/>
                        </a:rPr>
                        <a:t>年</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38/GW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REC</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爬坡</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$0.14/W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$0.11/W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63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钙钛矿叠层</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$0.45/W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&lt;5</a:t>
                      </a:r>
                      <a:r>
                        <a:rPr lang="en-US" sz="1100" b="0" u="none" strike="noStrike">
                          <a:solidFill>
                            <a:srgbClr val="1E293B"/>
                          </a:solidFill>
                          <a:effectLst/>
                          <a:uFillTx/>
                          <a:latin typeface="QuattrocentoSans"/>
                          <a:ea typeface="QuattrocentoSans"/>
                        </a:rPr>
                        <a:t>年</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120/GW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Oxford PV</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中试</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$0.25/W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$0.15/W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634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陆上风电</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$0.028/kWh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a:t>
                      </a:r>
                      <a:r>
                        <a:rPr lang="en-US" sz="1100" b="0" u="none" strike="noStrike">
                          <a:solidFill>
                            <a:srgbClr val="1E293B"/>
                          </a:solidFill>
                          <a:effectLst/>
                          <a:uFillTx/>
                          <a:latin typeface="QuattrocentoSans"/>
                          <a:ea typeface="QuattrocentoSans"/>
                        </a:rPr>
                        <a:t>年</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28/GW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Vestas</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量产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$0.026/kWh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$0.024/kWh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634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海上风电</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$0.065/kWh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a:t>
                      </a:r>
                      <a:r>
                        <a:rPr lang="en-US" sz="1100" b="0" u="none" strike="noStrike">
                          <a:solidFill>
                            <a:srgbClr val="1E293B"/>
                          </a:solidFill>
                          <a:effectLst/>
                          <a:uFillTx/>
                          <a:latin typeface="QuattrocentoSans"/>
                          <a:ea typeface="QuattrocentoSans"/>
                        </a:rPr>
                        <a:t>年</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55/GW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Siemens</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规模化</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$0.055/kWh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$0.048/kWh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63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ALK</a:t>
                      </a:r>
                      <a:r>
                        <a:rPr lang="en-US" sz="1100" b="0" u="none" strike="noStrike">
                          <a:solidFill>
                            <a:srgbClr val="1E293B"/>
                          </a:solidFill>
                          <a:effectLst/>
                          <a:uFillTx/>
                          <a:latin typeface="QuattrocentoSans"/>
                          <a:ea typeface="QuattrocentoSans"/>
                        </a:rPr>
                        <a:t>绿氢</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$3.2/kg</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60kh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85/GW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隆基氢能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商业化</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$2.4/kg</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$1.8/kg</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652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PEM</a:t>
                      </a:r>
                      <a:r>
                        <a:rPr lang="en-US" sz="1100" b="0" u="none" strike="noStrike">
                          <a:solidFill>
                            <a:srgbClr val="1E293B"/>
                          </a:solidFill>
                          <a:effectLst/>
                          <a:uFillTx/>
                          <a:latin typeface="QuattrocentoSans"/>
                          <a:ea typeface="QuattrocentoSans"/>
                        </a:rPr>
                        <a:t>绿氢</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$4.8/kg</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30kh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72/GW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Plug Power</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示范</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$3.5/kg</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$2.5/kg</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634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固态锂电</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400Wh/kg</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$180/kWh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2000</a:t>
                      </a:r>
                      <a:r>
                        <a:rPr lang="en-US" sz="1100" b="0" u="none" strike="noStrike">
                          <a:solidFill>
                            <a:srgbClr val="1E293B"/>
                          </a:solidFill>
                          <a:effectLst/>
                          <a:uFillTx/>
                          <a:latin typeface="QuattrocentoSans"/>
                          <a:ea typeface="QuattrocentoSans"/>
                        </a:rPr>
                        <a:t>次</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210/GWh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Toyota</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中试</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$120/kWh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$80/kWh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63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全钒液流</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25Wh/L</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$320/kWh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a:t>
                      </a:r>
                      <a:r>
                        <a:rPr lang="en-US" sz="1100" b="0" u="none" strike="noStrike">
                          <a:solidFill>
                            <a:srgbClr val="1E293B"/>
                          </a:solidFill>
                          <a:effectLst/>
                          <a:uFillTx/>
                          <a:latin typeface="QuattrocentoSans"/>
                          <a:ea typeface="QuattrocentoSans"/>
                        </a:rPr>
                        <a:t>年</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45/GWh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Invinity</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商业化</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$260/kWh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$210/kWh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634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DAC</a:t>
                      </a:r>
                      <a:r>
                        <a:rPr lang="en-US" sz="1100" b="0" u="none" strike="noStrike">
                          <a:solidFill>
                            <a:srgbClr val="1E293B"/>
                          </a:solidFill>
                          <a:effectLst/>
                          <a:uFillTx/>
                          <a:latin typeface="QuattrocentoSans"/>
                          <a:ea typeface="QuattrocentoSans"/>
                        </a:rPr>
                        <a:t>碳捕集</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$600/t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10</a:t>
                      </a:r>
                      <a:r>
                        <a:rPr lang="en-US" sz="1100" b="0" u="none" strike="noStrike">
                          <a:solidFill>
                            <a:srgbClr val="1E293B"/>
                          </a:solidFill>
                          <a:effectLst/>
                          <a:uFillTx/>
                          <a:latin typeface="QuattrocentoSans"/>
                          <a:ea typeface="QuattrocentoSans"/>
                        </a:rPr>
                        <a:t>年</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180/GW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Climeworks</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示范</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$400/t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$250/t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63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SMR</a:t>
                      </a:r>
                      <a:r>
                        <a:rPr lang="en-US" sz="1100" b="0" u="none" strike="noStrike">
                          <a:solidFill>
                            <a:srgbClr val="1E293B"/>
                          </a:solidFill>
                          <a:effectLst/>
                          <a:uFillTx/>
                          <a:latin typeface="QuattrocentoSans"/>
                          <a:ea typeface="QuattrocentoSans"/>
                        </a:rPr>
                        <a:t>核能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$0.08/kWh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40</a:t>
                      </a:r>
                      <a:r>
                        <a:rPr lang="en-US" sz="1100" b="0" u="none" strike="noStrike">
                          <a:solidFill>
                            <a:srgbClr val="1E293B"/>
                          </a:solidFill>
                          <a:effectLst/>
                          <a:uFillTx/>
                          <a:latin typeface="QuattrocentoSans"/>
                          <a:ea typeface="QuattrocentoSans"/>
                        </a:rPr>
                        <a:t>年</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95/GW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NuScale</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许可中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$0.07/kWh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$0.06/kWh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bl>
          </a:graphicData>
        </a:graphic>
      </p:graphicFrame>
      <p:sp>
        <p:nvSpPr>
          <p:cNvPr id="115" name="Text 2"/>
          <p:cNvSpPr/>
          <p:nvPr/>
        </p:nvSpPr>
        <p:spPr>
          <a:xfrm>
            <a:off x="762120" y="8381880"/>
            <a:ext cx="14731920" cy="25416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DOE ARPA-E Database 2026, IRENA Technology Roadmap, Titan R&amp;D Portfolio Review · Slide 09</a:t>
            </a:r>
            <a:endParaRPr lang="en-US" sz="1000" b="0" u="none" strike="noStrike">
              <a:solidFill>
                <a:srgbClr val="000000"/>
              </a:solidFill>
              <a:effectLst/>
              <a:uFillTx/>
              <a:latin typeface="Calibri"/>
            </a:endParaRPr>
          </a:p>
        </p:txBody>
      </p:sp>
    </p:spTree>
  </p:cSld>
  <p:transition>
    <p:fad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116" name="Text 0"/>
          <p:cNvSpPr/>
          <p:nvPr/>
        </p:nvSpPr>
        <p:spPr>
          <a:xfrm>
            <a:off x="762120" y="507960"/>
            <a:ext cx="126997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光伏技术跃迁：从到钙钛矿叠层的效率革命</a:t>
            </a:r>
            <a:endParaRPr lang="en-US" sz="2800" b="0" u="none" strike="noStrike">
              <a:solidFill>
                <a:srgbClr val="000000"/>
              </a:solidFill>
              <a:effectLst/>
              <a:uFillTx/>
              <a:latin typeface="Calibri"/>
            </a:endParaRPr>
          </a:p>
        </p:txBody>
      </p:sp>
      <p:sp>
        <p:nvSpPr>
          <p:cNvPr id="117"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18" name="Text 2"/>
          <p:cNvSpPr/>
          <p:nvPr/>
        </p:nvSpPr>
        <p:spPr>
          <a:xfrm>
            <a:off x="762120" y="1333440"/>
            <a:ext cx="7111800" cy="368316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泰坦动力在全球持有</a:t>
            </a:r>
            <a:r>
              <a:rPr lang="en-US" sz="1600" b="1" u="none" strike="noStrike">
                <a:solidFill>
                  <a:srgbClr val="1E293B"/>
                </a:solidFill>
                <a:effectLst/>
                <a:uFillTx/>
                <a:latin typeface="QuattrocentoSans"/>
                <a:ea typeface="QuattrocentoSans"/>
              </a:rPr>
              <a:t>8.4GW</a:t>
            </a:r>
            <a:r>
              <a:rPr lang="en-US" sz="1600" b="0" u="none" strike="noStrike">
                <a:solidFill>
                  <a:srgbClr val="1E293B"/>
                </a:solidFill>
                <a:effectLst/>
                <a:uFillTx/>
                <a:latin typeface="QuattrocentoSans"/>
                <a:ea typeface="QuattrocentoSans"/>
              </a:rPr>
              <a:t>光伏资产，技术路线升级是降本增效的核心杠杆。</a:t>
            </a:r>
            <a:endParaRPr lang="en-US" sz="1600" b="0" u="none" strike="noStrike">
              <a:solidFill>
                <a:srgbClr val="000000"/>
              </a:solidFill>
              <a:effectLst/>
              <a:uFillTx/>
              <a:latin typeface="Calibri"/>
            </a:endParaRPr>
          </a:p>
          <a:p>
            <a:pPr>
              <a:lnSpc>
                <a:spcPct val="15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当前</a:t>
            </a:r>
            <a:r>
              <a:rPr lang="en-US" sz="1600" b="0" u="none" strike="noStrike">
                <a:solidFill>
                  <a:srgbClr val="1E293B"/>
                </a:solidFill>
                <a:effectLst/>
                <a:uFillTx/>
                <a:latin typeface="QuattrocentoSans"/>
                <a:ea typeface="QuattrocentoSans"/>
              </a:rPr>
              <a:t>PERC</a:t>
            </a:r>
            <a:r>
              <a:rPr lang="en-US" sz="1600" b="0" u="none" strike="noStrike">
                <a:solidFill>
                  <a:srgbClr val="1E293B"/>
                </a:solidFill>
                <a:effectLst/>
                <a:uFillTx/>
                <a:latin typeface="QuattrocentoSans"/>
                <a:ea typeface="QuattrocentoSans"/>
              </a:rPr>
              <a:t>组件量产效率</a:t>
            </a:r>
            <a:r>
              <a:rPr lang="en-US" sz="1600" b="1" u="none" strike="noStrike">
                <a:solidFill>
                  <a:srgbClr val="1E293B"/>
                </a:solidFill>
                <a:effectLst/>
                <a:uFillTx/>
                <a:latin typeface="QuattrocentoSans"/>
                <a:ea typeface="QuattrocentoSans"/>
              </a:rPr>
              <a:t>23.1%</a:t>
            </a:r>
            <a:r>
              <a:rPr lang="en-US" sz="1600" b="0" u="none" strike="noStrike">
                <a:solidFill>
                  <a:srgbClr val="1E293B"/>
                </a:solidFill>
                <a:effectLst/>
                <a:uFillTx/>
                <a:latin typeface="QuattrocentoSans"/>
                <a:ea typeface="QuattrocentoSans"/>
              </a:rPr>
              <a:t>，已逼近</a:t>
            </a:r>
            <a:r>
              <a:rPr lang="en-US" sz="1600" b="0" u="none" strike="noStrike">
                <a:solidFill>
                  <a:srgbClr val="1E293B"/>
                </a:solidFill>
                <a:effectLst/>
                <a:uFillTx/>
                <a:latin typeface="QuattrocentoSans"/>
                <a:ea typeface="QuattrocentoSans"/>
              </a:rPr>
              <a:t>24.5%</a:t>
            </a:r>
            <a:r>
              <a:rPr lang="en-US" sz="1600" b="0" u="none" strike="noStrike">
                <a:solidFill>
                  <a:srgbClr val="1E293B"/>
                </a:solidFill>
                <a:effectLst/>
                <a:uFillTx/>
                <a:latin typeface="QuattrocentoSans"/>
                <a:ea typeface="QuattrocentoSans"/>
              </a:rPr>
              <a:t>理论极限，单瓦成本</a:t>
            </a:r>
            <a:r>
              <a:rPr lang="en-US" sz="1600" b="1" u="none" strike="noStrike">
                <a:solidFill>
                  <a:srgbClr val="1E293B"/>
                </a:solidFill>
                <a:effectLst/>
                <a:uFillTx/>
                <a:latin typeface="QuattrocentoSans"/>
                <a:ea typeface="QuattrocentoSans"/>
              </a:rPr>
              <a:t>0.11 USD/W</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TOPCon</a:t>
            </a:r>
            <a:r>
              <a:rPr lang="en-US" sz="1600" b="0" u="none" strike="noStrike">
                <a:solidFill>
                  <a:srgbClr val="1E293B"/>
                </a:solidFill>
                <a:effectLst/>
                <a:uFillTx/>
                <a:latin typeface="QuattrocentoSans"/>
                <a:ea typeface="QuattrocentoSans"/>
              </a:rPr>
              <a:t>技术量产效率已达</a:t>
            </a:r>
            <a:r>
              <a:rPr lang="en-US" sz="1600" b="1" u="none" strike="noStrike">
                <a:solidFill>
                  <a:srgbClr val="1E293B"/>
                </a:solidFill>
                <a:effectLst/>
                <a:uFillTx/>
                <a:latin typeface="QuattrocentoSans"/>
                <a:ea typeface="QuattrocentoSans"/>
              </a:rPr>
              <a:t>26.2%</a:t>
            </a:r>
            <a:r>
              <a:rPr lang="en-US" sz="1600" b="0" u="none" strike="noStrike">
                <a:solidFill>
                  <a:srgbClr val="1E293B"/>
                </a:solidFill>
                <a:effectLst/>
                <a:uFillTx/>
                <a:latin typeface="QuattrocentoSans"/>
                <a:ea typeface="QuattrocentoSans"/>
              </a:rPr>
              <a:t>，单瓦成本</a:t>
            </a:r>
            <a:r>
              <a:rPr lang="en-US" sz="1600" b="0" u="none" strike="noStrike">
                <a:solidFill>
                  <a:srgbClr val="1E293B"/>
                </a:solidFill>
                <a:effectLst/>
                <a:uFillTx/>
                <a:latin typeface="QuattrocentoSans"/>
                <a:ea typeface="QuattrocentoSans"/>
              </a:rPr>
              <a:t>0.13 USD/W</a:t>
            </a:r>
            <a:r>
              <a:rPr lang="en-US" sz="1600" b="0" u="none" strike="noStrike">
                <a:solidFill>
                  <a:srgbClr val="1E293B"/>
                </a:solidFill>
                <a:effectLst/>
                <a:uFillTx/>
                <a:latin typeface="QuattrocentoSans"/>
                <a:ea typeface="QuattrocentoSans"/>
              </a:rPr>
              <a:t>，良率</a:t>
            </a:r>
            <a:r>
              <a:rPr lang="en-US" sz="1600" b="0" u="none" strike="noStrike">
                <a:solidFill>
                  <a:srgbClr val="1E293B"/>
                </a:solidFill>
                <a:effectLst/>
                <a:uFillTx/>
                <a:latin typeface="QuattrocentoSans"/>
                <a:ea typeface="QuattrocentoSans"/>
              </a:rPr>
              <a:t>96.5%</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a:p>
            <a:pPr>
              <a:lnSpc>
                <a:spcPct val="15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HJT</a:t>
            </a:r>
            <a:r>
              <a:rPr lang="en-US" sz="1600" b="0" u="none" strike="noStrike">
                <a:solidFill>
                  <a:srgbClr val="1E293B"/>
                </a:solidFill>
                <a:effectLst/>
                <a:uFillTx/>
                <a:latin typeface="QuattrocentoSans"/>
                <a:ea typeface="QuattrocentoSans"/>
              </a:rPr>
              <a:t>技术效率潜力更高（</a:t>
            </a:r>
            <a:r>
              <a:rPr lang="en-US" sz="1600" b="0" u="none" strike="noStrike">
                <a:solidFill>
                  <a:srgbClr val="1E293B"/>
                </a:solidFill>
                <a:effectLst/>
                <a:uFillTx/>
                <a:latin typeface="QuattrocentoSans"/>
                <a:ea typeface="QuattrocentoSans"/>
              </a:rPr>
              <a:t>27%+</a:t>
            </a:r>
            <a:r>
              <a:rPr lang="en-US" sz="1600" b="0" u="none" strike="noStrike">
                <a:solidFill>
                  <a:srgbClr val="1E293B"/>
                </a:solidFill>
                <a:effectLst/>
                <a:uFillTx/>
                <a:latin typeface="QuattrocentoSans"/>
                <a:ea typeface="QuattrocentoSans"/>
              </a:rPr>
              <a:t>），但银浆耗量（</a:t>
            </a:r>
            <a:r>
              <a:rPr lang="en-US" sz="1600" b="0" u="none" strike="noStrike">
                <a:solidFill>
                  <a:srgbClr val="1E293B"/>
                </a:solidFill>
                <a:effectLst/>
                <a:uFillTx/>
                <a:latin typeface="QuattrocentoSans"/>
                <a:ea typeface="QuattrocentoSans"/>
              </a:rPr>
              <a:t>120mg/</a:t>
            </a:r>
            <a:r>
              <a:rPr lang="en-US" sz="1600" b="0" u="none" strike="noStrike">
                <a:solidFill>
                  <a:srgbClr val="1E293B"/>
                </a:solidFill>
                <a:effectLst/>
                <a:uFillTx/>
                <a:latin typeface="QuattrocentoSans"/>
                <a:ea typeface="QuattrocentoSans"/>
              </a:rPr>
              <a:t>片）导致成本溢价</a:t>
            </a:r>
            <a:r>
              <a:rPr lang="en-US" sz="1600" b="0" u="none" strike="noStrike">
                <a:solidFill>
                  <a:srgbClr val="1E293B"/>
                </a:solidFill>
                <a:effectLst/>
                <a:uFillTx/>
                <a:latin typeface="QuattrocentoSans"/>
                <a:ea typeface="QuattrocentoSans"/>
              </a:rPr>
              <a:t>35%</a:t>
            </a:r>
            <a:r>
              <a:rPr lang="en-US" sz="1600" b="0" u="none" strike="noStrike">
                <a:solidFill>
                  <a:srgbClr val="1E293B"/>
                </a:solidFill>
                <a:effectLst/>
                <a:uFillTx/>
                <a:latin typeface="QuattrocentoSans"/>
                <a:ea typeface="QuattrocentoSans"/>
              </a:rPr>
              <a:t>。钙钛矿</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硅叠层电池实验室效率已达</a:t>
            </a:r>
            <a:r>
              <a:rPr lang="en-US" sz="1600" b="1" u="none" strike="noStrike">
                <a:solidFill>
                  <a:srgbClr val="1E293B"/>
                </a:solidFill>
                <a:effectLst/>
                <a:uFillTx/>
                <a:latin typeface="QuattrocentoSans"/>
                <a:ea typeface="QuattrocentoSans"/>
              </a:rPr>
              <a:t>33.9%</a:t>
            </a:r>
            <a:r>
              <a:rPr lang="en-US" sz="1600" b="0" u="none" strike="noStrike">
                <a:solidFill>
                  <a:srgbClr val="1E293B"/>
                </a:solidFill>
                <a:effectLst/>
                <a:uFillTx/>
                <a:latin typeface="QuattrocentoSans"/>
                <a:ea typeface="QuattrocentoSans"/>
              </a:rPr>
              <a:t>，预计</a:t>
            </a:r>
            <a:r>
              <a:rPr lang="en-US" sz="1600" b="0" u="none" strike="noStrike">
                <a:solidFill>
                  <a:srgbClr val="1E293B"/>
                </a:solidFill>
                <a:effectLst/>
                <a:uFillTx/>
                <a:latin typeface="QuattrocentoSans"/>
                <a:ea typeface="QuattrocentoSans"/>
              </a:rPr>
              <a:t>2028</a:t>
            </a:r>
            <a:r>
              <a:rPr lang="en-US" sz="1600" b="0" u="none" strike="noStrike">
                <a:solidFill>
                  <a:srgbClr val="1E293B"/>
                </a:solidFill>
                <a:effectLst/>
                <a:uFillTx/>
                <a:latin typeface="QuattrocentoSans"/>
                <a:ea typeface="QuattrocentoSans"/>
              </a:rPr>
              <a:t>年量产效率</a:t>
            </a:r>
            <a:r>
              <a:rPr lang="en-US" sz="1600" b="0" u="none" strike="noStrike">
                <a:solidFill>
                  <a:srgbClr val="1E293B"/>
                </a:solidFill>
                <a:effectLst/>
                <a:uFillTx/>
                <a:latin typeface="QuattrocentoSans"/>
                <a:ea typeface="QuattrocentoSans"/>
              </a:rPr>
              <a:t>29%</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a:p>
            <a:pPr>
              <a:lnSpc>
                <a:spcPct val="15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1E293B"/>
                </a:solidFill>
                <a:effectLst/>
                <a:uFillTx/>
                <a:latin typeface="QuattrocentoSans"/>
                <a:ea typeface="QuattrocentoSans"/>
              </a:rPr>
              <a:t>策略</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2026-2027</a:t>
            </a:r>
            <a:r>
              <a:rPr lang="en-US" sz="1600" b="0" u="none" strike="noStrike">
                <a:solidFill>
                  <a:srgbClr val="1E293B"/>
                </a:solidFill>
                <a:effectLst/>
                <a:uFillTx/>
                <a:latin typeface="QuattrocentoSans"/>
                <a:ea typeface="QuattrocentoSans"/>
              </a:rPr>
              <a:t>年存量</a:t>
            </a:r>
            <a:r>
              <a:rPr lang="en-US" sz="1600" b="0" u="none" strike="noStrike">
                <a:solidFill>
                  <a:srgbClr val="1E293B"/>
                </a:solidFill>
                <a:effectLst/>
                <a:uFillTx/>
                <a:latin typeface="QuattrocentoSans"/>
                <a:ea typeface="QuattrocentoSans"/>
              </a:rPr>
              <a:t>PERC</a:t>
            </a:r>
            <a:r>
              <a:rPr lang="en-US" sz="1600" b="0" u="none" strike="noStrike">
                <a:solidFill>
                  <a:srgbClr val="1E293B"/>
                </a:solidFill>
                <a:effectLst/>
                <a:uFillTx/>
                <a:latin typeface="QuattrocentoSans"/>
                <a:ea typeface="QuattrocentoSans"/>
              </a:rPr>
              <a:t>升级至</a:t>
            </a:r>
            <a:r>
              <a:rPr lang="en-US" sz="1600" b="0" u="none" strike="noStrike">
                <a:solidFill>
                  <a:srgbClr val="1E293B"/>
                </a:solidFill>
                <a:effectLst/>
                <a:uFillTx/>
                <a:latin typeface="QuattrocentoSans"/>
                <a:ea typeface="QuattrocentoSans"/>
              </a:rPr>
              <a:t>TOPCon</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2028-2029</a:t>
            </a:r>
            <a:r>
              <a:rPr lang="en-US" sz="1600" b="0" u="none" strike="noStrike">
                <a:solidFill>
                  <a:srgbClr val="1E293B"/>
                </a:solidFill>
                <a:effectLst/>
                <a:uFillTx/>
                <a:latin typeface="QuattrocentoSans"/>
                <a:ea typeface="QuattrocentoSans"/>
              </a:rPr>
              <a:t>年新建项目采用</a:t>
            </a:r>
            <a:r>
              <a:rPr lang="en-US" sz="1600" b="0" u="none" strike="noStrike">
                <a:solidFill>
                  <a:srgbClr val="1E293B"/>
                </a:solidFill>
                <a:effectLst/>
                <a:uFillTx/>
                <a:latin typeface="QuattrocentoSans"/>
                <a:ea typeface="QuattrocentoSans"/>
              </a:rPr>
              <a:t>HJT</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2030</a:t>
            </a:r>
            <a:r>
              <a:rPr lang="en-US" sz="1600" b="0" u="none" strike="noStrike">
                <a:solidFill>
                  <a:srgbClr val="1E293B"/>
                </a:solidFill>
                <a:effectLst/>
                <a:uFillTx/>
                <a:latin typeface="QuattrocentoSans"/>
                <a:ea typeface="QuattrocentoSans"/>
              </a:rPr>
              <a:t>年后布局钙钛矿叠层。</a:t>
            </a:r>
            <a:endParaRPr lang="en-US" sz="1600" b="0" u="none" strike="noStrike">
              <a:solidFill>
                <a:srgbClr val="000000"/>
              </a:solidFill>
              <a:effectLst/>
              <a:uFillTx/>
              <a:latin typeface="Calibri"/>
            </a:endParaRPr>
          </a:p>
        </p:txBody>
      </p:sp>
      <p:graphicFrame>
        <p:nvGraphicFramePr>
          <p:cNvPr id="119" name="Chart 0"/>
          <p:cNvGraphicFramePr/>
          <p:nvPr/>
        </p:nvGraphicFramePr>
        <p:xfrm>
          <a:off x="8204040" y="1282680"/>
          <a:ext cx="7340760" cy="3784680"/>
        </p:xfrm>
        <a:graphic>
          <a:graphicData uri="http://schemas.openxmlformats.org/presentationml/2006/ole">
            <p:oleObj progId="Excel.Sheet.12" r:id="rId1" spid="">
              <p:embed/>
              <p:pic>
                <p:nvPicPr>
                  <p:cNvPr id="120" name="Chart 0"/>
                  <p:cNvPicPr/>
                  <p:nvPr/>
                </p:nvPicPr>
                <p:blipFill>
                  <a:blip r:embed="rId2"/>
                  <a:stretch/>
                </p:blipFill>
                <p:spPr>
                  <a:xfrm>
                    <a:off x="8204040" y="1282680"/>
                    <a:ext cx="7340760" cy="3784680"/>
                  </a:xfrm>
                  <a:prstGeom prst="rect">
                    <a:avLst/>
                  </a:prstGeom>
                  <a:noFill/>
                  <a:ln w="0">
                    <a:noFill/>
                  </a:ln>
                </p:spPr>
              </p:pic>
            </p:oleObj>
          </a:graphicData>
        </a:graphic>
      </p:graphicFrame>
      <p:graphicFrame>
        <p:nvGraphicFramePr>
          <p:cNvPr id="121" name=""/>
          <p:cNvGraphicFramePr/>
          <p:nvPr/>
        </p:nvGraphicFramePr>
        <p:xfrm>
          <a:off x="762120" y="5207040"/>
          <a:ext cx="14731920" cy="2539800"/>
        </p:xfrm>
        <a:graphic>
          <a:graphicData uri="http://schemas.openxmlformats.org/drawingml/2006/table">
            <a:tbl>
              <a:tblPr/>
              <a:tblGrid>
                <a:gridCol w="2357280"/>
                <a:gridCol w="2062080"/>
                <a:gridCol w="2062440"/>
                <a:gridCol w="2062080"/>
                <a:gridCol w="2063520"/>
                <a:gridCol w="2062440"/>
                <a:gridCol w="2062080"/>
              </a:tblGrid>
              <a:tr h="4572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技术路线</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量产效率</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单瓦成本</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良率</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理论极限</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泰坦装机量</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升级窗口</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r>
              <a:tr h="5205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PERC</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23.1%</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$0.11/W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98.2%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24.5%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4.2 GW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2026-2027</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209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TOPCon</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26.2%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$0.13/W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96.5%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28.7%</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2.8 GW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2026-2028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205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HJT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27.5%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$0.18/W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94.0%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27.5%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1.0 GW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2028-2029</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205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钙钛矿叠层</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33.9%*</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$0.45/W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&lt;90%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43.0%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0.4 GW*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2030+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bl>
          </a:graphicData>
        </a:graphic>
      </p:graphicFrame>
      <p:sp>
        <p:nvSpPr>
          <p:cNvPr id="122" name="Shape 3"/>
          <p:cNvSpPr/>
          <p:nvPr/>
        </p:nvSpPr>
        <p:spPr>
          <a:xfrm>
            <a:off x="762120" y="8001000"/>
            <a:ext cx="3429000" cy="63504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23" name="Text 4"/>
          <p:cNvSpPr/>
          <p:nvPr/>
        </p:nvSpPr>
        <p:spPr>
          <a:xfrm>
            <a:off x="1015920" y="8026560"/>
            <a:ext cx="2921040" cy="3045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C8A265"/>
                </a:solidFill>
                <a:effectLst/>
                <a:uFillTx/>
                <a:latin typeface="Liter"/>
                <a:ea typeface="Liter"/>
              </a:rPr>
              <a:t></a:t>
            </a:r>
            <a:endParaRPr lang="en-US" sz="1800" b="0" u="none" strike="noStrike">
              <a:solidFill>
                <a:srgbClr val="000000"/>
              </a:solidFill>
              <a:effectLst/>
              <a:uFillTx/>
              <a:latin typeface="Calibri"/>
            </a:endParaRPr>
          </a:p>
        </p:txBody>
      </p:sp>
      <p:sp>
        <p:nvSpPr>
          <p:cNvPr id="124" name="Text 5"/>
          <p:cNvSpPr/>
          <p:nvPr/>
        </p:nvSpPr>
        <p:spPr>
          <a:xfrm>
            <a:off x="1015920" y="8331120"/>
            <a:ext cx="2921040" cy="2793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 Sans"/>
              </a:rPr>
              <a:t>全球光伏资产持有量</a:t>
            </a:r>
            <a:endParaRPr lang="en-US" sz="1000" b="0" u="none" strike="noStrike">
              <a:solidFill>
                <a:srgbClr val="000000"/>
              </a:solidFill>
              <a:effectLst/>
              <a:uFillTx/>
              <a:latin typeface="Calibri"/>
            </a:endParaRPr>
          </a:p>
        </p:txBody>
      </p:sp>
      <p:sp>
        <p:nvSpPr>
          <p:cNvPr id="125" name="Shape 6"/>
          <p:cNvSpPr/>
          <p:nvPr/>
        </p:nvSpPr>
        <p:spPr>
          <a:xfrm>
            <a:off x="4444920" y="8001000"/>
            <a:ext cx="3429000" cy="63504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26" name="Text 7"/>
          <p:cNvSpPr/>
          <p:nvPr/>
        </p:nvSpPr>
        <p:spPr>
          <a:xfrm>
            <a:off x="4699080" y="8026560"/>
            <a:ext cx="2921040" cy="3045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C8A265"/>
                </a:solidFill>
                <a:effectLst/>
                <a:uFillTx/>
                <a:latin typeface="Liter"/>
                <a:ea typeface="Liter"/>
              </a:rPr>
              <a:t></a:t>
            </a:r>
            <a:endParaRPr lang="en-US" sz="1800" b="0" u="none" strike="noStrike">
              <a:solidFill>
                <a:srgbClr val="000000"/>
              </a:solidFill>
              <a:effectLst/>
              <a:uFillTx/>
              <a:latin typeface="Calibri"/>
            </a:endParaRPr>
          </a:p>
        </p:txBody>
      </p:sp>
      <p:sp>
        <p:nvSpPr>
          <p:cNvPr id="127" name="Text 8"/>
          <p:cNvSpPr/>
          <p:nvPr/>
        </p:nvSpPr>
        <p:spPr>
          <a:xfrm>
            <a:off x="4699080" y="8331120"/>
            <a:ext cx="2921040" cy="2793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 Sans"/>
              </a:rPr>
              <a:t>钙钛矿叠层实验室效率</a:t>
            </a:r>
            <a:endParaRPr lang="en-US" sz="1000" b="0" u="none" strike="noStrike">
              <a:solidFill>
                <a:srgbClr val="000000"/>
              </a:solidFill>
              <a:effectLst/>
              <a:uFillTx/>
              <a:latin typeface="Calibri"/>
            </a:endParaRPr>
          </a:p>
        </p:txBody>
      </p:sp>
      <p:sp>
        <p:nvSpPr>
          <p:cNvPr id="128" name="Shape 9"/>
          <p:cNvSpPr/>
          <p:nvPr/>
        </p:nvSpPr>
        <p:spPr>
          <a:xfrm>
            <a:off x="8128080" y="8001000"/>
            <a:ext cx="3429000" cy="63504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29" name="Text 10"/>
          <p:cNvSpPr/>
          <p:nvPr/>
        </p:nvSpPr>
        <p:spPr>
          <a:xfrm>
            <a:off x="8381880" y="8026560"/>
            <a:ext cx="2921040" cy="3045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C8A265"/>
                </a:solidFill>
                <a:effectLst/>
                <a:uFillTx/>
                <a:latin typeface="Liter"/>
                <a:ea typeface="Liter"/>
              </a:rPr>
              <a:t></a:t>
            </a:r>
            <a:endParaRPr lang="en-US" sz="1800" b="0" u="none" strike="noStrike">
              <a:solidFill>
                <a:srgbClr val="000000"/>
              </a:solidFill>
              <a:effectLst/>
              <a:uFillTx/>
              <a:latin typeface="Calibri"/>
            </a:endParaRPr>
          </a:p>
        </p:txBody>
      </p:sp>
      <p:sp>
        <p:nvSpPr>
          <p:cNvPr id="130" name="Text 11"/>
          <p:cNvSpPr/>
          <p:nvPr/>
        </p:nvSpPr>
        <p:spPr>
          <a:xfrm>
            <a:off x="8381880" y="8331120"/>
            <a:ext cx="2921040" cy="2793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 Sans"/>
              </a:rPr>
              <a:t>TOPCon</a:t>
            </a:r>
            <a:r>
              <a:rPr lang="en-US" sz="1000" b="0" u="none" strike="noStrike">
                <a:solidFill>
                  <a:srgbClr val="5A6D7F"/>
                </a:solidFill>
                <a:effectLst/>
                <a:uFillTx/>
                <a:latin typeface="Quattrocento Sans"/>
              </a:rPr>
              <a:t>量产效率</a:t>
            </a:r>
            <a:endParaRPr lang="en-US" sz="1000" b="0" u="none" strike="noStrike">
              <a:solidFill>
                <a:srgbClr val="000000"/>
              </a:solidFill>
              <a:effectLst/>
              <a:uFillTx/>
              <a:latin typeface="Calibri"/>
            </a:endParaRPr>
          </a:p>
        </p:txBody>
      </p:sp>
      <p:sp>
        <p:nvSpPr>
          <p:cNvPr id="131" name="Shape 12"/>
          <p:cNvSpPr/>
          <p:nvPr/>
        </p:nvSpPr>
        <p:spPr>
          <a:xfrm>
            <a:off x="11810880" y="8001000"/>
            <a:ext cx="3683160" cy="63504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32" name="Text 13"/>
          <p:cNvSpPr/>
          <p:nvPr/>
        </p:nvSpPr>
        <p:spPr>
          <a:xfrm>
            <a:off x="12065040" y="8026560"/>
            <a:ext cx="3174840" cy="3045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C8A265"/>
                </a:solidFill>
                <a:effectLst/>
                <a:uFillTx/>
                <a:latin typeface="Liter"/>
                <a:ea typeface="Liter"/>
              </a:rPr>
              <a:t></a:t>
            </a:r>
            <a:endParaRPr lang="en-US" sz="1800" b="0" u="none" strike="noStrike">
              <a:solidFill>
                <a:srgbClr val="000000"/>
              </a:solidFill>
              <a:effectLst/>
              <a:uFillTx/>
              <a:latin typeface="Calibri"/>
            </a:endParaRPr>
          </a:p>
        </p:txBody>
      </p:sp>
      <p:sp>
        <p:nvSpPr>
          <p:cNvPr id="133" name="Text 14"/>
          <p:cNvSpPr/>
          <p:nvPr/>
        </p:nvSpPr>
        <p:spPr>
          <a:xfrm>
            <a:off x="12065040" y="8331120"/>
            <a:ext cx="3174840" cy="2541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 Sans"/>
              </a:rPr>
              <a:t>PERC</a:t>
            </a:r>
            <a:r>
              <a:rPr lang="en-US" sz="1000" b="0" u="none" strike="noStrike">
                <a:solidFill>
                  <a:srgbClr val="5A6D7F"/>
                </a:solidFill>
                <a:effectLst/>
                <a:uFillTx/>
                <a:latin typeface="Quattrocento Sans"/>
              </a:rPr>
              <a:t>单瓦成本</a:t>
            </a:r>
            <a:endParaRPr lang="en-US" sz="1000" b="0" u="none" strike="noStrike">
              <a:solidFill>
                <a:srgbClr val="000000"/>
              </a:solidFill>
              <a:effectLst/>
              <a:uFillTx/>
              <a:latin typeface="Calibri"/>
            </a:endParaRPr>
          </a:p>
        </p:txBody>
      </p:sp>
      <p:sp>
        <p:nvSpPr>
          <p:cNvPr id="134" name="Text 15"/>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Fraunhofer ISE Photovoltaics Report 2026, LONGi Technology Roadmap, Titan Solar Asset Audit · Slide 10</a:t>
            </a:r>
            <a:endParaRPr lang="en-US" sz="1000" b="0" u="none" strike="noStrike">
              <a:solidFill>
                <a:srgbClr val="000000"/>
              </a:solidFill>
              <a:effectLst/>
              <a:uFillTx/>
              <a:latin typeface="Calibri"/>
            </a:endParaRPr>
          </a:p>
        </p:txBody>
      </p:sp>
    </p:spTree>
  </p:cSld>
  <p:transition>
    <p:fade/>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135" name="Text 0"/>
          <p:cNvSpPr/>
          <p:nvPr/>
        </p:nvSpPr>
        <p:spPr>
          <a:xfrm>
            <a:off x="762120" y="507960"/>
            <a:ext cx="126997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绿氢与长时储能：破解可再生能源间歇性困局</a:t>
            </a:r>
            <a:endParaRPr lang="en-US" sz="2800" b="0" u="none" strike="noStrike">
              <a:solidFill>
                <a:srgbClr val="000000"/>
              </a:solidFill>
              <a:effectLst/>
              <a:uFillTx/>
              <a:latin typeface="Calibri"/>
            </a:endParaRPr>
          </a:p>
        </p:txBody>
      </p:sp>
      <p:sp>
        <p:nvSpPr>
          <p:cNvPr id="136"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37" name="Text 2"/>
          <p:cNvSpPr/>
          <p:nvPr/>
        </p:nvSpPr>
        <p:spPr>
          <a:xfrm>
            <a:off x="762120" y="1333440"/>
            <a:ext cx="7111800" cy="393696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绿氢是泰坦动力实现深度脱碳的关键载体。当前绿氢成本构成：电力成本占</a:t>
            </a:r>
            <a:r>
              <a:rPr lang="en-US" sz="1600" b="1" u="none" strike="noStrike">
                <a:solidFill>
                  <a:srgbClr val="1E293B"/>
                </a:solidFill>
                <a:effectLst/>
                <a:uFillTx/>
                <a:latin typeface="QuattrocentoSans"/>
                <a:ea typeface="QuattrocentoSans"/>
              </a:rPr>
              <a:t>65%</a:t>
            </a:r>
            <a:r>
              <a:rPr lang="en-US" sz="1600" b="0" u="none" strike="noStrike">
                <a:solidFill>
                  <a:srgbClr val="1E293B"/>
                </a:solidFill>
                <a:effectLst/>
                <a:uFillTx/>
                <a:latin typeface="QuattrocentoSans"/>
                <a:ea typeface="QuattrocentoSans"/>
              </a:rPr>
              <a:t>（按</a:t>
            </a:r>
            <a:r>
              <a:rPr lang="en-US" sz="1600" b="0" u="none" strike="noStrike">
                <a:solidFill>
                  <a:srgbClr val="1E293B"/>
                </a:solidFill>
                <a:effectLst/>
                <a:uFillTx/>
                <a:latin typeface="QuattrocentoSans"/>
                <a:ea typeface="QuattrocentoSans"/>
              </a:rPr>
              <a:t>0.03 USD/kWh</a:t>
            </a:r>
            <a:r>
              <a:rPr lang="en-US" sz="1600" b="0" u="none" strike="noStrike">
                <a:solidFill>
                  <a:srgbClr val="1E293B"/>
                </a:solidFill>
                <a:effectLst/>
                <a:uFillTx/>
                <a:latin typeface="QuattrocentoSans"/>
                <a:ea typeface="QuattrocentoSans"/>
              </a:rPr>
              <a:t>绿电计算）、电解槽折旧占</a:t>
            </a:r>
            <a:r>
              <a:rPr lang="en-US" sz="1600" b="0" u="none" strike="noStrike">
                <a:solidFill>
                  <a:srgbClr val="1E293B"/>
                </a:solidFill>
                <a:effectLst/>
                <a:uFillTx/>
                <a:latin typeface="QuattrocentoSans"/>
                <a:ea typeface="QuattrocentoSans"/>
              </a:rPr>
              <a:t>18%</a:t>
            </a:r>
            <a:r>
              <a:rPr lang="en-US" sz="1600" b="0" u="none" strike="noStrike">
                <a:solidFill>
                  <a:srgbClr val="1E293B"/>
                </a:solidFill>
                <a:effectLst/>
                <a:uFillTx/>
                <a:latin typeface="QuattrocentoSans"/>
                <a:ea typeface="QuattrocentoSans"/>
              </a:rPr>
              <a:t>、运维占</a:t>
            </a:r>
            <a:r>
              <a:rPr lang="en-US" sz="1600" b="0" u="none" strike="noStrike">
                <a:solidFill>
                  <a:srgbClr val="1E293B"/>
                </a:solidFill>
                <a:effectLst/>
                <a:uFillTx/>
                <a:latin typeface="QuattrocentoSans"/>
                <a:ea typeface="QuattrocentoSans"/>
              </a:rPr>
              <a:t>12%</a:t>
            </a:r>
            <a:r>
              <a:rPr lang="en-US" sz="1600" b="0" u="none" strike="noStrike">
                <a:solidFill>
                  <a:srgbClr val="1E293B"/>
                </a:solidFill>
                <a:effectLst/>
                <a:uFillTx/>
                <a:latin typeface="QuattrocentoSans"/>
                <a:ea typeface="QuattrocentoSans"/>
              </a:rPr>
              <a:t>、其他</a:t>
            </a:r>
            <a:r>
              <a:rPr lang="en-US" sz="1600" b="0" u="none" strike="noStrike">
                <a:solidFill>
                  <a:srgbClr val="1E293B"/>
                </a:solidFill>
                <a:effectLst/>
                <a:uFillTx/>
                <a:latin typeface="QuattrocentoSans"/>
                <a:ea typeface="QuattrocentoSans"/>
              </a:rPr>
              <a:t>5%</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a:p>
            <a:pPr>
              <a:lnSpc>
                <a:spcPct val="15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碱性电解槽（</a:t>
            </a:r>
            <a:r>
              <a:rPr lang="en-US" sz="1600" b="0" u="none" strike="noStrike">
                <a:solidFill>
                  <a:srgbClr val="1E293B"/>
                </a:solidFill>
                <a:effectLst/>
                <a:uFillTx/>
                <a:latin typeface="QuattrocentoSans"/>
                <a:ea typeface="QuattrocentoSans"/>
              </a:rPr>
              <a:t>ALK</a:t>
            </a:r>
            <a:r>
              <a:rPr lang="en-US" sz="1600" b="0" u="none" strike="noStrike">
                <a:solidFill>
                  <a:srgbClr val="1E293B"/>
                </a:solidFill>
                <a:effectLst/>
                <a:uFillTx/>
                <a:latin typeface="QuattrocentoSans"/>
                <a:ea typeface="QuattrocentoSans"/>
              </a:rPr>
              <a:t>）系统效率</a:t>
            </a:r>
            <a:r>
              <a:rPr lang="en-US" sz="1600" b="1" u="none" strike="noStrike">
                <a:solidFill>
                  <a:srgbClr val="1E293B"/>
                </a:solidFill>
                <a:effectLst/>
                <a:uFillTx/>
                <a:latin typeface="QuattrocentoSans"/>
                <a:ea typeface="QuattrocentoSans"/>
              </a:rPr>
              <a:t>68%</a:t>
            </a:r>
            <a:r>
              <a:rPr lang="en-US" sz="1600" b="0" u="none" strike="noStrike">
                <a:solidFill>
                  <a:srgbClr val="1E293B"/>
                </a:solidFill>
                <a:effectLst/>
                <a:uFillTx/>
                <a:latin typeface="QuattrocentoSans"/>
                <a:ea typeface="QuattrocentoSans"/>
              </a:rPr>
              <a:t>，寿命</a:t>
            </a:r>
            <a:r>
              <a:rPr lang="en-US" sz="1600" b="0" u="none" strike="noStrike">
                <a:solidFill>
                  <a:srgbClr val="1E293B"/>
                </a:solidFill>
                <a:effectLst/>
                <a:uFillTx/>
                <a:latin typeface="QuattrocentoSans"/>
                <a:ea typeface="QuattrocentoSans"/>
              </a:rPr>
              <a:t>60,000</a:t>
            </a:r>
            <a:r>
              <a:rPr lang="en-US" sz="1600" b="0" u="none" strike="noStrike">
                <a:solidFill>
                  <a:srgbClr val="1E293B"/>
                </a:solidFill>
                <a:effectLst/>
                <a:uFillTx/>
                <a:latin typeface="QuattrocentoSans"/>
                <a:ea typeface="QuattrocentoSans"/>
              </a:rPr>
              <a:t>小时，成本</a:t>
            </a:r>
            <a:r>
              <a:rPr lang="en-US" sz="1600" b="1" u="none" strike="noStrike">
                <a:solidFill>
                  <a:srgbClr val="1E293B"/>
                </a:solidFill>
                <a:effectLst/>
                <a:uFillTx/>
                <a:latin typeface="QuattrocentoSans"/>
                <a:ea typeface="QuattrocentoSans"/>
              </a:rPr>
              <a:t>450 USD/kW</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PEM</a:t>
            </a:r>
            <a:r>
              <a:rPr lang="en-US" sz="1600" b="0" u="none" strike="noStrike">
                <a:solidFill>
                  <a:srgbClr val="1E293B"/>
                </a:solidFill>
                <a:effectLst/>
                <a:uFillTx/>
                <a:latin typeface="QuattrocentoSans"/>
                <a:ea typeface="QuattrocentoSans"/>
              </a:rPr>
              <a:t>效率</a:t>
            </a:r>
            <a:r>
              <a:rPr lang="en-US" sz="1600" b="1" u="none" strike="noStrike">
                <a:solidFill>
                  <a:srgbClr val="1E293B"/>
                </a:solidFill>
                <a:effectLst/>
                <a:uFillTx/>
                <a:latin typeface="QuattrocentoSans"/>
                <a:ea typeface="QuattrocentoSans"/>
              </a:rPr>
              <a:t>72%</a:t>
            </a:r>
            <a:r>
              <a:rPr lang="en-US" sz="1600" b="0" u="none" strike="noStrike">
                <a:solidFill>
                  <a:srgbClr val="1E293B"/>
                </a:solidFill>
                <a:effectLst/>
                <a:uFillTx/>
                <a:latin typeface="QuattrocentoSans"/>
                <a:ea typeface="QuattrocentoSans"/>
              </a:rPr>
              <a:t>，寿命</a:t>
            </a:r>
            <a:r>
              <a:rPr lang="en-US" sz="1600" b="0" u="none" strike="noStrike">
                <a:solidFill>
                  <a:srgbClr val="1E293B"/>
                </a:solidFill>
                <a:effectLst/>
                <a:uFillTx/>
                <a:latin typeface="QuattrocentoSans"/>
                <a:ea typeface="QuattrocentoSans"/>
              </a:rPr>
              <a:t>30,000</a:t>
            </a:r>
            <a:r>
              <a:rPr lang="en-US" sz="1600" b="0" u="none" strike="noStrike">
                <a:solidFill>
                  <a:srgbClr val="1E293B"/>
                </a:solidFill>
                <a:effectLst/>
                <a:uFillTx/>
                <a:latin typeface="QuattrocentoSans"/>
                <a:ea typeface="QuattrocentoSans"/>
              </a:rPr>
              <a:t>小时，成本</a:t>
            </a:r>
            <a:r>
              <a:rPr lang="en-US" sz="1600" b="1" u="none" strike="noStrike">
                <a:solidFill>
                  <a:srgbClr val="1E293B"/>
                </a:solidFill>
                <a:effectLst/>
                <a:uFillTx/>
                <a:latin typeface="QuattrocentoSans"/>
                <a:ea typeface="QuattrocentoSans"/>
              </a:rPr>
              <a:t>850 USD/kW</a:t>
            </a:r>
            <a:r>
              <a:rPr lang="en-US" sz="1600" b="0" u="none" strike="noStrike">
                <a:solidFill>
                  <a:srgbClr val="1E293B"/>
                </a:solidFill>
                <a:effectLst/>
                <a:uFillTx/>
                <a:latin typeface="QuattrocentoSans"/>
                <a:ea typeface="QuattrocentoSans"/>
              </a:rPr>
              <a:t>。泰坦动力选定</a:t>
            </a:r>
            <a:r>
              <a:rPr lang="en-US" sz="1600" b="0" u="none" strike="noStrike">
                <a:solidFill>
                  <a:srgbClr val="1E293B"/>
                </a:solidFill>
                <a:effectLst/>
                <a:uFillTx/>
                <a:latin typeface="QuattrocentoSans"/>
                <a:ea typeface="QuattrocentoSans"/>
              </a:rPr>
              <a:t>ALK+PEM</a:t>
            </a:r>
            <a:r>
              <a:rPr lang="en-US" sz="1600" b="0" u="none" strike="noStrike">
                <a:solidFill>
                  <a:srgbClr val="1E293B"/>
                </a:solidFill>
                <a:effectLst/>
                <a:uFillTx/>
                <a:latin typeface="QuattrocentoSans"/>
                <a:ea typeface="QuattrocentoSans"/>
              </a:rPr>
              <a:t>混合路线。</a:t>
            </a:r>
            <a:endParaRPr lang="en-US" sz="1600" b="0" u="none" strike="noStrike">
              <a:solidFill>
                <a:srgbClr val="000000"/>
              </a:solidFill>
              <a:effectLst/>
              <a:uFillTx/>
              <a:latin typeface="Calibri"/>
            </a:endParaRPr>
          </a:p>
          <a:p>
            <a:pPr>
              <a:lnSpc>
                <a:spcPct val="15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储氢方案：</a:t>
            </a:r>
            <a:r>
              <a:rPr lang="en-US" sz="1600" b="0" u="none" strike="noStrike">
                <a:solidFill>
                  <a:srgbClr val="1E293B"/>
                </a:solidFill>
                <a:effectLst/>
                <a:uFillTx/>
                <a:latin typeface="QuattrocentoSans"/>
                <a:ea typeface="QuattrocentoSans"/>
              </a:rPr>
              <a:t>35MPa</a:t>
            </a:r>
            <a:r>
              <a:rPr lang="en-US" sz="1600" b="0" u="none" strike="noStrike">
                <a:solidFill>
                  <a:srgbClr val="1E293B"/>
                </a:solidFill>
                <a:effectLst/>
                <a:uFillTx/>
                <a:latin typeface="QuattrocentoSans"/>
                <a:ea typeface="QuattrocentoSans"/>
              </a:rPr>
              <a:t>气态储氢（成本</a:t>
            </a:r>
            <a:r>
              <a:rPr lang="en-US" sz="1600" b="0" u="none" strike="noStrike">
                <a:solidFill>
                  <a:srgbClr val="1E293B"/>
                </a:solidFill>
                <a:effectLst/>
                <a:uFillTx/>
                <a:latin typeface="QuattrocentoSans"/>
                <a:ea typeface="QuattrocentoSans"/>
              </a:rPr>
              <a:t>0.35 USD/kg</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70MPa</a:t>
            </a:r>
            <a:r>
              <a:rPr lang="en-US" sz="1600" b="0" u="none" strike="noStrike">
                <a:solidFill>
                  <a:srgbClr val="1E293B"/>
                </a:solidFill>
                <a:effectLst/>
                <a:uFillTx/>
                <a:latin typeface="QuattrocentoSans"/>
                <a:ea typeface="QuattrocentoSans"/>
              </a:rPr>
              <a:t>气态（</a:t>
            </a:r>
            <a:r>
              <a:rPr lang="en-US" sz="1600" b="0" u="none" strike="noStrike">
                <a:solidFill>
                  <a:srgbClr val="1E293B"/>
                </a:solidFill>
                <a:effectLst/>
                <a:uFillTx/>
                <a:latin typeface="QuattrocentoSans"/>
                <a:ea typeface="QuattrocentoSans"/>
              </a:rPr>
              <a:t>0.52 USD/kg</a:t>
            </a:r>
            <a:r>
              <a:rPr lang="en-US" sz="1600" b="0" u="none" strike="noStrike">
                <a:solidFill>
                  <a:srgbClr val="1E293B"/>
                </a:solidFill>
                <a:effectLst/>
                <a:uFillTx/>
                <a:latin typeface="QuattrocentoSans"/>
                <a:ea typeface="QuattrocentoSans"/>
              </a:rPr>
              <a:t>）、液态氨储运（</a:t>
            </a:r>
            <a:r>
              <a:rPr lang="en-US" sz="1600" b="0" u="none" strike="noStrike">
                <a:solidFill>
                  <a:srgbClr val="1E293B"/>
                </a:solidFill>
                <a:effectLst/>
                <a:uFillTx/>
                <a:latin typeface="QuattrocentoSans"/>
                <a:ea typeface="QuattrocentoSans"/>
              </a:rPr>
              <a:t>1.2 USD/kg</a:t>
            </a:r>
            <a:r>
              <a:rPr lang="en-US" sz="1600" b="0" u="none" strike="noStrike">
                <a:solidFill>
                  <a:srgbClr val="1E293B"/>
                </a:solidFill>
                <a:effectLst/>
                <a:uFillTx/>
                <a:latin typeface="QuattrocentoSans"/>
                <a:ea typeface="QuattrocentoSans"/>
              </a:rPr>
              <a:t>）。长时储能配套：全钒液流电池（</a:t>
            </a:r>
            <a:r>
              <a:rPr lang="en-US" sz="1600" b="0" u="none" strike="noStrike">
                <a:solidFill>
                  <a:srgbClr val="1E293B"/>
                </a:solidFill>
                <a:effectLst/>
                <a:uFillTx/>
                <a:latin typeface="QuattrocentoSans"/>
                <a:ea typeface="QuattrocentoSans"/>
              </a:rPr>
              <a:t>VRFB</a:t>
            </a:r>
            <a:r>
              <a:rPr lang="en-US" sz="1600" b="0" u="none" strike="noStrike">
                <a:solidFill>
                  <a:srgbClr val="1E293B"/>
                </a:solidFill>
                <a:effectLst/>
                <a:uFillTx/>
                <a:latin typeface="QuattrocentoSans"/>
                <a:ea typeface="QuattrocentoSans"/>
              </a:rPr>
              <a:t>，寿命</a:t>
            </a:r>
            <a:r>
              <a:rPr lang="en-US" sz="1600" b="0" u="none" strike="noStrike">
                <a:solidFill>
                  <a:srgbClr val="1E293B"/>
                </a:solidFill>
                <a:effectLst/>
                <a:uFillTx/>
                <a:latin typeface="QuattrocentoSans"/>
                <a:ea typeface="QuattrocentoSans"/>
              </a:rPr>
              <a:t>20</a:t>
            </a:r>
            <a:r>
              <a:rPr lang="en-US" sz="1600" b="0" u="none" strike="noStrike">
                <a:solidFill>
                  <a:srgbClr val="1E293B"/>
                </a:solidFill>
                <a:effectLst/>
                <a:uFillTx/>
                <a:latin typeface="QuattrocentoSans"/>
                <a:ea typeface="QuattrocentoSans"/>
              </a:rPr>
              <a:t>年，效率</a:t>
            </a:r>
            <a:r>
              <a:rPr lang="en-US" sz="1600" b="0" u="none" strike="noStrike">
                <a:solidFill>
                  <a:srgbClr val="1E293B"/>
                </a:solidFill>
                <a:effectLst/>
                <a:uFillTx/>
                <a:latin typeface="QuattrocentoSans"/>
                <a:ea typeface="QuattrocentoSans"/>
              </a:rPr>
              <a:t>75%</a:t>
            </a:r>
            <a:r>
              <a:rPr lang="en-US" sz="1600" b="0" u="none" strike="noStrike">
                <a:solidFill>
                  <a:srgbClr val="1E293B"/>
                </a:solidFill>
                <a:effectLst/>
                <a:uFillTx/>
                <a:latin typeface="QuattrocentoSans"/>
                <a:ea typeface="QuattrocentoSans"/>
              </a:rPr>
              <a:t>）；压缩空气储能（</a:t>
            </a:r>
            <a:r>
              <a:rPr lang="en-US" sz="1600" b="0" u="none" strike="noStrike">
                <a:solidFill>
                  <a:srgbClr val="1E293B"/>
                </a:solidFill>
                <a:effectLst/>
                <a:uFillTx/>
                <a:latin typeface="QuattrocentoSans"/>
                <a:ea typeface="QuattrocentoSans"/>
              </a:rPr>
              <a:t>CAES</a:t>
            </a:r>
            <a:r>
              <a:rPr lang="en-US" sz="1600" b="0" u="none" strike="noStrike">
                <a:solidFill>
                  <a:srgbClr val="1E293B"/>
                </a:solidFill>
                <a:effectLst/>
                <a:uFillTx/>
                <a:latin typeface="QuattrocentoSans"/>
                <a:ea typeface="QuattrocentoSans"/>
              </a:rPr>
              <a:t>，效率</a:t>
            </a:r>
            <a:r>
              <a:rPr lang="en-US" sz="1600" b="0" u="none" strike="noStrike">
                <a:solidFill>
                  <a:srgbClr val="1E293B"/>
                </a:solidFill>
                <a:effectLst/>
                <a:uFillTx/>
                <a:latin typeface="QuattrocentoSans"/>
                <a:ea typeface="QuattrocentoSans"/>
              </a:rPr>
              <a:t>70%</a:t>
            </a:r>
            <a:r>
              <a:rPr lang="en-US" sz="1600" b="0" u="none" strike="noStrike">
                <a:solidFill>
                  <a:srgbClr val="1E293B"/>
                </a:solidFill>
                <a:effectLst/>
                <a:uFillTx/>
                <a:latin typeface="QuattrocentoSans"/>
                <a:ea typeface="QuattrocentoSans"/>
              </a:rPr>
              <a:t>，单站</a:t>
            </a:r>
            <a:r>
              <a:rPr lang="en-US" sz="1600" b="0" u="none" strike="noStrike">
                <a:solidFill>
                  <a:srgbClr val="1E293B"/>
                </a:solidFill>
                <a:effectLst/>
                <a:uFillTx/>
                <a:latin typeface="QuattrocentoSans"/>
                <a:ea typeface="QuattrocentoSans"/>
              </a:rPr>
              <a:t>100MW+</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p:txBody>
      </p:sp>
      <p:graphicFrame>
        <p:nvGraphicFramePr>
          <p:cNvPr id="138" name="Chart 0"/>
          <p:cNvGraphicFramePr/>
          <p:nvPr/>
        </p:nvGraphicFramePr>
        <p:xfrm>
          <a:off x="8204040" y="1282680"/>
          <a:ext cx="7340760" cy="4038480"/>
        </p:xfrm>
        <a:graphic>
          <a:graphicData uri="http://schemas.openxmlformats.org/presentationml/2006/ole">
            <p:oleObj progId="Excel.Sheet.12" r:id="rId1" spid="">
              <p:embed/>
              <p:pic>
                <p:nvPicPr>
                  <p:cNvPr id="139" name="Chart 0"/>
                  <p:cNvPicPr/>
                  <p:nvPr/>
                </p:nvPicPr>
                <p:blipFill>
                  <a:blip r:embed="rId2"/>
                  <a:stretch/>
                </p:blipFill>
                <p:spPr>
                  <a:xfrm>
                    <a:off x="8204040" y="1282680"/>
                    <a:ext cx="7340760" cy="4038480"/>
                  </a:xfrm>
                  <a:prstGeom prst="rect">
                    <a:avLst/>
                  </a:prstGeom>
                  <a:noFill/>
                  <a:ln w="0">
                    <a:noFill/>
                  </a:ln>
                </p:spPr>
              </p:pic>
            </p:oleObj>
          </a:graphicData>
        </a:graphic>
      </p:graphicFrame>
      <p:graphicFrame>
        <p:nvGraphicFramePr>
          <p:cNvPr id="140" name=""/>
          <p:cNvGraphicFramePr/>
          <p:nvPr/>
        </p:nvGraphicFramePr>
        <p:xfrm>
          <a:off x="762120" y="5587920"/>
          <a:ext cx="14731920" cy="2540160"/>
        </p:xfrm>
        <a:graphic>
          <a:graphicData uri="http://schemas.openxmlformats.org/drawingml/2006/table">
            <a:tbl>
              <a:tblPr/>
              <a:tblGrid>
                <a:gridCol w="2357280"/>
                <a:gridCol w="2062080"/>
                <a:gridCol w="2062440"/>
                <a:gridCol w="2062080"/>
                <a:gridCol w="2063520"/>
                <a:gridCol w="2062440"/>
                <a:gridCol w="2062080"/>
              </a:tblGrid>
              <a:tr h="4572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电解槽技术</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系统效率</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寿命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成本</a:t>
                      </a:r>
                      <a:r>
                        <a:rPr lang="en-US" sz="1100" b="1" u="none" strike="noStrike">
                          <a:solidFill>
                            <a:srgbClr val="FFFFFF"/>
                          </a:solidFill>
                          <a:effectLst/>
                          <a:uFillTx/>
                          <a:latin typeface="QuattrocentoSans"/>
                          <a:ea typeface="QuattrocentoSans"/>
                        </a:rPr>
                        <a:t>(USD/kW)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响应速度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适用场景</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泰坦选型</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r>
              <a:tr h="5209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碱性</a:t>
                      </a:r>
                      <a:r>
                        <a:rPr lang="en-US" sz="1100" b="0" u="none" strike="noStrike">
                          <a:solidFill>
                            <a:srgbClr val="1E293B"/>
                          </a:solidFill>
                          <a:effectLst/>
                          <a:uFillTx/>
                          <a:latin typeface="QuattrocentoSans"/>
                          <a:ea typeface="QuattrocentoSans"/>
                        </a:rPr>
                        <a:t>(ALK)</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60,000h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$450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分钟级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基荷制氢</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主力</a:t>
                      </a:r>
                      <a:r>
                        <a:rPr lang="en-US" sz="1100" b="0" u="none" strike="noStrike">
                          <a:solidFill>
                            <a:srgbClr val="1E293B"/>
                          </a:solidFill>
                          <a:effectLst/>
                          <a:uFillTx/>
                          <a:latin typeface="QuattrocentoSans"/>
                          <a:ea typeface="QuattrocentoSans"/>
                        </a:rPr>
                        <a:t>(70%)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205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质子膜</a:t>
                      </a:r>
                      <a:r>
                        <a:rPr lang="en-US" sz="1100" b="0" u="none" strike="noStrike">
                          <a:solidFill>
                            <a:srgbClr val="1E293B"/>
                          </a:solidFill>
                          <a:effectLst/>
                          <a:uFillTx/>
                          <a:latin typeface="QuattrocentoSans"/>
                          <a:ea typeface="QuattrocentoSans"/>
                        </a:rPr>
                        <a:t>(PEM)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30,000h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$850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秒级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波动电源</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辅助</a:t>
                      </a:r>
                      <a:r>
                        <a:rPr lang="en-US" sz="1100" b="0" u="none" strike="noStrike">
                          <a:solidFill>
                            <a:srgbClr val="1E293B"/>
                          </a:solidFill>
                          <a:effectLst/>
                          <a:uFillTx/>
                          <a:latin typeface="QuattrocentoSans"/>
                          <a:ea typeface="QuattrocentoSans"/>
                        </a:rPr>
                        <a:t>(30%)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205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固体氧化物</a:t>
                      </a:r>
                      <a:r>
                        <a:rPr lang="en-US" sz="1100" b="0" u="none" strike="noStrike">
                          <a:solidFill>
                            <a:srgbClr val="1E293B"/>
                          </a:solidFill>
                          <a:effectLst/>
                          <a:uFillTx/>
                          <a:latin typeface="QuattrocentoSans"/>
                          <a:ea typeface="QuattrocentoSans"/>
                        </a:rPr>
                        <a:t>(SOEC)</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20,000h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$2,800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分钟级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高温热源</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试点</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209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阴离子交换</a:t>
                      </a:r>
                      <a:r>
                        <a:rPr lang="en-US" sz="1100" b="0" u="none" strike="noStrike">
                          <a:solidFill>
                            <a:srgbClr val="1E293B"/>
                          </a:solidFill>
                          <a:effectLst/>
                          <a:uFillTx/>
                          <a:latin typeface="QuattrocentoSans"/>
                          <a:ea typeface="QuattrocentoSans"/>
                        </a:rPr>
                        <a:t>(AEM)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40,000h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秒级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分布式</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研发中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bl>
          </a:graphicData>
        </a:graphic>
      </p:graphicFrame>
      <p:sp>
        <p:nvSpPr>
          <p:cNvPr id="141" name="Text 3"/>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IEA Global Hydrogen Review 2025, Hydrogen Council Technology Roadmap, Titan Hydrogen Strategy Team · Slide 11</a:t>
            </a:r>
            <a:endParaRPr lang="en-US" sz="1000" b="0" u="none" strike="noStrike">
              <a:solidFill>
                <a:srgbClr val="000000"/>
              </a:solidFill>
              <a:effectLst/>
              <a:uFillTx/>
              <a:latin typeface="Calibri"/>
            </a:endParaRPr>
          </a:p>
        </p:txBody>
      </p:sp>
    </p:spTree>
  </p:cSld>
  <p:transition>
    <p:fade/>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142" name="Text 0"/>
          <p:cNvSpPr/>
          <p:nvPr/>
        </p:nvSpPr>
        <p:spPr>
          <a:xfrm>
            <a:off x="762120" y="507960"/>
            <a:ext cx="126997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智能电网（虚拟电厂）调度效率分析</a:t>
            </a:r>
            <a:endParaRPr lang="en-US" sz="2800" b="0" u="none" strike="noStrike">
              <a:solidFill>
                <a:srgbClr val="000000"/>
              </a:solidFill>
              <a:effectLst/>
              <a:uFillTx/>
              <a:latin typeface="Calibri"/>
            </a:endParaRPr>
          </a:p>
        </p:txBody>
      </p:sp>
      <p:sp>
        <p:nvSpPr>
          <p:cNvPr id="143"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44" name="Text 2"/>
          <p:cNvSpPr/>
          <p:nvPr/>
        </p:nvSpPr>
        <p:spPr>
          <a:xfrm>
            <a:off x="762120" y="1333440"/>
            <a:ext cx="6858000" cy="279396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泰坦动力</a:t>
            </a:r>
            <a:r>
              <a:rPr lang="en-US" sz="1600" b="0" u="none" strike="noStrike">
                <a:solidFill>
                  <a:srgbClr val="1E293B"/>
                </a:solidFill>
                <a:effectLst/>
                <a:uFillTx/>
                <a:latin typeface="QuattrocentoSans"/>
                <a:ea typeface="QuattrocentoSans"/>
              </a:rPr>
              <a:t>VPP</a:t>
            </a:r>
            <a:r>
              <a:rPr lang="en-US" sz="1600" b="0" u="none" strike="noStrike">
                <a:solidFill>
                  <a:srgbClr val="1E293B"/>
                </a:solidFill>
                <a:effectLst/>
                <a:uFillTx/>
                <a:latin typeface="QuattrocentoSans"/>
                <a:ea typeface="QuattrocentoSans"/>
              </a:rPr>
              <a:t>系统利用分布式</a:t>
            </a:r>
            <a:r>
              <a:rPr lang="en-US" sz="1600" b="0" u="none" strike="noStrike">
                <a:solidFill>
                  <a:srgbClr val="1E293B"/>
                </a:solidFill>
                <a:effectLst/>
                <a:uFillTx/>
                <a:latin typeface="QuattrocentoSans"/>
                <a:ea typeface="QuattrocentoSans"/>
              </a:rPr>
              <a:t>AI</a:t>
            </a:r>
            <a:r>
              <a:rPr lang="en-US" sz="1600" b="0" u="none" strike="noStrike">
                <a:solidFill>
                  <a:srgbClr val="1E293B"/>
                </a:solidFill>
                <a:effectLst/>
                <a:uFillTx/>
                <a:latin typeface="QuattrocentoSans"/>
                <a:ea typeface="QuattrocentoSans"/>
              </a:rPr>
              <a:t>算力，预计在</a:t>
            </a:r>
            <a:r>
              <a:rPr lang="en-US" sz="1600" b="0" u="none" strike="noStrike">
                <a:solidFill>
                  <a:srgbClr val="1E293B"/>
                </a:solidFill>
                <a:effectLst/>
                <a:uFillTx/>
                <a:latin typeface="QuattrocentoSans"/>
                <a:ea typeface="QuattrocentoSans"/>
              </a:rPr>
              <a:t>2026</a:t>
            </a:r>
            <a:r>
              <a:rPr lang="en-US" sz="1600" b="0" u="none" strike="noStrike">
                <a:solidFill>
                  <a:srgbClr val="1E293B"/>
                </a:solidFill>
                <a:effectLst/>
                <a:uFillTx/>
                <a:latin typeface="QuattrocentoSans"/>
                <a:ea typeface="QuattrocentoSans"/>
              </a:rPr>
              <a:t>年实现</a:t>
            </a:r>
            <a:r>
              <a:rPr lang="en-US" sz="1600" b="1" u="none" strike="noStrike">
                <a:solidFill>
                  <a:srgbClr val="1E293B"/>
                </a:solidFill>
                <a:effectLst/>
                <a:uFillTx/>
                <a:latin typeface="QuattrocentoSans"/>
                <a:ea typeface="QuattrocentoSans"/>
              </a:rPr>
              <a:t>99.99%</a:t>
            </a:r>
            <a:r>
              <a:rPr lang="en-US" sz="1600" b="0" u="none" strike="noStrike">
                <a:solidFill>
                  <a:srgbClr val="1E293B"/>
                </a:solidFill>
                <a:effectLst/>
                <a:uFillTx/>
                <a:latin typeface="QuattrocentoSans"/>
                <a:ea typeface="QuattrocentoSans"/>
              </a:rPr>
              <a:t>的毫秒级负载响应。通过对接入点的实时监测，削峰填谷能力提升了</a:t>
            </a:r>
            <a:r>
              <a:rPr lang="en-US" sz="1600" b="1" u="none" strike="noStrike">
                <a:solidFill>
                  <a:srgbClr val="1E293B"/>
                </a:solidFill>
                <a:effectLst/>
                <a:uFillTx/>
                <a:latin typeface="QuattrocentoSans"/>
                <a:ea typeface="QuattrocentoSans"/>
              </a:rPr>
              <a:t>28%</a:t>
            </a:r>
            <a:r>
              <a:rPr lang="en-US" sz="1600" b="0" u="none" strike="noStrike">
                <a:solidFill>
                  <a:srgbClr val="1E293B"/>
                </a:solidFill>
                <a:effectLst/>
                <a:uFillTx/>
                <a:latin typeface="QuattrocentoSans"/>
                <a:ea typeface="QuattrocentoSans"/>
              </a:rPr>
              <a:t>，年度调峰收益增加</a:t>
            </a:r>
            <a:r>
              <a:rPr lang="en-US" sz="1600" b="1" u="none" strike="noStrike">
                <a:solidFill>
                  <a:srgbClr val="1E293B"/>
                </a:solidFill>
                <a:effectLst/>
                <a:uFillTx/>
                <a:latin typeface="QuattrocentoSans"/>
                <a:ea typeface="QuattrocentoSans"/>
              </a:rPr>
              <a:t>1.24</a:t>
            </a:r>
            <a:r>
              <a:rPr lang="en-US" sz="1600" b="1" u="none" strike="noStrike">
                <a:solidFill>
                  <a:srgbClr val="1E293B"/>
                </a:solidFill>
                <a:effectLst/>
                <a:uFillTx/>
                <a:latin typeface="QuattrocentoSans"/>
                <a:ea typeface="QuattrocentoSans"/>
              </a:rPr>
              <a:t>亿美元</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a:p>
            <a:pPr>
              <a:lnSpc>
                <a:spcPct val="15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VPP</a:t>
            </a:r>
            <a:r>
              <a:rPr lang="en-US" sz="1600" b="0" u="none" strike="noStrike">
                <a:solidFill>
                  <a:srgbClr val="1E293B"/>
                </a:solidFill>
                <a:effectLst/>
                <a:uFillTx/>
                <a:latin typeface="QuattrocentoSans"/>
                <a:ea typeface="QuattrocentoSans"/>
              </a:rPr>
              <a:t>聚合资源包括：分布式光伏（</a:t>
            </a:r>
            <a:r>
              <a:rPr lang="en-US" sz="1600" b="0" u="none" strike="noStrike">
                <a:solidFill>
                  <a:srgbClr val="1E293B"/>
                </a:solidFill>
                <a:effectLst/>
                <a:uFillTx/>
                <a:latin typeface="QuattrocentoSans"/>
                <a:ea typeface="QuattrocentoSans"/>
              </a:rPr>
              <a:t>3.2GW</a:t>
            </a:r>
            <a:r>
              <a:rPr lang="en-US" sz="1600" b="0" u="none" strike="noStrike">
                <a:solidFill>
                  <a:srgbClr val="1E293B"/>
                </a:solidFill>
                <a:effectLst/>
                <a:uFillTx/>
                <a:latin typeface="QuattrocentoSans"/>
                <a:ea typeface="QuattrocentoSans"/>
              </a:rPr>
              <a:t>）、储能系统（</a:t>
            </a:r>
            <a:r>
              <a:rPr lang="en-US" sz="1600" b="0" u="none" strike="noStrike">
                <a:solidFill>
                  <a:srgbClr val="1E293B"/>
                </a:solidFill>
                <a:effectLst/>
                <a:uFillTx/>
                <a:latin typeface="QuattrocentoSans"/>
                <a:ea typeface="QuattrocentoSans"/>
              </a:rPr>
              <a:t>1.8GW/5.4GWh</a:t>
            </a:r>
            <a:r>
              <a:rPr lang="en-US" sz="1600" b="0" u="none" strike="noStrike">
                <a:solidFill>
                  <a:srgbClr val="1E293B"/>
                </a:solidFill>
                <a:effectLst/>
                <a:uFillTx/>
                <a:latin typeface="QuattrocentoSans"/>
                <a:ea typeface="QuattrocentoSans"/>
              </a:rPr>
              <a:t>）、可控负荷（工业需求响应</a:t>
            </a:r>
            <a:r>
              <a:rPr lang="en-US" sz="1600" b="0" u="none" strike="noStrike">
                <a:solidFill>
                  <a:srgbClr val="1E293B"/>
                </a:solidFill>
                <a:effectLst/>
                <a:uFillTx/>
                <a:latin typeface="QuattrocentoSans"/>
                <a:ea typeface="QuattrocentoSans"/>
              </a:rPr>
              <a:t>2.1GW</a:t>
            </a:r>
            <a:r>
              <a:rPr lang="en-US" sz="1600" b="0" u="none" strike="noStrike">
                <a:solidFill>
                  <a:srgbClr val="1E293B"/>
                </a:solidFill>
                <a:effectLst/>
                <a:uFillTx/>
                <a:latin typeface="QuattrocentoSans"/>
                <a:ea typeface="QuattrocentoSans"/>
              </a:rPr>
              <a:t>）、电动汽车</a:t>
            </a:r>
            <a:r>
              <a:rPr lang="en-US" sz="1600" b="0" u="none" strike="noStrike">
                <a:solidFill>
                  <a:srgbClr val="1E293B"/>
                </a:solidFill>
                <a:effectLst/>
                <a:uFillTx/>
                <a:latin typeface="QuattrocentoSans"/>
                <a:ea typeface="QuattrocentoSans"/>
              </a:rPr>
              <a:t>V2G</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0.6GW</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a:p>
            <a:pPr>
              <a:lnSpc>
                <a:spcPct val="15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AI</a:t>
            </a:r>
            <a:r>
              <a:rPr lang="en-US" sz="1600" b="0" u="none" strike="noStrike">
                <a:solidFill>
                  <a:srgbClr val="1E293B"/>
                </a:solidFill>
                <a:effectLst/>
                <a:uFillTx/>
                <a:latin typeface="QuattrocentoSans"/>
                <a:ea typeface="QuattrocentoSans"/>
              </a:rPr>
              <a:t>调度核心：</a:t>
            </a:r>
            <a:r>
              <a:rPr lang="en-US" sz="1600" b="0" u="none" strike="noStrike">
                <a:solidFill>
                  <a:srgbClr val="1E293B"/>
                </a:solidFill>
                <a:effectLst/>
                <a:uFillTx/>
                <a:latin typeface="QuattrocentoSans"/>
                <a:ea typeface="QuattrocentoSans"/>
              </a:rPr>
              <a:t>Titan-Neural v4</a:t>
            </a:r>
            <a:r>
              <a:rPr lang="en-US" sz="1600" b="0" u="none" strike="noStrike">
                <a:solidFill>
                  <a:srgbClr val="1E293B"/>
                </a:solidFill>
                <a:effectLst/>
                <a:uFillTx/>
                <a:latin typeface="QuattrocentoSans"/>
                <a:ea typeface="QuattrocentoSans"/>
              </a:rPr>
              <a:t>算法基于深度强化学习（</a:t>
            </a:r>
            <a:r>
              <a:rPr lang="en-US" sz="1600" b="0" u="none" strike="noStrike">
                <a:solidFill>
                  <a:srgbClr val="1E293B"/>
                </a:solidFill>
                <a:effectLst/>
                <a:uFillTx/>
                <a:latin typeface="QuattrocentoSans"/>
                <a:ea typeface="QuattrocentoSans"/>
              </a:rPr>
              <a:t>DRL</a:t>
            </a:r>
            <a:r>
              <a:rPr lang="en-US" sz="1600" b="0" u="none" strike="noStrike">
                <a:solidFill>
                  <a:srgbClr val="1E293B"/>
                </a:solidFill>
                <a:effectLst/>
                <a:uFillTx/>
                <a:latin typeface="QuattrocentoSans"/>
                <a:ea typeface="QuattrocentoSans"/>
              </a:rPr>
              <a:t>），每</a:t>
            </a:r>
            <a:r>
              <a:rPr lang="en-US" sz="1600" b="0" u="none" strike="noStrike">
                <a:solidFill>
                  <a:srgbClr val="1E293B"/>
                </a:solidFill>
                <a:effectLst/>
                <a:uFillTx/>
                <a:latin typeface="QuattrocentoSans"/>
                <a:ea typeface="QuattrocentoSans"/>
              </a:rPr>
              <a:t>15</a:t>
            </a:r>
            <a:r>
              <a:rPr lang="en-US" sz="1600" b="0" u="none" strike="noStrike">
                <a:solidFill>
                  <a:srgbClr val="1E293B"/>
                </a:solidFill>
                <a:effectLst/>
                <a:uFillTx/>
                <a:latin typeface="QuattrocentoSans"/>
                <a:ea typeface="QuattrocentoSans"/>
              </a:rPr>
              <a:t>秒完成一次全网状态评估与调度指令生成，预测准确率</a:t>
            </a:r>
            <a:r>
              <a:rPr lang="en-US" sz="1600" b="1" u="none" strike="noStrike">
                <a:solidFill>
                  <a:srgbClr val="1E293B"/>
                </a:solidFill>
                <a:effectLst/>
                <a:uFillTx/>
                <a:latin typeface="QuattrocentoSans"/>
                <a:ea typeface="QuattrocentoSans"/>
              </a:rPr>
              <a:t>96.7%</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p:txBody>
      </p:sp>
      <p:graphicFrame>
        <p:nvGraphicFramePr>
          <p:cNvPr id="145" name="Chart 0"/>
          <p:cNvGraphicFramePr/>
          <p:nvPr/>
        </p:nvGraphicFramePr>
        <p:xfrm>
          <a:off x="7950240" y="1282680"/>
          <a:ext cx="7594560" cy="2895480"/>
        </p:xfrm>
        <a:graphic>
          <a:graphicData uri="http://schemas.openxmlformats.org/presentationml/2006/ole">
            <p:oleObj progId="Excel.Sheet.12" r:id="rId1" spid="">
              <p:embed/>
              <p:pic>
                <p:nvPicPr>
                  <p:cNvPr id="146" name="Chart 0"/>
                  <p:cNvPicPr/>
                  <p:nvPr/>
                </p:nvPicPr>
                <p:blipFill>
                  <a:blip r:embed="rId2"/>
                  <a:stretch/>
                </p:blipFill>
                <p:spPr>
                  <a:xfrm>
                    <a:off x="7950240" y="1282680"/>
                    <a:ext cx="7594560" cy="2895480"/>
                  </a:xfrm>
                  <a:prstGeom prst="rect">
                    <a:avLst/>
                  </a:prstGeom>
                  <a:noFill/>
                  <a:ln w="0">
                    <a:noFill/>
                  </a:ln>
                </p:spPr>
              </p:pic>
            </p:oleObj>
          </a:graphicData>
        </a:graphic>
      </p:graphicFrame>
      <p:graphicFrame>
        <p:nvGraphicFramePr>
          <p:cNvPr id="147" name=""/>
          <p:cNvGraphicFramePr/>
          <p:nvPr/>
        </p:nvGraphicFramePr>
        <p:xfrm>
          <a:off x="762120" y="4381560"/>
          <a:ext cx="14731920" cy="3809880"/>
        </p:xfrm>
        <a:graphic>
          <a:graphicData uri="http://schemas.openxmlformats.org/drawingml/2006/table">
            <a:tbl>
              <a:tblPr/>
              <a:tblGrid>
                <a:gridCol w="1325520"/>
                <a:gridCol w="1179360"/>
                <a:gridCol w="1325520"/>
                <a:gridCol w="1325520"/>
                <a:gridCol w="1473480"/>
                <a:gridCol w="1620720"/>
                <a:gridCol w="1177920"/>
                <a:gridCol w="1473120"/>
                <a:gridCol w="1473120"/>
                <a:gridCol w="2357640"/>
              </a:tblGrid>
              <a:tr h="293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节点</a:t>
                      </a:r>
                      <a:r>
                        <a:rPr lang="en-US" sz="1100" b="1" u="none" strike="noStrike">
                          <a:solidFill>
                            <a:srgbClr val="FFFFFF"/>
                          </a:solidFill>
                          <a:effectLst/>
                          <a:uFillTx/>
                          <a:latin typeface="QuattrocentoSans"/>
                          <a:ea typeface="QuattrocentoSans"/>
                        </a:rPr>
                        <a:t>ID</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区域</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最大负荷</a:t>
                      </a:r>
                      <a:r>
                        <a:rPr lang="en-US" sz="1100" b="1" u="none" strike="noStrike">
                          <a:solidFill>
                            <a:srgbClr val="FFFFFF"/>
                          </a:solidFill>
                          <a:effectLst/>
                          <a:uFillTx/>
                          <a:latin typeface="QuattrocentoSans"/>
                          <a:ea typeface="QuattrocentoSans"/>
                        </a:rPr>
                        <a:t>(MW)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响应时间</a:t>
                      </a:r>
                      <a:r>
                        <a:rPr lang="en-US" sz="1100" b="1" u="none" strike="noStrike">
                          <a:solidFill>
                            <a:srgbClr val="FFFFFF"/>
                          </a:solidFill>
                          <a:effectLst/>
                          <a:uFillTx/>
                          <a:latin typeface="QuattrocentoSans"/>
                          <a:ea typeface="QuattrocentoSans"/>
                        </a:rPr>
                        <a:t>(ms)</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AI</a:t>
                      </a:r>
                      <a:r>
                        <a:rPr lang="en-US" sz="1100" b="1" u="none" strike="noStrike">
                          <a:solidFill>
                            <a:srgbClr val="FFFFFF"/>
                          </a:solidFill>
                          <a:effectLst/>
                          <a:uFillTx/>
                          <a:latin typeface="QuattrocentoSans"/>
                          <a:ea typeface="QuattrocentoSans"/>
                        </a:rPr>
                        <a:t>算法版本</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预计收益</a:t>
                      </a:r>
                      <a:r>
                        <a:rPr lang="en-US" sz="1100" b="1" u="none" strike="noStrike">
                          <a:solidFill>
                            <a:srgbClr val="FFFFFF"/>
                          </a:solidFill>
                          <a:effectLst/>
                          <a:uFillTx/>
                          <a:latin typeface="QuattrocentoSans"/>
                          <a:ea typeface="QuattrocentoSans"/>
                        </a:rPr>
                        <a:t>(USD/h)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冗余度</a:t>
                      </a:r>
                      <a:r>
                        <a:rPr lang="en-US" sz="1100" b="1" u="none" strike="noStrike">
                          <a:solidFill>
                            <a:srgbClr val="FFFFFF"/>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接入资源类型</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调度协议</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日前预测准确率</a:t>
                      </a:r>
                      <a:r>
                        <a:rPr lang="en-US" sz="1100" b="1" u="none" strike="noStrike">
                          <a:solidFill>
                            <a:srgbClr val="FFFFFF"/>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r>
              <a:tr h="2919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VPP-001</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华东区</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450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Titan-Neural v4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12,500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15.5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光伏</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储能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国家电网</a:t>
                      </a:r>
                      <a:r>
                        <a:rPr lang="en-US" sz="1100" b="0" u="none" strike="noStrike">
                          <a:solidFill>
                            <a:srgbClr val="1E293B"/>
                          </a:solidFill>
                          <a:effectLst/>
                          <a:uFillTx/>
                          <a:latin typeface="QuattrocentoSans"/>
                          <a:ea typeface="QuattrocentoSans"/>
                        </a:rPr>
                        <a:t>AGC</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97.2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293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VPP-002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华南区</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380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Titan-Neural v4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10,800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光伏</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负荷</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南方电网</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96.5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2919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VPP-003</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华北区</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Titan-Neural v4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14,200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风电</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储能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国家电网</a:t>
                      </a:r>
                      <a:r>
                        <a:rPr lang="en-US" sz="1100" b="0" u="none" strike="noStrike">
                          <a:solidFill>
                            <a:srgbClr val="1E293B"/>
                          </a:solidFill>
                          <a:effectLst/>
                          <a:uFillTx/>
                          <a:latin typeface="QuattrocentoSans"/>
                          <a:ea typeface="QuattrocentoSans"/>
                        </a:rPr>
                        <a:t>AGC</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95.8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293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VPP-004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PJM</a:t>
                      </a:r>
                      <a:r>
                        <a:rPr lang="en-US" sz="1100" b="0" u="none" strike="noStrike">
                          <a:solidFill>
                            <a:srgbClr val="1E293B"/>
                          </a:solidFill>
                          <a:effectLst/>
                          <a:uFillTx/>
                          <a:latin typeface="QuattrocentoSans"/>
                          <a:ea typeface="QuattrocentoSans"/>
                        </a:rPr>
                        <a:t>东区</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680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Titan-Neural v4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18,600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22.4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储能</a:t>
                      </a:r>
                      <a:r>
                        <a:rPr lang="en-US" sz="1100" b="0" u="none" strike="noStrike">
                          <a:solidFill>
                            <a:srgbClr val="1E293B"/>
                          </a:solidFill>
                          <a:effectLst/>
                          <a:uFillTx/>
                          <a:latin typeface="QuattrocentoSans"/>
                          <a:ea typeface="QuattrocentoSans"/>
                        </a:rPr>
                        <a:t>+V2G</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PJM RegD</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94.3</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293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VPP-005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德州</a:t>
                      </a:r>
                      <a:r>
                        <a:rPr lang="en-US" sz="1100" b="0" u="none" strike="noStrike">
                          <a:solidFill>
                            <a:srgbClr val="1E293B"/>
                          </a:solidFill>
                          <a:effectLst/>
                          <a:uFillTx/>
                          <a:latin typeface="QuattrocentoSans"/>
                          <a:ea typeface="QuattrocentoSans"/>
                        </a:rPr>
                        <a:t>ERCOT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750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Titan-Neural v4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22,400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25.6</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光伏</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储能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ERCOT ECRS</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93.7</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2919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VPP-006</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德国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Titan-Neural v3.5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9,800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19.3</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风电</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负荷</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ENTSO-E</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92.1</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293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VPP-007</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英国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350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Titan-Neural v3.5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8,500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17.8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海上风电</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National Grid</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91.5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293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VPP-008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北欧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280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Titan-Neural v3.5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6,200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14.2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水电</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储能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Nord Pool</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90.8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2919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VPP-009</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澳洲</a:t>
                      </a:r>
                      <a:r>
                        <a:rPr lang="en-US" sz="1100" b="0" u="none" strike="noStrike">
                          <a:solidFill>
                            <a:srgbClr val="1E293B"/>
                          </a:solidFill>
                          <a:effectLst/>
                          <a:uFillTx/>
                          <a:latin typeface="QuattrocentoSans"/>
                          <a:ea typeface="QuattrocentoSans"/>
                        </a:rPr>
                        <a:t>NEM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16</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Titan-Neural v4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7,800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21.5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光伏</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储能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AEMO FCAS</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94.6</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293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VPP-010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日本</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Titan-Neural v3.5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5,400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13.7</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储能</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负荷</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OCCTO</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89.2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2919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VPP-011</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中东</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Titan-Neural v4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4,600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28.3</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光伏</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制氢</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Saudi NDC</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88.5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293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VPP-012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印度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Titan-Neural v3.5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3,200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16.9</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光伏</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负荷</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POSOCO</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87.3</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bl>
          </a:graphicData>
        </a:graphic>
      </p:graphicFrame>
      <p:sp>
        <p:nvSpPr>
          <p:cNvPr id="148" name="Text 3"/>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Titan VPP Operations Center, Grid Integration Lab Report Q1 2026, IEEE Smart Grid Transactions · Slide 12</a:t>
            </a:r>
            <a:endParaRPr lang="en-US" sz="1000" b="0" u="none" strike="noStrike">
              <a:solidFill>
                <a:srgbClr val="000000"/>
              </a:solidFill>
              <a:effectLst/>
              <a:uFillTx/>
              <a:latin typeface="Calibri"/>
            </a:endParaRPr>
          </a:p>
        </p:txBody>
      </p:sp>
    </p:spTree>
  </p:cSld>
  <p:transition>
    <p:fade/>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149" name="Text 0"/>
          <p:cNvSpPr/>
          <p:nvPr/>
        </p:nvSpPr>
        <p:spPr>
          <a:xfrm>
            <a:off x="762120" y="507960"/>
            <a:ext cx="126997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电网调度协议与跨区域电力交易架构</a:t>
            </a:r>
            <a:endParaRPr lang="en-US" sz="2800" b="0" u="none" strike="noStrike">
              <a:solidFill>
                <a:srgbClr val="000000"/>
              </a:solidFill>
              <a:effectLst/>
              <a:uFillTx/>
              <a:latin typeface="Calibri"/>
            </a:endParaRPr>
          </a:p>
        </p:txBody>
      </p:sp>
      <p:sp>
        <p:nvSpPr>
          <p:cNvPr id="150"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51" name="Text 2"/>
          <p:cNvSpPr/>
          <p:nvPr/>
        </p:nvSpPr>
        <p:spPr>
          <a:xfrm>
            <a:off x="762120" y="1333440"/>
            <a:ext cx="7111800" cy="355608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泰坦动力在全球运营</a:t>
            </a:r>
            <a:r>
              <a:rPr lang="en-US" sz="1600" b="1" u="none" strike="noStrike">
                <a:solidFill>
                  <a:srgbClr val="1E293B"/>
                </a:solidFill>
                <a:effectLst/>
                <a:uFillTx/>
                <a:latin typeface="QuattrocentoSans"/>
                <a:ea typeface="QuattrocentoSans"/>
              </a:rPr>
              <a:t>5</a:t>
            </a:r>
            <a:r>
              <a:rPr lang="en-US" sz="1600" b="1" u="none" strike="noStrike">
                <a:solidFill>
                  <a:srgbClr val="1E293B"/>
                </a:solidFill>
                <a:effectLst/>
                <a:uFillTx/>
                <a:latin typeface="QuattrocentoSans"/>
                <a:ea typeface="QuattrocentoSans"/>
              </a:rPr>
              <a:t>个独立电网调度区域</a:t>
            </a:r>
            <a:r>
              <a:rPr lang="en-US" sz="1600" b="0" u="none" strike="noStrike">
                <a:solidFill>
                  <a:srgbClr val="1E293B"/>
                </a:solidFill>
                <a:effectLst/>
                <a:uFillTx/>
                <a:latin typeface="QuattrocentoSans"/>
                <a:ea typeface="QuattrocentoSans"/>
              </a:rPr>
              <a:t>，需建立统一的跨区电力交易与调度架构。</a:t>
            </a:r>
            <a:endParaRPr lang="en-US" sz="1600" b="0" u="none" strike="noStrike">
              <a:solidFill>
                <a:srgbClr val="000000"/>
              </a:solidFill>
              <a:effectLst/>
              <a:uFillTx/>
              <a:latin typeface="Calibri"/>
            </a:endParaRPr>
          </a:p>
          <a:p>
            <a:pPr>
              <a:lnSpc>
                <a:spcPct val="15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核心协议栈：（</a:t>
            </a:r>
            <a:r>
              <a:rPr lang="en-US" sz="1600" b="0" u="none" strike="noStrike">
                <a:solidFill>
                  <a:srgbClr val="1E293B"/>
                </a:solidFill>
                <a:effectLst/>
                <a:uFillTx/>
                <a:latin typeface="QuattrocentoSans"/>
                <a:ea typeface="QuattrocentoSans"/>
              </a:rPr>
              <a:t>1</a:t>
            </a:r>
            <a:r>
              <a:rPr lang="en-US" sz="1600" b="0"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日前市场（</a:t>
            </a:r>
            <a:r>
              <a:rPr lang="en-US" sz="1600" b="1" u="none" strike="noStrike">
                <a:solidFill>
                  <a:srgbClr val="1E293B"/>
                </a:solidFill>
                <a:effectLst/>
                <a:uFillTx/>
                <a:latin typeface="QuattrocentoSans"/>
                <a:ea typeface="QuattrocentoSans"/>
              </a:rPr>
              <a:t>DAM</a:t>
            </a:r>
            <a:r>
              <a:rPr lang="en-US" sz="1600" b="1"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：基于</a:t>
            </a:r>
            <a:r>
              <a:rPr lang="en-US" sz="1600" b="0" u="none" strike="noStrike">
                <a:solidFill>
                  <a:srgbClr val="1E293B"/>
                </a:solidFill>
                <a:effectLst/>
                <a:uFillTx/>
                <a:latin typeface="QuattrocentoSans"/>
                <a:ea typeface="QuattrocentoSans"/>
              </a:rPr>
              <a:t>SCUC/SCED</a:t>
            </a:r>
            <a:r>
              <a:rPr lang="en-US" sz="1600" b="0" u="none" strike="noStrike">
                <a:solidFill>
                  <a:srgbClr val="1E293B"/>
                </a:solidFill>
                <a:effectLst/>
                <a:uFillTx/>
                <a:latin typeface="QuattrocentoSans"/>
                <a:ea typeface="QuattrocentoSans"/>
              </a:rPr>
              <a:t>的安全约束机组组合，日前报价准确率要求</a:t>
            </a:r>
            <a:r>
              <a:rPr lang="en-US" sz="1600" b="0" u="none" strike="noStrike">
                <a:solidFill>
                  <a:srgbClr val="1E293B"/>
                </a:solidFill>
                <a:effectLst/>
                <a:uFillTx/>
                <a:latin typeface="QuattrocentoSans"/>
                <a:ea typeface="QuattrocentoSans"/>
              </a:rPr>
              <a:t>&gt;92%</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2</a:t>
            </a:r>
            <a:r>
              <a:rPr lang="en-US" sz="1600" b="0"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实时市场（</a:t>
            </a:r>
            <a:r>
              <a:rPr lang="en-US" sz="1600" b="1" u="none" strike="noStrike">
                <a:solidFill>
                  <a:srgbClr val="1E293B"/>
                </a:solidFill>
                <a:effectLst/>
                <a:uFillTx/>
                <a:latin typeface="QuattrocentoSans"/>
                <a:ea typeface="QuattrocentoSans"/>
              </a:rPr>
              <a:t>RTM</a:t>
            </a:r>
            <a:r>
              <a:rPr lang="en-US" sz="1600" b="1"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5</a:t>
            </a:r>
            <a:r>
              <a:rPr lang="en-US" sz="1600" b="0" u="none" strike="noStrike">
                <a:solidFill>
                  <a:srgbClr val="1E293B"/>
                </a:solidFill>
                <a:effectLst/>
                <a:uFillTx/>
                <a:latin typeface="QuattrocentoSans"/>
                <a:ea typeface="QuattrocentoSans"/>
              </a:rPr>
              <a:t>分钟结算周期，</a:t>
            </a:r>
            <a:r>
              <a:rPr lang="en-US" sz="1600" b="0" u="none" strike="noStrike">
                <a:solidFill>
                  <a:srgbClr val="1E293B"/>
                </a:solidFill>
                <a:effectLst/>
                <a:uFillTx/>
                <a:latin typeface="QuattrocentoSans"/>
                <a:ea typeface="QuattrocentoSans"/>
              </a:rPr>
              <a:t>VPP</a:t>
            </a:r>
            <a:r>
              <a:rPr lang="en-US" sz="1600" b="0" u="none" strike="noStrike">
                <a:solidFill>
                  <a:srgbClr val="1E293B"/>
                </a:solidFill>
                <a:effectLst/>
                <a:uFillTx/>
                <a:latin typeface="QuattrocentoSans"/>
                <a:ea typeface="QuattrocentoSans"/>
              </a:rPr>
              <a:t>资源爬坡率要求</a:t>
            </a:r>
            <a:r>
              <a:rPr lang="en-US" sz="1600" b="0" u="none" strike="noStrike">
                <a:solidFill>
                  <a:srgbClr val="1E293B"/>
                </a:solidFill>
                <a:effectLst/>
                <a:uFillTx/>
                <a:latin typeface="QuattrocentoSans"/>
                <a:ea typeface="QuattrocentoSans"/>
              </a:rPr>
              <a:t>&gt;5MW/min</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3</a:t>
            </a:r>
            <a:r>
              <a:rPr lang="en-US" sz="1600" b="0"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辅助服务市场</a:t>
            </a:r>
            <a:r>
              <a:rPr lang="en-US" sz="1600" b="0" u="none" strike="noStrike">
                <a:solidFill>
                  <a:srgbClr val="1E293B"/>
                </a:solidFill>
                <a:effectLst/>
                <a:uFillTx/>
                <a:latin typeface="QuattrocentoSans"/>
                <a:ea typeface="QuattrocentoSans"/>
              </a:rPr>
              <a:t>：一次调频（</a:t>
            </a:r>
            <a:r>
              <a:rPr lang="en-US" sz="1600" b="0" u="none" strike="noStrike">
                <a:solidFill>
                  <a:srgbClr val="1E293B"/>
                </a:solidFill>
                <a:effectLst/>
                <a:uFillTx/>
                <a:latin typeface="QuattrocentoSans"/>
                <a:ea typeface="QuattrocentoSans"/>
              </a:rPr>
              <a:t>FCR</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&lt;2</a:t>
            </a:r>
            <a:r>
              <a:rPr lang="en-US" sz="1600" b="0" u="none" strike="noStrike">
                <a:solidFill>
                  <a:srgbClr val="1E293B"/>
                </a:solidFill>
                <a:effectLst/>
                <a:uFillTx/>
                <a:latin typeface="QuattrocentoSans"/>
                <a:ea typeface="QuattrocentoSans"/>
              </a:rPr>
              <a:t>秒）、二次调频（</a:t>
            </a:r>
            <a:r>
              <a:rPr lang="en-US" sz="1600" b="0" u="none" strike="noStrike">
                <a:solidFill>
                  <a:srgbClr val="1E293B"/>
                </a:solidFill>
                <a:effectLst/>
                <a:uFillTx/>
                <a:latin typeface="QuattrocentoSans"/>
                <a:ea typeface="QuattrocentoSans"/>
              </a:rPr>
              <a:t>aFRR</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&lt;5</a:t>
            </a:r>
            <a:r>
              <a:rPr lang="en-US" sz="1600" b="0" u="none" strike="noStrike">
                <a:solidFill>
                  <a:srgbClr val="1E293B"/>
                </a:solidFill>
                <a:effectLst/>
                <a:uFillTx/>
                <a:latin typeface="QuattrocentoSans"/>
                <a:ea typeface="QuattrocentoSans"/>
              </a:rPr>
              <a:t>分钟）、三次调频（</a:t>
            </a:r>
            <a:r>
              <a:rPr lang="en-US" sz="1600" b="0" u="none" strike="noStrike">
                <a:solidFill>
                  <a:srgbClr val="1E293B"/>
                </a:solidFill>
                <a:effectLst/>
                <a:uFillTx/>
                <a:latin typeface="QuattrocentoSans"/>
                <a:ea typeface="QuattrocentoSans"/>
              </a:rPr>
              <a:t>mFRR</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&lt;15</a:t>
            </a:r>
            <a:r>
              <a:rPr lang="en-US" sz="1600" b="0" u="none" strike="noStrike">
                <a:solidFill>
                  <a:srgbClr val="1E293B"/>
                </a:solidFill>
                <a:effectLst/>
                <a:uFillTx/>
                <a:latin typeface="QuattrocentoSans"/>
                <a:ea typeface="QuattrocentoSans"/>
              </a:rPr>
              <a:t>分钟）。</a:t>
            </a:r>
            <a:endParaRPr lang="en-US" sz="1600" b="0" u="none" strike="noStrike">
              <a:solidFill>
                <a:srgbClr val="000000"/>
              </a:solidFill>
              <a:effectLst/>
              <a:uFillTx/>
              <a:latin typeface="Calibri"/>
            </a:endParaRPr>
          </a:p>
          <a:p>
            <a:pPr>
              <a:lnSpc>
                <a:spcPct val="150000"/>
              </a:lnSpc>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跨区域交易：欧盟</a:t>
            </a:r>
            <a:r>
              <a:rPr lang="en-US" sz="1600" b="0" u="none" strike="noStrike">
                <a:solidFill>
                  <a:srgbClr val="1E293B"/>
                </a:solidFill>
                <a:effectLst/>
                <a:uFillTx/>
                <a:latin typeface="QuattrocentoSans"/>
                <a:ea typeface="QuattrocentoSans"/>
              </a:rPr>
              <a:t>CACM</a:t>
            </a:r>
            <a:r>
              <a:rPr lang="en-US" sz="1600" b="0" u="none" strike="noStrike">
                <a:solidFill>
                  <a:srgbClr val="1E293B"/>
                </a:solidFill>
                <a:effectLst/>
                <a:uFillTx/>
                <a:latin typeface="QuattrocentoSans"/>
                <a:ea typeface="QuattrocentoSans"/>
              </a:rPr>
              <a:t>机制、美国</a:t>
            </a:r>
            <a:r>
              <a:rPr lang="en-US" sz="1600" b="0" u="none" strike="noStrike">
                <a:solidFill>
                  <a:srgbClr val="1E293B"/>
                </a:solidFill>
                <a:effectLst/>
                <a:uFillTx/>
                <a:latin typeface="QuattrocentoSans"/>
                <a:ea typeface="QuattrocentoSans"/>
              </a:rPr>
              <a:t>PJM-MISO seams</a:t>
            </a:r>
            <a:r>
              <a:rPr lang="en-US" sz="1600" b="0" u="none" strike="noStrike">
                <a:solidFill>
                  <a:srgbClr val="1E293B"/>
                </a:solidFill>
                <a:effectLst/>
                <a:uFillTx/>
                <a:latin typeface="QuattrocentoSans"/>
                <a:ea typeface="QuattrocentoSans"/>
              </a:rPr>
              <a:t>交易、东南亚</a:t>
            </a:r>
            <a:r>
              <a:rPr lang="en-US" sz="1600" b="0" u="none" strike="noStrike">
                <a:solidFill>
                  <a:srgbClr val="1E293B"/>
                </a:solidFill>
                <a:effectLst/>
                <a:uFillTx/>
                <a:latin typeface="QuattrocentoSans"/>
                <a:ea typeface="QuattrocentoSans"/>
              </a:rPr>
              <a:t>APG</a:t>
            </a:r>
            <a:r>
              <a:rPr lang="en-US" sz="1600" b="0" u="none" strike="noStrike">
                <a:solidFill>
                  <a:srgbClr val="1E293B"/>
                </a:solidFill>
                <a:effectLst/>
                <a:uFillTx/>
                <a:latin typeface="QuattrocentoSans"/>
                <a:ea typeface="QuattrocentoSans"/>
              </a:rPr>
              <a:t>试点。</a:t>
            </a:r>
            <a:r>
              <a:rPr lang="en-US" sz="1600" b="0" u="none" strike="noStrike">
                <a:solidFill>
                  <a:srgbClr val="1E293B"/>
                </a:solidFill>
                <a:effectLst/>
                <a:uFillTx/>
                <a:latin typeface="QuattrocentoSans"/>
                <a:ea typeface="QuattrocentoSans"/>
              </a:rPr>
              <a:t>2026</a:t>
            </a:r>
            <a:r>
              <a:rPr lang="en-US" sz="1600" b="0" u="none" strike="noStrike">
                <a:solidFill>
                  <a:srgbClr val="1E293B"/>
                </a:solidFill>
                <a:effectLst/>
                <a:uFillTx/>
                <a:latin typeface="QuattrocentoSans"/>
                <a:ea typeface="QuattrocentoSans"/>
              </a:rPr>
              <a:t>年目标：跨区交易电量占比从</a:t>
            </a:r>
            <a:r>
              <a:rPr lang="en-US" sz="1600" b="0" u="none" strike="noStrike">
                <a:solidFill>
                  <a:srgbClr val="1E293B"/>
                </a:solidFill>
                <a:effectLst/>
                <a:uFillTx/>
                <a:latin typeface="QuattrocentoSans"/>
                <a:ea typeface="QuattrocentoSans"/>
              </a:rPr>
              <a:t>8%</a:t>
            </a:r>
            <a:r>
              <a:rPr lang="en-US" sz="1600" b="0" u="none" strike="noStrike">
                <a:solidFill>
                  <a:srgbClr val="1E293B"/>
                </a:solidFill>
                <a:effectLst/>
                <a:uFillTx/>
                <a:latin typeface="QuattrocentoSans"/>
                <a:ea typeface="QuattrocentoSans"/>
              </a:rPr>
              <a:t>提升至</a:t>
            </a:r>
            <a:r>
              <a:rPr lang="en-US" sz="1600" b="1" u="none" strike="noStrike">
                <a:solidFill>
                  <a:srgbClr val="1E293B"/>
                </a:solidFill>
                <a:effectLst/>
                <a:uFillTx/>
                <a:latin typeface="QuattrocentoSans"/>
                <a:ea typeface="QuattrocentoSans"/>
              </a:rPr>
              <a:t>22%</a:t>
            </a:r>
            <a:r>
              <a:rPr lang="en-US" sz="1600" b="0" u="none" strike="noStrike">
                <a:solidFill>
                  <a:srgbClr val="1E293B"/>
                </a:solidFill>
                <a:effectLst/>
                <a:uFillTx/>
                <a:latin typeface="QuattrocentoSans"/>
                <a:ea typeface="QuattrocentoSans"/>
              </a:rPr>
              <a:t>，套利收益增加</a:t>
            </a:r>
            <a:r>
              <a:rPr lang="en-US" sz="1600" b="1" u="none" strike="noStrike">
                <a:solidFill>
                  <a:srgbClr val="1E293B"/>
                </a:solidFill>
                <a:effectLst/>
                <a:uFillTx/>
                <a:latin typeface="QuattrocentoSans"/>
                <a:ea typeface="QuattrocentoSans"/>
              </a:rPr>
              <a:t>3.8</a:t>
            </a:r>
            <a:r>
              <a:rPr lang="en-US" sz="1600" b="1" u="none" strike="noStrike">
                <a:solidFill>
                  <a:srgbClr val="1E293B"/>
                </a:solidFill>
                <a:effectLst/>
                <a:uFillTx/>
                <a:latin typeface="QuattrocentoSans"/>
                <a:ea typeface="QuattrocentoSans"/>
              </a:rPr>
              <a:t>亿美元</a:t>
            </a:r>
            <a:r>
              <a:rPr lang="en-US" sz="1600" b="1"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年</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p:txBody>
      </p:sp>
      <p:graphicFrame>
        <p:nvGraphicFramePr>
          <p:cNvPr id="152" name="Chart 0"/>
          <p:cNvGraphicFramePr/>
          <p:nvPr/>
        </p:nvGraphicFramePr>
        <p:xfrm>
          <a:off x="8204040" y="1282680"/>
          <a:ext cx="7340760" cy="3657600"/>
        </p:xfrm>
        <a:graphic>
          <a:graphicData uri="http://schemas.openxmlformats.org/presentationml/2006/ole">
            <p:oleObj progId="Excel.Sheet.12" r:id="rId1" spid="">
              <p:embed/>
              <p:pic>
                <p:nvPicPr>
                  <p:cNvPr id="153" name="Chart 0"/>
                  <p:cNvPicPr/>
                  <p:nvPr/>
                </p:nvPicPr>
                <p:blipFill>
                  <a:blip r:embed="rId2"/>
                  <a:stretch/>
                </p:blipFill>
                <p:spPr>
                  <a:xfrm>
                    <a:off x="8204040" y="1282680"/>
                    <a:ext cx="7340760" cy="3657600"/>
                  </a:xfrm>
                  <a:prstGeom prst="rect">
                    <a:avLst/>
                  </a:prstGeom>
                  <a:noFill/>
                  <a:ln w="0">
                    <a:noFill/>
                  </a:ln>
                </p:spPr>
              </p:pic>
            </p:oleObj>
          </a:graphicData>
        </a:graphic>
      </p:graphicFrame>
      <p:graphicFrame>
        <p:nvGraphicFramePr>
          <p:cNvPr id="154" name=""/>
          <p:cNvGraphicFramePr/>
          <p:nvPr/>
        </p:nvGraphicFramePr>
        <p:xfrm>
          <a:off x="762120" y="5207040"/>
          <a:ext cx="14731920" cy="3048120"/>
        </p:xfrm>
        <a:graphic>
          <a:graphicData uri="http://schemas.openxmlformats.org/drawingml/2006/table">
            <a:tbl>
              <a:tblPr/>
              <a:tblGrid>
                <a:gridCol w="2062080"/>
                <a:gridCol w="2062080"/>
                <a:gridCol w="2063880"/>
                <a:gridCol w="2062080"/>
                <a:gridCol w="2062080"/>
                <a:gridCol w="2062080"/>
                <a:gridCol w="2357640"/>
              </a:tblGrid>
              <a:tr h="369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调度层级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时间尺度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结算周期</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爬坡率要求</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泰坦资源</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年收益</a:t>
                      </a:r>
                      <a:r>
                        <a:rPr lang="en-US" sz="1100" b="1" u="none" strike="noStrike">
                          <a:solidFill>
                            <a:srgbClr val="FFFFFF"/>
                          </a:solidFill>
                          <a:effectLst/>
                          <a:uFillTx/>
                          <a:latin typeface="QuattrocentoSans"/>
                          <a:ea typeface="QuattrocentoSans"/>
                        </a:rPr>
                        <a:t>(USD 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关键协议</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r>
              <a:tr h="4460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日前市场</a:t>
                      </a:r>
                      <a:r>
                        <a:rPr lang="en-US" sz="1100" b="0" u="none" strike="noStrike">
                          <a:solidFill>
                            <a:srgbClr val="1E293B"/>
                          </a:solidFill>
                          <a:effectLst/>
                          <a:uFillTx/>
                          <a:latin typeface="QuattrocentoSans"/>
                          <a:ea typeface="QuattrocentoSans"/>
                        </a:rPr>
                        <a:t>(DAM)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24-48h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小时</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N/A</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全部可调</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$142M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SCUC/SCED</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4464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实时市场</a:t>
                      </a:r>
                      <a:r>
                        <a:rPr lang="en-US" sz="1100" b="0" u="none" strike="noStrike">
                          <a:solidFill>
                            <a:srgbClr val="1E293B"/>
                          </a:solidFill>
                          <a:effectLst/>
                          <a:uFillTx/>
                          <a:latin typeface="QuattrocentoSans"/>
                          <a:ea typeface="QuattrocentoSans"/>
                        </a:rPr>
                        <a:t>(RTM)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5-15min</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a:t>
                      </a:r>
                      <a:r>
                        <a:rPr lang="en-US" sz="1100" b="0" u="none" strike="noStrike">
                          <a:solidFill>
                            <a:srgbClr val="1E293B"/>
                          </a:solidFill>
                          <a:effectLst/>
                          <a:uFillTx/>
                          <a:latin typeface="QuattrocentoSans"/>
                          <a:ea typeface="QuattrocentoSans"/>
                        </a:rPr>
                        <a:t>分钟</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&gt;5MW/min</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VPP+</a:t>
                      </a:r>
                      <a:r>
                        <a:rPr lang="en-US" sz="1100" b="0" u="none" strike="noStrike">
                          <a:solidFill>
                            <a:srgbClr val="1E293B"/>
                          </a:solidFill>
                          <a:effectLst/>
                          <a:uFillTx/>
                          <a:latin typeface="QuattrocentoSans"/>
                          <a:ea typeface="QuattrocentoSans"/>
                        </a:rPr>
                        <a:t>储能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$98M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LMP</a:t>
                      </a:r>
                      <a:r>
                        <a:rPr lang="en-US" sz="1100" b="0" u="none" strike="noStrike">
                          <a:solidFill>
                            <a:srgbClr val="1E293B"/>
                          </a:solidFill>
                          <a:effectLst/>
                          <a:uFillTx/>
                          <a:latin typeface="QuattrocentoSans"/>
                          <a:ea typeface="QuattrocentoSans"/>
                        </a:rPr>
                        <a:t>定价</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4460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一次调频</a:t>
                      </a:r>
                      <a:r>
                        <a:rPr lang="en-US" sz="1100" b="0" u="none" strike="noStrike">
                          <a:solidFill>
                            <a:srgbClr val="1E293B"/>
                          </a:solidFill>
                          <a:effectLst/>
                          <a:uFillTx/>
                          <a:latin typeface="QuattrocentoSans"/>
                          <a:ea typeface="QuattrocentoSans"/>
                        </a:rPr>
                        <a:t>(FCR)</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&lt;2</a:t>
                      </a:r>
                      <a:r>
                        <a:rPr lang="en-US" sz="1100" b="0" u="none" strike="noStrike">
                          <a:solidFill>
                            <a:srgbClr val="1E293B"/>
                          </a:solidFill>
                          <a:effectLst/>
                          <a:uFillTx/>
                          <a:latin typeface="QuattrocentoSans"/>
                          <a:ea typeface="QuattrocentoSans"/>
                        </a:rPr>
                        <a:t>秒</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秒级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&gt;50MW/s</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储能</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燃气</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$56M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ENTSO-E FCR</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4474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二次调频</a:t>
                      </a:r>
                      <a:r>
                        <a:rPr lang="en-US" sz="1100" b="0" u="none" strike="noStrike">
                          <a:solidFill>
                            <a:srgbClr val="1E293B"/>
                          </a:solidFill>
                          <a:effectLst/>
                          <a:uFillTx/>
                          <a:latin typeface="QuattrocentoSans"/>
                          <a:ea typeface="QuattrocentoSans"/>
                        </a:rPr>
                        <a:t>(aFRR)</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&lt;5</a:t>
                      </a:r>
                      <a:r>
                        <a:rPr lang="en-US" sz="1100" b="0" u="none" strike="noStrike">
                          <a:solidFill>
                            <a:srgbClr val="1E293B"/>
                          </a:solidFill>
                          <a:effectLst/>
                          <a:uFillTx/>
                          <a:latin typeface="QuattrocentoSans"/>
                          <a:ea typeface="QuattrocentoSans"/>
                        </a:rPr>
                        <a:t>分钟</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15</a:t>
                      </a:r>
                      <a:r>
                        <a:rPr lang="en-US" sz="1100" b="0" u="none" strike="noStrike">
                          <a:solidFill>
                            <a:srgbClr val="1E293B"/>
                          </a:solidFill>
                          <a:effectLst/>
                          <a:uFillTx/>
                          <a:latin typeface="QuattrocentoSans"/>
                          <a:ea typeface="QuattrocentoSans"/>
                        </a:rPr>
                        <a:t>分钟</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&gt;10MW/min</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VPP+</a:t>
                      </a:r>
                      <a:r>
                        <a:rPr lang="en-US" sz="1100" b="0" u="none" strike="noStrike">
                          <a:solidFill>
                            <a:srgbClr val="1E293B"/>
                          </a:solidFill>
                          <a:effectLst/>
                          <a:uFillTx/>
                          <a:latin typeface="QuattrocentoSans"/>
                          <a:ea typeface="QuattrocentoSans"/>
                        </a:rPr>
                        <a:t>水电</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$72M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PJM RegA</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4460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三次调频</a:t>
                      </a:r>
                      <a:r>
                        <a:rPr lang="en-US" sz="1100" b="0" u="none" strike="noStrike">
                          <a:solidFill>
                            <a:srgbClr val="1E293B"/>
                          </a:solidFill>
                          <a:effectLst/>
                          <a:uFillTx/>
                          <a:latin typeface="QuattrocentoSans"/>
                          <a:ea typeface="QuattrocentoSans"/>
                        </a:rPr>
                        <a:t>(mFRR)</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&lt;15</a:t>
                      </a:r>
                      <a:r>
                        <a:rPr lang="en-US" sz="1100" b="0" u="none" strike="noStrike">
                          <a:solidFill>
                            <a:srgbClr val="1E293B"/>
                          </a:solidFill>
                          <a:effectLst/>
                          <a:uFillTx/>
                          <a:latin typeface="QuattrocentoSans"/>
                          <a:ea typeface="QuattrocentoSans"/>
                        </a:rPr>
                        <a:t>分钟</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小时</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&gt;5MW/min</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燃气</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储能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$38M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MISO RTO</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4464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容量市场</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年度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月度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N/A</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全部装机</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$210M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ISO-NE FCA</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bl>
          </a:graphicData>
        </a:graphic>
      </p:graphicFrame>
      <p:sp>
        <p:nvSpPr>
          <p:cNvPr id="155" name="Text 3"/>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ENTSO-E Operation Handbook, PJM Market Rules 2026, ASEAN Power Grid Master Plan · Slide 13</a:t>
            </a:r>
            <a:endParaRPr lang="en-US" sz="1000" b="0" u="none" strike="noStrike">
              <a:solidFill>
                <a:srgbClr val="000000"/>
              </a:solidFill>
              <a:effectLst/>
              <a:uFillTx/>
              <a:latin typeface="Calibri"/>
            </a:endParaRPr>
          </a:p>
        </p:txBody>
      </p:sp>
    </p:spTree>
  </p:cSld>
  <p:transition>
    <p:fade/>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pic>
        <p:nvPicPr>
          <p:cNvPr id="156" name="Text 0"/>
          <p:cNvPicPr/>
          <p:nvPr/>
        </p:nvPicPr>
        <p:blipFill>
          <a:blip r:embed="rId1"/>
          <a:stretch/>
        </p:blipFill>
        <p:spPr>
          <a:xfrm>
            <a:off x="-774720" y="1574640"/>
            <a:ext cx="6616800" cy="5359680"/>
          </a:xfrm>
          <a:prstGeom prst="rect">
            <a:avLst/>
          </a:prstGeom>
          <a:noFill/>
          <a:ln w="0">
            <a:noFill/>
          </a:ln>
        </p:spPr>
      </p:pic>
      <p:sp>
        <p:nvSpPr>
          <p:cNvPr id="157" name="Shape 1"/>
          <p:cNvSpPr/>
          <p:nvPr/>
        </p:nvSpPr>
        <p:spPr>
          <a:xfrm>
            <a:off x="762120" y="5842080"/>
            <a:ext cx="1015920" cy="38160"/>
          </a:xfrm>
          <a:prstGeom prst="rect">
            <a:avLst/>
          </a:prstGeom>
          <a:solidFill>
            <a:srgbClr val="C8A265"/>
          </a:solidFill>
          <a:ln w="0">
            <a:noFill/>
          </a:ln>
        </p:spPr>
        <p:style>
          <a:lnRef idx="0"/>
          <a:fillRef idx="0"/>
          <a:effectRef idx="0"/>
          <a:fontRef idx="minor"/>
        </p:style>
        <p:txBody>
          <a:bodyPr lIns="90000" tIns="-8640" rIns="90000" bIns="-86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58" name="Text 2"/>
          <p:cNvSpPr/>
          <p:nvPr/>
        </p:nvSpPr>
        <p:spPr>
          <a:xfrm>
            <a:off x="762120" y="6095880"/>
            <a:ext cx="8889840" cy="7621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0" u="none" strike="noStrike">
                <a:solidFill>
                  <a:srgbClr val="FFFFFF"/>
                </a:solidFill>
                <a:effectLst/>
                <a:uFillTx/>
                <a:latin typeface="Liter"/>
                <a:ea typeface="Liter"/>
              </a:rPr>
              <a:t>全球供应链布局与风险</a:t>
            </a:r>
            <a:endParaRPr lang="en-US" sz="4000" b="0" u="none" strike="noStrike">
              <a:solidFill>
                <a:srgbClr val="000000"/>
              </a:solidFill>
              <a:effectLst/>
              <a:uFillTx/>
              <a:latin typeface="Calibri"/>
            </a:endParaRPr>
          </a:p>
        </p:txBody>
      </p:sp>
      <p:sp>
        <p:nvSpPr>
          <p:cNvPr id="159" name="Text 3"/>
          <p:cNvSpPr/>
          <p:nvPr/>
        </p:nvSpPr>
        <p:spPr>
          <a:xfrm>
            <a:off x="762120" y="6985080"/>
            <a:ext cx="10159920" cy="101592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D1D5DB"/>
                </a:solidFill>
                <a:effectLst/>
                <a:uFillTx/>
                <a:latin typeface="Quattrocento Sans"/>
              </a:rPr>
              <a:t>250</a:t>
            </a:r>
            <a:r>
              <a:rPr lang="en-US" sz="1800" b="0" u="none" strike="noStrike">
                <a:solidFill>
                  <a:srgbClr val="D1D5DB"/>
                </a:solidFill>
                <a:effectLst/>
                <a:uFillTx/>
                <a:latin typeface="Quattrocento Sans"/>
              </a:rPr>
              <a:t>亿美金投资的物理落地，取决于对锂、钴、稀土等核心矿产</a:t>
            </a:r>
            <a:endParaRPr lang="en-US" sz="18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D1D5DB"/>
                </a:solidFill>
                <a:effectLst/>
                <a:uFillTx/>
                <a:latin typeface="Quattrocento Sans"/>
              </a:rPr>
              <a:t>与六大生产基地的全球掌控力。</a:t>
            </a:r>
            <a:endParaRPr lang="en-US" sz="1800" b="0" u="none" strike="noStrike">
              <a:solidFill>
                <a:srgbClr val="000000"/>
              </a:solidFill>
              <a:effectLst/>
              <a:uFillTx/>
              <a:latin typeface="Calibri"/>
            </a:endParaRPr>
          </a:p>
        </p:txBody>
      </p:sp>
      <p:sp>
        <p:nvSpPr>
          <p:cNvPr id="160" name="Text 4"/>
          <p:cNvSpPr/>
          <p:nvPr/>
        </p:nvSpPr>
        <p:spPr>
          <a:xfrm>
            <a:off x="762120" y="8636040"/>
            <a:ext cx="507996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8B9AAB"/>
                </a:solidFill>
                <a:effectLst/>
                <a:uFillTx/>
                <a:latin typeface="QuattrocentoSans"/>
                <a:ea typeface="QuattrocentoSans"/>
              </a:rPr>
              <a:t>Chapter 03 · P14-P20</a:t>
            </a:r>
            <a:endParaRPr lang="en-US" sz="1000" b="0" u="none" strike="noStrike">
              <a:solidFill>
                <a:srgbClr val="000000"/>
              </a:solidFill>
              <a:effectLst/>
              <a:uFillTx/>
              <a:latin typeface="Calibri"/>
            </a:endParaRPr>
          </a:p>
        </p:txBody>
      </p:sp>
    </p:spTree>
  </p:cSld>
  <p:transition>
    <p:fade/>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161" name="Text 0"/>
          <p:cNvSpPr/>
          <p:nvPr/>
        </p:nvSpPr>
        <p:spPr>
          <a:xfrm>
            <a:off x="762120" y="507960"/>
            <a:ext cx="126997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核心矿产全球分布与控制权矩阵</a:t>
            </a:r>
            <a:endParaRPr lang="en-US" sz="2800" b="0" u="none" strike="noStrike">
              <a:solidFill>
                <a:srgbClr val="000000"/>
              </a:solidFill>
              <a:effectLst/>
              <a:uFillTx/>
              <a:latin typeface="Calibri"/>
            </a:endParaRPr>
          </a:p>
        </p:txBody>
      </p:sp>
      <p:sp>
        <p:nvSpPr>
          <p:cNvPr id="162"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63" name="Text 2"/>
          <p:cNvSpPr/>
          <p:nvPr/>
        </p:nvSpPr>
        <p:spPr>
          <a:xfrm>
            <a:off x="762120" y="1333440"/>
            <a:ext cx="14731920" cy="127008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能源转型对关键矿物的需求将在</a:t>
            </a:r>
            <a:r>
              <a:rPr lang="en-US" sz="1600" b="0" u="none" strike="noStrike">
                <a:solidFill>
                  <a:srgbClr val="1E293B"/>
                </a:solidFill>
                <a:effectLst/>
                <a:uFillTx/>
                <a:latin typeface="QuattrocentoSans"/>
                <a:ea typeface="QuattrocentoSans"/>
              </a:rPr>
              <a:t>2030</a:t>
            </a:r>
            <a:r>
              <a:rPr lang="en-US" sz="1600" b="0" u="none" strike="noStrike">
                <a:solidFill>
                  <a:srgbClr val="1E293B"/>
                </a:solidFill>
                <a:effectLst/>
                <a:uFillTx/>
                <a:latin typeface="QuattrocentoSans"/>
                <a:ea typeface="QuattrocentoSans"/>
              </a:rPr>
              <a:t>年前增长</a:t>
            </a:r>
            <a:r>
              <a:rPr lang="en-US" sz="1600" b="0" u="none" strike="noStrike">
                <a:solidFill>
                  <a:srgbClr val="1E293B"/>
                </a:solidFill>
                <a:effectLst/>
                <a:uFillTx/>
                <a:latin typeface="QuattrocentoSans"/>
                <a:ea typeface="QuattrocentoSans"/>
              </a:rPr>
              <a:t>4-6</a:t>
            </a:r>
            <a:r>
              <a:rPr lang="en-US" sz="1600" b="0" u="none" strike="noStrike">
                <a:solidFill>
                  <a:srgbClr val="1E293B"/>
                </a:solidFill>
                <a:effectLst/>
                <a:uFillTx/>
                <a:latin typeface="QuattrocentoSans"/>
                <a:ea typeface="QuattrocentoSans"/>
              </a:rPr>
              <a:t>倍。</a:t>
            </a:r>
            <a:r>
              <a:rPr lang="en-US" sz="1600" b="1" u="none" strike="noStrike">
                <a:solidFill>
                  <a:srgbClr val="1E293B"/>
                </a:solidFill>
                <a:effectLst/>
                <a:uFillTx/>
                <a:latin typeface="QuattrocentoSans"/>
                <a:ea typeface="QuattrocentoSans"/>
              </a:rPr>
              <a:t>锂</a:t>
            </a:r>
            <a:r>
              <a:rPr lang="en-US" sz="1600" b="0" u="none" strike="noStrike">
                <a:solidFill>
                  <a:srgbClr val="1E293B"/>
                </a:solidFill>
                <a:effectLst/>
                <a:uFillTx/>
                <a:latin typeface="QuattrocentoSans"/>
                <a:ea typeface="QuattrocentoSans"/>
              </a:rPr>
              <a:t>：智利（</a:t>
            </a:r>
            <a:r>
              <a:rPr lang="en-US" sz="1600" b="0" u="none" strike="noStrike">
                <a:solidFill>
                  <a:srgbClr val="1E293B"/>
                </a:solidFill>
                <a:effectLst/>
                <a:uFillTx/>
                <a:latin typeface="QuattrocentoSans"/>
                <a:ea typeface="QuattrocentoSans"/>
              </a:rPr>
              <a:t>22%</a:t>
            </a:r>
            <a:r>
              <a:rPr lang="en-US" sz="1600" b="0" u="none" strike="noStrike">
                <a:solidFill>
                  <a:srgbClr val="1E293B"/>
                </a:solidFill>
                <a:effectLst/>
                <a:uFillTx/>
                <a:latin typeface="QuattrocentoSans"/>
                <a:ea typeface="QuattrocentoSans"/>
              </a:rPr>
              <a:t>）、澳大利亚（</a:t>
            </a:r>
            <a:r>
              <a:rPr lang="en-US" sz="1600" b="0" u="none" strike="noStrike">
                <a:solidFill>
                  <a:srgbClr val="1E293B"/>
                </a:solidFill>
                <a:effectLst/>
                <a:uFillTx/>
                <a:latin typeface="QuattrocentoSans"/>
                <a:ea typeface="QuattrocentoSans"/>
              </a:rPr>
              <a:t>21%</a:t>
            </a:r>
            <a:r>
              <a:rPr lang="en-US" sz="1600" b="0" u="none" strike="noStrike">
                <a:solidFill>
                  <a:srgbClr val="1E293B"/>
                </a:solidFill>
                <a:effectLst/>
                <a:uFillTx/>
                <a:latin typeface="QuattrocentoSans"/>
                <a:ea typeface="QuattrocentoSans"/>
              </a:rPr>
              <a:t>）、阿根廷（</a:t>
            </a:r>
            <a:r>
              <a:rPr lang="en-US" sz="1600" b="0" u="none" strike="noStrike">
                <a:solidFill>
                  <a:srgbClr val="1E293B"/>
                </a:solidFill>
                <a:effectLst/>
                <a:uFillTx/>
                <a:latin typeface="QuattrocentoSans"/>
                <a:ea typeface="QuattrocentoSans"/>
              </a:rPr>
              <a:t>14%</a:t>
            </a:r>
            <a:r>
              <a:rPr lang="en-US" sz="1600" b="0" u="none" strike="noStrike">
                <a:solidFill>
                  <a:srgbClr val="1E293B"/>
                </a:solidFill>
                <a:effectLst/>
                <a:uFillTx/>
                <a:latin typeface="QuattrocentoSans"/>
                <a:ea typeface="QuattrocentoSans"/>
              </a:rPr>
              <a:t>）控制</a:t>
            </a:r>
            <a:r>
              <a:rPr lang="en-US" sz="1600" b="0" u="none" strike="noStrike">
                <a:solidFill>
                  <a:srgbClr val="1E293B"/>
                </a:solidFill>
                <a:effectLst/>
                <a:uFillTx/>
                <a:latin typeface="QuattrocentoSans"/>
                <a:ea typeface="QuattrocentoSans"/>
              </a:rPr>
              <a:t>57%</a:t>
            </a:r>
            <a:r>
              <a:rPr lang="en-US" sz="1600" b="0" u="none" strike="noStrike">
                <a:solidFill>
                  <a:srgbClr val="1E293B"/>
                </a:solidFill>
                <a:effectLst/>
                <a:uFillTx/>
                <a:latin typeface="QuattrocentoSans"/>
                <a:ea typeface="QuattrocentoSans"/>
              </a:rPr>
              <a:t>储量；中国控制全球</a:t>
            </a:r>
            <a:r>
              <a:rPr lang="en-US" sz="1600" b="0" u="none" strike="noStrike">
                <a:solidFill>
                  <a:srgbClr val="1E293B"/>
                </a:solidFill>
                <a:effectLst/>
                <a:uFillTx/>
                <a:latin typeface="QuattrocentoSans"/>
                <a:ea typeface="QuattrocentoSans"/>
              </a:rPr>
              <a:t>65%</a:t>
            </a:r>
            <a:r>
              <a:rPr lang="en-US" sz="1600" b="0" u="none" strike="noStrike">
                <a:solidFill>
                  <a:srgbClr val="1E293B"/>
                </a:solidFill>
                <a:effectLst/>
                <a:uFillTx/>
                <a:latin typeface="QuattrocentoSans"/>
                <a:ea typeface="QuattrocentoSans"/>
              </a:rPr>
              <a:t>锂冶炼产能。</a:t>
            </a:r>
            <a:r>
              <a:rPr lang="en-US" sz="1600" b="1" u="none" strike="noStrike">
                <a:solidFill>
                  <a:srgbClr val="1E293B"/>
                </a:solidFill>
                <a:effectLst/>
                <a:uFillTx/>
                <a:latin typeface="QuattrocentoSans"/>
                <a:ea typeface="QuattrocentoSans"/>
              </a:rPr>
              <a:t>钴</a:t>
            </a:r>
            <a:r>
              <a:rPr lang="en-US" sz="1600" b="0" u="none" strike="noStrike">
                <a:solidFill>
                  <a:srgbClr val="1E293B"/>
                </a:solidFill>
                <a:effectLst/>
                <a:uFillTx/>
                <a:latin typeface="QuattrocentoSans"/>
                <a:ea typeface="QuattrocentoSans"/>
              </a:rPr>
              <a:t>：刚果（金）独占</a:t>
            </a:r>
            <a:r>
              <a:rPr lang="en-US" sz="1600" b="0" u="none" strike="noStrike">
                <a:solidFill>
                  <a:srgbClr val="1E293B"/>
                </a:solidFill>
                <a:effectLst/>
                <a:uFillTx/>
                <a:latin typeface="QuattrocentoSans"/>
                <a:ea typeface="QuattrocentoSans"/>
              </a:rPr>
              <a:t>70%</a:t>
            </a:r>
            <a:r>
              <a:rPr lang="en-US" sz="1600" b="0" u="none" strike="noStrike">
                <a:solidFill>
                  <a:srgbClr val="1E293B"/>
                </a:solidFill>
                <a:effectLst/>
                <a:uFillTx/>
                <a:latin typeface="QuattrocentoSans"/>
                <a:ea typeface="QuattrocentoSans"/>
              </a:rPr>
              <a:t>储量与</a:t>
            </a:r>
            <a:r>
              <a:rPr lang="en-US" sz="1600" b="0" u="none" strike="noStrike">
                <a:solidFill>
                  <a:srgbClr val="1E293B"/>
                </a:solidFill>
                <a:effectLst/>
                <a:uFillTx/>
                <a:latin typeface="QuattrocentoSans"/>
                <a:ea typeface="QuattrocentoSans"/>
              </a:rPr>
              <a:t>75%</a:t>
            </a:r>
            <a:r>
              <a:rPr lang="en-US" sz="1600" b="0" u="none" strike="noStrike">
                <a:solidFill>
                  <a:srgbClr val="1E293B"/>
                </a:solidFill>
                <a:effectLst/>
                <a:uFillTx/>
                <a:latin typeface="QuattrocentoSans"/>
                <a:ea typeface="QuattrocentoSans"/>
              </a:rPr>
              <a:t>产量。</a:t>
            </a:r>
            <a:r>
              <a:rPr lang="en-US" sz="1600" b="1" u="none" strike="noStrike">
                <a:solidFill>
                  <a:srgbClr val="1E293B"/>
                </a:solidFill>
                <a:effectLst/>
                <a:uFillTx/>
                <a:latin typeface="QuattrocentoSans"/>
                <a:ea typeface="QuattrocentoSans"/>
              </a:rPr>
              <a:t>稀土</a:t>
            </a:r>
            <a:r>
              <a:rPr lang="en-US" sz="1600" b="0" u="none" strike="noStrike">
                <a:solidFill>
                  <a:srgbClr val="1E293B"/>
                </a:solidFill>
                <a:effectLst/>
                <a:uFillTx/>
                <a:latin typeface="QuattrocentoSans"/>
                <a:ea typeface="QuattrocentoSans"/>
              </a:rPr>
              <a:t>：中国占</a:t>
            </a:r>
            <a:r>
              <a:rPr lang="en-US" sz="1600" b="0" u="none" strike="noStrike">
                <a:solidFill>
                  <a:srgbClr val="1E293B"/>
                </a:solidFill>
                <a:effectLst/>
                <a:uFillTx/>
                <a:latin typeface="QuattrocentoSans"/>
                <a:ea typeface="QuattrocentoSans"/>
              </a:rPr>
              <a:t>37%</a:t>
            </a:r>
            <a:r>
              <a:rPr lang="en-US" sz="1600" b="0" u="none" strike="noStrike">
                <a:solidFill>
                  <a:srgbClr val="1E293B"/>
                </a:solidFill>
                <a:effectLst/>
                <a:uFillTx/>
                <a:latin typeface="QuattrocentoSans"/>
                <a:ea typeface="QuattrocentoSans"/>
              </a:rPr>
              <a:t>储量但控制</a:t>
            </a:r>
            <a:r>
              <a:rPr lang="en-US" sz="1600" b="0" u="none" strike="noStrike">
                <a:solidFill>
                  <a:srgbClr val="1E293B"/>
                </a:solidFill>
                <a:effectLst/>
                <a:uFillTx/>
                <a:latin typeface="QuattrocentoSans"/>
                <a:ea typeface="QuattrocentoSans"/>
              </a:rPr>
              <a:t>90%</a:t>
            </a:r>
            <a:r>
              <a:rPr lang="en-US" sz="1600" b="0" u="none" strike="noStrike">
                <a:solidFill>
                  <a:srgbClr val="1E293B"/>
                </a:solidFill>
                <a:effectLst/>
                <a:uFillTx/>
                <a:latin typeface="QuattrocentoSans"/>
                <a:ea typeface="QuattrocentoSans"/>
              </a:rPr>
              <a:t>分离冶炼产能。</a:t>
            </a:r>
            <a:r>
              <a:rPr lang="en-US" sz="1600" b="1" u="none" strike="noStrike">
                <a:solidFill>
                  <a:srgbClr val="1E293B"/>
                </a:solidFill>
                <a:effectLst/>
                <a:uFillTx/>
                <a:latin typeface="QuattrocentoSans"/>
                <a:ea typeface="QuattrocentoSans"/>
              </a:rPr>
              <a:t>镍</a:t>
            </a:r>
            <a:r>
              <a:rPr lang="en-US" sz="1600" b="0" u="none" strike="noStrike">
                <a:solidFill>
                  <a:srgbClr val="1E293B"/>
                </a:solidFill>
                <a:effectLst/>
                <a:uFillTx/>
                <a:latin typeface="QuattrocentoSans"/>
                <a:ea typeface="QuattrocentoSans"/>
              </a:rPr>
              <a:t>：印尼通过出口禁令倒逼本土冶炼，中国青山控股控制印尼</a:t>
            </a:r>
            <a:r>
              <a:rPr lang="en-US" sz="1600" b="0" u="none" strike="noStrike">
                <a:solidFill>
                  <a:srgbClr val="1E293B"/>
                </a:solidFill>
                <a:effectLst/>
                <a:uFillTx/>
                <a:latin typeface="QuattrocentoSans"/>
                <a:ea typeface="QuattrocentoSans"/>
              </a:rPr>
              <a:t>70%</a:t>
            </a:r>
            <a:r>
              <a:rPr lang="en-US" sz="1600" b="0" u="none" strike="noStrike">
                <a:solidFill>
                  <a:srgbClr val="1E293B"/>
                </a:solidFill>
                <a:effectLst/>
                <a:uFillTx/>
                <a:latin typeface="QuattrocentoSans"/>
                <a:ea typeface="QuattrocentoSans"/>
              </a:rPr>
              <a:t>镍铁产能。</a:t>
            </a:r>
            <a:r>
              <a:rPr lang="en-US" sz="1600" b="1" u="none" strike="noStrike">
                <a:solidFill>
                  <a:srgbClr val="1E293B"/>
                </a:solidFill>
                <a:effectLst/>
                <a:uFillTx/>
                <a:latin typeface="QuattrocentoSans"/>
                <a:ea typeface="QuattrocentoSans"/>
              </a:rPr>
              <a:t>石墨</a:t>
            </a:r>
            <a:r>
              <a:rPr lang="en-US" sz="1600" b="0" u="none" strike="noStrike">
                <a:solidFill>
                  <a:srgbClr val="1E293B"/>
                </a:solidFill>
                <a:effectLst/>
                <a:uFillTx/>
                <a:latin typeface="QuattrocentoSans"/>
                <a:ea typeface="QuattrocentoSans"/>
              </a:rPr>
              <a:t>：中国控制全球</a:t>
            </a:r>
            <a:r>
              <a:rPr lang="en-US" sz="1600" b="0" u="none" strike="noStrike">
                <a:solidFill>
                  <a:srgbClr val="1E293B"/>
                </a:solidFill>
                <a:effectLst/>
                <a:uFillTx/>
                <a:latin typeface="QuattrocentoSans"/>
                <a:ea typeface="QuattrocentoSans"/>
              </a:rPr>
              <a:t>68%</a:t>
            </a:r>
            <a:r>
              <a:rPr lang="en-US" sz="1600" b="0" u="none" strike="noStrike">
                <a:solidFill>
                  <a:srgbClr val="1E293B"/>
                </a:solidFill>
                <a:effectLst/>
                <a:uFillTx/>
                <a:latin typeface="QuattrocentoSans"/>
                <a:ea typeface="QuattrocentoSans"/>
              </a:rPr>
              <a:t>天然石墨产量与</a:t>
            </a:r>
            <a:r>
              <a:rPr lang="en-US" sz="1600" b="0" u="none" strike="noStrike">
                <a:solidFill>
                  <a:srgbClr val="1E293B"/>
                </a:solidFill>
                <a:effectLst/>
                <a:uFillTx/>
                <a:latin typeface="QuattrocentoSans"/>
                <a:ea typeface="QuattrocentoSans"/>
              </a:rPr>
              <a:t>100%</a:t>
            </a:r>
            <a:r>
              <a:rPr lang="en-US" sz="1600" b="0" u="none" strike="noStrike">
                <a:solidFill>
                  <a:srgbClr val="1E293B"/>
                </a:solidFill>
                <a:effectLst/>
                <a:uFillTx/>
                <a:latin typeface="QuattrocentoSans"/>
                <a:ea typeface="QuattrocentoSans"/>
              </a:rPr>
              <a:t>球形石墨加工。</a:t>
            </a:r>
            <a:endParaRPr lang="en-US" sz="1600" b="0" u="none" strike="noStrike">
              <a:solidFill>
                <a:srgbClr val="000000"/>
              </a:solidFill>
              <a:effectLst/>
              <a:uFillTx/>
              <a:latin typeface="Calibri"/>
            </a:endParaRPr>
          </a:p>
        </p:txBody>
      </p:sp>
      <p:graphicFrame>
        <p:nvGraphicFramePr>
          <p:cNvPr id="164" name=""/>
          <p:cNvGraphicFramePr/>
          <p:nvPr/>
        </p:nvGraphicFramePr>
        <p:xfrm>
          <a:off x="762120" y="2793960"/>
          <a:ext cx="14731920" cy="4826160"/>
        </p:xfrm>
        <a:graphic>
          <a:graphicData uri="http://schemas.openxmlformats.org/drawingml/2006/table">
            <a:tbl>
              <a:tblPr/>
              <a:tblGrid>
                <a:gridCol w="1768320"/>
                <a:gridCol w="1766880"/>
                <a:gridCol w="1768680"/>
                <a:gridCol w="1766880"/>
                <a:gridCol w="1768320"/>
                <a:gridCol w="1768320"/>
                <a:gridCol w="2062440"/>
                <a:gridCol w="2062080"/>
              </a:tblGrid>
              <a:tr h="4795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矿产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全球储量</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CR3</a:t>
                      </a:r>
                      <a:r>
                        <a:rPr lang="en-US" sz="1100" b="1" u="none" strike="noStrike">
                          <a:solidFill>
                            <a:srgbClr val="FFFFFF"/>
                          </a:solidFill>
                          <a:effectLst/>
                          <a:uFillTx/>
                          <a:latin typeface="QuattrocentoSans"/>
                          <a:ea typeface="QuattrocentoSans"/>
                        </a:rPr>
                        <a:t>储量占比</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中国冶炼占比</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2030</a:t>
                      </a:r>
                      <a:r>
                        <a:rPr lang="en-US" sz="1100" b="1" u="none" strike="noStrike">
                          <a:solidFill>
                            <a:srgbClr val="FFFFFF"/>
                          </a:solidFill>
                          <a:effectLst/>
                          <a:uFillTx/>
                          <a:latin typeface="QuattrocentoSans"/>
                          <a:ea typeface="QuattrocentoSans"/>
                        </a:rPr>
                        <a:t>需求增速</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价格</a:t>
                      </a:r>
                      <a:r>
                        <a:rPr lang="en-US" sz="1100" b="1" u="none" strike="noStrike">
                          <a:solidFill>
                            <a:srgbClr val="FFFFFF"/>
                          </a:solidFill>
                          <a:effectLst/>
                          <a:uFillTx/>
                          <a:latin typeface="QuattrocentoSans"/>
                          <a:ea typeface="QuattrocentoSans"/>
                        </a:rPr>
                        <a:t>(2026)</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泰坦长协状态</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风险评级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r>
              <a:tr h="5443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锂</a:t>
                      </a:r>
                      <a:r>
                        <a:rPr lang="en-US" sz="1100" b="0" u="none" strike="noStrike">
                          <a:solidFill>
                            <a:srgbClr val="1E293B"/>
                          </a:solidFill>
                          <a:effectLst/>
                          <a:uFillTx/>
                          <a:latin typeface="QuattrocentoSans"/>
                          <a:ea typeface="QuattrocentoSans"/>
                        </a:rPr>
                        <a:t>(LCE)</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2600</a:t>
                      </a:r>
                      <a:r>
                        <a:rPr lang="en-US" sz="1100" b="0" u="none" strike="noStrike">
                          <a:solidFill>
                            <a:srgbClr val="1E293B"/>
                          </a:solidFill>
                          <a:effectLst/>
                          <a:uFillTx/>
                          <a:latin typeface="QuattrocentoSans"/>
                          <a:ea typeface="QuattrocentoSans"/>
                        </a:rPr>
                        <a:t>万吨</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57%</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$12,000/t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a:t>
                      </a:r>
                      <a:r>
                        <a:rPr lang="en-US" sz="1100" b="0" u="none" strike="noStrike">
                          <a:solidFill>
                            <a:srgbClr val="1E293B"/>
                          </a:solidFill>
                          <a:effectLst/>
                          <a:uFillTx/>
                          <a:latin typeface="QuattrocentoSans"/>
                          <a:ea typeface="QuattrocentoSans"/>
                        </a:rPr>
                        <a:t>年长协已签</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432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钴</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830</a:t>
                      </a:r>
                      <a:r>
                        <a:rPr lang="en-US" sz="1100" b="0" u="none" strike="noStrike">
                          <a:solidFill>
                            <a:srgbClr val="1E293B"/>
                          </a:solidFill>
                          <a:effectLst/>
                          <a:uFillTx/>
                          <a:latin typeface="QuattrocentoSans"/>
                          <a:ea typeface="QuattrocentoSans"/>
                        </a:rPr>
                        <a:t>万吨</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$28/lb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谈判中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428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稀土氧化物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a:t>
                      </a:r>
                      <a:r>
                        <a:rPr lang="en-US" sz="1100" b="0" u="none" strike="noStrike">
                          <a:solidFill>
                            <a:srgbClr val="1E293B"/>
                          </a:solidFill>
                          <a:effectLst/>
                          <a:uFillTx/>
                          <a:latin typeface="QuattrocentoSans"/>
                          <a:ea typeface="QuattrocentoSans"/>
                        </a:rPr>
                        <a:t>亿吨</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$80/kg</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年度合约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428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镍</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一级</a:t>
                      </a: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1.1</a:t>
                      </a:r>
                      <a:r>
                        <a:rPr lang="en-US" sz="1100" b="0" u="none" strike="noStrike">
                          <a:solidFill>
                            <a:srgbClr val="1E293B"/>
                          </a:solidFill>
                          <a:effectLst/>
                          <a:uFillTx/>
                          <a:latin typeface="QuattrocentoSans"/>
                          <a:ea typeface="QuattrocentoSans"/>
                        </a:rPr>
                        <a:t>亿吨</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$18,500/t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a:t>
                      </a:r>
                      <a:r>
                        <a:rPr lang="en-US" sz="1100" b="0" u="none" strike="noStrike">
                          <a:solidFill>
                            <a:srgbClr val="1E293B"/>
                          </a:solidFill>
                          <a:effectLst/>
                          <a:uFillTx/>
                          <a:latin typeface="QuattrocentoSans"/>
                          <a:ea typeface="QuattrocentoSans"/>
                        </a:rPr>
                        <a:t>年包销</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428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石墨</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3.5</a:t>
                      </a:r>
                      <a:r>
                        <a:rPr lang="en-US" sz="1100" b="0" u="none" strike="noStrike">
                          <a:solidFill>
                            <a:srgbClr val="1E293B"/>
                          </a:solidFill>
                          <a:effectLst/>
                          <a:uFillTx/>
                          <a:latin typeface="QuattrocentoSans"/>
                          <a:ea typeface="QuattrocentoSans"/>
                        </a:rPr>
                        <a:t>亿吨</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$680/t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战略库存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443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铜</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8.8</a:t>
                      </a:r>
                      <a:r>
                        <a:rPr lang="en-US" sz="1100" b="0" u="none" strike="noStrike">
                          <a:solidFill>
                            <a:srgbClr val="1E293B"/>
                          </a:solidFill>
                          <a:effectLst/>
                          <a:uFillTx/>
                          <a:latin typeface="QuattrocentoSans"/>
                          <a:ea typeface="QuattrocentoSans"/>
                        </a:rPr>
                        <a:t>亿吨</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+150%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$9,200/t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长期供应</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432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锰</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15</a:t>
                      </a:r>
                      <a:r>
                        <a:rPr lang="en-US" sz="1100" b="0" u="none" strike="noStrike">
                          <a:solidFill>
                            <a:srgbClr val="1E293B"/>
                          </a:solidFill>
                          <a:effectLst/>
                          <a:uFillTx/>
                          <a:latin typeface="QuattrocentoSans"/>
                          <a:ea typeface="QuattrocentoSans"/>
                        </a:rPr>
                        <a:t>亿吨</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$3.2/t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年度合约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428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硅</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冶金级</a:t>
                      </a: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充足</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$1,800/t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自有供应</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bl>
          </a:graphicData>
        </a:graphic>
      </p:graphicFrame>
      <p:sp>
        <p:nvSpPr>
          <p:cNvPr id="165" name="Text 3"/>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USGS Mineral Commodity Summaries 2026, IEA Critical Minerals Market Review 2025, Benchmark Mineral Intelligence · Slide 15</a:t>
            </a:r>
            <a:endParaRPr lang="en-US" sz="1000" b="0" u="none" strike="noStrike">
              <a:solidFill>
                <a:srgbClr val="000000"/>
              </a:solidFill>
              <a:effectLst/>
              <a:uFillTx/>
              <a:latin typeface="Calibri"/>
            </a:endParaRPr>
          </a:p>
        </p:txBody>
      </p:sp>
    </p:spTree>
  </p:cSld>
  <p:transition>
    <p:fade/>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166" name="Text 0"/>
          <p:cNvSpPr/>
          <p:nvPr/>
        </p:nvSpPr>
        <p:spPr>
          <a:xfrm>
            <a:off x="762120" y="507960"/>
            <a:ext cx="126997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矿产地缘风险与价格冲击情景分析</a:t>
            </a:r>
            <a:endParaRPr lang="en-US" sz="2800" b="0" u="none" strike="noStrike">
              <a:solidFill>
                <a:srgbClr val="000000"/>
              </a:solidFill>
              <a:effectLst/>
              <a:uFillTx/>
              <a:latin typeface="Calibri"/>
            </a:endParaRPr>
          </a:p>
        </p:txBody>
      </p:sp>
      <p:sp>
        <p:nvSpPr>
          <p:cNvPr id="167"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68" name="Text 2"/>
          <p:cNvSpPr/>
          <p:nvPr/>
        </p:nvSpPr>
        <p:spPr>
          <a:xfrm>
            <a:off x="762120" y="1333440"/>
            <a:ext cx="14731920" cy="114300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核心矿产供应链面临</a:t>
            </a:r>
            <a:r>
              <a:rPr lang="en-US" sz="1600" b="1"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资源民族主义</a:t>
            </a:r>
            <a:r>
              <a:rPr lang="en-US" sz="1600" b="1" u="none" strike="noStrike">
                <a:solidFill>
                  <a:srgbClr val="1E293B"/>
                </a:solidFill>
                <a:effectLst/>
                <a:uFillTx/>
                <a:latin typeface="QuattrocentoSans"/>
                <a:ea typeface="QuattrocentoSans"/>
              </a:rPr>
              <a:t>+ESG</a:t>
            </a:r>
            <a:r>
              <a:rPr lang="en-US" sz="1600" b="1" u="none" strike="noStrike">
                <a:solidFill>
                  <a:srgbClr val="1E293B"/>
                </a:solidFill>
                <a:effectLst/>
                <a:uFillTx/>
                <a:latin typeface="QuattrocentoSans"/>
                <a:ea typeface="QuattrocentoSans"/>
              </a:rPr>
              <a:t>合规</a:t>
            </a:r>
            <a:r>
              <a:rPr lang="en-US" sz="1600" b="1"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金融波动</a:t>
            </a:r>
            <a:r>
              <a:rPr lang="en-US" sz="1600" b="1"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三重风险。情景</a:t>
            </a:r>
            <a:r>
              <a:rPr lang="en-US" sz="1600" b="0" u="none" strike="noStrike">
                <a:solidFill>
                  <a:srgbClr val="1E293B"/>
                </a:solidFill>
                <a:effectLst/>
                <a:uFillTx/>
                <a:latin typeface="QuattrocentoSans"/>
                <a:ea typeface="QuattrocentoSans"/>
              </a:rPr>
              <a:t>A</a:t>
            </a:r>
            <a:r>
              <a:rPr lang="en-US" sz="1600" b="0" u="none" strike="noStrike">
                <a:solidFill>
                  <a:srgbClr val="1E293B"/>
                </a:solidFill>
                <a:effectLst/>
                <a:uFillTx/>
                <a:latin typeface="QuattrocentoSans"/>
                <a:ea typeface="QuattrocentoSans"/>
              </a:rPr>
              <a:t>（基准）：锂价维持</a:t>
            </a:r>
            <a:r>
              <a:rPr lang="en-US" sz="1600" b="0" u="none" strike="noStrike">
                <a:solidFill>
                  <a:srgbClr val="1E293B"/>
                </a:solidFill>
                <a:effectLst/>
                <a:uFillTx/>
                <a:latin typeface="QuattrocentoSans"/>
                <a:ea typeface="QuattrocentoSans"/>
              </a:rPr>
              <a:t>12,000 USD/t</a:t>
            </a:r>
            <a:r>
              <a:rPr lang="en-US" sz="1600" b="0" u="none" strike="noStrike">
                <a:solidFill>
                  <a:srgbClr val="1E293B"/>
                </a:solidFill>
                <a:effectLst/>
                <a:uFillTx/>
                <a:latin typeface="QuattrocentoSans"/>
                <a:ea typeface="QuattrocentoSans"/>
              </a:rPr>
              <a:t>，钴价</a:t>
            </a:r>
            <a:r>
              <a:rPr lang="en-US" sz="1600" b="0" u="none" strike="noStrike">
                <a:solidFill>
                  <a:srgbClr val="1E293B"/>
                </a:solidFill>
                <a:effectLst/>
                <a:uFillTx/>
                <a:latin typeface="QuattrocentoSans"/>
                <a:ea typeface="QuattrocentoSans"/>
              </a:rPr>
              <a:t>28 USD/lb</a:t>
            </a:r>
            <a:r>
              <a:rPr lang="en-US" sz="1600" b="0" u="none" strike="noStrike">
                <a:solidFill>
                  <a:srgbClr val="1E293B"/>
                </a:solidFill>
                <a:effectLst/>
                <a:uFillTx/>
                <a:latin typeface="QuattrocentoSans"/>
                <a:ea typeface="QuattrocentoSans"/>
              </a:rPr>
              <a:t>。情景</a:t>
            </a:r>
            <a:r>
              <a:rPr lang="en-US" sz="1600" b="0" u="none" strike="noStrike">
                <a:solidFill>
                  <a:srgbClr val="1E293B"/>
                </a:solidFill>
                <a:effectLst/>
                <a:uFillTx/>
                <a:latin typeface="QuattrocentoSans"/>
                <a:ea typeface="QuattrocentoSans"/>
              </a:rPr>
              <a:t>B</a:t>
            </a:r>
            <a:r>
              <a:rPr lang="en-US" sz="1600" b="0" u="none" strike="noStrike">
                <a:solidFill>
                  <a:srgbClr val="1E293B"/>
                </a:solidFill>
                <a:effectLst/>
                <a:uFillTx/>
                <a:latin typeface="QuattrocentoSans"/>
                <a:ea typeface="QuattrocentoSans"/>
              </a:rPr>
              <a:t>（供应冲击）：刚果钴矿中断</a:t>
            </a:r>
            <a:r>
              <a:rPr lang="en-US" sz="1600" b="0" u="none" strike="noStrike">
                <a:solidFill>
                  <a:srgbClr val="1E293B"/>
                </a:solidFill>
                <a:effectLst/>
                <a:uFillTx/>
                <a:latin typeface="QuattrocentoSans"/>
                <a:ea typeface="QuattrocentoSans"/>
              </a:rPr>
              <a:t>30%</a:t>
            </a:r>
            <a:r>
              <a:rPr lang="en-US" sz="1600" b="0" u="none" strike="noStrike">
                <a:solidFill>
                  <a:srgbClr val="1E293B"/>
                </a:solidFill>
                <a:effectLst/>
                <a:uFillTx/>
                <a:latin typeface="QuattrocentoSans"/>
                <a:ea typeface="QuattrocentoSans"/>
              </a:rPr>
              <a:t>，钴价飙升至</a:t>
            </a:r>
            <a:r>
              <a:rPr lang="en-US" sz="1600" b="0" u="none" strike="noStrike">
                <a:solidFill>
                  <a:srgbClr val="1E293B"/>
                </a:solidFill>
                <a:effectLst/>
                <a:uFillTx/>
                <a:latin typeface="QuattrocentoSans"/>
                <a:ea typeface="QuattrocentoSans"/>
              </a:rPr>
              <a:t>65 USD/lb</a:t>
            </a:r>
            <a:r>
              <a:rPr lang="en-US" sz="1600" b="0" u="none" strike="noStrike">
                <a:solidFill>
                  <a:srgbClr val="1E293B"/>
                </a:solidFill>
                <a:effectLst/>
                <a:uFillTx/>
                <a:latin typeface="QuattrocentoSans"/>
                <a:ea typeface="QuattrocentoSans"/>
              </a:rPr>
              <a:t>，电池成本增加</a:t>
            </a:r>
            <a:r>
              <a:rPr lang="en-US" sz="1600" b="0" u="none" strike="noStrike">
                <a:solidFill>
                  <a:srgbClr val="1E293B"/>
                </a:solidFill>
                <a:effectLst/>
                <a:uFillTx/>
                <a:latin typeface="QuattrocentoSans"/>
                <a:ea typeface="QuattrocentoSans"/>
              </a:rPr>
              <a:t>8.5%</a:t>
            </a:r>
            <a:r>
              <a:rPr lang="en-US" sz="1600" b="0" u="none" strike="noStrike">
                <a:solidFill>
                  <a:srgbClr val="1E293B"/>
                </a:solidFill>
                <a:effectLst/>
                <a:uFillTx/>
                <a:latin typeface="QuattrocentoSans"/>
                <a:ea typeface="QuattrocentoSans"/>
              </a:rPr>
              <a:t>。情景</a:t>
            </a:r>
            <a:r>
              <a:rPr lang="en-US" sz="1600" b="0" u="none" strike="noStrike">
                <a:solidFill>
                  <a:srgbClr val="1E293B"/>
                </a:solidFill>
                <a:effectLst/>
                <a:uFillTx/>
                <a:latin typeface="QuattrocentoSans"/>
                <a:ea typeface="QuattrocentoSans"/>
              </a:rPr>
              <a:t>C</a:t>
            </a:r>
            <a:r>
              <a:rPr lang="en-US" sz="1600" b="0" u="none" strike="noStrike">
                <a:solidFill>
                  <a:srgbClr val="1E293B"/>
                </a:solidFill>
                <a:effectLst/>
                <a:uFillTx/>
                <a:latin typeface="QuattrocentoSans"/>
                <a:ea typeface="QuattrocentoSans"/>
              </a:rPr>
              <a:t>（政策冲击）：智利锂矿国有化，锂价涨至</a:t>
            </a:r>
            <a:r>
              <a:rPr lang="en-US" sz="1600" b="0" u="none" strike="noStrike">
                <a:solidFill>
                  <a:srgbClr val="1E293B"/>
                </a:solidFill>
                <a:effectLst/>
                <a:uFillTx/>
                <a:latin typeface="QuattrocentoSans"/>
                <a:ea typeface="QuattrocentoSans"/>
              </a:rPr>
              <a:t>22,000 USD/t</a:t>
            </a:r>
            <a:r>
              <a:rPr lang="en-US" sz="1600" b="0" u="none" strike="noStrike">
                <a:solidFill>
                  <a:srgbClr val="1E293B"/>
                </a:solidFill>
                <a:effectLst/>
                <a:uFillTx/>
                <a:latin typeface="QuattrocentoSans"/>
                <a:ea typeface="QuattrocentoSans"/>
              </a:rPr>
              <a:t>，储能</a:t>
            </a:r>
            <a:r>
              <a:rPr lang="en-US" sz="1600" b="0" u="none" strike="noStrike">
                <a:solidFill>
                  <a:srgbClr val="1E293B"/>
                </a:solidFill>
                <a:effectLst/>
                <a:uFillTx/>
                <a:latin typeface="QuattrocentoSans"/>
                <a:ea typeface="QuattrocentoSans"/>
              </a:rPr>
              <a:t>IRR</a:t>
            </a:r>
            <a:r>
              <a:rPr lang="en-US" sz="1600" b="0" u="none" strike="noStrike">
                <a:solidFill>
                  <a:srgbClr val="1E293B"/>
                </a:solidFill>
                <a:effectLst/>
                <a:uFillTx/>
                <a:latin typeface="QuattrocentoSans"/>
                <a:ea typeface="QuattrocentoSans"/>
              </a:rPr>
              <a:t>下降</a:t>
            </a:r>
            <a:r>
              <a:rPr lang="en-US" sz="1600" b="0" u="none" strike="noStrike">
                <a:solidFill>
                  <a:srgbClr val="1E293B"/>
                </a:solidFill>
                <a:effectLst/>
                <a:uFillTx/>
                <a:latin typeface="QuattrocentoSans"/>
                <a:ea typeface="QuattrocentoSans"/>
              </a:rPr>
              <a:t>2.3</a:t>
            </a:r>
            <a:r>
              <a:rPr lang="en-US" sz="1600" b="0" u="none" strike="noStrike">
                <a:solidFill>
                  <a:srgbClr val="1E293B"/>
                </a:solidFill>
                <a:effectLst/>
                <a:uFillTx/>
                <a:latin typeface="QuattrocentoSans"/>
                <a:ea typeface="QuattrocentoSans"/>
              </a:rPr>
              <a:t>个百分点。情景</a:t>
            </a:r>
            <a:r>
              <a:rPr lang="en-US" sz="1600" b="0" u="none" strike="noStrike">
                <a:solidFill>
                  <a:srgbClr val="1E293B"/>
                </a:solidFill>
                <a:effectLst/>
                <a:uFillTx/>
                <a:latin typeface="QuattrocentoSans"/>
                <a:ea typeface="QuattrocentoSans"/>
              </a:rPr>
              <a:t>D</a:t>
            </a:r>
            <a:r>
              <a:rPr lang="en-US" sz="1600" b="0" u="none" strike="noStrike">
                <a:solidFill>
                  <a:srgbClr val="1E293B"/>
                </a:solidFill>
                <a:effectLst/>
                <a:uFillTx/>
                <a:latin typeface="QuattrocentoSans"/>
                <a:ea typeface="QuattrocentoSans"/>
              </a:rPr>
              <a:t>（技术替代）：钠离子电池加速，锂价回落至</a:t>
            </a:r>
            <a:r>
              <a:rPr lang="en-US" sz="1600" b="0" u="none" strike="noStrike">
                <a:solidFill>
                  <a:srgbClr val="1E293B"/>
                </a:solidFill>
                <a:effectLst/>
                <a:uFillTx/>
                <a:latin typeface="QuattrocentoSans"/>
                <a:ea typeface="QuattrocentoSans"/>
              </a:rPr>
              <a:t>9,000 USD/t</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p:txBody>
      </p:sp>
      <p:graphicFrame>
        <p:nvGraphicFramePr>
          <p:cNvPr id="169" name=""/>
          <p:cNvGraphicFramePr/>
          <p:nvPr/>
        </p:nvGraphicFramePr>
        <p:xfrm>
          <a:off x="762120" y="2666880"/>
          <a:ext cx="14731920" cy="3936960"/>
        </p:xfrm>
        <a:graphic>
          <a:graphicData uri="http://schemas.openxmlformats.org/drawingml/2006/table">
            <a:tbl>
              <a:tblPr/>
              <a:tblGrid>
                <a:gridCol w="2062080"/>
                <a:gridCol w="2062080"/>
                <a:gridCol w="2063880"/>
                <a:gridCol w="2062080"/>
                <a:gridCol w="2062080"/>
                <a:gridCol w="2357640"/>
                <a:gridCol w="2062080"/>
              </a:tblGrid>
              <a:tr h="4748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情景</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锂价</a:t>
                      </a:r>
                      <a:r>
                        <a:rPr lang="en-US" sz="1100" b="1" u="none" strike="noStrike">
                          <a:solidFill>
                            <a:srgbClr val="FFFFFF"/>
                          </a:solidFill>
                          <a:effectLst/>
                          <a:uFillTx/>
                          <a:latin typeface="QuattrocentoSans"/>
                          <a:ea typeface="QuattrocentoSans"/>
                        </a:rPr>
                        <a:t>(USD/t)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钴价</a:t>
                      </a:r>
                      <a:r>
                        <a:rPr lang="en-US" sz="1100" b="1" u="none" strike="noStrike">
                          <a:solidFill>
                            <a:srgbClr val="FFFFFF"/>
                          </a:solidFill>
                          <a:effectLst/>
                          <a:uFillTx/>
                          <a:latin typeface="QuattrocentoSans"/>
                          <a:ea typeface="QuattrocentoSans"/>
                        </a:rPr>
                        <a:t>(USD/lb)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稀土</a:t>
                      </a:r>
                      <a:r>
                        <a:rPr lang="en-US" sz="1100" b="1" u="none" strike="noStrike">
                          <a:solidFill>
                            <a:srgbClr val="FFFFFF"/>
                          </a:solidFill>
                          <a:effectLst/>
                          <a:uFillTx/>
                          <a:latin typeface="QuattrocentoSans"/>
                          <a:ea typeface="QuattrocentoSans"/>
                        </a:rPr>
                        <a:t>(USD/kg)</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镍价</a:t>
                      </a:r>
                      <a:r>
                        <a:rPr lang="en-US" sz="1100" b="1" u="none" strike="noStrike">
                          <a:solidFill>
                            <a:srgbClr val="FFFFFF"/>
                          </a:solidFill>
                          <a:effectLst/>
                          <a:uFillTx/>
                          <a:latin typeface="QuattrocentoSans"/>
                          <a:ea typeface="QuattrocentoSans"/>
                        </a:rPr>
                        <a:t>(USD/t)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对泰坦影响</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发生概率</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r>
              <a:tr h="5763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 </a:t>
                      </a:r>
                      <a:r>
                        <a:rPr lang="en-US" sz="1100" b="0" u="none" strike="noStrike">
                          <a:solidFill>
                            <a:srgbClr val="1E293B"/>
                          </a:solidFill>
                          <a:effectLst/>
                          <a:uFillTx/>
                          <a:latin typeface="QuattrocentoSans"/>
                          <a:ea typeface="QuattrocentoSans"/>
                        </a:rPr>
                        <a:t>基准</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12,000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18,500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按计划执行</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778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B: </a:t>
                      </a:r>
                      <a:r>
                        <a:rPr lang="en-US" sz="1100" b="0" u="none" strike="noStrike">
                          <a:solidFill>
                            <a:srgbClr val="1E293B"/>
                          </a:solidFill>
                          <a:effectLst/>
                          <a:uFillTx/>
                          <a:latin typeface="QuattrocentoSans"/>
                          <a:ea typeface="QuattrocentoSans"/>
                        </a:rPr>
                        <a:t>供应冲击</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15,000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22,000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电池成本</a:t>
                      </a:r>
                      <a:r>
                        <a:rPr lang="en-US" sz="1100" b="0" u="none" strike="noStrike">
                          <a:solidFill>
                            <a:srgbClr val="1E293B"/>
                          </a:solidFill>
                          <a:effectLst/>
                          <a:uFillTx/>
                          <a:latin typeface="QuattrocentoSans"/>
                          <a:ea typeface="QuattrocentoSans"/>
                        </a:rPr>
                        <a:t>+8.5%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760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C: </a:t>
                      </a:r>
                      <a:r>
                        <a:rPr lang="en-US" sz="1100" b="0" u="none" strike="noStrike">
                          <a:solidFill>
                            <a:srgbClr val="1E293B"/>
                          </a:solidFill>
                          <a:effectLst/>
                          <a:uFillTx/>
                          <a:latin typeface="QuattrocentoSans"/>
                          <a:ea typeface="QuattrocentoSans"/>
                        </a:rPr>
                        <a:t>政策冲击</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22,000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25,000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储能</a:t>
                      </a:r>
                      <a:r>
                        <a:rPr lang="en-US" sz="1100" b="0" u="none" strike="noStrike">
                          <a:solidFill>
                            <a:srgbClr val="1E293B"/>
                          </a:solidFill>
                          <a:effectLst/>
                          <a:uFillTx/>
                          <a:latin typeface="QuattrocentoSans"/>
                          <a:ea typeface="QuattrocentoSans"/>
                        </a:rPr>
                        <a:t>IRR-2.3%</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781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D: </a:t>
                      </a:r>
                      <a:r>
                        <a:rPr lang="en-US" sz="1100" b="0" u="none" strike="noStrike">
                          <a:solidFill>
                            <a:srgbClr val="1E293B"/>
                          </a:solidFill>
                          <a:effectLst/>
                          <a:uFillTx/>
                          <a:latin typeface="QuattrocentoSans"/>
                          <a:ea typeface="QuattrocentoSans"/>
                        </a:rPr>
                        <a:t>技术替代</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9,000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16,000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锂需求增速</a:t>
                      </a:r>
                      <a:r>
                        <a:rPr lang="en-US" sz="1100" b="0" u="none" strike="noStrike">
                          <a:solidFill>
                            <a:srgbClr val="1E293B"/>
                          </a:solidFill>
                          <a:effectLst/>
                          <a:uFillTx/>
                          <a:latin typeface="QuattrocentoSans"/>
                          <a:ea typeface="QuattrocentoSans"/>
                        </a:rPr>
                        <a:t>-15%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760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E: </a:t>
                      </a:r>
                      <a:r>
                        <a:rPr lang="en-US" sz="1100" b="0" u="none" strike="noStrike">
                          <a:solidFill>
                            <a:srgbClr val="1E293B"/>
                          </a:solidFill>
                          <a:effectLst/>
                          <a:uFillTx/>
                          <a:latin typeface="QuattrocentoSans"/>
                          <a:ea typeface="QuattrocentoSans"/>
                        </a:rPr>
                        <a:t>金融恐慌</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8,000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14,000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存货减值风险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778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F: </a:t>
                      </a:r>
                      <a:r>
                        <a:rPr lang="en-US" sz="1100" b="0" u="none" strike="noStrike">
                          <a:solidFill>
                            <a:srgbClr val="1E293B"/>
                          </a:solidFill>
                          <a:effectLst/>
                          <a:uFillTx/>
                          <a:latin typeface="QuattrocentoSans"/>
                          <a:ea typeface="QuattrocentoSans"/>
                        </a:rPr>
                        <a:t>绿色通胀</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18,000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28,000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全面成本上升</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bl>
          </a:graphicData>
        </a:graphic>
      </p:graphicFrame>
      <p:sp>
        <p:nvSpPr>
          <p:cNvPr id="170" name="Shape 3"/>
          <p:cNvSpPr/>
          <p:nvPr/>
        </p:nvSpPr>
        <p:spPr>
          <a:xfrm>
            <a:off x="762120" y="6858000"/>
            <a:ext cx="14731920" cy="1143000"/>
          </a:xfrm>
          <a:prstGeom prst="rect">
            <a:avLst/>
          </a:prstGeom>
          <a:solidFill>
            <a:srgbClr val="0A1628"/>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71" name="Text 4"/>
          <p:cNvSpPr/>
          <p:nvPr/>
        </p:nvSpPr>
        <p:spPr>
          <a:xfrm>
            <a:off x="1015920" y="6985080"/>
            <a:ext cx="14223960" cy="888840"/>
          </a:xfrm>
          <a:prstGeom prst="rect">
            <a:avLst/>
          </a:prstGeom>
          <a:noFill/>
          <a:ln w="0">
            <a:noFill/>
          </a:ln>
        </p:spPr>
        <p:style>
          <a:lnRef idx="0"/>
          <a:fillRef idx="0"/>
          <a:effectRef idx="0"/>
          <a:fontRef idx="minor"/>
        </p:style>
        <p:txBody>
          <a:bodyPr lIns="0" tIns="0" rIns="0" bIns="0" anchor="ctr">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FFFFFF"/>
                </a:solidFill>
                <a:effectLst/>
                <a:uFillTx/>
                <a:latin typeface="Quattrocento Sans"/>
              </a:rPr>
              <a:t>对冲策略</a:t>
            </a:r>
            <a:r>
              <a:rPr lang="en-US" sz="1600" b="0" u="none" strike="noStrike">
                <a:solidFill>
                  <a:srgbClr val="FFFFFF"/>
                </a:solidFill>
                <a:effectLst/>
                <a:uFillTx/>
                <a:latin typeface="Quattrocento Sans"/>
              </a:rPr>
              <a:t>：矿产组合多元化（锂：智利盐湖</a:t>
            </a:r>
            <a:r>
              <a:rPr lang="en-US" sz="1600" b="0" u="none" strike="noStrike">
                <a:solidFill>
                  <a:srgbClr val="FFFFFF"/>
                </a:solidFill>
                <a:effectLst/>
                <a:uFillTx/>
                <a:latin typeface="Quattrocento Sans"/>
              </a:rPr>
              <a:t>+</a:t>
            </a:r>
            <a:r>
              <a:rPr lang="en-US" sz="1600" b="0" u="none" strike="noStrike">
                <a:solidFill>
                  <a:srgbClr val="FFFFFF"/>
                </a:solidFill>
                <a:effectLst/>
                <a:uFillTx/>
                <a:latin typeface="Quattrocento Sans"/>
              </a:rPr>
              <a:t>澳洲硬岩</a:t>
            </a:r>
            <a:r>
              <a:rPr lang="en-US" sz="1600" b="0" u="none" strike="noStrike">
                <a:solidFill>
                  <a:srgbClr val="FFFFFF"/>
                </a:solidFill>
                <a:effectLst/>
                <a:uFillTx/>
                <a:latin typeface="Quattrocento Sans"/>
              </a:rPr>
              <a:t>+</a:t>
            </a:r>
            <a:r>
              <a:rPr lang="en-US" sz="1600" b="0" u="none" strike="noStrike">
                <a:solidFill>
                  <a:srgbClr val="FFFFFF"/>
                </a:solidFill>
                <a:effectLst/>
                <a:uFillTx/>
                <a:latin typeface="Quattrocento Sans"/>
              </a:rPr>
              <a:t>非洲锂辉石</a:t>
            </a:r>
            <a:r>
              <a:rPr lang="en-US" sz="1600" b="0" u="none" strike="noStrike">
                <a:solidFill>
                  <a:srgbClr val="FFFFFF"/>
                </a:solidFill>
                <a:effectLst/>
                <a:uFillTx/>
                <a:latin typeface="Quattrocento Sans"/>
              </a:rPr>
              <a:t>=4:3:3</a:t>
            </a:r>
            <a:r>
              <a:rPr lang="en-US" sz="1600" b="0" u="none" strike="noStrike">
                <a:solidFill>
                  <a:srgbClr val="FFFFFF"/>
                </a:solidFill>
                <a:effectLst/>
                <a:uFillTx/>
                <a:latin typeface="Quattrocento Sans"/>
              </a:rPr>
              <a:t>）、战略库存（</a:t>
            </a:r>
            <a:r>
              <a:rPr lang="en-US" sz="1600" b="0" u="none" strike="noStrike">
                <a:solidFill>
                  <a:srgbClr val="FFFFFF"/>
                </a:solidFill>
                <a:effectLst/>
                <a:uFillTx/>
                <a:latin typeface="Quattrocento Sans"/>
              </a:rPr>
              <a:t>6</a:t>
            </a:r>
            <a:r>
              <a:rPr lang="en-US" sz="1600" b="0" u="none" strike="noStrike">
                <a:solidFill>
                  <a:srgbClr val="FFFFFF"/>
                </a:solidFill>
                <a:effectLst/>
                <a:uFillTx/>
                <a:latin typeface="Quattrocento Sans"/>
              </a:rPr>
              <a:t>个月生产用量）、期货套保（</a:t>
            </a:r>
            <a:r>
              <a:rPr lang="en-US" sz="1600" b="0" u="none" strike="noStrike">
                <a:solidFill>
                  <a:srgbClr val="FFFFFF"/>
                </a:solidFill>
                <a:effectLst/>
                <a:uFillTx/>
                <a:latin typeface="Quattrocento Sans"/>
              </a:rPr>
              <a:t>LME</a:t>
            </a:r>
            <a:r>
              <a:rPr lang="en-US" sz="1600" b="0" u="none" strike="noStrike">
                <a:solidFill>
                  <a:srgbClr val="FFFFFF"/>
                </a:solidFill>
                <a:effectLst/>
                <a:uFillTx/>
                <a:latin typeface="Quattrocento Sans"/>
              </a:rPr>
              <a:t>锂期货持仓上限</a:t>
            </a:r>
            <a:r>
              <a:rPr lang="en-US" sz="1600" b="0" u="none" strike="noStrike">
                <a:solidFill>
                  <a:srgbClr val="FFFFFF"/>
                </a:solidFill>
                <a:effectLst/>
                <a:uFillTx/>
                <a:latin typeface="Quattrocento Sans"/>
              </a:rPr>
              <a:t>20%</a:t>
            </a:r>
            <a:r>
              <a:rPr lang="en-US" sz="1600" b="0" u="none" strike="noStrike">
                <a:solidFill>
                  <a:srgbClr val="FFFFFF"/>
                </a:solidFill>
                <a:effectLst/>
                <a:uFillTx/>
                <a:latin typeface="Quattrocento Sans"/>
              </a:rPr>
              <a:t>年产量）。</a:t>
            </a:r>
            <a:endParaRPr lang="en-US" sz="1600" b="0" u="none" strike="noStrike">
              <a:solidFill>
                <a:srgbClr val="000000"/>
              </a:solidFill>
              <a:effectLst/>
              <a:uFillTx/>
              <a:latin typeface="Calibri"/>
            </a:endParaRPr>
          </a:p>
        </p:txBody>
      </p:sp>
      <p:sp>
        <p:nvSpPr>
          <p:cNvPr id="172" name="Text 5"/>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Benchmark Mineral Intelligence Price Forecast, Titan Risk Management Model, LME Futures Curve 2026 · Slide 16</a:t>
            </a:r>
            <a:endParaRPr lang="en-US" sz="1000" b="0" u="none" strike="noStrike">
              <a:solidFill>
                <a:srgbClr val="000000"/>
              </a:solidFill>
              <a:effectLst/>
              <a:uFillTx/>
              <a:latin typeface="Calibri"/>
            </a:endParaRPr>
          </a:p>
        </p:txBody>
      </p:sp>
    </p:spTree>
  </p:cSld>
  <p:transition>
    <p:fade/>
  </p:transition>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173" name="Text 0"/>
          <p:cNvSpPr/>
          <p:nvPr/>
        </p:nvSpPr>
        <p:spPr>
          <a:xfrm>
            <a:off x="762120" y="507960"/>
            <a:ext cx="126997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全球六大生产基地战略布局总览</a:t>
            </a:r>
            <a:endParaRPr lang="en-US" sz="2800" b="0" u="none" strike="noStrike">
              <a:solidFill>
                <a:srgbClr val="000000"/>
              </a:solidFill>
              <a:effectLst/>
              <a:uFillTx/>
              <a:latin typeface="Calibri"/>
            </a:endParaRPr>
          </a:p>
        </p:txBody>
      </p:sp>
      <p:sp>
        <p:nvSpPr>
          <p:cNvPr id="174"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75" name="Text 2"/>
          <p:cNvSpPr/>
          <p:nvPr/>
        </p:nvSpPr>
        <p:spPr>
          <a:xfrm>
            <a:off x="762120" y="1333440"/>
            <a:ext cx="14731920" cy="101592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泰坦动力规划六大全球化生产基地，形成</a:t>
            </a:r>
            <a:r>
              <a:rPr lang="en-US" sz="1600" b="1"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三小时供应链圈</a:t>
            </a:r>
            <a:r>
              <a:rPr lang="en-US" sz="1600" b="1"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。基地选址遵循</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资源邻近</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市场邻近</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政策优惠</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三维加权模型，权重分别为</a:t>
            </a:r>
            <a:r>
              <a:rPr lang="en-US" sz="1600" b="0" u="none" strike="noStrike">
                <a:solidFill>
                  <a:srgbClr val="1E293B"/>
                </a:solidFill>
                <a:effectLst/>
                <a:uFillTx/>
                <a:latin typeface="QuattrocentoSans"/>
                <a:ea typeface="QuattrocentoSans"/>
              </a:rPr>
              <a:t>40%</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35%</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25%</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p:txBody>
      </p:sp>
      <p:sp>
        <p:nvSpPr>
          <p:cNvPr id="176" name="Shape 3"/>
          <p:cNvSpPr/>
          <p:nvPr/>
        </p:nvSpPr>
        <p:spPr>
          <a:xfrm>
            <a:off x="762120" y="2540160"/>
            <a:ext cx="4698720" cy="190476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77" name="Text 4"/>
          <p:cNvSpPr/>
          <p:nvPr/>
        </p:nvSpPr>
        <p:spPr>
          <a:xfrm>
            <a:off x="1015920" y="2666880"/>
            <a:ext cx="4191120" cy="3812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A1628"/>
                </a:solidFill>
                <a:effectLst/>
                <a:uFillTx/>
                <a:latin typeface="Liter"/>
                <a:ea typeface="Liter"/>
              </a:rPr>
              <a:t>东南亚基地</a:t>
            </a:r>
            <a:r>
              <a:rPr lang="en-US" sz="1600" b="0" u="none" strike="noStrike">
                <a:solidFill>
                  <a:srgbClr val="0A1628"/>
                </a:solidFill>
                <a:effectLst/>
                <a:uFillTx/>
                <a:latin typeface="Liter"/>
                <a:ea typeface="Liter"/>
              </a:rPr>
              <a:t></a:t>
            </a:r>
            <a:r>
              <a:rPr lang="en-US" sz="1600" b="0" u="none" strike="noStrike">
                <a:solidFill>
                  <a:srgbClr val="C8A265"/>
                </a:solidFill>
                <a:effectLst/>
                <a:uFillTx/>
                <a:latin typeface="Liter"/>
                <a:ea typeface="Liter"/>
              </a:rPr>
              <a:t>印尼越南</a:t>
            </a:r>
            <a:endParaRPr lang="en-US" sz="1600" b="0" u="none" strike="noStrike">
              <a:solidFill>
                <a:srgbClr val="000000"/>
              </a:solidFill>
              <a:effectLst/>
              <a:uFillTx/>
              <a:latin typeface="Calibri"/>
            </a:endParaRPr>
          </a:p>
        </p:txBody>
      </p:sp>
      <p:sp>
        <p:nvSpPr>
          <p:cNvPr id="178" name="Text 5"/>
          <p:cNvSpPr/>
          <p:nvPr/>
        </p:nvSpPr>
        <p:spPr>
          <a:xfrm>
            <a:off x="1015920" y="3111480"/>
            <a:ext cx="4191120" cy="114300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聚焦镍</a:t>
            </a:r>
            <a:r>
              <a:rPr lang="en-US" sz="1300" b="0" u="none" strike="noStrike">
                <a:solidFill>
                  <a:srgbClr val="1E293B"/>
                </a:solidFill>
                <a:effectLst/>
                <a:uFillTx/>
                <a:latin typeface="Quattrocento Sans"/>
              </a:rPr>
              <a:t>-</a:t>
            </a:r>
            <a:r>
              <a:rPr lang="en-US" sz="1300" b="0" u="none" strike="noStrike">
                <a:solidFill>
                  <a:srgbClr val="1E293B"/>
                </a:solidFill>
                <a:effectLst/>
                <a:uFillTx/>
                <a:latin typeface="Quattrocento Sans"/>
              </a:rPr>
              <a:t>电池一体化与光伏组件组装</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服务亚太市场</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投资占比：</a:t>
            </a:r>
            <a:r>
              <a:rPr lang="en-US" sz="1300" b="0" u="none" strike="noStrike">
                <a:solidFill>
                  <a:srgbClr val="1E293B"/>
                </a:solidFill>
                <a:effectLst/>
                <a:uFillTx/>
                <a:latin typeface="Quattrocento Sans"/>
              </a:rPr>
              <a:t>34%</a:t>
            </a:r>
            <a:endParaRPr lang="en-US" sz="1300" b="0" u="none" strike="noStrike">
              <a:solidFill>
                <a:srgbClr val="000000"/>
              </a:solidFill>
              <a:effectLst/>
              <a:uFillTx/>
              <a:latin typeface="Calibri"/>
            </a:endParaRPr>
          </a:p>
        </p:txBody>
      </p:sp>
      <p:sp>
        <p:nvSpPr>
          <p:cNvPr id="179" name="Shape 6"/>
          <p:cNvSpPr/>
          <p:nvPr/>
        </p:nvSpPr>
        <p:spPr>
          <a:xfrm>
            <a:off x="5715000" y="2540160"/>
            <a:ext cx="4699080" cy="190476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80" name="Text 7"/>
          <p:cNvSpPr/>
          <p:nvPr/>
        </p:nvSpPr>
        <p:spPr>
          <a:xfrm>
            <a:off x="5969160" y="2666880"/>
            <a:ext cx="4190760" cy="3812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A1628"/>
                </a:solidFill>
                <a:effectLst/>
                <a:uFillTx/>
                <a:latin typeface="Liter"/>
                <a:ea typeface="Liter"/>
              </a:rPr>
              <a:t>北非基地</a:t>
            </a:r>
            <a:r>
              <a:rPr lang="en-US" sz="1600" b="0" u="none" strike="noStrike">
                <a:solidFill>
                  <a:srgbClr val="0A1628"/>
                </a:solidFill>
                <a:effectLst/>
                <a:uFillTx/>
                <a:latin typeface="Liter"/>
                <a:ea typeface="Liter"/>
              </a:rPr>
              <a:t></a:t>
            </a:r>
            <a:r>
              <a:rPr lang="en-US" sz="1600" b="0" u="none" strike="noStrike">
                <a:solidFill>
                  <a:srgbClr val="C8A265"/>
                </a:solidFill>
                <a:effectLst/>
                <a:uFillTx/>
                <a:latin typeface="Liter"/>
                <a:ea typeface="Liter"/>
              </a:rPr>
              <a:t>摩洛哥埃及</a:t>
            </a:r>
            <a:endParaRPr lang="en-US" sz="1600" b="0" u="none" strike="noStrike">
              <a:solidFill>
                <a:srgbClr val="000000"/>
              </a:solidFill>
              <a:effectLst/>
              <a:uFillTx/>
              <a:latin typeface="Calibri"/>
            </a:endParaRPr>
          </a:p>
        </p:txBody>
      </p:sp>
      <p:sp>
        <p:nvSpPr>
          <p:cNvPr id="181" name="Text 8"/>
          <p:cNvSpPr/>
          <p:nvPr/>
        </p:nvSpPr>
        <p:spPr>
          <a:xfrm>
            <a:off x="5969160" y="3111480"/>
            <a:ext cx="4190760" cy="114300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聚焦绿氢出口欧洲与光伏玻璃制造</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利用欧盟</a:t>
            </a:r>
            <a:r>
              <a:rPr lang="en-US" sz="1300" b="0" u="none" strike="noStrike">
                <a:solidFill>
                  <a:srgbClr val="1E293B"/>
                </a:solidFill>
                <a:effectLst/>
                <a:uFillTx/>
                <a:latin typeface="Quattrocento Sans"/>
              </a:rPr>
              <a:t>-</a:t>
            </a:r>
            <a:r>
              <a:rPr lang="en-US" sz="1300" b="0" u="none" strike="noStrike">
                <a:solidFill>
                  <a:srgbClr val="1E293B"/>
                </a:solidFill>
                <a:effectLst/>
                <a:uFillTx/>
                <a:latin typeface="Quattrocento Sans"/>
              </a:rPr>
              <a:t>地中海零关税优势</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投资占比：</a:t>
            </a:r>
            <a:r>
              <a:rPr lang="en-US" sz="1300" b="0" u="none" strike="noStrike">
                <a:solidFill>
                  <a:srgbClr val="1E293B"/>
                </a:solidFill>
                <a:effectLst/>
                <a:uFillTx/>
                <a:latin typeface="Quattrocento Sans"/>
              </a:rPr>
              <a:t>12%</a:t>
            </a:r>
            <a:endParaRPr lang="en-US" sz="1300" b="0" u="none" strike="noStrike">
              <a:solidFill>
                <a:srgbClr val="000000"/>
              </a:solidFill>
              <a:effectLst/>
              <a:uFillTx/>
              <a:latin typeface="Calibri"/>
            </a:endParaRPr>
          </a:p>
        </p:txBody>
      </p:sp>
      <p:sp>
        <p:nvSpPr>
          <p:cNvPr id="182" name="Shape 9"/>
          <p:cNvSpPr/>
          <p:nvPr/>
        </p:nvSpPr>
        <p:spPr>
          <a:xfrm>
            <a:off x="10667880" y="2540160"/>
            <a:ext cx="4826160" cy="190476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83" name="Text 10"/>
          <p:cNvSpPr/>
          <p:nvPr/>
        </p:nvSpPr>
        <p:spPr>
          <a:xfrm>
            <a:off x="10922040" y="2666880"/>
            <a:ext cx="4317840" cy="3812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A1628"/>
                </a:solidFill>
                <a:effectLst/>
                <a:uFillTx/>
                <a:latin typeface="Liter"/>
                <a:ea typeface="Liter"/>
              </a:rPr>
              <a:t>南美基地</a:t>
            </a:r>
            <a:r>
              <a:rPr lang="en-US" sz="1600" b="0" u="none" strike="noStrike">
                <a:solidFill>
                  <a:srgbClr val="0A1628"/>
                </a:solidFill>
                <a:effectLst/>
                <a:uFillTx/>
                <a:latin typeface="Liter"/>
                <a:ea typeface="Liter"/>
              </a:rPr>
              <a:t></a:t>
            </a:r>
            <a:r>
              <a:rPr lang="en-US" sz="1600" b="0" u="none" strike="noStrike">
                <a:solidFill>
                  <a:srgbClr val="C8A265"/>
                </a:solidFill>
                <a:effectLst/>
                <a:uFillTx/>
                <a:latin typeface="Liter"/>
                <a:ea typeface="Liter"/>
              </a:rPr>
              <a:t>智利巴西</a:t>
            </a:r>
            <a:endParaRPr lang="en-US" sz="1600" b="0" u="none" strike="noStrike">
              <a:solidFill>
                <a:srgbClr val="000000"/>
              </a:solidFill>
              <a:effectLst/>
              <a:uFillTx/>
              <a:latin typeface="Calibri"/>
            </a:endParaRPr>
          </a:p>
        </p:txBody>
      </p:sp>
      <p:sp>
        <p:nvSpPr>
          <p:cNvPr id="184" name="Text 11"/>
          <p:cNvSpPr/>
          <p:nvPr/>
        </p:nvSpPr>
        <p:spPr>
          <a:xfrm>
            <a:off x="10922040" y="3111480"/>
            <a:ext cx="4317840" cy="114300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聚焦锂盐加工与锂电正极材料</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服务北美与欧洲市场</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投资占比：</a:t>
            </a:r>
            <a:r>
              <a:rPr lang="en-US" sz="1300" b="0" u="none" strike="noStrike">
                <a:solidFill>
                  <a:srgbClr val="1E293B"/>
                </a:solidFill>
                <a:effectLst/>
                <a:uFillTx/>
                <a:latin typeface="Quattrocento Sans"/>
              </a:rPr>
              <a:t>6%</a:t>
            </a:r>
            <a:endParaRPr lang="en-US" sz="1300" b="0" u="none" strike="noStrike">
              <a:solidFill>
                <a:srgbClr val="000000"/>
              </a:solidFill>
              <a:effectLst/>
              <a:uFillTx/>
              <a:latin typeface="Calibri"/>
            </a:endParaRPr>
          </a:p>
        </p:txBody>
      </p:sp>
      <p:sp>
        <p:nvSpPr>
          <p:cNvPr id="185" name="Shape 12"/>
          <p:cNvSpPr/>
          <p:nvPr/>
        </p:nvSpPr>
        <p:spPr>
          <a:xfrm>
            <a:off x="762120" y="4699080"/>
            <a:ext cx="4698720" cy="190476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86" name="Text 13"/>
          <p:cNvSpPr/>
          <p:nvPr/>
        </p:nvSpPr>
        <p:spPr>
          <a:xfrm>
            <a:off x="1015920" y="4826160"/>
            <a:ext cx="419112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A1628"/>
                </a:solidFill>
                <a:effectLst/>
                <a:uFillTx/>
                <a:latin typeface="Liter"/>
                <a:ea typeface="Liter"/>
              </a:rPr>
              <a:t>中东基地</a:t>
            </a:r>
            <a:r>
              <a:rPr lang="en-US" sz="1600" b="0" u="none" strike="noStrike">
                <a:solidFill>
                  <a:srgbClr val="0A1628"/>
                </a:solidFill>
                <a:effectLst/>
                <a:uFillTx/>
                <a:latin typeface="Liter"/>
                <a:ea typeface="Liter"/>
              </a:rPr>
              <a:t></a:t>
            </a:r>
            <a:r>
              <a:rPr lang="en-US" sz="1600" b="0" u="none" strike="noStrike">
                <a:solidFill>
                  <a:srgbClr val="C8A265"/>
                </a:solidFill>
                <a:effectLst/>
                <a:uFillTx/>
                <a:latin typeface="Liter"/>
                <a:ea typeface="Liter"/>
              </a:rPr>
              <a:t>沙特阿联酋</a:t>
            </a:r>
            <a:endParaRPr lang="en-US" sz="1600" b="0" u="none" strike="noStrike">
              <a:solidFill>
                <a:srgbClr val="000000"/>
              </a:solidFill>
              <a:effectLst/>
              <a:uFillTx/>
              <a:latin typeface="Calibri"/>
            </a:endParaRPr>
          </a:p>
        </p:txBody>
      </p:sp>
      <p:sp>
        <p:nvSpPr>
          <p:cNvPr id="187" name="Text 14"/>
          <p:cNvSpPr/>
          <p:nvPr/>
        </p:nvSpPr>
        <p:spPr>
          <a:xfrm>
            <a:off x="1015920" y="5270400"/>
            <a:ext cx="4191120" cy="114300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聚焦光伏</a:t>
            </a:r>
            <a:r>
              <a:rPr lang="en-US" sz="1300" b="0" u="none" strike="noStrike">
                <a:solidFill>
                  <a:srgbClr val="1E293B"/>
                </a:solidFill>
                <a:effectLst/>
                <a:uFillTx/>
                <a:latin typeface="Quattrocento Sans"/>
              </a:rPr>
              <a:t>-</a:t>
            </a:r>
            <a:r>
              <a:rPr lang="en-US" sz="1300" b="0" u="none" strike="noStrike">
                <a:solidFill>
                  <a:srgbClr val="1E293B"/>
                </a:solidFill>
                <a:effectLst/>
                <a:uFillTx/>
                <a:latin typeface="Quattrocento Sans"/>
              </a:rPr>
              <a:t>制氢</a:t>
            </a:r>
            <a:r>
              <a:rPr lang="en-US" sz="1300" b="0" u="none" strike="noStrike">
                <a:solidFill>
                  <a:srgbClr val="1E293B"/>
                </a:solidFill>
                <a:effectLst/>
                <a:uFillTx/>
                <a:latin typeface="Quattrocento Sans"/>
              </a:rPr>
              <a:t>-</a:t>
            </a:r>
            <a:r>
              <a:rPr lang="en-US" sz="1300" b="0" u="none" strike="noStrike">
                <a:solidFill>
                  <a:srgbClr val="1E293B"/>
                </a:solidFill>
                <a:effectLst/>
                <a:uFillTx/>
                <a:latin typeface="Quattrocento Sans"/>
              </a:rPr>
              <a:t>储氢全产业链</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低成本光伏</a:t>
            </a:r>
            <a:r>
              <a:rPr lang="en-US" sz="1300" b="0" u="none" strike="noStrike">
                <a:solidFill>
                  <a:srgbClr val="1E293B"/>
                </a:solidFill>
                <a:effectLst/>
                <a:uFillTx/>
                <a:latin typeface="Quattrocento Sans"/>
              </a:rPr>
              <a:t>(0.009 USD/kWh)</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投资占比：</a:t>
            </a:r>
            <a:r>
              <a:rPr lang="en-US" sz="1300" b="0" u="none" strike="noStrike">
                <a:solidFill>
                  <a:srgbClr val="1E293B"/>
                </a:solidFill>
                <a:effectLst/>
                <a:uFillTx/>
                <a:latin typeface="Quattrocento Sans"/>
              </a:rPr>
              <a:t>12%</a:t>
            </a:r>
            <a:endParaRPr lang="en-US" sz="1300" b="0" u="none" strike="noStrike">
              <a:solidFill>
                <a:srgbClr val="000000"/>
              </a:solidFill>
              <a:effectLst/>
              <a:uFillTx/>
              <a:latin typeface="Calibri"/>
            </a:endParaRPr>
          </a:p>
        </p:txBody>
      </p:sp>
      <p:sp>
        <p:nvSpPr>
          <p:cNvPr id="188" name="Shape 15"/>
          <p:cNvSpPr/>
          <p:nvPr/>
        </p:nvSpPr>
        <p:spPr>
          <a:xfrm>
            <a:off x="5715000" y="4699080"/>
            <a:ext cx="4699080" cy="190476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89" name="Text 16"/>
          <p:cNvSpPr/>
          <p:nvPr/>
        </p:nvSpPr>
        <p:spPr>
          <a:xfrm>
            <a:off x="5969160" y="4826160"/>
            <a:ext cx="419076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A1628"/>
                </a:solidFill>
                <a:effectLst/>
                <a:uFillTx/>
                <a:latin typeface="Liter"/>
                <a:ea typeface="Liter"/>
              </a:rPr>
              <a:t>东欧基地</a:t>
            </a:r>
            <a:r>
              <a:rPr lang="en-US" sz="1600" b="0" u="none" strike="noStrike">
                <a:solidFill>
                  <a:srgbClr val="0A1628"/>
                </a:solidFill>
                <a:effectLst/>
                <a:uFillTx/>
                <a:latin typeface="Liter"/>
                <a:ea typeface="Liter"/>
              </a:rPr>
              <a:t></a:t>
            </a:r>
            <a:r>
              <a:rPr lang="en-US" sz="1600" b="0" u="none" strike="noStrike">
                <a:solidFill>
                  <a:srgbClr val="C8A265"/>
                </a:solidFill>
                <a:effectLst/>
                <a:uFillTx/>
                <a:latin typeface="Liter"/>
                <a:ea typeface="Liter"/>
              </a:rPr>
              <a:t>波兰罗马尼亚</a:t>
            </a:r>
            <a:endParaRPr lang="en-US" sz="1600" b="0" u="none" strike="noStrike">
              <a:solidFill>
                <a:srgbClr val="000000"/>
              </a:solidFill>
              <a:effectLst/>
              <a:uFillTx/>
              <a:latin typeface="Calibri"/>
            </a:endParaRPr>
          </a:p>
        </p:txBody>
      </p:sp>
      <p:sp>
        <p:nvSpPr>
          <p:cNvPr id="190" name="Text 17"/>
          <p:cNvSpPr/>
          <p:nvPr/>
        </p:nvSpPr>
        <p:spPr>
          <a:xfrm>
            <a:off x="5969160" y="5270400"/>
            <a:ext cx="4190760" cy="114300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聚焦风电整机制造与储能集成</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服务欧盟本土市场</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投资占比：</a:t>
            </a:r>
            <a:r>
              <a:rPr lang="en-US" sz="1300" b="0" u="none" strike="noStrike">
                <a:solidFill>
                  <a:srgbClr val="1E293B"/>
                </a:solidFill>
                <a:effectLst/>
                <a:uFillTx/>
                <a:latin typeface="Quattrocento Sans"/>
              </a:rPr>
              <a:t>26%</a:t>
            </a:r>
            <a:endParaRPr lang="en-US" sz="1300" b="0" u="none" strike="noStrike">
              <a:solidFill>
                <a:srgbClr val="000000"/>
              </a:solidFill>
              <a:effectLst/>
              <a:uFillTx/>
              <a:latin typeface="Calibri"/>
            </a:endParaRPr>
          </a:p>
        </p:txBody>
      </p:sp>
      <p:sp>
        <p:nvSpPr>
          <p:cNvPr id="191" name="Shape 18"/>
          <p:cNvSpPr/>
          <p:nvPr/>
        </p:nvSpPr>
        <p:spPr>
          <a:xfrm>
            <a:off x="10667880" y="4699080"/>
            <a:ext cx="4826160" cy="190476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92" name="Text 19"/>
          <p:cNvSpPr/>
          <p:nvPr/>
        </p:nvSpPr>
        <p:spPr>
          <a:xfrm>
            <a:off x="10922040" y="4826160"/>
            <a:ext cx="43178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A1628"/>
                </a:solidFill>
                <a:effectLst/>
                <a:uFillTx/>
                <a:latin typeface="Liter"/>
                <a:ea typeface="Liter"/>
              </a:rPr>
              <a:t>北美基地</a:t>
            </a:r>
            <a:r>
              <a:rPr lang="en-US" sz="1600" b="0" u="none" strike="noStrike">
                <a:solidFill>
                  <a:srgbClr val="0A1628"/>
                </a:solidFill>
                <a:effectLst/>
                <a:uFillTx/>
                <a:latin typeface="Liter"/>
                <a:ea typeface="Liter"/>
              </a:rPr>
              <a:t></a:t>
            </a:r>
            <a:r>
              <a:rPr lang="en-US" sz="1600" b="0" u="none" strike="noStrike">
                <a:solidFill>
                  <a:srgbClr val="C8A265"/>
                </a:solidFill>
                <a:effectLst/>
                <a:uFillTx/>
                <a:latin typeface="Liter"/>
                <a:ea typeface="Liter"/>
              </a:rPr>
              <a:t>德州加拿大</a:t>
            </a:r>
            <a:endParaRPr lang="en-US" sz="1600" b="0" u="none" strike="noStrike">
              <a:solidFill>
                <a:srgbClr val="000000"/>
              </a:solidFill>
              <a:effectLst/>
              <a:uFillTx/>
              <a:latin typeface="Calibri"/>
            </a:endParaRPr>
          </a:p>
        </p:txBody>
      </p:sp>
      <p:sp>
        <p:nvSpPr>
          <p:cNvPr id="193" name="Text 20"/>
          <p:cNvSpPr/>
          <p:nvPr/>
        </p:nvSpPr>
        <p:spPr>
          <a:xfrm>
            <a:off x="10922040" y="5270400"/>
            <a:ext cx="4317840" cy="114300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聚焦碳捕集技术研发与燃气调峰改造</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服务北美本土市场</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投资占比：</a:t>
            </a:r>
            <a:r>
              <a:rPr lang="en-US" sz="1300" b="0" u="none" strike="noStrike">
                <a:solidFill>
                  <a:srgbClr val="1E293B"/>
                </a:solidFill>
                <a:effectLst/>
                <a:uFillTx/>
                <a:latin typeface="Quattrocento Sans"/>
              </a:rPr>
              <a:t>20%</a:t>
            </a:r>
            <a:endParaRPr lang="en-US" sz="1300" b="0" u="none" strike="noStrike">
              <a:solidFill>
                <a:srgbClr val="000000"/>
              </a:solidFill>
              <a:effectLst/>
              <a:uFillTx/>
              <a:latin typeface="Calibri"/>
            </a:endParaRPr>
          </a:p>
        </p:txBody>
      </p:sp>
      <p:sp>
        <p:nvSpPr>
          <p:cNvPr id="194" name="Shape 21"/>
          <p:cNvSpPr/>
          <p:nvPr/>
        </p:nvSpPr>
        <p:spPr>
          <a:xfrm>
            <a:off x="762120" y="6858000"/>
            <a:ext cx="14731920" cy="1143000"/>
          </a:xfrm>
          <a:prstGeom prst="rect">
            <a:avLst/>
          </a:prstGeom>
          <a:solidFill>
            <a:srgbClr val="0A1628"/>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95" name="Text 22"/>
          <p:cNvSpPr/>
          <p:nvPr/>
        </p:nvSpPr>
        <p:spPr>
          <a:xfrm>
            <a:off x="1015920" y="6985080"/>
            <a:ext cx="14223960" cy="888840"/>
          </a:xfrm>
          <a:prstGeom prst="rect">
            <a:avLst/>
          </a:prstGeom>
          <a:noFill/>
          <a:ln w="0">
            <a:noFill/>
          </a:ln>
        </p:spPr>
        <p:style>
          <a:lnRef idx="0"/>
          <a:fillRef idx="0"/>
          <a:effectRef idx="0"/>
          <a:fontRef idx="minor"/>
        </p:style>
        <p:txBody>
          <a:bodyPr lIns="0" tIns="0" rIns="0" bIns="0" anchor="ctr">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FFFFFF"/>
                </a:solidFill>
                <a:effectLst/>
                <a:uFillTx/>
                <a:latin typeface="Quattrocento Sans"/>
              </a:rPr>
              <a:t>选址逻辑</a:t>
            </a:r>
            <a:r>
              <a:rPr lang="en-US" sz="1600" b="0" u="none" strike="noStrike">
                <a:solidFill>
                  <a:srgbClr val="FFFFFF"/>
                </a:solidFill>
                <a:effectLst/>
                <a:uFillTx/>
                <a:latin typeface="Quattrocento Sans"/>
              </a:rPr>
              <a:t>：三维加权模型——资源邻近</a:t>
            </a:r>
            <a:r>
              <a:rPr lang="en-US" sz="1600" b="0" u="none" strike="noStrike">
                <a:solidFill>
                  <a:srgbClr val="FFFFFF"/>
                </a:solidFill>
                <a:effectLst/>
                <a:uFillTx/>
                <a:latin typeface="Quattrocento Sans"/>
              </a:rPr>
              <a:t>(40%)+</a:t>
            </a:r>
            <a:r>
              <a:rPr lang="en-US" sz="1600" b="0" u="none" strike="noStrike">
                <a:solidFill>
                  <a:srgbClr val="FFFFFF"/>
                </a:solidFill>
                <a:effectLst/>
                <a:uFillTx/>
                <a:latin typeface="Quattrocento Sans"/>
              </a:rPr>
              <a:t>市场邻近</a:t>
            </a:r>
            <a:r>
              <a:rPr lang="en-US" sz="1600" b="0" u="none" strike="noStrike">
                <a:solidFill>
                  <a:srgbClr val="FFFFFF"/>
                </a:solidFill>
                <a:effectLst/>
                <a:uFillTx/>
                <a:latin typeface="Quattrocento Sans"/>
              </a:rPr>
              <a:t>(35%)+</a:t>
            </a:r>
            <a:r>
              <a:rPr lang="en-US" sz="1600" b="0" u="none" strike="noStrike">
                <a:solidFill>
                  <a:srgbClr val="FFFFFF"/>
                </a:solidFill>
                <a:effectLst/>
                <a:uFillTx/>
                <a:latin typeface="Quattrocento Sans"/>
              </a:rPr>
              <a:t>政策优惠</a:t>
            </a:r>
            <a:r>
              <a:rPr lang="en-US" sz="1600" b="0" u="none" strike="noStrike">
                <a:solidFill>
                  <a:srgbClr val="FFFFFF"/>
                </a:solidFill>
                <a:effectLst/>
                <a:uFillTx/>
                <a:latin typeface="Quattrocento Sans"/>
              </a:rPr>
              <a:t>(25%)</a:t>
            </a:r>
            <a:r>
              <a:rPr lang="en-US" sz="1600" b="0" u="none" strike="noStrike">
                <a:solidFill>
                  <a:srgbClr val="FFFFFF"/>
                </a:solidFill>
                <a:effectLst/>
                <a:uFillTx/>
                <a:latin typeface="Quattrocento Sans"/>
              </a:rPr>
              <a:t>。六大基地形成</a:t>
            </a:r>
            <a:r>
              <a:rPr lang="en-US" sz="1600" b="0" u="none" strike="noStrike">
                <a:solidFill>
                  <a:srgbClr val="FFFFFF"/>
                </a:solidFill>
                <a:effectLst/>
                <a:uFillTx/>
                <a:latin typeface="Quattrocento Sans"/>
              </a:rPr>
              <a:t>"</a:t>
            </a:r>
            <a:r>
              <a:rPr lang="en-US" sz="1600" b="0" u="none" strike="noStrike">
                <a:solidFill>
                  <a:srgbClr val="FFFFFF"/>
                </a:solidFill>
                <a:effectLst/>
                <a:uFillTx/>
                <a:latin typeface="Quattrocento Sans"/>
              </a:rPr>
              <a:t>三小时供应链圈</a:t>
            </a:r>
            <a:r>
              <a:rPr lang="en-US" sz="1600" b="0" u="none" strike="noStrike">
                <a:solidFill>
                  <a:srgbClr val="FFFFFF"/>
                </a:solidFill>
                <a:effectLst/>
                <a:uFillTx/>
                <a:latin typeface="Quattrocento Sans"/>
              </a:rPr>
              <a:t>"</a:t>
            </a:r>
            <a:r>
              <a:rPr lang="en-US" sz="1600" b="0" u="none" strike="noStrike">
                <a:solidFill>
                  <a:srgbClr val="FFFFFF"/>
                </a:solidFill>
                <a:effectLst/>
                <a:uFillTx/>
                <a:latin typeface="Quattrocento Sans"/>
              </a:rPr>
              <a:t>，覆盖全球</a:t>
            </a:r>
            <a:r>
              <a:rPr lang="en-US" sz="1600" b="0" u="none" strike="noStrike">
                <a:solidFill>
                  <a:srgbClr val="FFFFFF"/>
                </a:solidFill>
                <a:effectLst/>
                <a:uFillTx/>
                <a:latin typeface="Quattrocento Sans"/>
              </a:rPr>
              <a:t>95%</a:t>
            </a:r>
            <a:r>
              <a:rPr lang="en-US" sz="1600" b="0" u="none" strike="noStrike">
                <a:solidFill>
                  <a:srgbClr val="FFFFFF"/>
                </a:solidFill>
                <a:effectLst/>
                <a:uFillTx/>
                <a:latin typeface="Quattrocento Sans"/>
              </a:rPr>
              <a:t>目标市场。</a:t>
            </a:r>
            <a:endParaRPr lang="en-US" sz="1600" b="0" u="none" strike="noStrike">
              <a:solidFill>
                <a:srgbClr val="000000"/>
              </a:solidFill>
              <a:effectLst/>
              <a:uFillTx/>
              <a:latin typeface="Calibri"/>
            </a:endParaRPr>
          </a:p>
        </p:txBody>
      </p:sp>
      <p:sp>
        <p:nvSpPr>
          <p:cNvPr id="196" name="Text 23"/>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Titan Global Site Selection Committee, UNCTAD World Investment Report 2025, WTO Regional Trade Agreements · Slide 17</a:t>
            </a:r>
            <a:endParaRPr lang="en-US" sz="1000" b="0" u="none" strike="noStrike">
              <a:solidFill>
                <a:srgbClr val="000000"/>
              </a:solidFill>
              <a:effectLst/>
              <a:uFillTx/>
              <a:latin typeface="Calibri"/>
            </a:endParaRPr>
          </a:p>
        </p:txBody>
      </p:sp>
    </p:spTree>
  </p:cSld>
  <p:transition>
    <p:fade/>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197" name="Text 0"/>
          <p:cNvSpPr/>
          <p:nvPr/>
        </p:nvSpPr>
        <p:spPr>
          <a:xfrm>
            <a:off x="762120" y="380880"/>
            <a:ext cx="13969800" cy="45720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A1628"/>
                </a:solidFill>
                <a:effectLst/>
                <a:uFillTx/>
                <a:latin typeface="Liter"/>
                <a:ea typeface="Liter"/>
              </a:rPr>
              <a:t>六大生产基地交叉分析：劳动力物流政策电价四维矩阵</a:t>
            </a:r>
            <a:endParaRPr lang="en-US" sz="2400" b="0" u="none" strike="noStrike">
              <a:solidFill>
                <a:srgbClr val="000000"/>
              </a:solidFill>
              <a:effectLst/>
              <a:uFillTx/>
              <a:latin typeface="Calibri"/>
            </a:endParaRPr>
          </a:p>
        </p:txBody>
      </p:sp>
      <p:sp>
        <p:nvSpPr>
          <p:cNvPr id="198" name="Shape 1"/>
          <p:cNvSpPr/>
          <p:nvPr/>
        </p:nvSpPr>
        <p:spPr>
          <a:xfrm>
            <a:off x="762120" y="863640"/>
            <a:ext cx="761760" cy="25200"/>
          </a:xfrm>
          <a:prstGeom prst="rect">
            <a:avLst/>
          </a:prstGeom>
          <a:solidFill>
            <a:srgbClr val="C8A265"/>
          </a:solidFill>
          <a:ln w="0">
            <a:noFill/>
          </a:ln>
        </p:spPr>
        <p:style>
          <a:lnRef idx="0"/>
          <a:fillRef idx="0"/>
          <a:effectRef idx="0"/>
          <a:fontRef idx="minor"/>
        </p:style>
        <p:txBody>
          <a:bodyPr lIns="90000" tIns="-21600" rIns="90000" bIns="-216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graphicFrame>
        <p:nvGraphicFramePr>
          <p:cNvPr id="199" name=""/>
          <p:cNvGraphicFramePr/>
          <p:nvPr/>
        </p:nvGraphicFramePr>
        <p:xfrm>
          <a:off x="762120" y="1015920"/>
          <a:ext cx="14731920" cy="6693120"/>
        </p:xfrm>
        <a:graphic>
          <a:graphicData uri="http://schemas.openxmlformats.org/drawingml/2006/table">
            <a:tbl>
              <a:tblPr/>
              <a:tblGrid>
                <a:gridCol w="1177920"/>
                <a:gridCol w="1031760"/>
                <a:gridCol w="1177920"/>
                <a:gridCol w="1031760"/>
                <a:gridCol w="1032120"/>
                <a:gridCol w="1030320"/>
                <a:gridCol w="1031760"/>
                <a:gridCol w="1030320"/>
                <a:gridCol w="1031760"/>
                <a:gridCol w="1031760"/>
                <a:gridCol w="1030320"/>
                <a:gridCol w="1032120"/>
                <a:gridCol w="1030320"/>
                <a:gridCol w="1031760"/>
              </a:tblGrid>
              <a:tr h="5461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基地名称</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所在国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核心功能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劳动力成本</a:t>
                      </a:r>
                      <a:r>
                        <a:rPr lang="en-US" sz="1100" b="1" u="none" strike="noStrike">
                          <a:solidFill>
                            <a:srgbClr val="FFFFFF"/>
                          </a:solidFill>
                          <a:effectLst/>
                          <a:uFillTx/>
                          <a:latin typeface="QuattrocentoSans"/>
                          <a:ea typeface="QuattrocentoSans"/>
                        </a:rPr>
                        <a:t>(USD/</a:t>
                      </a:r>
                      <a:r>
                        <a:rPr lang="en-US" sz="1100" b="1" u="none" strike="noStrike">
                          <a:solidFill>
                            <a:srgbClr val="FFFFFF"/>
                          </a:solidFill>
                          <a:effectLst/>
                          <a:uFillTx/>
                          <a:latin typeface="QuattrocentoSans"/>
                          <a:ea typeface="QuattrocentoSans"/>
                        </a:rPr>
                        <a:t>月</a:t>
                      </a:r>
                      <a:r>
                        <a:rPr lang="en-US" sz="1100" b="1" u="none" strike="noStrike">
                          <a:solidFill>
                            <a:srgbClr val="FFFFFF"/>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技能匹配度</a:t>
                      </a:r>
                      <a:r>
                        <a:rPr lang="en-US" sz="1100" b="1" u="none" strike="noStrike">
                          <a:solidFill>
                            <a:srgbClr val="FFFFFF"/>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最近港口</a:t>
                      </a:r>
                      <a:r>
                        <a:rPr lang="en-US" sz="1100" b="1" u="none" strike="noStrike">
                          <a:solidFill>
                            <a:srgbClr val="FFFFFF"/>
                          </a:solidFill>
                          <a:effectLst/>
                          <a:uFillTx/>
                          <a:latin typeface="QuattrocentoSans"/>
                          <a:ea typeface="QuattrocentoSans"/>
                        </a:rPr>
                        <a:t>TEU(</a:t>
                      </a:r>
                      <a:r>
                        <a:rPr lang="en-US" sz="1100" b="1" u="none" strike="noStrike">
                          <a:solidFill>
                            <a:srgbClr val="FFFFFF"/>
                          </a:solidFill>
                          <a:effectLst/>
                          <a:uFillTx/>
                          <a:latin typeface="QuattrocentoSans"/>
                          <a:ea typeface="QuattrocentoSans"/>
                        </a:rPr>
                        <a:t>万</a:t>
                      </a:r>
                      <a:r>
                        <a:rPr lang="en-US" sz="1100" b="1" u="none" strike="noStrike">
                          <a:solidFill>
                            <a:srgbClr val="FFFFFF"/>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所得税率</a:t>
                      </a:r>
                      <a:r>
                        <a:rPr lang="en-US" sz="1100" b="1" u="none" strike="noStrike">
                          <a:solidFill>
                            <a:srgbClr val="FFFFFF"/>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免税期</a:t>
                      </a:r>
                      <a:r>
                        <a:rPr lang="en-US" sz="1100" b="1" u="none" strike="noStrike">
                          <a:solidFill>
                            <a:srgbClr val="FFFFFF"/>
                          </a:solidFill>
                          <a:effectLst/>
                          <a:uFillTx/>
                          <a:latin typeface="QuattrocentoSans"/>
                          <a:ea typeface="QuattrocentoSans"/>
                        </a:rPr>
                        <a:t>(</a:t>
                      </a:r>
                      <a:r>
                        <a:rPr lang="en-US" sz="1100" b="1" u="none" strike="noStrike">
                          <a:solidFill>
                            <a:srgbClr val="FFFFFF"/>
                          </a:solidFill>
                          <a:effectLst/>
                          <a:uFillTx/>
                          <a:latin typeface="QuattrocentoSans"/>
                          <a:ea typeface="QuattrocentoSans"/>
                        </a:rPr>
                        <a:t>年</a:t>
                      </a:r>
                      <a:r>
                        <a:rPr lang="en-US" sz="1100" b="1" u="none" strike="noStrike">
                          <a:solidFill>
                            <a:srgbClr val="FFFFFF"/>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CAPEX</a:t>
                      </a:r>
                      <a:r>
                        <a:rPr lang="en-US" sz="1100" b="1" u="none" strike="noStrike">
                          <a:solidFill>
                            <a:srgbClr val="FFFFFF"/>
                          </a:solidFill>
                          <a:effectLst/>
                          <a:uFillTx/>
                          <a:latin typeface="QuattrocentoSans"/>
                          <a:ea typeface="QuattrocentoSans"/>
                        </a:rPr>
                        <a:t>补贴</a:t>
                      </a:r>
                      <a:r>
                        <a:rPr lang="en-US" sz="1100" b="1" u="none" strike="noStrike">
                          <a:solidFill>
                            <a:srgbClr val="FFFFFF"/>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电价</a:t>
                      </a:r>
                      <a:r>
                        <a:rPr lang="en-US" sz="1100" b="1" u="none" strike="noStrike">
                          <a:solidFill>
                            <a:srgbClr val="FFFFFF"/>
                          </a:solidFill>
                          <a:effectLst/>
                          <a:uFillTx/>
                          <a:latin typeface="QuattrocentoSans"/>
                          <a:ea typeface="QuattrocentoSans"/>
                        </a:rPr>
                        <a:t>(USD/kWh)</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电价</a:t>
                      </a:r>
                      <a:r>
                        <a:rPr lang="en-US" sz="1100" b="1" u="none" strike="noStrike">
                          <a:solidFill>
                            <a:srgbClr val="FFFFFF"/>
                          </a:solidFill>
                          <a:effectLst/>
                          <a:uFillTx/>
                          <a:latin typeface="QuattrocentoSans"/>
                          <a:ea typeface="QuattrocentoSans"/>
                        </a:rPr>
                        <a:t>CV</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综合评分</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战略优先级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投产年份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r>
              <a:tr h="558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东南亚基地</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印尼</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越南</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镍</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电池一体化</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280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680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0.075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0.18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2026</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590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北非基地</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摩洛哥</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埃及</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绿氢出口</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450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0.065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0.28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2027</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58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南美基地</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智利</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巴西</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锂盐加工</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850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0.085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0.22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2027</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58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中东基地</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沙特</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阿联酋</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光伏</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制氢</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0.009</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2026</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58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东欧基地</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波兰</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罗马尼亚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风电</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储能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1,450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280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19%</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0.095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0.25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2026</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590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北美基地</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德州</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加拿大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碳捕集</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调峰</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4,200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290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21%</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0.065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0.15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58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加权平均</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1,285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383</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21%</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11</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0.066</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0.19</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58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最优值</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中东</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280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680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19%</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0.009</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58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最差值</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南美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4,200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0.095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0.28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58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风险调整</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1,450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340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0.072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0.21</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590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泰坦目标</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&lt;1,500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&gt;80%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&gt;300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&lt;22%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&gt;10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&gt;20%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&lt;0.08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&lt;0.20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&gt;8.0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bl>
          </a:graphicData>
        </a:graphic>
      </p:graphicFrame>
      <p:sp>
        <p:nvSpPr>
          <p:cNvPr id="200" name="Text 2"/>
          <p:cNvSpPr/>
          <p:nvPr/>
        </p:nvSpPr>
        <p:spPr>
          <a:xfrm>
            <a:off x="762120" y="8381880"/>
            <a:ext cx="14731920" cy="25416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World Bank Doing Business 2025, IRENA Renewable Power Costs, Drewry World Container Index, Titan Site Selection Analytics · Slide 18</a:t>
            </a:r>
            <a:endParaRPr lang="en-US" sz="1000" b="0" u="none" strike="noStrike">
              <a:solidFill>
                <a:srgbClr val="000000"/>
              </a:solidFill>
              <a:effectLst/>
              <a:uFillTx/>
              <a:latin typeface="Calibri"/>
            </a:endParaRPr>
          </a:p>
        </p:txBody>
      </p:sp>
    </p:spTree>
  </p:cSld>
  <p:transition>
    <p:fade/>
  </p:transition>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201" name="Text 0"/>
          <p:cNvSpPr/>
          <p:nvPr/>
        </p:nvSpPr>
        <p:spPr>
          <a:xfrm>
            <a:off x="762120" y="507960"/>
            <a:ext cx="126997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供应链韧性：从到的战略转型</a:t>
            </a:r>
            <a:endParaRPr lang="en-US" sz="2800" b="0" u="none" strike="noStrike">
              <a:solidFill>
                <a:srgbClr val="000000"/>
              </a:solidFill>
              <a:effectLst/>
              <a:uFillTx/>
              <a:latin typeface="Calibri"/>
            </a:endParaRPr>
          </a:p>
        </p:txBody>
      </p:sp>
      <p:sp>
        <p:nvSpPr>
          <p:cNvPr id="202"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03" name="Text 2"/>
          <p:cNvSpPr/>
          <p:nvPr/>
        </p:nvSpPr>
        <p:spPr>
          <a:xfrm>
            <a:off x="762120" y="1333440"/>
            <a:ext cx="14731920" cy="127008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新冠疫情与地缘冲突暴露了全球供应链的脆弱性。泰坦动力供应链韧性策略包含四个层级：</a:t>
            </a:r>
            <a:r>
              <a:rPr lang="en-US" sz="1600" b="0" u="none" strike="noStrike">
                <a:solidFill>
                  <a:srgbClr val="1E293B"/>
                </a:solidFill>
                <a:effectLst/>
                <a:uFillTx/>
                <a:latin typeface="QuattrocentoSans"/>
                <a:ea typeface="QuattrocentoSans"/>
              </a:rPr>
              <a:t>Level 1</a:t>
            </a:r>
            <a:r>
              <a:rPr lang="en-US" sz="1600" b="0" u="none" strike="noStrike">
                <a:solidFill>
                  <a:srgbClr val="1E293B"/>
                </a:solidFill>
                <a:effectLst/>
                <a:uFillTx/>
                <a:latin typeface="QuattrocentoSans"/>
                <a:ea typeface="QuattrocentoSans"/>
              </a:rPr>
              <a:t>（供应商多元化）：每个关键物料至少认证</a:t>
            </a:r>
            <a:r>
              <a:rPr lang="en-US" sz="1600" b="0" u="none" strike="noStrike">
                <a:solidFill>
                  <a:srgbClr val="1E293B"/>
                </a:solidFill>
                <a:effectLst/>
                <a:uFillTx/>
                <a:latin typeface="QuattrocentoSans"/>
                <a:ea typeface="QuattrocentoSans"/>
              </a:rPr>
              <a:t>3</a:t>
            </a:r>
            <a:r>
              <a:rPr lang="en-US" sz="1600" b="0" u="none" strike="noStrike">
                <a:solidFill>
                  <a:srgbClr val="1E293B"/>
                </a:solidFill>
                <a:effectLst/>
                <a:uFillTx/>
                <a:latin typeface="QuattrocentoSans"/>
                <a:ea typeface="QuattrocentoSans"/>
              </a:rPr>
              <a:t>家供应商；</a:t>
            </a:r>
            <a:r>
              <a:rPr lang="en-US" sz="1600" b="0" u="none" strike="noStrike">
                <a:solidFill>
                  <a:srgbClr val="1E293B"/>
                </a:solidFill>
                <a:effectLst/>
                <a:uFillTx/>
                <a:latin typeface="QuattrocentoSans"/>
                <a:ea typeface="QuattrocentoSans"/>
              </a:rPr>
              <a:t>Level 2</a:t>
            </a:r>
            <a:r>
              <a:rPr lang="en-US" sz="1600" b="0" u="none" strike="noStrike">
                <a:solidFill>
                  <a:srgbClr val="1E293B"/>
                </a:solidFill>
                <a:effectLst/>
                <a:uFillTx/>
                <a:latin typeface="QuattrocentoSans"/>
                <a:ea typeface="QuattrocentoSans"/>
              </a:rPr>
              <a:t>（战略库存）：锂盐</a:t>
            </a:r>
            <a:r>
              <a:rPr lang="en-US" sz="1600" b="0" u="none" strike="noStrike">
                <a:solidFill>
                  <a:srgbClr val="1E293B"/>
                </a:solidFill>
                <a:effectLst/>
                <a:uFillTx/>
                <a:latin typeface="QuattrocentoSans"/>
                <a:ea typeface="QuattrocentoSans"/>
              </a:rPr>
              <a:t>6</a:t>
            </a:r>
            <a:r>
              <a:rPr lang="en-US" sz="1600" b="0" u="none" strike="noStrike">
                <a:solidFill>
                  <a:srgbClr val="1E293B"/>
                </a:solidFill>
                <a:effectLst/>
                <a:uFillTx/>
                <a:latin typeface="QuattrocentoSans"/>
                <a:ea typeface="QuattrocentoSans"/>
              </a:rPr>
              <a:t>个月、钴粉</a:t>
            </a:r>
            <a:r>
              <a:rPr lang="en-US" sz="1600" b="0" u="none" strike="noStrike">
                <a:solidFill>
                  <a:srgbClr val="1E293B"/>
                </a:solidFill>
                <a:effectLst/>
                <a:uFillTx/>
                <a:latin typeface="QuattrocentoSans"/>
                <a:ea typeface="QuattrocentoSans"/>
              </a:rPr>
              <a:t>4</a:t>
            </a:r>
            <a:r>
              <a:rPr lang="en-US" sz="1600" b="0" u="none" strike="noStrike">
                <a:solidFill>
                  <a:srgbClr val="1E293B"/>
                </a:solidFill>
                <a:effectLst/>
                <a:uFillTx/>
                <a:latin typeface="QuattrocentoSans"/>
                <a:ea typeface="QuattrocentoSans"/>
              </a:rPr>
              <a:t>个月、稀土氧化物</a:t>
            </a:r>
            <a:r>
              <a:rPr lang="en-US" sz="1600" b="0" u="none" strike="noStrike">
                <a:solidFill>
                  <a:srgbClr val="1E293B"/>
                </a:solidFill>
                <a:effectLst/>
                <a:uFillTx/>
                <a:latin typeface="QuattrocentoSans"/>
                <a:ea typeface="QuattrocentoSans"/>
              </a:rPr>
              <a:t>3</a:t>
            </a:r>
            <a:r>
              <a:rPr lang="en-US" sz="1600" b="0" u="none" strike="noStrike">
                <a:solidFill>
                  <a:srgbClr val="1E293B"/>
                </a:solidFill>
                <a:effectLst/>
                <a:uFillTx/>
                <a:latin typeface="QuattrocentoSans"/>
                <a:ea typeface="QuattrocentoSans"/>
              </a:rPr>
              <a:t>个月、光伏玻璃</a:t>
            </a:r>
            <a:r>
              <a:rPr lang="en-US" sz="1600" b="0" u="none" strike="noStrike">
                <a:solidFill>
                  <a:srgbClr val="1E293B"/>
                </a:solidFill>
                <a:effectLst/>
                <a:uFillTx/>
                <a:latin typeface="QuattrocentoSans"/>
                <a:ea typeface="QuattrocentoSans"/>
              </a:rPr>
              <a:t>2</a:t>
            </a:r>
            <a:r>
              <a:rPr lang="en-US" sz="1600" b="0" u="none" strike="noStrike">
                <a:solidFill>
                  <a:srgbClr val="1E293B"/>
                </a:solidFill>
                <a:effectLst/>
                <a:uFillTx/>
                <a:latin typeface="QuattrocentoSans"/>
                <a:ea typeface="QuattrocentoSans"/>
              </a:rPr>
              <a:t>个月安全库存；</a:t>
            </a:r>
            <a:r>
              <a:rPr lang="en-US" sz="1600" b="0" u="none" strike="noStrike">
                <a:solidFill>
                  <a:srgbClr val="1E293B"/>
                </a:solidFill>
                <a:effectLst/>
                <a:uFillTx/>
                <a:latin typeface="QuattrocentoSans"/>
                <a:ea typeface="QuattrocentoSans"/>
              </a:rPr>
              <a:t>Level 3</a:t>
            </a:r>
            <a:r>
              <a:rPr lang="en-US" sz="1600" b="0" u="none" strike="noStrike">
                <a:solidFill>
                  <a:srgbClr val="1E293B"/>
                </a:solidFill>
                <a:effectLst/>
                <a:uFillTx/>
                <a:latin typeface="QuattrocentoSans"/>
                <a:ea typeface="QuattrocentoSans"/>
              </a:rPr>
              <a:t>（近岸</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友岸外包）：将</a:t>
            </a:r>
            <a:r>
              <a:rPr lang="en-US" sz="1600" b="0" u="none" strike="noStrike">
                <a:solidFill>
                  <a:srgbClr val="1E293B"/>
                </a:solidFill>
                <a:effectLst/>
                <a:uFillTx/>
                <a:latin typeface="QuattrocentoSans"/>
                <a:ea typeface="QuattrocentoSans"/>
              </a:rPr>
              <a:t>35%</a:t>
            </a:r>
            <a:r>
              <a:rPr lang="en-US" sz="1600" b="0" u="none" strike="noStrike">
                <a:solidFill>
                  <a:srgbClr val="1E293B"/>
                </a:solidFill>
                <a:effectLst/>
                <a:uFillTx/>
                <a:latin typeface="QuattrocentoSans"/>
                <a:ea typeface="QuattrocentoSans"/>
              </a:rPr>
              <a:t>组件采购转移至墨西哥、越南、波兰等</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友岸</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基地；</a:t>
            </a:r>
            <a:r>
              <a:rPr lang="en-US" sz="1600" b="0" u="none" strike="noStrike">
                <a:solidFill>
                  <a:srgbClr val="1E293B"/>
                </a:solidFill>
                <a:effectLst/>
                <a:uFillTx/>
                <a:latin typeface="QuattrocentoSans"/>
                <a:ea typeface="QuattrocentoSans"/>
              </a:rPr>
              <a:t>Level 4</a:t>
            </a:r>
            <a:r>
              <a:rPr lang="en-US" sz="1600" b="0" u="none" strike="noStrike">
                <a:solidFill>
                  <a:srgbClr val="1E293B"/>
                </a:solidFill>
                <a:effectLst/>
                <a:uFillTx/>
                <a:latin typeface="QuattrocentoSans"/>
                <a:ea typeface="QuattrocentoSans"/>
              </a:rPr>
              <a:t>（垂直整合）：目标</a:t>
            </a:r>
            <a:r>
              <a:rPr lang="en-US" sz="1600" b="0" u="none" strike="noStrike">
                <a:solidFill>
                  <a:srgbClr val="1E293B"/>
                </a:solidFill>
                <a:effectLst/>
                <a:uFillTx/>
                <a:latin typeface="QuattrocentoSans"/>
                <a:ea typeface="QuattrocentoSans"/>
              </a:rPr>
              <a:t>2030</a:t>
            </a:r>
            <a:r>
              <a:rPr lang="en-US" sz="1600" b="0" u="none" strike="noStrike">
                <a:solidFill>
                  <a:srgbClr val="1E293B"/>
                </a:solidFill>
                <a:effectLst/>
                <a:uFillTx/>
                <a:latin typeface="QuattrocentoSans"/>
                <a:ea typeface="QuattrocentoSans"/>
              </a:rPr>
              <a:t>年自有供应比例达</a:t>
            </a:r>
            <a:r>
              <a:rPr lang="en-US" sz="1600" b="0" u="none" strike="noStrike">
                <a:solidFill>
                  <a:srgbClr val="1E293B"/>
                </a:solidFill>
                <a:effectLst/>
                <a:uFillTx/>
                <a:latin typeface="QuattrocentoSans"/>
                <a:ea typeface="QuattrocentoSans"/>
              </a:rPr>
              <a:t>30%</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p:txBody>
      </p:sp>
      <p:sp>
        <p:nvSpPr>
          <p:cNvPr id="204" name="Shape 3"/>
          <p:cNvSpPr/>
          <p:nvPr/>
        </p:nvSpPr>
        <p:spPr>
          <a:xfrm>
            <a:off x="762120" y="2603520"/>
            <a:ext cx="3429000" cy="26668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05" name="Shape 4"/>
          <p:cNvSpPr/>
          <p:nvPr/>
        </p:nvSpPr>
        <p:spPr>
          <a:xfrm>
            <a:off x="1015920" y="2793960"/>
            <a:ext cx="762120" cy="304920"/>
          </a:xfrm>
          <a:prstGeom prst="rect">
            <a:avLst/>
          </a:prstGeom>
          <a:solidFill>
            <a:srgbClr val="C8A265"/>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06" name="Text 5"/>
          <p:cNvSpPr/>
          <p:nvPr/>
        </p:nvSpPr>
        <p:spPr>
          <a:xfrm>
            <a:off x="1015920" y="2793960"/>
            <a:ext cx="762120" cy="30492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0A1628"/>
                </a:solidFill>
                <a:effectLst/>
                <a:uFillTx/>
                <a:latin typeface="Liter"/>
                <a:ea typeface="Liter"/>
              </a:rPr>
              <a:t></a:t>
            </a:r>
            <a:endParaRPr lang="en-US" sz="1100" b="0" u="none" strike="noStrike">
              <a:solidFill>
                <a:srgbClr val="000000"/>
              </a:solidFill>
              <a:effectLst/>
              <a:uFillTx/>
              <a:latin typeface="Calibri"/>
            </a:endParaRPr>
          </a:p>
        </p:txBody>
      </p:sp>
      <p:sp>
        <p:nvSpPr>
          <p:cNvPr id="207" name="Text 6"/>
          <p:cNvSpPr/>
          <p:nvPr/>
        </p:nvSpPr>
        <p:spPr>
          <a:xfrm>
            <a:off x="1015920" y="3238560"/>
            <a:ext cx="2921040" cy="3556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A1628"/>
                </a:solidFill>
                <a:effectLst/>
                <a:uFillTx/>
                <a:latin typeface="Liter"/>
                <a:ea typeface="Liter"/>
              </a:rPr>
              <a:t>供应商多元化</a:t>
            </a:r>
            <a:endParaRPr lang="en-US" sz="1600" b="0" u="none" strike="noStrike">
              <a:solidFill>
                <a:srgbClr val="000000"/>
              </a:solidFill>
              <a:effectLst/>
              <a:uFillTx/>
              <a:latin typeface="Calibri"/>
            </a:endParaRPr>
          </a:p>
        </p:txBody>
      </p:sp>
      <p:sp>
        <p:nvSpPr>
          <p:cNvPr id="208" name="Text 7"/>
          <p:cNvSpPr/>
          <p:nvPr/>
        </p:nvSpPr>
        <p:spPr>
          <a:xfrm>
            <a:off x="1015920" y="3683160"/>
            <a:ext cx="2921040" cy="139680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每个关键物料至少认证</a:t>
            </a:r>
            <a:r>
              <a:rPr lang="en-US" sz="1300" b="0" u="none" strike="noStrike">
                <a:solidFill>
                  <a:srgbClr val="1E293B"/>
                </a:solidFill>
                <a:effectLst/>
                <a:uFillTx/>
                <a:latin typeface="Quattrocento Sans"/>
              </a:rPr>
              <a:t>3</a:t>
            </a:r>
            <a:r>
              <a:rPr lang="en-US" sz="1300" b="0" u="none" strike="noStrike">
                <a:solidFill>
                  <a:srgbClr val="1E293B"/>
                </a:solidFill>
                <a:effectLst/>
                <a:uFillTx/>
                <a:latin typeface="Quattrocento Sans"/>
              </a:rPr>
              <a:t>家供应商</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分布在不同地缘政治区域</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单供应商依赖度</a:t>
            </a:r>
            <a:r>
              <a:rPr lang="en-US" sz="1300" b="0" u="none" strike="noStrike">
                <a:solidFill>
                  <a:srgbClr val="1E293B"/>
                </a:solidFill>
                <a:effectLst/>
                <a:uFillTx/>
                <a:latin typeface="Quattrocento Sans"/>
              </a:rPr>
              <a:t>&lt;40%</a:t>
            </a:r>
            <a:endParaRPr lang="en-US" sz="1300" b="0" u="none" strike="noStrike">
              <a:solidFill>
                <a:srgbClr val="000000"/>
              </a:solidFill>
              <a:effectLst/>
              <a:uFillTx/>
              <a:latin typeface="Calibri"/>
            </a:endParaRPr>
          </a:p>
        </p:txBody>
      </p:sp>
      <p:sp>
        <p:nvSpPr>
          <p:cNvPr id="209" name="Shape 8"/>
          <p:cNvSpPr/>
          <p:nvPr/>
        </p:nvSpPr>
        <p:spPr>
          <a:xfrm>
            <a:off x="4444920" y="2603520"/>
            <a:ext cx="3429000" cy="26668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10" name="Shape 9"/>
          <p:cNvSpPr/>
          <p:nvPr/>
        </p:nvSpPr>
        <p:spPr>
          <a:xfrm>
            <a:off x="4699080" y="2793960"/>
            <a:ext cx="761760" cy="304920"/>
          </a:xfrm>
          <a:prstGeom prst="rect">
            <a:avLst/>
          </a:prstGeom>
          <a:solidFill>
            <a:srgbClr val="C8A265"/>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11" name="Text 10"/>
          <p:cNvSpPr/>
          <p:nvPr/>
        </p:nvSpPr>
        <p:spPr>
          <a:xfrm>
            <a:off x="4699080" y="2793960"/>
            <a:ext cx="761760" cy="30492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0A1628"/>
                </a:solidFill>
                <a:effectLst/>
                <a:uFillTx/>
                <a:latin typeface="Liter"/>
                <a:ea typeface="Liter"/>
              </a:rPr>
              <a:t></a:t>
            </a:r>
            <a:endParaRPr lang="en-US" sz="1100" b="0" u="none" strike="noStrike">
              <a:solidFill>
                <a:srgbClr val="000000"/>
              </a:solidFill>
              <a:effectLst/>
              <a:uFillTx/>
              <a:latin typeface="Calibri"/>
            </a:endParaRPr>
          </a:p>
        </p:txBody>
      </p:sp>
      <p:sp>
        <p:nvSpPr>
          <p:cNvPr id="212" name="Text 11"/>
          <p:cNvSpPr/>
          <p:nvPr/>
        </p:nvSpPr>
        <p:spPr>
          <a:xfrm>
            <a:off x="4699080" y="3238560"/>
            <a:ext cx="2921040" cy="3556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A1628"/>
                </a:solidFill>
                <a:effectLst/>
                <a:uFillTx/>
                <a:latin typeface="Liter"/>
                <a:ea typeface="Liter"/>
              </a:rPr>
              <a:t>战略库存</a:t>
            </a:r>
            <a:endParaRPr lang="en-US" sz="1600" b="0" u="none" strike="noStrike">
              <a:solidFill>
                <a:srgbClr val="000000"/>
              </a:solidFill>
              <a:effectLst/>
              <a:uFillTx/>
              <a:latin typeface="Calibri"/>
            </a:endParaRPr>
          </a:p>
        </p:txBody>
      </p:sp>
      <p:sp>
        <p:nvSpPr>
          <p:cNvPr id="213" name="Text 12"/>
          <p:cNvSpPr/>
          <p:nvPr/>
        </p:nvSpPr>
        <p:spPr>
          <a:xfrm>
            <a:off x="4699080" y="3683160"/>
            <a:ext cx="2921040" cy="139680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锂盐：</a:t>
            </a:r>
            <a:r>
              <a:rPr lang="en-US" sz="1300" b="0" u="none" strike="noStrike">
                <a:solidFill>
                  <a:srgbClr val="1E293B"/>
                </a:solidFill>
                <a:effectLst/>
                <a:uFillTx/>
                <a:latin typeface="Quattrocento Sans"/>
              </a:rPr>
              <a:t>6</a:t>
            </a:r>
            <a:r>
              <a:rPr lang="en-US" sz="1300" b="0" u="none" strike="noStrike">
                <a:solidFill>
                  <a:srgbClr val="1E293B"/>
                </a:solidFill>
                <a:effectLst/>
                <a:uFillTx/>
                <a:latin typeface="Quattrocento Sans"/>
              </a:rPr>
              <a:t>个月安全库存</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钴粉：</a:t>
            </a:r>
            <a:r>
              <a:rPr lang="en-US" sz="1300" b="0" u="none" strike="noStrike">
                <a:solidFill>
                  <a:srgbClr val="1E293B"/>
                </a:solidFill>
                <a:effectLst/>
                <a:uFillTx/>
                <a:latin typeface="Quattrocento Sans"/>
              </a:rPr>
              <a:t>4</a:t>
            </a:r>
            <a:r>
              <a:rPr lang="en-US" sz="1300" b="0" u="none" strike="noStrike">
                <a:solidFill>
                  <a:srgbClr val="1E293B"/>
                </a:solidFill>
                <a:effectLst/>
                <a:uFillTx/>
                <a:latin typeface="Quattrocento Sans"/>
              </a:rPr>
              <a:t>个月安全库存</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稀土：</a:t>
            </a:r>
            <a:r>
              <a:rPr lang="en-US" sz="1300" b="0" u="none" strike="noStrike">
                <a:solidFill>
                  <a:srgbClr val="1E293B"/>
                </a:solidFill>
                <a:effectLst/>
                <a:uFillTx/>
                <a:latin typeface="Quattrocento Sans"/>
              </a:rPr>
              <a:t>3</a:t>
            </a:r>
            <a:r>
              <a:rPr lang="en-US" sz="1300" b="0" u="none" strike="noStrike">
                <a:solidFill>
                  <a:srgbClr val="1E293B"/>
                </a:solidFill>
                <a:effectLst/>
                <a:uFillTx/>
                <a:latin typeface="Quattrocento Sans"/>
              </a:rPr>
              <a:t>个月 </a:t>
            </a:r>
            <a:r>
              <a:rPr lang="en-US" sz="1300" b="0" u="none" strike="noStrike">
                <a:solidFill>
                  <a:srgbClr val="1E293B"/>
                </a:solidFill>
                <a:effectLst/>
                <a:uFillTx/>
                <a:latin typeface="Quattrocento Sans"/>
              </a:rPr>
              <a:t>/ </a:t>
            </a:r>
            <a:r>
              <a:rPr lang="en-US" sz="1300" b="0" u="none" strike="noStrike">
                <a:solidFill>
                  <a:srgbClr val="1E293B"/>
                </a:solidFill>
                <a:effectLst/>
                <a:uFillTx/>
                <a:latin typeface="Quattrocento Sans"/>
              </a:rPr>
              <a:t>光伏玻璃：</a:t>
            </a:r>
            <a:r>
              <a:rPr lang="en-US" sz="1300" b="0" u="none" strike="noStrike">
                <a:solidFill>
                  <a:srgbClr val="1E293B"/>
                </a:solidFill>
                <a:effectLst/>
                <a:uFillTx/>
                <a:latin typeface="Quattrocento Sans"/>
              </a:rPr>
              <a:t>2</a:t>
            </a:r>
            <a:r>
              <a:rPr lang="en-US" sz="1300" b="0" u="none" strike="noStrike">
                <a:solidFill>
                  <a:srgbClr val="1E293B"/>
                </a:solidFill>
                <a:effectLst/>
                <a:uFillTx/>
                <a:latin typeface="Quattrocento Sans"/>
              </a:rPr>
              <a:t>个月</a:t>
            </a:r>
            <a:endParaRPr lang="en-US" sz="1300" b="0" u="none" strike="noStrike">
              <a:solidFill>
                <a:srgbClr val="000000"/>
              </a:solidFill>
              <a:effectLst/>
              <a:uFillTx/>
              <a:latin typeface="Calibri"/>
            </a:endParaRPr>
          </a:p>
        </p:txBody>
      </p:sp>
      <p:sp>
        <p:nvSpPr>
          <p:cNvPr id="214" name="Shape 13"/>
          <p:cNvSpPr/>
          <p:nvPr/>
        </p:nvSpPr>
        <p:spPr>
          <a:xfrm>
            <a:off x="8128080" y="2603520"/>
            <a:ext cx="3429000" cy="26668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15" name="Shape 14"/>
          <p:cNvSpPr/>
          <p:nvPr/>
        </p:nvSpPr>
        <p:spPr>
          <a:xfrm>
            <a:off x="8381880" y="2793960"/>
            <a:ext cx="762120" cy="304920"/>
          </a:xfrm>
          <a:prstGeom prst="rect">
            <a:avLst/>
          </a:prstGeom>
          <a:solidFill>
            <a:srgbClr val="C8A265"/>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16" name="Text 15"/>
          <p:cNvSpPr/>
          <p:nvPr/>
        </p:nvSpPr>
        <p:spPr>
          <a:xfrm>
            <a:off x="8381880" y="2793960"/>
            <a:ext cx="762120" cy="30492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0A1628"/>
                </a:solidFill>
                <a:effectLst/>
                <a:uFillTx/>
                <a:latin typeface="Liter"/>
                <a:ea typeface="Liter"/>
              </a:rPr>
              <a:t></a:t>
            </a:r>
            <a:endParaRPr lang="en-US" sz="1100" b="0" u="none" strike="noStrike">
              <a:solidFill>
                <a:srgbClr val="000000"/>
              </a:solidFill>
              <a:effectLst/>
              <a:uFillTx/>
              <a:latin typeface="Calibri"/>
            </a:endParaRPr>
          </a:p>
        </p:txBody>
      </p:sp>
      <p:sp>
        <p:nvSpPr>
          <p:cNvPr id="217" name="Text 16"/>
          <p:cNvSpPr/>
          <p:nvPr/>
        </p:nvSpPr>
        <p:spPr>
          <a:xfrm>
            <a:off x="8381880" y="3238560"/>
            <a:ext cx="2921040" cy="3556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A1628"/>
                </a:solidFill>
                <a:effectLst/>
                <a:uFillTx/>
                <a:latin typeface="Liter"/>
                <a:ea typeface="Liter"/>
              </a:rPr>
              <a:t>近岸友岸外包</a:t>
            </a:r>
            <a:endParaRPr lang="en-US" sz="1600" b="0" u="none" strike="noStrike">
              <a:solidFill>
                <a:srgbClr val="000000"/>
              </a:solidFill>
              <a:effectLst/>
              <a:uFillTx/>
              <a:latin typeface="Calibri"/>
            </a:endParaRPr>
          </a:p>
        </p:txBody>
      </p:sp>
      <p:sp>
        <p:nvSpPr>
          <p:cNvPr id="218" name="Text 17"/>
          <p:cNvSpPr/>
          <p:nvPr/>
        </p:nvSpPr>
        <p:spPr>
          <a:xfrm>
            <a:off x="8381880" y="3683160"/>
            <a:ext cx="2921040" cy="139680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35%</a:t>
            </a:r>
            <a:r>
              <a:rPr lang="en-US" sz="1300" b="0" u="none" strike="noStrike">
                <a:solidFill>
                  <a:srgbClr val="1E293B"/>
                </a:solidFill>
                <a:effectLst/>
                <a:uFillTx/>
                <a:latin typeface="Quattrocento Sans"/>
              </a:rPr>
              <a:t>组件采购转移至友岸基地</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墨西哥、越南、波兰优先</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缩短供应链物理距离</a:t>
            </a:r>
            <a:endParaRPr lang="en-US" sz="1300" b="0" u="none" strike="noStrike">
              <a:solidFill>
                <a:srgbClr val="000000"/>
              </a:solidFill>
              <a:effectLst/>
              <a:uFillTx/>
              <a:latin typeface="Calibri"/>
            </a:endParaRPr>
          </a:p>
        </p:txBody>
      </p:sp>
      <p:sp>
        <p:nvSpPr>
          <p:cNvPr id="219" name="Shape 18"/>
          <p:cNvSpPr/>
          <p:nvPr/>
        </p:nvSpPr>
        <p:spPr>
          <a:xfrm>
            <a:off x="11810880" y="2603520"/>
            <a:ext cx="3683160" cy="26668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20" name="Shape 19"/>
          <p:cNvSpPr/>
          <p:nvPr/>
        </p:nvSpPr>
        <p:spPr>
          <a:xfrm>
            <a:off x="12065040" y="2793960"/>
            <a:ext cx="762120" cy="304920"/>
          </a:xfrm>
          <a:prstGeom prst="rect">
            <a:avLst/>
          </a:prstGeom>
          <a:solidFill>
            <a:srgbClr val="C8A265"/>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21" name="Text 20"/>
          <p:cNvSpPr/>
          <p:nvPr/>
        </p:nvSpPr>
        <p:spPr>
          <a:xfrm>
            <a:off x="12065040" y="2793960"/>
            <a:ext cx="762120" cy="30492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0A1628"/>
                </a:solidFill>
                <a:effectLst/>
                <a:uFillTx/>
                <a:latin typeface="Liter"/>
                <a:ea typeface="Liter"/>
              </a:rPr>
              <a:t></a:t>
            </a:r>
            <a:endParaRPr lang="en-US" sz="1100" b="0" u="none" strike="noStrike">
              <a:solidFill>
                <a:srgbClr val="000000"/>
              </a:solidFill>
              <a:effectLst/>
              <a:uFillTx/>
              <a:latin typeface="Calibri"/>
            </a:endParaRPr>
          </a:p>
        </p:txBody>
      </p:sp>
      <p:sp>
        <p:nvSpPr>
          <p:cNvPr id="222" name="Text 21"/>
          <p:cNvSpPr/>
          <p:nvPr/>
        </p:nvSpPr>
        <p:spPr>
          <a:xfrm>
            <a:off x="12065040" y="3238560"/>
            <a:ext cx="3174840" cy="3556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0A1628"/>
                </a:solidFill>
                <a:effectLst/>
                <a:uFillTx/>
                <a:latin typeface="Liter"/>
                <a:ea typeface="Liter"/>
              </a:rPr>
              <a:t>垂直整合</a:t>
            </a:r>
            <a:endParaRPr lang="en-US" sz="1600" b="0" u="none" strike="noStrike">
              <a:solidFill>
                <a:srgbClr val="000000"/>
              </a:solidFill>
              <a:effectLst/>
              <a:uFillTx/>
              <a:latin typeface="Calibri"/>
            </a:endParaRPr>
          </a:p>
        </p:txBody>
      </p:sp>
      <p:sp>
        <p:nvSpPr>
          <p:cNvPr id="223" name="Text 22"/>
          <p:cNvSpPr/>
          <p:nvPr/>
        </p:nvSpPr>
        <p:spPr>
          <a:xfrm>
            <a:off x="12065040" y="3683160"/>
            <a:ext cx="3174840" cy="139680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并购</a:t>
            </a:r>
            <a:r>
              <a:rPr lang="en-US" sz="1300" b="0" u="none" strike="noStrike">
                <a:solidFill>
                  <a:srgbClr val="1E293B"/>
                </a:solidFill>
                <a:effectLst/>
                <a:uFillTx/>
                <a:latin typeface="Quattrocento Sans"/>
              </a:rPr>
              <a:t>/</a:t>
            </a:r>
            <a:r>
              <a:rPr lang="en-US" sz="1300" b="0" u="none" strike="noStrike">
                <a:solidFill>
                  <a:srgbClr val="1E293B"/>
                </a:solidFill>
                <a:effectLst/>
                <a:uFillTx/>
                <a:latin typeface="Quattrocento Sans"/>
              </a:rPr>
              <a:t>合资控制上游关键节点</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2030</a:t>
            </a:r>
            <a:r>
              <a:rPr lang="en-US" sz="1300" b="0" u="none" strike="noStrike">
                <a:solidFill>
                  <a:srgbClr val="1E293B"/>
                </a:solidFill>
                <a:effectLst/>
                <a:uFillTx/>
                <a:latin typeface="Quattrocento Sans"/>
              </a:rPr>
              <a:t>年自有供应比例达</a:t>
            </a:r>
            <a:r>
              <a:rPr lang="en-US" sz="1300" b="0" u="none" strike="noStrike">
                <a:solidFill>
                  <a:srgbClr val="1E293B"/>
                </a:solidFill>
                <a:effectLst/>
                <a:uFillTx/>
                <a:latin typeface="Quattrocento Sans"/>
              </a:rPr>
              <a:t>30%</a:t>
            </a:r>
            <a:endParaRPr lang="en-US" sz="1300" b="0" u="none" strike="noStrike">
              <a:solidFill>
                <a:srgbClr val="000000"/>
              </a:solidFill>
              <a:effectLst/>
              <a:uFillTx/>
              <a:latin typeface="Calibri"/>
            </a:endParaRPr>
          </a:p>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1E293B"/>
                </a:solidFill>
                <a:effectLst/>
                <a:uFillTx/>
                <a:latin typeface="Quattrocento Sans"/>
              </a:rPr>
              <a:t>重点：锂矿、稀土分离</a:t>
            </a:r>
            <a:endParaRPr lang="en-US" sz="1300" b="0" u="none" strike="noStrike">
              <a:solidFill>
                <a:srgbClr val="000000"/>
              </a:solidFill>
              <a:effectLst/>
              <a:uFillTx/>
              <a:latin typeface="Calibri"/>
            </a:endParaRPr>
          </a:p>
        </p:txBody>
      </p:sp>
      <p:graphicFrame>
        <p:nvGraphicFramePr>
          <p:cNvPr id="224" name=""/>
          <p:cNvGraphicFramePr/>
          <p:nvPr/>
        </p:nvGraphicFramePr>
        <p:xfrm>
          <a:off x="762120" y="5587920"/>
          <a:ext cx="14731920" cy="2286000"/>
        </p:xfrm>
        <a:graphic>
          <a:graphicData uri="http://schemas.openxmlformats.org/drawingml/2006/table">
            <a:tbl>
              <a:tblPr/>
              <a:tblGrid>
                <a:gridCol w="2946240"/>
                <a:gridCol w="2357640"/>
                <a:gridCol w="2357280"/>
                <a:gridCol w="2355840"/>
                <a:gridCol w="2357280"/>
                <a:gridCol w="2357640"/>
              </a:tblGrid>
              <a:tr h="4572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关键物料</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安全库存月数</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认证供应商数</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友岸采购占比</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自有供应目标</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库存价值</a:t>
                      </a:r>
                      <a:r>
                        <a:rPr lang="en-US" sz="1100" b="1" u="none" strike="noStrike">
                          <a:solidFill>
                            <a:srgbClr val="FFFFFF"/>
                          </a:solidFill>
                          <a:effectLst/>
                          <a:uFillTx/>
                          <a:latin typeface="QuattrocentoSans"/>
                          <a:ea typeface="QuattrocentoSans"/>
                        </a:rPr>
                        <a:t>(USD 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r>
              <a:tr h="4572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锂盐</a:t>
                      </a:r>
                      <a:r>
                        <a:rPr lang="en-US" sz="1100" b="0" u="none" strike="noStrike">
                          <a:solidFill>
                            <a:srgbClr val="1E293B"/>
                          </a:solidFill>
                          <a:effectLst/>
                          <a:uFillTx/>
                          <a:latin typeface="QuattrocentoSans"/>
                          <a:ea typeface="QuattrocentoSans"/>
                        </a:rPr>
                        <a:t>(LCE)</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a:t>
                      </a:r>
                      <a:r>
                        <a:rPr lang="en-US" sz="1100" b="0" u="none" strike="noStrike">
                          <a:solidFill>
                            <a:srgbClr val="1E293B"/>
                          </a:solidFill>
                          <a:effectLst/>
                          <a:uFillTx/>
                          <a:latin typeface="QuattrocentoSans"/>
                          <a:ea typeface="QuattrocentoSans"/>
                        </a:rPr>
                        <a:t>个月</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a:t>
                      </a:r>
                      <a:r>
                        <a:rPr lang="en-US" sz="1100" b="0" u="none" strike="noStrike">
                          <a:solidFill>
                            <a:srgbClr val="1E293B"/>
                          </a:solidFill>
                          <a:effectLst/>
                          <a:uFillTx/>
                          <a:latin typeface="QuattrocentoSans"/>
                          <a:ea typeface="QuattrocentoSans"/>
                        </a:rPr>
                        <a:t>家</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$320M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4572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钴粉</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a:t>
                      </a:r>
                      <a:r>
                        <a:rPr lang="en-US" sz="1100" b="0" u="none" strike="noStrike">
                          <a:solidFill>
                            <a:srgbClr val="1E293B"/>
                          </a:solidFill>
                          <a:effectLst/>
                          <a:uFillTx/>
                          <a:latin typeface="QuattrocentoSans"/>
                          <a:ea typeface="QuattrocentoSans"/>
                        </a:rPr>
                        <a:t>个月</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a:t>
                      </a:r>
                      <a:r>
                        <a:rPr lang="en-US" sz="1100" b="0" u="none" strike="noStrike">
                          <a:solidFill>
                            <a:srgbClr val="1E293B"/>
                          </a:solidFill>
                          <a:effectLst/>
                          <a:uFillTx/>
                          <a:latin typeface="QuattrocentoSans"/>
                          <a:ea typeface="QuattrocentoSans"/>
                        </a:rPr>
                        <a:t>家</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$85M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4572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稀土氧化物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a:t>
                      </a:r>
                      <a:r>
                        <a:rPr lang="en-US" sz="1100" b="0" u="none" strike="noStrike">
                          <a:solidFill>
                            <a:srgbClr val="1E293B"/>
                          </a:solidFill>
                          <a:effectLst/>
                          <a:uFillTx/>
                          <a:latin typeface="QuattrocentoSans"/>
                          <a:ea typeface="QuattrocentoSans"/>
                        </a:rPr>
                        <a:t>个月</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a:t>
                      </a:r>
                      <a:r>
                        <a:rPr lang="en-US" sz="1100" b="0" u="none" strike="noStrike">
                          <a:solidFill>
                            <a:srgbClr val="1E293B"/>
                          </a:solidFill>
                          <a:effectLst/>
                          <a:uFillTx/>
                          <a:latin typeface="QuattrocentoSans"/>
                          <a:ea typeface="QuattrocentoSans"/>
                        </a:rPr>
                        <a:t>家</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$45M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4572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光伏玻璃</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a:t>
                      </a:r>
                      <a:r>
                        <a:rPr lang="en-US" sz="1100" b="0" u="none" strike="noStrike">
                          <a:solidFill>
                            <a:srgbClr val="1E293B"/>
                          </a:solidFill>
                          <a:effectLst/>
                          <a:uFillTx/>
                          <a:latin typeface="QuattrocentoSans"/>
                          <a:ea typeface="QuattrocentoSans"/>
                        </a:rPr>
                        <a:t>个月</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a:t>
                      </a:r>
                      <a:r>
                        <a:rPr lang="en-US" sz="1100" b="0" u="none" strike="noStrike">
                          <a:solidFill>
                            <a:srgbClr val="1E293B"/>
                          </a:solidFill>
                          <a:effectLst/>
                          <a:uFillTx/>
                          <a:latin typeface="QuattrocentoSans"/>
                          <a:ea typeface="QuattrocentoSans"/>
                        </a:rPr>
                        <a:t>家</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$28M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bl>
          </a:graphicData>
        </a:graphic>
      </p:graphicFrame>
      <p:sp>
        <p:nvSpPr>
          <p:cNvPr id="225" name="Text 23"/>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McKinsey Global Supply Chain Report 2025, Titan Supply Chain Resilience Dashboard, Gartner Supply Chain Top 25 · Slide 19</a:t>
            </a:r>
            <a:endParaRPr lang="en-US" sz="1000" b="0" u="none" strike="noStrike">
              <a:solidFill>
                <a:srgbClr val="000000"/>
              </a:solidFill>
              <a:effectLst/>
              <a:uFillTx/>
              <a:latin typeface="Calibri"/>
            </a:endParaRPr>
          </a:p>
        </p:txBody>
      </p:sp>
    </p:spTree>
  </p:cSld>
  <p:transition>
    <p:fade/>
  </p:transition>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226" name="Text 0"/>
          <p:cNvSpPr/>
          <p:nvPr/>
        </p:nvSpPr>
        <p:spPr>
          <a:xfrm>
            <a:off x="762120" y="507960"/>
            <a:ext cx="126997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合规与供应链尽职调查：从欧盟到德国《供应链法》</a:t>
            </a:r>
            <a:endParaRPr lang="en-US" sz="2800" b="0" u="none" strike="noStrike">
              <a:solidFill>
                <a:srgbClr val="000000"/>
              </a:solidFill>
              <a:effectLst/>
              <a:uFillTx/>
              <a:latin typeface="Calibri"/>
            </a:endParaRPr>
          </a:p>
        </p:txBody>
      </p:sp>
      <p:sp>
        <p:nvSpPr>
          <p:cNvPr id="227"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28" name="Text 2"/>
          <p:cNvSpPr/>
          <p:nvPr/>
        </p:nvSpPr>
        <p:spPr>
          <a:xfrm>
            <a:off x="762120" y="1333440"/>
            <a:ext cx="14731920" cy="101592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全球</a:t>
            </a:r>
            <a:r>
              <a:rPr lang="en-US" sz="1600" b="0" u="none" strike="noStrike">
                <a:solidFill>
                  <a:srgbClr val="1E293B"/>
                </a:solidFill>
                <a:effectLst/>
                <a:uFillTx/>
                <a:latin typeface="QuattrocentoSans"/>
                <a:ea typeface="QuattrocentoSans"/>
              </a:rPr>
              <a:t>ESG</a:t>
            </a:r>
            <a:r>
              <a:rPr lang="en-US" sz="1600" b="0" u="none" strike="noStrike">
                <a:solidFill>
                  <a:srgbClr val="1E293B"/>
                </a:solidFill>
                <a:effectLst/>
                <a:uFillTx/>
                <a:latin typeface="QuattrocentoSans"/>
                <a:ea typeface="QuattrocentoSans"/>
              </a:rPr>
              <a:t>合规要求正从</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自愿披露</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转向</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强制尽职调查</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。欧盟</a:t>
            </a:r>
            <a:r>
              <a:rPr lang="en-US" sz="1600" b="0" u="none" strike="noStrike">
                <a:solidFill>
                  <a:srgbClr val="1E293B"/>
                </a:solidFill>
                <a:effectLst/>
                <a:uFillTx/>
                <a:latin typeface="QuattrocentoSans"/>
                <a:ea typeface="QuattrocentoSans"/>
              </a:rPr>
              <a:t>CSRD</a:t>
            </a:r>
            <a:r>
              <a:rPr lang="en-US" sz="1600" b="0" u="none" strike="noStrike">
                <a:solidFill>
                  <a:srgbClr val="1E293B"/>
                </a:solidFill>
                <a:effectLst/>
                <a:uFillTx/>
                <a:latin typeface="QuattrocentoSans"/>
                <a:ea typeface="QuattrocentoSans"/>
              </a:rPr>
              <a:t>要求泰坦动力从</a:t>
            </a:r>
            <a:r>
              <a:rPr lang="en-US" sz="1600" b="0" u="none" strike="noStrike">
                <a:solidFill>
                  <a:srgbClr val="1E293B"/>
                </a:solidFill>
                <a:effectLst/>
                <a:uFillTx/>
                <a:latin typeface="QuattrocentoSans"/>
                <a:ea typeface="QuattrocentoSans"/>
              </a:rPr>
              <a:t>2026</a:t>
            </a:r>
            <a:r>
              <a:rPr lang="en-US" sz="1600" b="0" u="none" strike="noStrike">
                <a:solidFill>
                  <a:srgbClr val="1E293B"/>
                </a:solidFill>
                <a:effectLst/>
                <a:uFillTx/>
                <a:latin typeface="QuattrocentoSans"/>
                <a:ea typeface="QuattrocentoSans"/>
              </a:rPr>
              <a:t>年起按</a:t>
            </a:r>
            <a:r>
              <a:rPr lang="en-US" sz="1600" b="0" u="none" strike="noStrike">
                <a:solidFill>
                  <a:srgbClr val="1E293B"/>
                </a:solidFill>
                <a:effectLst/>
                <a:uFillTx/>
                <a:latin typeface="QuattrocentoSans"/>
                <a:ea typeface="QuattrocentoSans"/>
              </a:rPr>
              <a:t>ESRS</a:t>
            </a:r>
            <a:r>
              <a:rPr lang="en-US" sz="1600" b="0" u="none" strike="noStrike">
                <a:solidFill>
                  <a:srgbClr val="1E293B"/>
                </a:solidFill>
                <a:effectLst/>
                <a:uFillTx/>
                <a:latin typeface="QuattrocentoSans"/>
                <a:ea typeface="QuattrocentoSans"/>
              </a:rPr>
              <a:t>标准披露范围</a:t>
            </a:r>
            <a:r>
              <a:rPr lang="en-US" sz="1600" b="0" u="none" strike="noStrike">
                <a:solidFill>
                  <a:srgbClr val="1E293B"/>
                </a:solidFill>
                <a:effectLst/>
                <a:uFillTx/>
                <a:latin typeface="QuattrocentoSans"/>
                <a:ea typeface="QuattrocentoSans"/>
              </a:rPr>
              <a:t>1/2/3</a:t>
            </a:r>
            <a:r>
              <a:rPr lang="en-US" sz="1600" b="0" u="none" strike="noStrike">
                <a:solidFill>
                  <a:srgbClr val="1E293B"/>
                </a:solidFill>
                <a:effectLst/>
                <a:uFillTx/>
                <a:latin typeface="QuattrocentoSans"/>
                <a:ea typeface="QuattrocentoSans"/>
              </a:rPr>
              <a:t>碳排放、生物多样性影响、人权尽职调查。德国</a:t>
            </a:r>
            <a:r>
              <a:rPr lang="en-US" sz="1600" b="0" u="none" strike="noStrike">
                <a:solidFill>
                  <a:srgbClr val="1E293B"/>
                </a:solidFill>
                <a:effectLst/>
                <a:uFillTx/>
                <a:latin typeface="QuattrocentoSans"/>
                <a:ea typeface="QuattrocentoSans"/>
              </a:rPr>
              <a:t>LkSG</a:t>
            </a:r>
            <a:r>
              <a:rPr lang="en-US" sz="1600" b="0" u="none" strike="noStrike">
                <a:solidFill>
                  <a:srgbClr val="1E293B"/>
                </a:solidFill>
                <a:effectLst/>
                <a:uFillTx/>
                <a:latin typeface="QuattrocentoSans"/>
                <a:ea typeface="QuattrocentoSans"/>
              </a:rPr>
              <a:t>要求对一级至三级供应商进行人权与环境风险审计。美国</a:t>
            </a:r>
            <a:r>
              <a:rPr lang="en-US" sz="1600" b="0" u="none" strike="noStrike">
                <a:solidFill>
                  <a:srgbClr val="1E293B"/>
                </a:solidFill>
                <a:effectLst/>
                <a:uFillTx/>
                <a:latin typeface="QuattrocentoSans"/>
                <a:ea typeface="QuattrocentoSans"/>
              </a:rPr>
              <a:t>SEC</a:t>
            </a:r>
            <a:r>
              <a:rPr lang="en-US" sz="1600" b="0" u="none" strike="noStrike">
                <a:solidFill>
                  <a:srgbClr val="1E293B"/>
                </a:solidFill>
                <a:effectLst/>
                <a:uFillTx/>
                <a:latin typeface="QuattrocentoSans"/>
                <a:ea typeface="QuattrocentoSans"/>
              </a:rPr>
              <a:t>气候披露规则要求披露气候相关财务风险与转型计划。</a:t>
            </a:r>
            <a:endParaRPr lang="en-US" sz="1600" b="0" u="none" strike="noStrike">
              <a:solidFill>
                <a:srgbClr val="000000"/>
              </a:solidFill>
              <a:effectLst/>
              <a:uFillTx/>
              <a:latin typeface="Calibri"/>
            </a:endParaRPr>
          </a:p>
        </p:txBody>
      </p:sp>
      <p:graphicFrame>
        <p:nvGraphicFramePr>
          <p:cNvPr id="229" name=""/>
          <p:cNvGraphicFramePr/>
          <p:nvPr/>
        </p:nvGraphicFramePr>
        <p:xfrm>
          <a:off x="762120" y="2540160"/>
          <a:ext cx="14731920" cy="4317840"/>
        </p:xfrm>
        <a:graphic>
          <a:graphicData uri="http://schemas.openxmlformats.org/drawingml/2006/table">
            <a:tbl>
              <a:tblPr/>
              <a:tblGrid>
                <a:gridCol w="2357280"/>
                <a:gridCol w="2062080"/>
                <a:gridCol w="2946600"/>
                <a:gridCol w="2062080"/>
                <a:gridCol w="2062080"/>
                <a:gridCol w="3241800"/>
              </a:tblGrid>
              <a:tr h="5191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法规名称</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适用范围</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披露要求</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处罚力度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生效日期</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泰坦应对状态</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r>
              <a:tr h="6332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EU CSRD</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欧盟</a:t>
                      </a:r>
                      <a:r>
                        <a:rPr lang="en-US" sz="1100" b="0" u="none" strike="noStrike">
                          <a:solidFill>
                            <a:srgbClr val="1E293B"/>
                          </a:solidFill>
                          <a:effectLst/>
                          <a:uFillTx/>
                          <a:latin typeface="QuattrocentoSans"/>
                          <a:ea typeface="QuattrocentoSans"/>
                        </a:rPr>
                        <a:t>+EEA</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ESRS</a:t>
                      </a:r>
                      <a:r>
                        <a:rPr lang="en-US" sz="1100" b="0" u="none" strike="noStrike">
                          <a:solidFill>
                            <a:srgbClr val="1E293B"/>
                          </a:solidFill>
                          <a:effectLst/>
                          <a:uFillTx/>
                          <a:latin typeface="QuattrocentoSans"/>
                          <a:ea typeface="QuattrocentoSans"/>
                        </a:rPr>
                        <a:t>标准</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范围</a:t>
                      </a:r>
                      <a:r>
                        <a:rPr lang="en-US" sz="1100" b="0" u="none" strike="noStrike">
                          <a:solidFill>
                            <a:srgbClr val="1E293B"/>
                          </a:solidFill>
                          <a:effectLst/>
                          <a:uFillTx/>
                          <a:latin typeface="QuattrocentoSans"/>
                          <a:ea typeface="QuattrocentoSans"/>
                        </a:rPr>
                        <a:t>1-3</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营收</a:t>
                      </a:r>
                      <a:r>
                        <a:rPr lang="en-US" sz="1100" b="0" u="none" strike="noStrike">
                          <a:solidFill>
                            <a:srgbClr val="1E293B"/>
                          </a:solidFill>
                          <a:effectLst/>
                          <a:uFillTx/>
                          <a:latin typeface="QuattrocentoSans"/>
                          <a:ea typeface="QuattrocentoSans"/>
                        </a:rPr>
                        <a:t>4%</a:t>
                      </a:r>
                      <a:r>
                        <a:rPr lang="en-US" sz="1100" b="0" u="none" strike="noStrike">
                          <a:solidFill>
                            <a:srgbClr val="1E293B"/>
                          </a:solidFill>
                          <a:effectLst/>
                          <a:uFillTx/>
                          <a:latin typeface="QuattrocentoSans"/>
                          <a:ea typeface="QuattrocentoSans"/>
                        </a:rPr>
                        <a:t>罚款</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2026</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体系搭建中</a:t>
                      </a:r>
                      <a:r>
                        <a:rPr lang="en-US" sz="1100" b="0" u="none" strike="noStrike">
                          <a:solidFill>
                            <a:srgbClr val="1E293B"/>
                          </a:solidFill>
                          <a:effectLst/>
                          <a:uFillTx/>
                          <a:latin typeface="QuattrocentoSans"/>
                          <a:ea typeface="QuattrocentoSans"/>
                        </a:rPr>
                        <a:t>(60%)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6332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德国 </a:t>
                      </a:r>
                      <a:r>
                        <a:rPr lang="en-US" sz="1100" b="0" u="none" strike="noStrike">
                          <a:solidFill>
                            <a:srgbClr val="1E293B"/>
                          </a:solidFill>
                          <a:effectLst/>
                          <a:uFillTx/>
                          <a:latin typeface="QuattrocentoSans"/>
                          <a:ea typeface="QuattrocentoSans"/>
                        </a:rPr>
                        <a:t>LkSG</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德国市场</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三级供应商审计</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最高</a:t>
                      </a:r>
                      <a:r>
                        <a:rPr lang="en-US" sz="1100" b="0" u="none" strike="noStrike">
                          <a:solidFill>
                            <a:srgbClr val="1E293B"/>
                          </a:solidFill>
                          <a:effectLst/>
                          <a:uFillTx/>
                          <a:latin typeface="QuattrocentoSans"/>
                          <a:ea typeface="QuattrocentoSans"/>
                        </a:rPr>
                        <a:t>8M EUR</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2023</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一级供应商</a:t>
                      </a:r>
                      <a:r>
                        <a:rPr lang="en-US" sz="1100" b="0" u="none" strike="noStrike">
                          <a:solidFill>
                            <a:srgbClr val="1E293B"/>
                          </a:solidFill>
                          <a:effectLst/>
                          <a:uFillTx/>
                          <a:latin typeface="QuattrocentoSans"/>
                          <a:ea typeface="QuattrocentoSans"/>
                        </a:rPr>
                        <a:t>100%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6336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美国</a:t>
                      </a:r>
                      <a:r>
                        <a:rPr lang="en-US" sz="1100" b="0" u="none" strike="noStrike">
                          <a:solidFill>
                            <a:srgbClr val="1E293B"/>
                          </a:solidFill>
                          <a:effectLst/>
                          <a:uFillTx/>
                          <a:latin typeface="QuattrocentoSans"/>
                          <a:ea typeface="QuattrocentoSans"/>
                        </a:rPr>
                        <a:t>SEC</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SEC</a:t>
                      </a:r>
                      <a:r>
                        <a:rPr lang="en-US" sz="1100" b="0" u="none" strike="noStrike">
                          <a:solidFill>
                            <a:srgbClr val="1E293B"/>
                          </a:solidFill>
                          <a:effectLst/>
                          <a:uFillTx/>
                          <a:latin typeface="QuattrocentoSans"/>
                          <a:ea typeface="QuattrocentoSans"/>
                        </a:rPr>
                        <a:t>注册企业</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气候财务风险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证券欺诈追责</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披露模板已提交</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6318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法国 </a:t>
                      </a:r>
                      <a:r>
                        <a:rPr lang="en-US" sz="1100" b="0" u="none" strike="noStrike">
                          <a:solidFill>
                            <a:srgbClr val="1E293B"/>
                          </a:solidFill>
                          <a:effectLst/>
                          <a:uFillTx/>
                          <a:latin typeface="QuattrocentoSans"/>
                          <a:ea typeface="QuattrocentoSans"/>
                        </a:rPr>
                        <a:t>Duty of Care</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法国市场</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人权</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环境尽职</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民事赔偿</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2017</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合规达标</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6336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挪威 </a:t>
                      </a:r>
                      <a:r>
                        <a:rPr lang="en-US" sz="1100" b="0" u="none" strike="noStrike">
                          <a:solidFill>
                            <a:srgbClr val="1E293B"/>
                          </a:solidFill>
                          <a:effectLst/>
                          <a:uFillTx/>
                          <a:latin typeface="QuattrocentoSans"/>
                          <a:ea typeface="QuattrocentoSans"/>
                        </a:rPr>
                        <a:t>Transparency Act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挪威市场</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人权</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环境审计</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强制整改</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合规达标</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6332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中国 </a:t>
                      </a:r>
                      <a:r>
                        <a:rPr lang="en-US" sz="1100" b="0" u="none" strike="noStrike">
                          <a:solidFill>
                            <a:srgbClr val="1E293B"/>
                          </a:solidFill>
                          <a:effectLst/>
                          <a:uFillTx/>
                          <a:latin typeface="QuattrocentoSans"/>
                          <a:ea typeface="QuattrocentoSans"/>
                        </a:rPr>
                        <a:t>ESG</a:t>
                      </a:r>
                      <a:r>
                        <a:rPr lang="en-US" sz="1100" b="0" u="none" strike="noStrike">
                          <a:solidFill>
                            <a:srgbClr val="1E293B"/>
                          </a:solidFill>
                          <a:effectLst/>
                          <a:uFillTx/>
                          <a:latin typeface="QuattrocentoSans"/>
                          <a:ea typeface="QuattrocentoSans"/>
                        </a:rPr>
                        <a:t>指引</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a:t>
                      </a:r>
                      <a:r>
                        <a:rPr lang="en-US" sz="1100" b="0" u="none" strike="noStrike">
                          <a:solidFill>
                            <a:srgbClr val="1E293B"/>
                          </a:solidFill>
                          <a:effectLst/>
                          <a:uFillTx/>
                          <a:latin typeface="QuattrocentoSans"/>
                          <a:ea typeface="QuattrocentoSans"/>
                        </a:rPr>
                        <a:t>股</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港股</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环境</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社会</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治理</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交易所问询</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2025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报告编制中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bl>
          </a:graphicData>
        </a:graphic>
      </p:graphicFrame>
      <p:sp>
        <p:nvSpPr>
          <p:cNvPr id="230" name="Shape 3"/>
          <p:cNvSpPr/>
          <p:nvPr/>
        </p:nvSpPr>
        <p:spPr>
          <a:xfrm>
            <a:off x="762120" y="7112160"/>
            <a:ext cx="3429000" cy="101592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31" name="Text 4"/>
          <p:cNvSpPr/>
          <p:nvPr/>
        </p:nvSpPr>
        <p:spPr>
          <a:xfrm>
            <a:off x="1015920" y="7213680"/>
            <a:ext cx="2921040" cy="5079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8A265"/>
                </a:solidFill>
                <a:effectLst/>
                <a:uFillTx/>
                <a:latin typeface="Liter"/>
                <a:ea typeface="Liter"/>
              </a:rPr>
              <a:t></a:t>
            </a:r>
            <a:endParaRPr lang="en-US" sz="2800" b="0" u="none" strike="noStrike">
              <a:solidFill>
                <a:srgbClr val="000000"/>
              </a:solidFill>
              <a:effectLst/>
              <a:uFillTx/>
              <a:latin typeface="Calibri"/>
            </a:endParaRPr>
          </a:p>
        </p:txBody>
      </p:sp>
      <p:sp>
        <p:nvSpPr>
          <p:cNvPr id="232" name="Text 5"/>
          <p:cNvSpPr/>
          <p:nvPr/>
        </p:nvSpPr>
        <p:spPr>
          <a:xfrm>
            <a:off x="1015920" y="7721640"/>
            <a:ext cx="2921040" cy="3049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5A6D7F"/>
                </a:solidFill>
                <a:effectLst/>
                <a:uFillTx/>
                <a:latin typeface="Quattrocento Sans"/>
              </a:rPr>
              <a:t>首年合规体系投入</a:t>
            </a:r>
            <a:endParaRPr lang="en-US" sz="1100" b="0" u="none" strike="noStrike">
              <a:solidFill>
                <a:srgbClr val="000000"/>
              </a:solidFill>
              <a:effectLst/>
              <a:uFillTx/>
              <a:latin typeface="Calibri"/>
            </a:endParaRPr>
          </a:p>
        </p:txBody>
      </p:sp>
      <p:sp>
        <p:nvSpPr>
          <p:cNvPr id="233" name="Shape 6"/>
          <p:cNvSpPr/>
          <p:nvPr/>
        </p:nvSpPr>
        <p:spPr>
          <a:xfrm>
            <a:off x="4444920" y="7112160"/>
            <a:ext cx="3429000" cy="101592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34" name="Text 7"/>
          <p:cNvSpPr/>
          <p:nvPr/>
        </p:nvSpPr>
        <p:spPr>
          <a:xfrm>
            <a:off x="4699080" y="7213680"/>
            <a:ext cx="2921040" cy="5079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8A265"/>
                </a:solidFill>
                <a:effectLst/>
                <a:uFillTx/>
                <a:latin typeface="Liter"/>
                <a:ea typeface="Liter"/>
              </a:rPr>
              <a:t></a:t>
            </a:r>
            <a:endParaRPr lang="en-US" sz="2800" b="0" u="none" strike="noStrike">
              <a:solidFill>
                <a:srgbClr val="000000"/>
              </a:solidFill>
              <a:effectLst/>
              <a:uFillTx/>
              <a:latin typeface="Calibri"/>
            </a:endParaRPr>
          </a:p>
        </p:txBody>
      </p:sp>
      <p:sp>
        <p:nvSpPr>
          <p:cNvPr id="235" name="Text 8"/>
          <p:cNvSpPr/>
          <p:nvPr/>
        </p:nvSpPr>
        <p:spPr>
          <a:xfrm>
            <a:off x="4699080" y="7721640"/>
            <a:ext cx="2921040" cy="3049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5A6D7F"/>
                </a:solidFill>
                <a:effectLst/>
                <a:uFillTx/>
                <a:latin typeface="Quattrocento Sans"/>
              </a:rPr>
              <a:t>核心供应商</a:t>
            </a:r>
            <a:r>
              <a:rPr lang="en-US" sz="1100" b="0" u="none" strike="noStrike">
                <a:solidFill>
                  <a:srgbClr val="5A6D7F"/>
                </a:solidFill>
                <a:effectLst/>
                <a:uFillTx/>
                <a:latin typeface="Quattrocento Sans"/>
              </a:rPr>
              <a:t>ESG</a:t>
            </a:r>
            <a:r>
              <a:rPr lang="en-US" sz="1100" b="0" u="none" strike="noStrike">
                <a:solidFill>
                  <a:srgbClr val="5A6D7F"/>
                </a:solidFill>
                <a:effectLst/>
                <a:uFillTx/>
                <a:latin typeface="Quattrocento Sans"/>
              </a:rPr>
              <a:t>评级数</a:t>
            </a:r>
            <a:endParaRPr lang="en-US" sz="1100" b="0" u="none" strike="noStrike">
              <a:solidFill>
                <a:srgbClr val="000000"/>
              </a:solidFill>
              <a:effectLst/>
              <a:uFillTx/>
              <a:latin typeface="Calibri"/>
            </a:endParaRPr>
          </a:p>
        </p:txBody>
      </p:sp>
      <p:sp>
        <p:nvSpPr>
          <p:cNvPr id="236" name="Shape 9"/>
          <p:cNvSpPr/>
          <p:nvPr/>
        </p:nvSpPr>
        <p:spPr>
          <a:xfrm>
            <a:off x="8128080" y="7112160"/>
            <a:ext cx="3429000" cy="101592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37" name="Text 10"/>
          <p:cNvSpPr/>
          <p:nvPr/>
        </p:nvSpPr>
        <p:spPr>
          <a:xfrm>
            <a:off x="8381880" y="7213680"/>
            <a:ext cx="2921040" cy="5079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8A265"/>
                </a:solidFill>
                <a:effectLst/>
                <a:uFillTx/>
                <a:latin typeface="Liter"/>
                <a:ea typeface="Liter"/>
              </a:rPr>
              <a:t>天</a:t>
            </a:r>
            <a:endParaRPr lang="en-US" sz="2800" b="0" u="none" strike="noStrike">
              <a:solidFill>
                <a:srgbClr val="000000"/>
              </a:solidFill>
              <a:effectLst/>
              <a:uFillTx/>
              <a:latin typeface="Calibri"/>
            </a:endParaRPr>
          </a:p>
        </p:txBody>
      </p:sp>
      <p:sp>
        <p:nvSpPr>
          <p:cNvPr id="238" name="Text 11"/>
          <p:cNvSpPr/>
          <p:nvPr/>
        </p:nvSpPr>
        <p:spPr>
          <a:xfrm>
            <a:off x="8381880" y="7721640"/>
            <a:ext cx="2921040" cy="3049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5A6D7F"/>
                </a:solidFill>
                <a:effectLst/>
                <a:uFillTx/>
                <a:latin typeface="Quattrocento Sans"/>
              </a:rPr>
              <a:t>不达标供应商整改期</a:t>
            </a:r>
            <a:endParaRPr lang="en-US" sz="1100" b="0" u="none" strike="noStrike">
              <a:solidFill>
                <a:srgbClr val="000000"/>
              </a:solidFill>
              <a:effectLst/>
              <a:uFillTx/>
              <a:latin typeface="Calibri"/>
            </a:endParaRPr>
          </a:p>
        </p:txBody>
      </p:sp>
      <p:sp>
        <p:nvSpPr>
          <p:cNvPr id="239" name="Shape 12"/>
          <p:cNvSpPr/>
          <p:nvPr/>
        </p:nvSpPr>
        <p:spPr>
          <a:xfrm>
            <a:off x="11810880" y="7112160"/>
            <a:ext cx="3429000" cy="101592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40" name="Text 13"/>
          <p:cNvSpPr/>
          <p:nvPr/>
        </p:nvSpPr>
        <p:spPr>
          <a:xfrm>
            <a:off x="12065040" y="7213680"/>
            <a:ext cx="2921040" cy="50796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C8A265"/>
                </a:solidFill>
                <a:effectLst/>
                <a:uFillTx/>
                <a:latin typeface="Liter"/>
                <a:ea typeface="Liter"/>
              </a:rPr>
              <a:t></a:t>
            </a:r>
            <a:endParaRPr lang="en-US" sz="2800" b="0" u="none" strike="noStrike">
              <a:solidFill>
                <a:srgbClr val="000000"/>
              </a:solidFill>
              <a:effectLst/>
              <a:uFillTx/>
              <a:latin typeface="Calibri"/>
            </a:endParaRPr>
          </a:p>
        </p:txBody>
      </p:sp>
      <p:sp>
        <p:nvSpPr>
          <p:cNvPr id="241" name="Text 14"/>
          <p:cNvSpPr/>
          <p:nvPr/>
        </p:nvSpPr>
        <p:spPr>
          <a:xfrm>
            <a:off x="12065040" y="7721640"/>
            <a:ext cx="2921040" cy="3049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5A6D7F"/>
                </a:solidFill>
                <a:effectLst/>
                <a:uFillTx/>
                <a:latin typeface="Quattrocento Sans"/>
              </a:rPr>
              <a:t>后续年度运维成本</a:t>
            </a:r>
            <a:endParaRPr lang="en-US" sz="1100" b="0" u="none" strike="noStrike">
              <a:solidFill>
                <a:srgbClr val="000000"/>
              </a:solidFill>
              <a:effectLst/>
              <a:uFillTx/>
              <a:latin typeface="Calibri"/>
            </a:endParaRPr>
          </a:p>
        </p:txBody>
      </p:sp>
      <p:sp>
        <p:nvSpPr>
          <p:cNvPr id="242" name="Text 15"/>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European Commission CSRD Guidance, German Federal Office LkSG, SEC Climate Disclosure Rules 2024, Titan ESG Compliance Office · Slide 20</a:t>
            </a:r>
            <a:endParaRPr lang="en-US" sz="1000" b="0" u="none" strike="noStrike">
              <a:solidFill>
                <a:srgbClr val="000000"/>
              </a:solidFill>
              <a:effectLst/>
              <a:uFillTx/>
              <a:latin typeface="Calibri"/>
            </a:endParaRPr>
          </a:p>
        </p:txBody>
      </p:sp>
    </p:spTree>
  </p:cSld>
  <p:transition>
    <p:fade/>
  </p:transition>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pic>
        <p:nvPicPr>
          <p:cNvPr id="243" name="Text 0"/>
          <p:cNvPicPr/>
          <p:nvPr/>
        </p:nvPicPr>
        <p:blipFill>
          <a:blip r:embed="rId1"/>
          <a:stretch/>
        </p:blipFill>
        <p:spPr>
          <a:xfrm>
            <a:off x="-774720" y="1676520"/>
            <a:ext cx="6616800" cy="5333760"/>
          </a:xfrm>
          <a:prstGeom prst="rect">
            <a:avLst/>
          </a:prstGeom>
          <a:noFill/>
          <a:ln w="0">
            <a:noFill/>
          </a:ln>
        </p:spPr>
      </p:pic>
      <p:sp>
        <p:nvSpPr>
          <p:cNvPr id="244" name="Shape 1"/>
          <p:cNvSpPr/>
          <p:nvPr/>
        </p:nvSpPr>
        <p:spPr>
          <a:xfrm>
            <a:off x="762120" y="5842080"/>
            <a:ext cx="1015920" cy="38160"/>
          </a:xfrm>
          <a:prstGeom prst="rect">
            <a:avLst/>
          </a:prstGeom>
          <a:solidFill>
            <a:srgbClr val="C8A265"/>
          </a:solidFill>
          <a:ln w="0">
            <a:noFill/>
          </a:ln>
        </p:spPr>
        <p:style>
          <a:lnRef idx="0"/>
          <a:fillRef idx="0"/>
          <a:effectRef idx="0"/>
          <a:fontRef idx="minor"/>
        </p:style>
        <p:txBody>
          <a:bodyPr lIns="90000" tIns="-8640" rIns="90000" bIns="-86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45" name="Text 2"/>
          <p:cNvSpPr/>
          <p:nvPr/>
        </p:nvSpPr>
        <p:spPr>
          <a:xfrm>
            <a:off x="762120" y="6095880"/>
            <a:ext cx="11430000" cy="7621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FFFFFF"/>
                </a:solidFill>
                <a:effectLst/>
                <a:uFillTx/>
                <a:latin typeface="Liter"/>
                <a:ea typeface="Liter"/>
              </a:rPr>
              <a:t>财务模型与五年资本开支（）</a:t>
            </a:r>
            <a:endParaRPr lang="en-US" sz="3600" b="0" u="none" strike="noStrike">
              <a:solidFill>
                <a:srgbClr val="000000"/>
              </a:solidFill>
              <a:effectLst/>
              <a:uFillTx/>
              <a:latin typeface="Calibri"/>
            </a:endParaRPr>
          </a:p>
        </p:txBody>
      </p:sp>
      <p:sp>
        <p:nvSpPr>
          <p:cNvPr id="246" name="Text 3"/>
          <p:cNvSpPr/>
          <p:nvPr/>
        </p:nvSpPr>
        <p:spPr>
          <a:xfrm>
            <a:off x="762120" y="6985080"/>
            <a:ext cx="10159920" cy="101592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D1D5DB"/>
                </a:solidFill>
                <a:effectLst/>
                <a:uFillTx/>
                <a:latin typeface="Quattrocento Sans"/>
              </a:rPr>
              <a:t>250</a:t>
            </a:r>
            <a:r>
              <a:rPr lang="en-US" sz="1800" b="0" u="none" strike="noStrike">
                <a:solidFill>
                  <a:srgbClr val="D1D5DB"/>
                </a:solidFill>
                <a:effectLst/>
                <a:uFillTx/>
                <a:latin typeface="Quattrocento Sans"/>
              </a:rPr>
              <a:t>亿美金投资的分配逻辑、回报预期与多情境压力测试，</a:t>
            </a:r>
            <a:endParaRPr lang="en-US" sz="18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D1D5DB"/>
                </a:solidFill>
                <a:effectLst/>
                <a:uFillTx/>
                <a:latin typeface="Quattrocento Sans"/>
              </a:rPr>
              <a:t>为董事会提供量化决策依据。</a:t>
            </a:r>
            <a:endParaRPr lang="en-US" sz="1800" b="0" u="none" strike="noStrike">
              <a:solidFill>
                <a:srgbClr val="000000"/>
              </a:solidFill>
              <a:effectLst/>
              <a:uFillTx/>
              <a:latin typeface="Calibri"/>
            </a:endParaRPr>
          </a:p>
        </p:txBody>
      </p:sp>
      <p:sp>
        <p:nvSpPr>
          <p:cNvPr id="247" name="Text 4"/>
          <p:cNvSpPr/>
          <p:nvPr/>
        </p:nvSpPr>
        <p:spPr>
          <a:xfrm>
            <a:off x="762120" y="8636040"/>
            <a:ext cx="507996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8B9AAB"/>
                </a:solidFill>
                <a:effectLst/>
                <a:uFillTx/>
                <a:latin typeface="QuattrocentoSans"/>
                <a:ea typeface="QuattrocentoSans"/>
              </a:rPr>
              <a:t>Chapter 04 · P21-P25</a:t>
            </a:r>
            <a:endParaRPr lang="en-US" sz="1000" b="0" u="none" strike="noStrike">
              <a:solidFill>
                <a:srgbClr val="000000"/>
              </a:solidFill>
              <a:effectLst/>
              <a:uFillTx/>
              <a:latin typeface="Calibri"/>
            </a:endParaRPr>
          </a:p>
        </p:txBody>
      </p:sp>
    </p:spTree>
  </p:cSld>
  <p:transition>
    <p:fade/>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248" name="Text 0"/>
          <p:cNvSpPr/>
          <p:nvPr/>
        </p:nvSpPr>
        <p:spPr>
          <a:xfrm>
            <a:off x="762120" y="507960"/>
            <a:ext cx="126997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五年总览：亿美金的战略分配逻辑</a:t>
            </a:r>
            <a:endParaRPr lang="en-US" sz="2800" b="0" u="none" strike="noStrike">
              <a:solidFill>
                <a:srgbClr val="000000"/>
              </a:solidFill>
              <a:effectLst/>
              <a:uFillTx/>
              <a:latin typeface="Calibri"/>
            </a:endParaRPr>
          </a:p>
        </p:txBody>
      </p:sp>
      <p:sp>
        <p:nvSpPr>
          <p:cNvPr id="249"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50" name="Text 2"/>
          <p:cNvSpPr/>
          <p:nvPr/>
        </p:nvSpPr>
        <p:spPr>
          <a:xfrm>
            <a:off x="762120" y="1333440"/>
            <a:ext cx="14731920" cy="101592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泰坦动力</a:t>
            </a:r>
            <a:r>
              <a:rPr lang="en-US" sz="1600" b="0" u="none" strike="noStrike">
                <a:solidFill>
                  <a:srgbClr val="1E293B"/>
                </a:solidFill>
                <a:effectLst/>
                <a:uFillTx/>
                <a:latin typeface="QuattrocentoSans"/>
                <a:ea typeface="QuattrocentoSans"/>
              </a:rPr>
              <a:t>2026-2030</a:t>
            </a:r>
            <a:r>
              <a:rPr lang="en-US" sz="1600" b="0" u="none" strike="noStrike">
                <a:solidFill>
                  <a:srgbClr val="1E293B"/>
                </a:solidFill>
                <a:effectLst/>
                <a:uFillTx/>
                <a:latin typeface="QuattrocentoSans"/>
                <a:ea typeface="QuattrocentoSans"/>
              </a:rPr>
              <a:t>年战略投资总额</a:t>
            </a:r>
            <a:r>
              <a:rPr lang="en-US" sz="1600" b="1" u="none" strike="noStrike">
                <a:solidFill>
                  <a:srgbClr val="1E293B"/>
                </a:solidFill>
                <a:effectLst/>
                <a:uFillTx/>
                <a:latin typeface="QuattrocentoSans"/>
                <a:ea typeface="QuattrocentoSans"/>
              </a:rPr>
              <a:t>250</a:t>
            </a:r>
            <a:r>
              <a:rPr lang="en-US" sz="1600" b="1" u="none" strike="noStrike">
                <a:solidFill>
                  <a:srgbClr val="1E293B"/>
                </a:solidFill>
                <a:effectLst/>
                <a:uFillTx/>
                <a:latin typeface="QuattrocentoSans"/>
                <a:ea typeface="QuattrocentoSans"/>
              </a:rPr>
              <a:t>亿美金</a:t>
            </a:r>
            <a:r>
              <a:rPr lang="en-US" sz="1600" b="0" u="none" strike="noStrike">
                <a:solidFill>
                  <a:srgbClr val="1E293B"/>
                </a:solidFill>
                <a:effectLst/>
                <a:uFillTx/>
                <a:latin typeface="QuattrocentoSans"/>
                <a:ea typeface="QuattrocentoSans"/>
              </a:rPr>
              <a:t>，按</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技术领域</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地理区域</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双维度分配。技术维度：可再生能源发电</a:t>
            </a:r>
            <a:r>
              <a:rPr lang="en-US" sz="1600" b="0" u="none" strike="noStrike">
                <a:solidFill>
                  <a:srgbClr val="1E293B"/>
                </a:solidFill>
                <a:effectLst/>
                <a:uFillTx/>
                <a:latin typeface="QuattrocentoSans"/>
                <a:ea typeface="QuattrocentoSans"/>
              </a:rPr>
              <a:t>90</a:t>
            </a:r>
            <a:r>
              <a:rPr lang="en-US" sz="1600" b="0" u="none" strike="noStrike">
                <a:solidFill>
                  <a:srgbClr val="1E293B"/>
                </a:solidFill>
                <a:effectLst/>
                <a:uFillTx/>
                <a:latin typeface="QuattrocentoSans"/>
                <a:ea typeface="QuattrocentoSans"/>
              </a:rPr>
              <a:t>亿美金（</a:t>
            </a:r>
            <a:r>
              <a:rPr lang="en-US" sz="1600" b="0" u="none" strike="noStrike">
                <a:solidFill>
                  <a:srgbClr val="1E293B"/>
                </a:solidFill>
                <a:effectLst/>
                <a:uFillTx/>
                <a:latin typeface="QuattrocentoSans"/>
                <a:ea typeface="QuattrocentoSans"/>
              </a:rPr>
              <a:t>36%</a:t>
            </a:r>
            <a:r>
              <a:rPr lang="en-US" sz="1600" b="0" u="none" strike="noStrike">
                <a:solidFill>
                  <a:srgbClr val="1E293B"/>
                </a:solidFill>
                <a:effectLst/>
                <a:uFillTx/>
                <a:latin typeface="QuattrocentoSans"/>
                <a:ea typeface="QuattrocentoSans"/>
              </a:rPr>
              <a:t>）、储能系统</a:t>
            </a:r>
            <a:r>
              <a:rPr lang="en-US" sz="1600" b="0" u="none" strike="noStrike">
                <a:solidFill>
                  <a:srgbClr val="1E293B"/>
                </a:solidFill>
                <a:effectLst/>
                <a:uFillTx/>
                <a:latin typeface="QuattrocentoSans"/>
                <a:ea typeface="QuattrocentoSans"/>
              </a:rPr>
              <a:t>45</a:t>
            </a:r>
            <a:r>
              <a:rPr lang="en-US" sz="1600" b="0" u="none" strike="noStrike">
                <a:solidFill>
                  <a:srgbClr val="1E293B"/>
                </a:solidFill>
                <a:effectLst/>
                <a:uFillTx/>
                <a:latin typeface="QuattrocentoSans"/>
                <a:ea typeface="QuattrocentoSans"/>
              </a:rPr>
              <a:t>亿美金（</a:t>
            </a:r>
            <a:r>
              <a:rPr lang="en-US" sz="1600" b="0" u="none" strike="noStrike">
                <a:solidFill>
                  <a:srgbClr val="1E293B"/>
                </a:solidFill>
                <a:effectLst/>
                <a:uFillTx/>
                <a:latin typeface="QuattrocentoSans"/>
                <a:ea typeface="QuattrocentoSans"/>
              </a:rPr>
              <a:t>18%</a:t>
            </a:r>
            <a:r>
              <a:rPr lang="en-US" sz="1600" b="0" u="none" strike="noStrike">
                <a:solidFill>
                  <a:srgbClr val="1E293B"/>
                </a:solidFill>
                <a:effectLst/>
                <a:uFillTx/>
                <a:latin typeface="QuattrocentoSans"/>
                <a:ea typeface="QuattrocentoSans"/>
              </a:rPr>
              <a:t>）、绿氢产业链</a:t>
            </a:r>
            <a:r>
              <a:rPr lang="en-US" sz="1600" b="0" u="none" strike="noStrike">
                <a:solidFill>
                  <a:srgbClr val="1E293B"/>
                </a:solidFill>
                <a:effectLst/>
                <a:uFillTx/>
                <a:latin typeface="QuattrocentoSans"/>
                <a:ea typeface="QuattrocentoSans"/>
              </a:rPr>
              <a:t>40</a:t>
            </a:r>
            <a:r>
              <a:rPr lang="en-US" sz="1600" b="0" u="none" strike="noStrike">
                <a:solidFill>
                  <a:srgbClr val="1E293B"/>
                </a:solidFill>
                <a:effectLst/>
                <a:uFillTx/>
                <a:latin typeface="QuattrocentoSans"/>
                <a:ea typeface="QuattrocentoSans"/>
              </a:rPr>
              <a:t>亿美金（</a:t>
            </a:r>
            <a:r>
              <a:rPr lang="en-US" sz="1600" b="0" u="none" strike="noStrike">
                <a:solidFill>
                  <a:srgbClr val="1E293B"/>
                </a:solidFill>
                <a:effectLst/>
                <a:uFillTx/>
                <a:latin typeface="QuattrocentoSans"/>
                <a:ea typeface="QuattrocentoSans"/>
              </a:rPr>
              <a:t>16%</a:t>
            </a:r>
            <a:r>
              <a:rPr lang="en-US" sz="1600" b="0" u="none" strike="noStrike">
                <a:solidFill>
                  <a:srgbClr val="1E293B"/>
                </a:solidFill>
                <a:effectLst/>
                <a:uFillTx/>
                <a:latin typeface="QuattrocentoSans"/>
                <a:ea typeface="QuattrocentoSans"/>
              </a:rPr>
              <a:t>）、电网智能化与</a:t>
            </a:r>
            <a:r>
              <a:rPr lang="en-US" sz="1600" b="0" u="none" strike="noStrike">
                <a:solidFill>
                  <a:srgbClr val="1E293B"/>
                </a:solidFill>
                <a:effectLst/>
                <a:uFillTx/>
                <a:latin typeface="QuattrocentoSans"/>
                <a:ea typeface="QuattrocentoSans"/>
              </a:rPr>
              <a:t>VPP 35</a:t>
            </a:r>
            <a:r>
              <a:rPr lang="en-US" sz="1600" b="0" u="none" strike="noStrike">
                <a:solidFill>
                  <a:srgbClr val="1E293B"/>
                </a:solidFill>
                <a:effectLst/>
                <a:uFillTx/>
                <a:latin typeface="QuattrocentoSans"/>
                <a:ea typeface="QuattrocentoSans"/>
              </a:rPr>
              <a:t>亿美金（</a:t>
            </a:r>
            <a:r>
              <a:rPr lang="en-US" sz="1600" b="0" u="none" strike="noStrike">
                <a:solidFill>
                  <a:srgbClr val="1E293B"/>
                </a:solidFill>
                <a:effectLst/>
                <a:uFillTx/>
                <a:latin typeface="QuattrocentoSans"/>
                <a:ea typeface="QuattrocentoSans"/>
              </a:rPr>
              <a:t>14%</a:t>
            </a:r>
            <a:r>
              <a:rPr lang="en-US" sz="1600" b="0" u="none" strike="noStrike">
                <a:solidFill>
                  <a:srgbClr val="1E293B"/>
                </a:solidFill>
                <a:effectLst/>
                <a:uFillTx/>
                <a:latin typeface="QuattrocentoSans"/>
                <a:ea typeface="QuattrocentoSans"/>
              </a:rPr>
              <a:t>）、碳捕集与封存</a:t>
            </a:r>
            <a:r>
              <a:rPr lang="en-US" sz="1600" b="0" u="none" strike="noStrike">
                <a:solidFill>
                  <a:srgbClr val="1E293B"/>
                </a:solidFill>
                <a:effectLst/>
                <a:uFillTx/>
                <a:latin typeface="QuattrocentoSans"/>
                <a:ea typeface="QuattrocentoSans"/>
              </a:rPr>
              <a:t>25</a:t>
            </a:r>
            <a:r>
              <a:rPr lang="en-US" sz="1600" b="0" u="none" strike="noStrike">
                <a:solidFill>
                  <a:srgbClr val="1E293B"/>
                </a:solidFill>
                <a:effectLst/>
                <a:uFillTx/>
                <a:latin typeface="QuattrocentoSans"/>
                <a:ea typeface="QuattrocentoSans"/>
              </a:rPr>
              <a:t>亿美金（</a:t>
            </a:r>
            <a:r>
              <a:rPr lang="en-US" sz="1600" b="0" u="none" strike="noStrike">
                <a:solidFill>
                  <a:srgbClr val="1E293B"/>
                </a:solidFill>
                <a:effectLst/>
                <a:uFillTx/>
                <a:latin typeface="QuattrocentoSans"/>
                <a:ea typeface="QuattrocentoSans"/>
              </a:rPr>
              <a:t>10%</a:t>
            </a:r>
            <a:r>
              <a:rPr lang="en-US" sz="1600" b="0" u="none" strike="noStrike">
                <a:solidFill>
                  <a:srgbClr val="1E293B"/>
                </a:solidFill>
                <a:effectLst/>
                <a:uFillTx/>
                <a:latin typeface="QuattrocentoSans"/>
                <a:ea typeface="QuattrocentoSans"/>
              </a:rPr>
              <a:t>）、组织变革与数字化</a:t>
            </a:r>
            <a:r>
              <a:rPr lang="en-US" sz="1600" b="0" u="none" strike="noStrike">
                <a:solidFill>
                  <a:srgbClr val="1E293B"/>
                </a:solidFill>
                <a:effectLst/>
                <a:uFillTx/>
                <a:latin typeface="QuattrocentoSans"/>
                <a:ea typeface="QuattrocentoSans"/>
              </a:rPr>
              <a:t>15</a:t>
            </a:r>
            <a:r>
              <a:rPr lang="en-US" sz="1600" b="0" u="none" strike="noStrike">
                <a:solidFill>
                  <a:srgbClr val="1E293B"/>
                </a:solidFill>
                <a:effectLst/>
                <a:uFillTx/>
                <a:latin typeface="QuattrocentoSans"/>
                <a:ea typeface="QuattrocentoSans"/>
              </a:rPr>
              <a:t>亿美金（</a:t>
            </a:r>
            <a:r>
              <a:rPr lang="en-US" sz="1600" b="0" u="none" strike="noStrike">
                <a:solidFill>
                  <a:srgbClr val="1E293B"/>
                </a:solidFill>
                <a:effectLst/>
                <a:uFillTx/>
                <a:latin typeface="QuattrocentoSans"/>
                <a:ea typeface="QuattrocentoSans"/>
              </a:rPr>
              <a:t>6%</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p:txBody>
      </p:sp>
      <p:graphicFrame>
        <p:nvGraphicFramePr>
          <p:cNvPr id="251" name="Chart 0"/>
          <p:cNvGraphicFramePr/>
          <p:nvPr/>
        </p:nvGraphicFramePr>
        <p:xfrm>
          <a:off x="711360" y="2489040"/>
          <a:ext cx="7213320" cy="3403800"/>
        </p:xfrm>
        <a:graphic>
          <a:graphicData uri="http://schemas.openxmlformats.org/presentationml/2006/ole">
            <p:oleObj progId="Excel.Sheet.12" r:id="rId1" spid="">
              <p:embed/>
              <p:pic>
                <p:nvPicPr>
                  <p:cNvPr id="252" name="Chart 0"/>
                  <p:cNvPicPr/>
                  <p:nvPr/>
                </p:nvPicPr>
                <p:blipFill>
                  <a:blip r:embed="rId2"/>
                  <a:stretch/>
                </p:blipFill>
                <p:spPr>
                  <a:xfrm>
                    <a:off x="711360" y="2489040"/>
                    <a:ext cx="7213320" cy="3403800"/>
                  </a:xfrm>
                  <a:prstGeom prst="rect">
                    <a:avLst/>
                  </a:prstGeom>
                  <a:noFill/>
                  <a:ln w="0">
                    <a:noFill/>
                  </a:ln>
                </p:spPr>
              </p:pic>
            </p:oleObj>
          </a:graphicData>
        </a:graphic>
      </p:graphicFrame>
      <p:graphicFrame>
        <p:nvGraphicFramePr>
          <p:cNvPr id="253" name="Chart 1"/>
          <p:cNvGraphicFramePr/>
          <p:nvPr/>
        </p:nvGraphicFramePr>
        <p:xfrm>
          <a:off x="8331120" y="2489040"/>
          <a:ext cx="7213680" cy="3403800"/>
        </p:xfrm>
        <a:graphic>
          <a:graphicData uri="http://schemas.openxmlformats.org/presentationml/2006/ole">
            <p:oleObj progId="Excel.Sheet.12" r:id="rId3" spid="">
              <p:embed/>
              <p:pic>
                <p:nvPicPr>
                  <p:cNvPr id="254" name="Chart 1"/>
                  <p:cNvPicPr/>
                  <p:nvPr/>
                </p:nvPicPr>
                <p:blipFill>
                  <a:blip r:embed="rId4"/>
                  <a:stretch/>
                </p:blipFill>
                <p:spPr>
                  <a:xfrm>
                    <a:off x="8331120" y="2489040"/>
                    <a:ext cx="7213680" cy="3403800"/>
                  </a:xfrm>
                  <a:prstGeom prst="rect">
                    <a:avLst/>
                  </a:prstGeom>
                  <a:noFill/>
                  <a:ln w="0">
                    <a:noFill/>
                  </a:ln>
                </p:spPr>
              </p:pic>
            </p:oleObj>
          </a:graphicData>
        </a:graphic>
      </p:graphicFrame>
      <p:graphicFrame>
        <p:nvGraphicFramePr>
          <p:cNvPr id="255" name=""/>
          <p:cNvGraphicFramePr/>
          <p:nvPr/>
        </p:nvGraphicFramePr>
        <p:xfrm>
          <a:off x="762120" y="6095880"/>
          <a:ext cx="14731920" cy="2032200"/>
        </p:xfrm>
        <a:graphic>
          <a:graphicData uri="http://schemas.openxmlformats.org/drawingml/2006/table">
            <a:tbl>
              <a:tblPr/>
              <a:tblGrid>
                <a:gridCol w="2357280"/>
                <a:gridCol w="2062080"/>
                <a:gridCol w="2062440"/>
                <a:gridCol w="2062080"/>
                <a:gridCol w="2063520"/>
                <a:gridCol w="2062440"/>
                <a:gridCol w="2062080"/>
              </a:tblGrid>
              <a:tr h="4413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年度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2026</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2027</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2028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2029</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2030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合计</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r>
              <a:tr h="5302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投资额</a:t>
                      </a:r>
                      <a:r>
                        <a:rPr lang="en-US" sz="1100" b="0" u="none" strike="noStrike">
                          <a:solidFill>
                            <a:srgbClr val="1E293B"/>
                          </a:solidFill>
                          <a:effectLst/>
                          <a:uFillTx/>
                          <a:latin typeface="QuattrocentoSans"/>
                          <a:ea typeface="QuattrocentoSans"/>
                        </a:rPr>
                        <a:t>(USD 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302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阶段定位</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启动期</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加速期</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峰值期</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成熟期</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收尾期</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302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资金来源</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经营</a:t>
                      </a:r>
                      <a:r>
                        <a:rPr lang="en-US" sz="1100" b="0" u="none" strike="noStrike">
                          <a:solidFill>
                            <a:srgbClr val="1E293B"/>
                          </a:solidFill>
                          <a:effectLst/>
                          <a:uFillTx/>
                          <a:latin typeface="QuattrocentoSans"/>
                          <a:ea typeface="QuattrocentoSans"/>
                        </a:rPr>
                        <a:t>45%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绿债</a:t>
                      </a:r>
                      <a:r>
                        <a:rPr lang="en-US" sz="1100" b="0" u="none" strike="noStrike">
                          <a:solidFill>
                            <a:srgbClr val="1E293B"/>
                          </a:solidFill>
                          <a:effectLst/>
                          <a:uFillTx/>
                          <a:latin typeface="QuattrocentoSans"/>
                          <a:ea typeface="QuattrocentoSans"/>
                        </a:rPr>
                        <a:t>30%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合资</a:t>
                      </a:r>
                      <a:r>
                        <a:rPr lang="en-US" sz="1100" b="0" u="none" strike="noStrike">
                          <a:solidFill>
                            <a:srgbClr val="1E293B"/>
                          </a:solidFill>
                          <a:effectLst/>
                          <a:uFillTx/>
                          <a:latin typeface="QuattrocentoSans"/>
                          <a:ea typeface="QuattrocentoSans"/>
                        </a:rPr>
                        <a:t>15%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补贴</a:t>
                      </a:r>
                      <a:r>
                        <a:rPr lang="en-US" sz="1100" b="0" u="none" strike="noStrike">
                          <a:solidFill>
                            <a:srgbClr val="1E293B"/>
                          </a:solidFill>
                          <a:effectLst/>
                          <a:uFillTx/>
                          <a:latin typeface="QuattrocentoSans"/>
                          <a:ea typeface="QuattrocentoSans"/>
                        </a:rPr>
                        <a:t>10%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bl>
          </a:graphicData>
        </a:graphic>
      </p:graphicFrame>
      <p:sp>
        <p:nvSpPr>
          <p:cNvPr id="256" name="Text 3"/>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Titan Strategic Planning Committee, BNEF Energy Transition Investment Database 2026, Company Treasury Forecast · Slide 22</a:t>
            </a:r>
            <a:endParaRPr lang="en-US" sz="1000" b="0" u="none" strike="noStrike">
              <a:solidFill>
                <a:srgbClr val="000000"/>
              </a:solidFill>
              <a:effectLst/>
              <a:uFillTx/>
              <a:latin typeface="Calibri"/>
            </a:endParaRPr>
          </a:p>
        </p:txBody>
      </p:sp>
    </p:spTree>
  </p:cSld>
  <p:transition>
    <p:fade/>
  </p:transition>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257" name="Text 0"/>
          <p:cNvSpPr/>
          <p:nvPr/>
        </p:nvSpPr>
        <p:spPr>
          <a:xfrm>
            <a:off x="762120" y="507960"/>
            <a:ext cx="126997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多情境财务预测：乐观基准悲观模型的深度演算</a:t>
            </a:r>
            <a:endParaRPr lang="en-US" sz="2800" b="0" u="none" strike="noStrike">
              <a:solidFill>
                <a:srgbClr val="000000"/>
              </a:solidFill>
              <a:effectLst/>
              <a:uFillTx/>
              <a:latin typeface="Calibri"/>
            </a:endParaRPr>
          </a:p>
        </p:txBody>
      </p:sp>
      <p:sp>
        <p:nvSpPr>
          <p:cNvPr id="258"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59" name="Text 2"/>
          <p:cNvSpPr/>
          <p:nvPr/>
        </p:nvSpPr>
        <p:spPr>
          <a:xfrm>
            <a:off x="762120" y="1333440"/>
            <a:ext cx="14731920" cy="101592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基于</a:t>
            </a:r>
            <a:r>
              <a:rPr lang="en-US" sz="1600" b="0" u="none" strike="noStrike">
                <a:solidFill>
                  <a:srgbClr val="1E293B"/>
                </a:solidFill>
                <a:effectLst/>
                <a:uFillTx/>
                <a:latin typeface="QuattrocentoSans"/>
                <a:ea typeface="QuattrocentoSans"/>
              </a:rPr>
              <a:t>WACC</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IRR</a:t>
            </a:r>
            <a:r>
              <a:rPr lang="en-US" sz="1600" b="0" u="none" strike="noStrike">
                <a:solidFill>
                  <a:srgbClr val="1E293B"/>
                </a:solidFill>
                <a:effectLst/>
                <a:uFillTx/>
                <a:latin typeface="QuattrocentoSans"/>
                <a:ea typeface="QuattrocentoSans"/>
              </a:rPr>
              <a:t>与投资回收期三大核心指标，构建三情境财务模型。基准模型：假设碳价年均增长</a:t>
            </a:r>
            <a:r>
              <a:rPr lang="en-US" sz="1600" b="0" u="none" strike="noStrike">
                <a:solidFill>
                  <a:srgbClr val="1E293B"/>
                </a:solidFill>
                <a:effectLst/>
                <a:uFillTx/>
                <a:latin typeface="QuattrocentoSans"/>
                <a:ea typeface="QuattrocentoSans"/>
              </a:rPr>
              <a:t>12%</a:t>
            </a:r>
            <a:r>
              <a:rPr lang="en-US" sz="1600" b="0" u="none" strike="noStrike">
                <a:solidFill>
                  <a:srgbClr val="1E293B"/>
                </a:solidFill>
                <a:effectLst/>
                <a:uFillTx/>
                <a:latin typeface="QuattrocentoSans"/>
                <a:ea typeface="QuattrocentoSans"/>
              </a:rPr>
              <a:t>、绿氢成本年均下降</a:t>
            </a:r>
            <a:r>
              <a:rPr lang="en-US" sz="1600" b="0" u="none" strike="noStrike">
                <a:solidFill>
                  <a:srgbClr val="1E293B"/>
                </a:solidFill>
                <a:effectLst/>
                <a:uFillTx/>
                <a:latin typeface="QuattrocentoSans"/>
                <a:ea typeface="QuattrocentoSans"/>
              </a:rPr>
              <a:t>8%</a:t>
            </a:r>
            <a:r>
              <a:rPr lang="en-US" sz="1600" b="0" u="none" strike="noStrike">
                <a:solidFill>
                  <a:srgbClr val="1E293B"/>
                </a:solidFill>
                <a:effectLst/>
                <a:uFillTx/>
                <a:latin typeface="QuattrocentoSans"/>
                <a:ea typeface="QuattrocentoSans"/>
              </a:rPr>
              <a:t>、可再生能源</a:t>
            </a:r>
            <a:r>
              <a:rPr lang="en-US" sz="1600" b="0" u="none" strike="noStrike">
                <a:solidFill>
                  <a:srgbClr val="1E293B"/>
                </a:solidFill>
                <a:effectLst/>
                <a:uFillTx/>
                <a:latin typeface="QuattrocentoSans"/>
                <a:ea typeface="QuattrocentoSans"/>
              </a:rPr>
              <a:t>LCOE</a:t>
            </a:r>
            <a:r>
              <a:rPr lang="en-US" sz="1600" b="0" u="none" strike="noStrike">
                <a:solidFill>
                  <a:srgbClr val="1E293B"/>
                </a:solidFill>
                <a:effectLst/>
                <a:uFillTx/>
                <a:latin typeface="QuattrocentoSans"/>
                <a:ea typeface="QuattrocentoSans"/>
              </a:rPr>
              <a:t>年均下降</a:t>
            </a:r>
            <a:r>
              <a:rPr lang="en-US" sz="1600" b="0" u="none" strike="noStrike">
                <a:solidFill>
                  <a:srgbClr val="1E293B"/>
                </a:solidFill>
                <a:effectLst/>
                <a:uFillTx/>
                <a:latin typeface="QuattrocentoSans"/>
                <a:ea typeface="QuattrocentoSans"/>
              </a:rPr>
              <a:t>5%</a:t>
            </a:r>
            <a:r>
              <a:rPr lang="en-US" sz="1600" b="0" u="none" strike="noStrike">
                <a:solidFill>
                  <a:srgbClr val="1E293B"/>
                </a:solidFill>
                <a:effectLst/>
                <a:uFillTx/>
                <a:latin typeface="QuattrocentoSans"/>
                <a:ea typeface="QuattrocentoSans"/>
              </a:rPr>
              <a:t>。核心公式：</a:t>
            </a:r>
            <a:r>
              <a:rPr lang="en-US" sz="1600" b="0" u="none" strike="noStrike">
                <a:solidFill>
                  <a:srgbClr val="1E293B"/>
                </a:solidFill>
                <a:effectLst/>
                <a:uFillTx/>
                <a:latin typeface="QuattrocentoSans"/>
                <a:ea typeface="QuattrocentoSans"/>
              </a:rPr>
              <a:t>$NPV = \sum_{t=0}^{10} \frac{CF_t}{(1+WACC)^t}$</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$IRR: \sum_{t=0}^{10} \frac{CF_t}{(1+IRR)^t} = 0$</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p:txBody>
      </p:sp>
      <p:graphicFrame>
        <p:nvGraphicFramePr>
          <p:cNvPr id="260" name=""/>
          <p:cNvGraphicFramePr/>
          <p:nvPr/>
        </p:nvGraphicFramePr>
        <p:xfrm>
          <a:off x="762120" y="2540160"/>
          <a:ext cx="14731920" cy="2793960"/>
        </p:xfrm>
        <a:graphic>
          <a:graphicData uri="http://schemas.openxmlformats.org/drawingml/2006/table">
            <a:tbl>
              <a:tblPr/>
              <a:tblGrid>
                <a:gridCol w="2357280"/>
                <a:gridCol w="2062080"/>
                <a:gridCol w="2062440"/>
                <a:gridCol w="2062080"/>
                <a:gridCol w="2063520"/>
                <a:gridCol w="2062440"/>
                <a:gridCol w="2062080"/>
              </a:tblGrid>
              <a:tr h="4460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指标</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WACC</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IRR</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回收期</a:t>
                      </a:r>
                      <a:r>
                        <a:rPr lang="en-US" sz="1100" b="1" u="none" strike="noStrike">
                          <a:solidFill>
                            <a:srgbClr val="FFFFFF"/>
                          </a:solidFill>
                          <a:effectLst/>
                          <a:uFillTx/>
                          <a:latin typeface="QuattrocentoSans"/>
                          <a:ea typeface="QuattrocentoSans"/>
                        </a:rPr>
                        <a:t>(</a:t>
                      </a:r>
                      <a:r>
                        <a:rPr lang="en-US" sz="1100" b="1" u="none" strike="noStrike">
                          <a:solidFill>
                            <a:srgbClr val="FFFFFF"/>
                          </a:solidFill>
                          <a:effectLst/>
                          <a:uFillTx/>
                          <a:latin typeface="QuattrocentoSans"/>
                          <a:ea typeface="QuattrocentoSans"/>
                        </a:rPr>
                        <a:t>年</a:t>
                      </a:r>
                      <a:r>
                        <a:rPr lang="en-US" sz="1100" b="1" u="none" strike="noStrike">
                          <a:solidFill>
                            <a:srgbClr val="FFFFFF"/>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NPV(USD 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碳价假设</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技术假设</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r>
              <a:tr h="5871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乐观</a:t>
                      </a:r>
                      <a:r>
                        <a:rPr lang="en-US" sz="1100" b="0" u="none" strike="noStrike">
                          <a:solidFill>
                            <a:srgbClr val="1E293B"/>
                          </a:solidFill>
                          <a:effectLst/>
                          <a:uFillTx/>
                          <a:latin typeface="QuattrocentoSans"/>
                          <a:ea typeface="QuattrocentoSans"/>
                        </a:rPr>
                        <a:t>(Bull)</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18.3%</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+$128.6</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a:t>
                      </a:r>
                      <a:r>
                        <a:rPr lang="en-US" sz="1100" b="0" u="none" strike="noStrike">
                          <a:solidFill>
                            <a:srgbClr val="1E293B"/>
                          </a:solidFill>
                          <a:effectLst/>
                          <a:uFillTx/>
                          <a:latin typeface="QuattrocentoSans"/>
                          <a:ea typeface="QuattrocentoSans"/>
                        </a:rPr>
                        <a:t>年</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钙钛矿</a:t>
                      </a:r>
                      <a:r>
                        <a:rPr lang="en-US" sz="1100" b="0" u="none" strike="noStrike">
                          <a:solidFill>
                            <a:srgbClr val="1E293B"/>
                          </a:solidFill>
                          <a:effectLst/>
                          <a:uFillTx/>
                          <a:latin typeface="QuattrocentoSans"/>
                          <a:ea typeface="QuattrocentoSans"/>
                        </a:rPr>
                        <a:t>2028</a:t>
                      </a:r>
                      <a:r>
                        <a:rPr lang="en-US" sz="1100" b="0" u="none" strike="noStrike">
                          <a:solidFill>
                            <a:srgbClr val="1E293B"/>
                          </a:solidFill>
                          <a:effectLst/>
                          <a:uFillTx/>
                          <a:latin typeface="QuattrocentoSans"/>
                          <a:ea typeface="QuattrocentoSans"/>
                        </a:rPr>
                        <a:t>量产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875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基准</a:t>
                      </a:r>
                      <a:r>
                        <a:rPr lang="en-US" sz="1100" b="0" u="none" strike="noStrike">
                          <a:solidFill>
                            <a:srgbClr val="1E293B"/>
                          </a:solidFill>
                          <a:effectLst/>
                          <a:uFillTx/>
                          <a:latin typeface="QuattrocentoSans"/>
                          <a:ea typeface="QuattrocentoSans"/>
                        </a:rPr>
                        <a:t>(Base)</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14.8%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+$82.4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a:t>
                      </a:r>
                      <a:r>
                        <a:rPr lang="en-US" sz="1100" b="0" u="none" strike="noStrike">
                          <a:solidFill>
                            <a:srgbClr val="1E293B"/>
                          </a:solidFill>
                          <a:effectLst/>
                          <a:uFillTx/>
                          <a:latin typeface="QuattrocentoSans"/>
                          <a:ea typeface="QuattrocentoSans"/>
                        </a:rPr>
                        <a:t>年</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按计划推进</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85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悲观</a:t>
                      </a:r>
                      <a:r>
                        <a:rPr lang="en-US" sz="1100" b="0" u="none" strike="noStrike">
                          <a:solidFill>
                            <a:srgbClr val="1E293B"/>
                          </a:solidFill>
                          <a:effectLst/>
                          <a:uFillTx/>
                          <a:latin typeface="QuattrocentoSans"/>
                          <a:ea typeface="QuattrocentoSans"/>
                        </a:rPr>
                        <a:t>(Bear)</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9.6</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+$23.1</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a:t>
                      </a:r>
                      <a:r>
                        <a:rPr lang="en-US" sz="1100" b="0" u="none" strike="noStrike">
                          <a:solidFill>
                            <a:srgbClr val="1E293B"/>
                          </a:solidFill>
                          <a:effectLst/>
                          <a:uFillTx/>
                          <a:latin typeface="QuattrocentoSans"/>
                          <a:ea typeface="QuattrocentoSans"/>
                        </a:rPr>
                        <a:t>年</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地缘冲突升级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875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敏感性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±1%→NPV±18%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碳价</a:t>
                      </a:r>
                      <a:r>
                        <a:rPr lang="en-US" sz="1100" b="0" u="none" strike="noStrike">
                          <a:solidFill>
                            <a:srgbClr val="1E293B"/>
                          </a:solidFill>
                          <a:effectLst/>
                          <a:uFillTx/>
                          <a:latin typeface="QuattrocentoSans"/>
                          <a:ea typeface="QuattrocentoSans"/>
                        </a:rPr>
                        <a:t>±20%→±31%</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建设</a:t>
                      </a:r>
                      <a:r>
                        <a:rPr lang="en-US" sz="1100" b="0" u="none" strike="noStrike">
                          <a:solidFill>
                            <a:srgbClr val="1E293B"/>
                          </a:solidFill>
                          <a:effectLst/>
                          <a:uFillTx/>
                          <a:latin typeface="QuattrocentoSans"/>
                          <a:ea typeface="QuattrocentoSans"/>
                        </a:rPr>
                        <a:t>±15%→±9%</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bl>
          </a:graphicData>
        </a:graphic>
      </p:graphicFrame>
      <p:graphicFrame>
        <p:nvGraphicFramePr>
          <p:cNvPr id="261" name="Chart 0"/>
          <p:cNvGraphicFramePr/>
          <p:nvPr/>
        </p:nvGraphicFramePr>
        <p:xfrm>
          <a:off x="711360" y="5537160"/>
          <a:ext cx="14833440" cy="2641680"/>
        </p:xfrm>
        <a:graphic>
          <a:graphicData uri="http://schemas.openxmlformats.org/presentationml/2006/ole">
            <p:oleObj progId="Excel.Sheet.12" r:id="rId1" spid="">
              <p:embed/>
              <p:pic>
                <p:nvPicPr>
                  <p:cNvPr id="262" name="Chart 0"/>
                  <p:cNvPicPr/>
                  <p:nvPr/>
                </p:nvPicPr>
                <p:blipFill>
                  <a:blip r:embed="rId2"/>
                  <a:stretch/>
                </p:blipFill>
                <p:spPr>
                  <a:xfrm>
                    <a:off x="711360" y="5537160"/>
                    <a:ext cx="14833440" cy="2641680"/>
                  </a:xfrm>
                  <a:prstGeom prst="rect">
                    <a:avLst/>
                  </a:prstGeom>
                  <a:noFill/>
                  <a:ln w="0">
                    <a:noFill/>
                  </a:ln>
                </p:spPr>
              </p:pic>
            </p:oleObj>
          </a:graphicData>
        </a:graphic>
      </p:graphicFrame>
      <p:sp>
        <p:nvSpPr>
          <p:cNvPr id="263" name="Text 3"/>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Titan Financial Planning &amp; Analysis, Bloomberg Terminal WACC Calculator, IEA World Energy Investment 2025 · Slide 23</a:t>
            </a:r>
            <a:endParaRPr lang="en-US" sz="1000" b="0" u="none" strike="noStrike">
              <a:solidFill>
                <a:srgbClr val="000000"/>
              </a:solidFill>
              <a:effectLst/>
              <a:uFillTx/>
              <a:latin typeface="Calibri"/>
            </a:endParaRPr>
          </a:p>
        </p:txBody>
      </p:sp>
    </p:spTree>
  </p:cSld>
  <p:transition>
    <p:fade/>
  </p:transition>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264" name="Text 0"/>
          <p:cNvSpPr/>
          <p:nvPr/>
        </p:nvSpPr>
        <p:spPr>
          <a:xfrm>
            <a:off x="762120" y="507960"/>
            <a:ext cx="126997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、与投资回收期的动态演算框架</a:t>
            </a:r>
            <a:endParaRPr lang="en-US" sz="2800" b="0" u="none" strike="noStrike">
              <a:solidFill>
                <a:srgbClr val="000000"/>
              </a:solidFill>
              <a:effectLst/>
              <a:uFillTx/>
              <a:latin typeface="Calibri"/>
            </a:endParaRPr>
          </a:p>
        </p:txBody>
      </p:sp>
      <p:sp>
        <p:nvSpPr>
          <p:cNvPr id="265"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66" name="Text 2"/>
          <p:cNvSpPr/>
          <p:nvPr/>
        </p:nvSpPr>
        <p:spPr>
          <a:xfrm>
            <a:off x="762120" y="1333440"/>
            <a:ext cx="14731920" cy="127008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泰坦动力采用</a:t>
            </a:r>
            <a:r>
              <a:rPr lang="en-US" sz="1600" b="1" u="none" strike="noStrike">
                <a:solidFill>
                  <a:srgbClr val="1E293B"/>
                </a:solidFill>
                <a:effectLst/>
                <a:uFillTx/>
                <a:latin typeface="QuattrocentoSans"/>
                <a:ea typeface="QuattrocentoSans"/>
              </a:rPr>
              <a:t>分阶段</a:t>
            </a:r>
            <a:r>
              <a:rPr lang="en-US" sz="1600" b="1" u="none" strike="noStrike">
                <a:solidFill>
                  <a:srgbClr val="1E293B"/>
                </a:solidFill>
                <a:effectLst/>
                <a:uFillTx/>
                <a:latin typeface="QuattrocentoSans"/>
                <a:ea typeface="QuattrocentoSans"/>
              </a:rPr>
              <a:t>WACC</a:t>
            </a:r>
            <a:r>
              <a:rPr lang="en-US" sz="1600" b="1" u="none" strike="noStrike">
                <a:solidFill>
                  <a:srgbClr val="1E293B"/>
                </a:solidFill>
                <a:effectLst/>
                <a:uFillTx/>
                <a:latin typeface="QuattrocentoSans"/>
                <a:ea typeface="QuattrocentoSans"/>
              </a:rPr>
              <a:t>模型</a:t>
            </a:r>
            <a:r>
              <a:rPr lang="en-US" sz="1600" b="0" u="none" strike="noStrike">
                <a:solidFill>
                  <a:srgbClr val="1E293B"/>
                </a:solidFill>
                <a:effectLst/>
                <a:uFillTx/>
                <a:latin typeface="QuattrocentoSans"/>
                <a:ea typeface="QuattrocentoSans"/>
              </a:rPr>
              <a:t>，反映项目风险随成熟度递减的规律。开发期（</a:t>
            </a:r>
            <a:r>
              <a:rPr lang="en-US" sz="1600" b="0" u="none" strike="noStrike">
                <a:solidFill>
                  <a:srgbClr val="1E293B"/>
                </a:solidFill>
                <a:effectLst/>
                <a:uFillTx/>
                <a:latin typeface="QuattrocentoSans"/>
                <a:ea typeface="QuattrocentoSans"/>
              </a:rPr>
              <a:t>Year 0-1</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WACC=10.5%</a:t>
            </a:r>
            <a:r>
              <a:rPr lang="en-US" sz="1600" b="0" u="none" strike="noStrike">
                <a:solidFill>
                  <a:srgbClr val="1E293B"/>
                </a:solidFill>
                <a:effectLst/>
                <a:uFillTx/>
                <a:latin typeface="QuattrocentoSans"/>
                <a:ea typeface="QuattrocentoSans"/>
              </a:rPr>
              <a:t>，纯权益融资；建设期（</a:t>
            </a:r>
            <a:r>
              <a:rPr lang="en-US" sz="1600" b="0" u="none" strike="noStrike">
                <a:solidFill>
                  <a:srgbClr val="1E293B"/>
                </a:solidFill>
                <a:effectLst/>
                <a:uFillTx/>
                <a:latin typeface="QuattrocentoSans"/>
                <a:ea typeface="QuattrocentoSans"/>
              </a:rPr>
              <a:t>Year 1-3</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WACC=8.2%</a:t>
            </a:r>
            <a:r>
              <a:rPr lang="en-US" sz="1600" b="0" u="none" strike="noStrike">
                <a:solidFill>
                  <a:srgbClr val="1E293B"/>
                </a:solidFill>
                <a:effectLst/>
                <a:uFillTx/>
                <a:latin typeface="QuattrocentoSans"/>
                <a:ea typeface="QuattrocentoSans"/>
              </a:rPr>
              <a:t>，混合融资引入项目融资与绿色债券；运营期（</a:t>
            </a:r>
            <a:r>
              <a:rPr lang="en-US" sz="1600" b="0" u="none" strike="noStrike">
                <a:solidFill>
                  <a:srgbClr val="1E293B"/>
                </a:solidFill>
                <a:effectLst/>
                <a:uFillTx/>
                <a:latin typeface="QuattrocentoSans"/>
                <a:ea typeface="QuattrocentoSans"/>
              </a:rPr>
              <a:t>Year 3+</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WACC=6.5%</a:t>
            </a:r>
            <a:r>
              <a:rPr lang="en-US" sz="1600" b="0" u="none" strike="noStrike">
                <a:solidFill>
                  <a:srgbClr val="1E293B"/>
                </a:solidFill>
                <a:effectLst/>
                <a:uFillTx/>
                <a:latin typeface="QuattrocentoSans"/>
                <a:ea typeface="QuattrocentoSans"/>
              </a:rPr>
              <a:t>，以经营性现金流为抵押的再融资。蒙特卡洛模拟（</a:t>
            </a:r>
            <a:r>
              <a:rPr lang="en-US" sz="1600" b="0" u="none" strike="noStrike">
                <a:solidFill>
                  <a:srgbClr val="1E293B"/>
                </a:solidFill>
                <a:effectLst/>
                <a:uFillTx/>
                <a:latin typeface="QuattrocentoSans"/>
                <a:ea typeface="QuattrocentoSans"/>
              </a:rPr>
              <a:t>10,000</a:t>
            </a:r>
            <a:r>
              <a:rPr lang="en-US" sz="1600" b="0" u="none" strike="noStrike">
                <a:solidFill>
                  <a:srgbClr val="1E293B"/>
                </a:solidFill>
                <a:effectLst/>
                <a:uFillTx/>
                <a:latin typeface="QuattrocentoSans"/>
                <a:ea typeface="QuattrocentoSans"/>
              </a:rPr>
              <a:t>次迭代）显示：</a:t>
            </a:r>
            <a:r>
              <a:rPr lang="en-US" sz="1600" b="0" u="none" strike="noStrike">
                <a:solidFill>
                  <a:srgbClr val="1E293B"/>
                </a:solidFill>
                <a:effectLst/>
                <a:uFillTx/>
                <a:latin typeface="QuattrocentoSans"/>
                <a:ea typeface="QuattrocentoSans"/>
              </a:rPr>
              <a:t>NPV&gt;0</a:t>
            </a:r>
            <a:r>
              <a:rPr lang="en-US" sz="1600" b="0" u="none" strike="noStrike">
                <a:solidFill>
                  <a:srgbClr val="1E293B"/>
                </a:solidFill>
                <a:effectLst/>
                <a:uFillTx/>
                <a:latin typeface="QuattrocentoSans"/>
                <a:ea typeface="QuattrocentoSans"/>
              </a:rPr>
              <a:t>的概率为</a:t>
            </a:r>
            <a:r>
              <a:rPr lang="en-US" sz="1600" b="1" u="none" strike="noStrike">
                <a:solidFill>
                  <a:srgbClr val="1E293B"/>
                </a:solidFill>
                <a:effectLst/>
                <a:uFillTx/>
                <a:latin typeface="QuattrocentoSans"/>
                <a:ea typeface="QuattrocentoSans"/>
              </a:rPr>
              <a:t>91.3%</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IRR&gt;10%</a:t>
            </a:r>
            <a:r>
              <a:rPr lang="en-US" sz="1600" b="0" u="none" strike="noStrike">
                <a:solidFill>
                  <a:srgbClr val="1E293B"/>
                </a:solidFill>
                <a:effectLst/>
                <a:uFillTx/>
                <a:latin typeface="QuattrocentoSans"/>
                <a:ea typeface="QuattrocentoSans"/>
              </a:rPr>
              <a:t>的概率为</a:t>
            </a:r>
            <a:r>
              <a:rPr lang="en-US" sz="1600" b="1" u="none" strike="noStrike">
                <a:solidFill>
                  <a:srgbClr val="1E293B"/>
                </a:solidFill>
                <a:effectLst/>
                <a:uFillTx/>
                <a:latin typeface="QuattrocentoSans"/>
                <a:ea typeface="QuattrocentoSans"/>
              </a:rPr>
              <a:t>87.6%</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p:txBody>
      </p:sp>
      <p:graphicFrame>
        <p:nvGraphicFramePr>
          <p:cNvPr id="267" name=""/>
          <p:cNvGraphicFramePr/>
          <p:nvPr/>
        </p:nvGraphicFramePr>
        <p:xfrm>
          <a:off x="762120" y="2730600"/>
          <a:ext cx="7111800" cy="2286000"/>
        </p:xfrm>
        <a:graphic>
          <a:graphicData uri="http://schemas.openxmlformats.org/drawingml/2006/table">
            <a:tbl>
              <a:tblPr/>
              <a:tblGrid>
                <a:gridCol w="1778040"/>
                <a:gridCol w="1777680"/>
                <a:gridCol w="1778040"/>
                <a:gridCol w="1778040"/>
              </a:tblGrid>
              <a:tr h="504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阶段</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WACC</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融资结构</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风险权重</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r>
              <a:tr h="5936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开发期</a:t>
                      </a:r>
                      <a:r>
                        <a:rPr lang="en-US" sz="1100" b="0" u="none" strike="noStrike">
                          <a:solidFill>
                            <a:srgbClr val="1E293B"/>
                          </a:solidFill>
                          <a:effectLst/>
                          <a:uFillTx/>
                          <a:latin typeface="QuattrocentoSans"/>
                          <a:ea typeface="QuattrocentoSans"/>
                        </a:rPr>
                        <a:t>(Y0-1)</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10.5%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纯权益</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936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建设期</a:t>
                      </a:r>
                      <a:r>
                        <a:rPr lang="en-US" sz="1100" b="0" u="none" strike="noStrike">
                          <a:solidFill>
                            <a:srgbClr val="1E293B"/>
                          </a:solidFill>
                          <a:effectLst/>
                          <a:uFillTx/>
                          <a:latin typeface="QuattrocentoSans"/>
                          <a:ea typeface="QuattrocentoSans"/>
                        </a:rPr>
                        <a:t>(Y1-3)</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混合融资</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940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运营期</a:t>
                      </a:r>
                      <a:r>
                        <a:rPr lang="en-US" sz="1100" b="0" u="none" strike="noStrike">
                          <a:solidFill>
                            <a:srgbClr val="1E293B"/>
                          </a:solidFill>
                          <a:effectLst/>
                          <a:uFillTx/>
                          <a:latin typeface="QuattrocentoSans"/>
                          <a:ea typeface="QuattrocentoSans"/>
                        </a:rPr>
                        <a:t>(Y3+)</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再融资</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bl>
          </a:graphicData>
        </a:graphic>
      </p:graphicFrame>
      <p:graphicFrame>
        <p:nvGraphicFramePr>
          <p:cNvPr id="268" name=""/>
          <p:cNvGraphicFramePr/>
          <p:nvPr/>
        </p:nvGraphicFramePr>
        <p:xfrm>
          <a:off x="8381880" y="2730600"/>
          <a:ext cx="7112160" cy="2286000"/>
        </p:xfrm>
        <a:graphic>
          <a:graphicData uri="http://schemas.openxmlformats.org/drawingml/2006/table">
            <a:tbl>
              <a:tblPr/>
              <a:tblGrid>
                <a:gridCol w="1778040"/>
                <a:gridCol w="1778040"/>
                <a:gridCol w="1778040"/>
                <a:gridCol w="1778040"/>
              </a:tblGrid>
              <a:tr h="5047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资产类型</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IRR</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收益驱动</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政策依赖度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r>
              <a:tr h="5936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光伏资产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16.2%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LCOE</a:t>
                      </a:r>
                      <a:r>
                        <a:rPr lang="en-US" sz="1100" b="0" u="none" strike="noStrike">
                          <a:solidFill>
                            <a:srgbClr val="1E293B"/>
                          </a:solidFill>
                          <a:effectLst/>
                          <a:uFillTx/>
                          <a:latin typeface="QuattrocentoSans"/>
                          <a:ea typeface="QuattrocentoSans"/>
                        </a:rPr>
                        <a:t>下降</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容量因子</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低</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936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储能资产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13.5%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套利</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辅助服务</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940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绿氢资产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11.8%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长协</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碳信用</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bl>
          </a:graphicData>
        </a:graphic>
      </p:graphicFrame>
      <p:graphicFrame>
        <p:nvGraphicFramePr>
          <p:cNvPr id="269" name="Chart 0"/>
          <p:cNvGraphicFramePr/>
          <p:nvPr/>
        </p:nvGraphicFramePr>
        <p:xfrm>
          <a:off x="711360" y="5029200"/>
          <a:ext cx="14833440" cy="3149640"/>
        </p:xfrm>
        <a:graphic>
          <a:graphicData uri="http://schemas.openxmlformats.org/presentationml/2006/ole">
            <p:oleObj progId="Excel.Sheet.12" r:id="rId1" spid="">
              <p:embed/>
              <p:pic>
                <p:nvPicPr>
                  <p:cNvPr id="270" name="Chart 0"/>
                  <p:cNvPicPr/>
                  <p:nvPr/>
                </p:nvPicPr>
                <p:blipFill>
                  <a:blip r:embed="rId2"/>
                  <a:stretch/>
                </p:blipFill>
                <p:spPr>
                  <a:xfrm>
                    <a:off x="711360" y="5029200"/>
                    <a:ext cx="14833440" cy="3149640"/>
                  </a:xfrm>
                  <a:prstGeom prst="rect">
                    <a:avLst/>
                  </a:prstGeom>
                  <a:noFill/>
                  <a:ln w="0">
                    <a:noFill/>
                  </a:ln>
                </p:spPr>
              </p:pic>
            </p:oleObj>
          </a:graphicData>
        </a:graphic>
      </p:graphicFrame>
      <p:sp>
        <p:nvSpPr>
          <p:cNvPr id="271" name="Text 3"/>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Titan Corporate Finance Model v4.2, Damodaran Online WACC Dataset 2026, Palisade @RISK Simulation · Slide 24</a:t>
            </a:r>
            <a:endParaRPr lang="en-US" sz="1000" b="0" u="none" strike="noStrike">
              <a:solidFill>
                <a:srgbClr val="000000"/>
              </a:solidFill>
              <a:effectLst/>
              <a:uFillTx/>
              <a:latin typeface="Calibri"/>
            </a:endParaRPr>
          </a:p>
        </p:txBody>
      </p:sp>
    </p:spTree>
  </p:cSld>
  <p:transition>
    <p:fade/>
  </p:transition>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272" name="Text 0"/>
          <p:cNvSpPr/>
          <p:nvPr/>
        </p:nvSpPr>
        <p:spPr>
          <a:xfrm>
            <a:off x="762120" y="507960"/>
            <a:ext cx="126997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五年分解与年度里程碑资金拨付机制</a:t>
            </a:r>
            <a:endParaRPr lang="en-US" sz="2800" b="0" u="none" strike="noStrike">
              <a:solidFill>
                <a:srgbClr val="000000"/>
              </a:solidFill>
              <a:effectLst/>
              <a:uFillTx/>
              <a:latin typeface="Calibri"/>
            </a:endParaRPr>
          </a:p>
        </p:txBody>
      </p:sp>
      <p:sp>
        <p:nvSpPr>
          <p:cNvPr id="273"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74" name="Text 2"/>
          <p:cNvSpPr/>
          <p:nvPr/>
        </p:nvSpPr>
        <p:spPr>
          <a:xfrm>
            <a:off x="762120" y="1333440"/>
            <a:ext cx="14731920" cy="76212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250</a:t>
            </a:r>
            <a:r>
              <a:rPr lang="en-US" sz="1600" b="0" u="none" strike="noStrike">
                <a:solidFill>
                  <a:srgbClr val="1E293B"/>
                </a:solidFill>
                <a:effectLst/>
                <a:uFillTx/>
                <a:latin typeface="QuattrocentoSans"/>
                <a:ea typeface="QuattrocentoSans"/>
              </a:rPr>
              <a:t>亿美金按项目类型与年度建立精细化拨付机制。资金拨付与里程碑挂钩：</a:t>
            </a:r>
            <a:r>
              <a:rPr lang="en-US" sz="1600" b="0" u="none" strike="noStrike">
                <a:solidFill>
                  <a:srgbClr val="1E293B"/>
                </a:solidFill>
                <a:effectLst/>
                <a:uFillTx/>
                <a:latin typeface="QuattrocentoSans"/>
                <a:ea typeface="QuattrocentoSans"/>
              </a:rPr>
              <a:t>FEED</a:t>
            </a:r>
            <a:r>
              <a:rPr lang="en-US" sz="1600" b="0" u="none" strike="noStrike">
                <a:solidFill>
                  <a:srgbClr val="1E293B"/>
                </a:solidFill>
                <a:effectLst/>
                <a:uFillTx/>
                <a:latin typeface="QuattrocentoSans"/>
                <a:ea typeface="QuattrocentoSans"/>
              </a:rPr>
              <a:t>完成拨付</a:t>
            </a:r>
            <a:r>
              <a:rPr lang="en-US" sz="1600" b="0" u="none" strike="noStrike">
                <a:solidFill>
                  <a:srgbClr val="1E293B"/>
                </a:solidFill>
                <a:effectLst/>
                <a:uFillTx/>
                <a:latin typeface="QuattrocentoSans"/>
                <a:ea typeface="QuattrocentoSans"/>
              </a:rPr>
              <a:t>15%</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FID</a:t>
            </a:r>
            <a:r>
              <a:rPr lang="en-US" sz="1600" b="0" u="none" strike="noStrike">
                <a:solidFill>
                  <a:srgbClr val="1E293B"/>
                </a:solidFill>
                <a:effectLst/>
                <a:uFillTx/>
                <a:latin typeface="QuattrocentoSans"/>
                <a:ea typeface="QuattrocentoSans"/>
              </a:rPr>
              <a:t>拨付</a:t>
            </a:r>
            <a:r>
              <a:rPr lang="en-US" sz="1600" b="0" u="none" strike="noStrike">
                <a:solidFill>
                  <a:srgbClr val="1E293B"/>
                </a:solidFill>
                <a:effectLst/>
                <a:uFillTx/>
                <a:latin typeface="QuattrocentoSans"/>
                <a:ea typeface="QuattrocentoSans"/>
              </a:rPr>
              <a:t>25%</a:t>
            </a:r>
            <a:r>
              <a:rPr lang="en-US" sz="1600" b="0" u="none" strike="noStrike">
                <a:solidFill>
                  <a:srgbClr val="1E293B"/>
                </a:solidFill>
                <a:effectLst/>
                <a:uFillTx/>
                <a:latin typeface="QuattrocentoSans"/>
                <a:ea typeface="QuattrocentoSans"/>
              </a:rPr>
              <a:t>、机械完工拨付</a:t>
            </a:r>
            <a:r>
              <a:rPr lang="en-US" sz="1600" b="0" u="none" strike="noStrike">
                <a:solidFill>
                  <a:srgbClr val="1E293B"/>
                </a:solidFill>
                <a:effectLst/>
                <a:uFillTx/>
                <a:latin typeface="QuattrocentoSans"/>
                <a:ea typeface="QuattrocentoSans"/>
              </a:rPr>
              <a:t>30%</a:t>
            </a:r>
            <a:r>
              <a:rPr lang="en-US" sz="1600" b="0" u="none" strike="noStrike">
                <a:solidFill>
                  <a:srgbClr val="1E293B"/>
                </a:solidFill>
                <a:effectLst/>
                <a:uFillTx/>
                <a:latin typeface="QuattrocentoSans"/>
                <a:ea typeface="QuattrocentoSans"/>
              </a:rPr>
              <a:t>、商业运营（</a:t>
            </a:r>
            <a:r>
              <a:rPr lang="en-US" sz="1600" b="0" u="none" strike="noStrike">
                <a:solidFill>
                  <a:srgbClr val="1E293B"/>
                </a:solidFill>
                <a:effectLst/>
                <a:uFillTx/>
                <a:latin typeface="QuattrocentoSans"/>
                <a:ea typeface="QuattrocentoSans"/>
              </a:rPr>
              <a:t>COD</a:t>
            </a:r>
            <a:r>
              <a:rPr lang="en-US" sz="1600" b="0" u="none" strike="noStrike">
                <a:solidFill>
                  <a:srgbClr val="1E293B"/>
                </a:solidFill>
                <a:effectLst/>
                <a:uFillTx/>
                <a:latin typeface="QuattrocentoSans"/>
                <a:ea typeface="QuattrocentoSans"/>
              </a:rPr>
              <a:t>）拨付</a:t>
            </a:r>
            <a:r>
              <a:rPr lang="en-US" sz="1600" b="0" u="none" strike="noStrike">
                <a:solidFill>
                  <a:srgbClr val="1E293B"/>
                </a:solidFill>
                <a:effectLst/>
                <a:uFillTx/>
                <a:latin typeface="QuattrocentoSans"/>
                <a:ea typeface="QuattrocentoSans"/>
              </a:rPr>
              <a:t>25%</a:t>
            </a:r>
            <a:r>
              <a:rPr lang="en-US" sz="1600" b="0" u="none" strike="noStrike">
                <a:solidFill>
                  <a:srgbClr val="1E293B"/>
                </a:solidFill>
                <a:effectLst/>
                <a:uFillTx/>
                <a:latin typeface="QuattrocentoSans"/>
                <a:ea typeface="QuattrocentoSans"/>
              </a:rPr>
              <a:t>、性能测试通过拨付</a:t>
            </a:r>
            <a:r>
              <a:rPr lang="en-US" sz="1600" b="0" u="none" strike="noStrike">
                <a:solidFill>
                  <a:srgbClr val="1E293B"/>
                </a:solidFill>
                <a:effectLst/>
                <a:uFillTx/>
                <a:latin typeface="QuattrocentoSans"/>
                <a:ea typeface="QuattrocentoSans"/>
              </a:rPr>
              <a:t>5%</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p:txBody>
      </p:sp>
      <p:graphicFrame>
        <p:nvGraphicFramePr>
          <p:cNvPr id="275" name=""/>
          <p:cNvGraphicFramePr/>
          <p:nvPr/>
        </p:nvGraphicFramePr>
        <p:xfrm>
          <a:off x="762120" y="2286000"/>
          <a:ext cx="14731920" cy="4826160"/>
        </p:xfrm>
        <a:graphic>
          <a:graphicData uri="http://schemas.openxmlformats.org/drawingml/2006/table">
            <a:tbl>
              <a:tblPr/>
              <a:tblGrid>
                <a:gridCol w="2651040"/>
                <a:gridCol w="2063880"/>
                <a:gridCol w="2062080"/>
                <a:gridCol w="2062080"/>
                <a:gridCol w="2062080"/>
                <a:gridCol w="2062080"/>
                <a:gridCol w="1768680"/>
              </a:tblGrid>
              <a:tr h="4795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项目类型</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2026</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2027</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2028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2029</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2030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合计</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r>
              <a:tr h="5443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光伏项目</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$15B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$22B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$10B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$90B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428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储能项目</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$10B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$10B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$45B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432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绿氢项目</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$10B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$40B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428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电网</a:t>
                      </a:r>
                      <a:r>
                        <a:rPr lang="en-US" sz="1100" b="0" u="none" strike="noStrike">
                          <a:solidFill>
                            <a:srgbClr val="1E293B"/>
                          </a:solidFill>
                          <a:effectLst/>
                          <a:uFillTx/>
                          <a:latin typeface="QuattrocentoSans"/>
                          <a:ea typeface="QuattrocentoSans"/>
                        </a:rPr>
                        <a:t>+VPP</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$35B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428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碳捕集</a:t>
                      </a:r>
                      <a:r>
                        <a:rPr lang="en-US" sz="1100" b="0" u="none" strike="noStrike">
                          <a:solidFill>
                            <a:srgbClr val="1E293B"/>
                          </a:solidFill>
                          <a:effectLst/>
                          <a:uFillTx/>
                          <a:latin typeface="QuattrocentoSans"/>
                          <a:ea typeface="QuattrocentoSans"/>
                        </a:rPr>
                        <a:t>CCS</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4432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组织</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数字化</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$0B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$15B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54288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年度合计</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$40B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$55B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$60B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$55B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$40B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$250B</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5432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拨付里程碑</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FEED 15%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FID 25%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机械完工</a:t>
                      </a:r>
                      <a:r>
                        <a:rPr lang="en-US" sz="1100" b="0" u="none" strike="noStrike">
                          <a:solidFill>
                            <a:srgbClr val="1E293B"/>
                          </a:solidFill>
                          <a:effectLst/>
                          <a:uFillTx/>
                          <a:latin typeface="QuattrocentoSans"/>
                          <a:ea typeface="QuattrocentoSans"/>
                        </a:rPr>
                        <a:t>30%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COD 25%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性能测试</a:t>
                      </a:r>
                      <a:r>
                        <a:rPr lang="en-US" sz="1100" b="0" u="none" strike="noStrike">
                          <a:solidFill>
                            <a:srgbClr val="1E293B"/>
                          </a:solidFill>
                          <a:effectLst/>
                          <a:uFillTx/>
                          <a:latin typeface="QuattrocentoSans"/>
                          <a:ea typeface="QuattrocentoSans"/>
                        </a:rPr>
                        <a:t>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bl>
          </a:graphicData>
        </a:graphic>
      </p:graphicFrame>
      <p:sp>
        <p:nvSpPr>
          <p:cNvPr id="276" name="Shape 3"/>
          <p:cNvSpPr/>
          <p:nvPr/>
        </p:nvSpPr>
        <p:spPr>
          <a:xfrm>
            <a:off x="762120" y="7365960"/>
            <a:ext cx="14731920" cy="762120"/>
          </a:xfrm>
          <a:prstGeom prst="rect">
            <a:avLst/>
          </a:prstGeom>
          <a:solidFill>
            <a:srgbClr val="0A1628"/>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77" name="Text 4"/>
          <p:cNvSpPr/>
          <p:nvPr/>
        </p:nvSpPr>
        <p:spPr>
          <a:xfrm>
            <a:off x="1015920" y="7467480"/>
            <a:ext cx="14223960" cy="559080"/>
          </a:xfrm>
          <a:prstGeom prst="rect">
            <a:avLst/>
          </a:prstGeom>
          <a:noFill/>
          <a:ln w="0">
            <a:noFill/>
          </a:ln>
        </p:spPr>
        <p:style>
          <a:lnRef idx="0"/>
          <a:fillRef idx="0"/>
          <a:effectRef idx="0"/>
          <a:fontRef idx="minor"/>
        </p:style>
        <p:txBody>
          <a:bodyPr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1" u="none" strike="noStrike">
                <a:solidFill>
                  <a:srgbClr val="FFFFFF"/>
                </a:solidFill>
                <a:effectLst/>
                <a:uFillTx/>
                <a:latin typeface="Quattrocento Sans"/>
              </a:rPr>
              <a:t>拨付纪律</a:t>
            </a:r>
            <a:r>
              <a:rPr lang="en-US" sz="1600" b="0" u="none" strike="noStrike">
                <a:solidFill>
                  <a:srgbClr val="FFFFFF"/>
                </a:solidFill>
                <a:effectLst/>
                <a:uFillTx/>
                <a:latin typeface="Quattrocento Sans"/>
              </a:rPr>
              <a:t>：资金释放严格绑定工程里程碑，未达标项目冻结后续拨付。</a:t>
            </a:r>
            <a:r>
              <a:rPr lang="en-US" sz="1600" b="0" u="none" strike="noStrike">
                <a:solidFill>
                  <a:srgbClr val="FFFFFF"/>
                </a:solidFill>
                <a:effectLst/>
                <a:uFillTx/>
                <a:latin typeface="Quattrocento Sans"/>
              </a:rPr>
              <a:t>2028</a:t>
            </a:r>
            <a:r>
              <a:rPr lang="en-US" sz="1600" b="0" u="none" strike="noStrike">
                <a:solidFill>
                  <a:srgbClr val="FFFFFF"/>
                </a:solidFill>
                <a:effectLst/>
                <a:uFillTx/>
                <a:latin typeface="Quattrocento Sans"/>
              </a:rPr>
              <a:t>年峰值期需同步管理</a:t>
            </a:r>
            <a:r>
              <a:rPr lang="en-US" sz="1600" b="0" u="none" strike="noStrike">
                <a:solidFill>
                  <a:srgbClr val="FFFFFF"/>
                </a:solidFill>
                <a:effectLst/>
                <a:uFillTx/>
                <a:latin typeface="Quattrocento Sans"/>
              </a:rPr>
              <a:t>12</a:t>
            </a:r>
            <a:r>
              <a:rPr lang="en-US" sz="1600" b="0" u="none" strike="noStrike">
                <a:solidFill>
                  <a:srgbClr val="FFFFFF"/>
                </a:solidFill>
                <a:effectLst/>
                <a:uFillTx/>
                <a:latin typeface="Quattrocento Sans"/>
              </a:rPr>
              <a:t>个大型项目，对</a:t>
            </a:r>
            <a:r>
              <a:rPr lang="en-US" sz="1600" b="0" u="none" strike="noStrike">
                <a:solidFill>
                  <a:srgbClr val="FFFFFF"/>
                </a:solidFill>
                <a:effectLst/>
                <a:uFillTx/>
                <a:latin typeface="Quattrocento Sans"/>
              </a:rPr>
              <a:t>PMO</a:t>
            </a:r>
            <a:r>
              <a:rPr lang="en-US" sz="1600" b="0" u="none" strike="noStrike">
                <a:solidFill>
                  <a:srgbClr val="FFFFFF"/>
                </a:solidFill>
                <a:effectLst/>
                <a:uFillTx/>
                <a:latin typeface="Quattrocento Sans"/>
              </a:rPr>
              <a:t>能力提出最高要求。</a:t>
            </a:r>
            <a:endParaRPr lang="en-US" sz="1600" b="0" u="none" strike="noStrike">
              <a:solidFill>
                <a:srgbClr val="000000"/>
              </a:solidFill>
              <a:effectLst/>
              <a:uFillTx/>
              <a:latin typeface="Calibri"/>
            </a:endParaRPr>
          </a:p>
        </p:txBody>
      </p:sp>
      <p:sp>
        <p:nvSpPr>
          <p:cNvPr id="278" name="Text 5"/>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Titan Capital Committee Governance Framework, Project Finance Association Best Practices 2025 · Slide 25</a:t>
            </a:r>
            <a:endParaRPr lang="en-US" sz="1000" b="0" u="none" strike="noStrike">
              <a:solidFill>
                <a:srgbClr val="000000"/>
              </a:solidFill>
              <a:effectLst/>
              <a:uFillTx/>
              <a:latin typeface="Calibri"/>
            </a:endParaRPr>
          </a:p>
        </p:txBody>
      </p:sp>
    </p:spTree>
  </p:cSld>
  <p:transition>
    <p:fade/>
  </p:transition>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pic>
        <p:nvPicPr>
          <p:cNvPr id="279" name="Text 0"/>
          <p:cNvPicPr/>
          <p:nvPr/>
        </p:nvPicPr>
        <p:blipFill>
          <a:blip r:embed="rId1"/>
          <a:stretch/>
        </p:blipFill>
        <p:spPr>
          <a:xfrm>
            <a:off x="-774720" y="1574640"/>
            <a:ext cx="6616800" cy="5359680"/>
          </a:xfrm>
          <a:prstGeom prst="rect">
            <a:avLst/>
          </a:prstGeom>
          <a:noFill/>
          <a:ln w="0">
            <a:noFill/>
          </a:ln>
        </p:spPr>
      </p:pic>
      <p:sp>
        <p:nvSpPr>
          <p:cNvPr id="280" name="Shape 1"/>
          <p:cNvSpPr/>
          <p:nvPr/>
        </p:nvSpPr>
        <p:spPr>
          <a:xfrm>
            <a:off x="762120" y="5842080"/>
            <a:ext cx="1015920" cy="38160"/>
          </a:xfrm>
          <a:prstGeom prst="rect">
            <a:avLst/>
          </a:prstGeom>
          <a:solidFill>
            <a:srgbClr val="C8A265"/>
          </a:solidFill>
          <a:ln w="0">
            <a:noFill/>
          </a:ln>
        </p:spPr>
        <p:style>
          <a:lnRef idx="0"/>
          <a:fillRef idx="0"/>
          <a:effectRef idx="0"/>
          <a:fontRef idx="minor"/>
        </p:style>
        <p:txBody>
          <a:bodyPr lIns="90000" tIns="-8640" rIns="90000" bIns="-86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81" name="Text 2"/>
          <p:cNvSpPr/>
          <p:nvPr/>
        </p:nvSpPr>
        <p:spPr>
          <a:xfrm>
            <a:off x="762120" y="6095880"/>
            <a:ext cx="11430000" cy="7621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FFFFFF"/>
                </a:solidFill>
                <a:effectLst/>
                <a:uFillTx/>
                <a:latin typeface="Liter"/>
                <a:ea typeface="Liter"/>
              </a:rPr>
              <a:t>执行计划、组织变革与总结</a:t>
            </a:r>
            <a:endParaRPr lang="en-US" sz="3600" b="0" u="none" strike="noStrike">
              <a:solidFill>
                <a:srgbClr val="000000"/>
              </a:solidFill>
              <a:effectLst/>
              <a:uFillTx/>
              <a:latin typeface="Calibri"/>
            </a:endParaRPr>
          </a:p>
        </p:txBody>
      </p:sp>
      <p:sp>
        <p:nvSpPr>
          <p:cNvPr id="282" name="Text 3"/>
          <p:cNvSpPr/>
          <p:nvPr/>
        </p:nvSpPr>
        <p:spPr>
          <a:xfrm>
            <a:off x="762120" y="6985080"/>
            <a:ext cx="10159920" cy="101592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D1D5DB"/>
                </a:solidFill>
                <a:effectLst/>
                <a:uFillTx/>
                <a:latin typeface="Quattrocento Sans"/>
              </a:rPr>
              <a:t>从战略到执行的最后一公里：组织重构、风险对冲与里程碑管控，</a:t>
            </a:r>
            <a:endParaRPr lang="en-US" sz="18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D1D5DB"/>
                </a:solidFill>
                <a:effectLst/>
                <a:uFillTx/>
                <a:latin typeface="Quattrocento Sans"/>
              </a:rPr>
              <a:t>确保</a:t>
            </a:r>
            <a:r>
              <a:rPr lang="en-US" sz="1800" b="0" u="none" strike="noStrike">
                <a:solidFill>
                  <a:srgbClr val="D1D5DB"/>
                </a:solidFill>
                <a:effectLst/>
                <a:uFillTx/>
                <a:latin typeface="Quattrocento Sans"/>
              </a:rPr>
              <a:t>250</a:t>
            </a:r>
            <a:r>
              <a:rPr lang="en-US" sz="1800" b="0" u="none" strike="noStrike">
                <a:solidFill>
                  <a:srgbClr val="D1D5DB"/>
                </a:solidFill>
                <a:effectLst/>
                <a:uFillTx/>
                <a:latin typeface="Quattrocento Sans"/>
              </a:rPr>
              <a:t>亿美金投资落地有声。</a:t>
            </a:r>
            <a:endParaRPr lang="en-US" sz="1800" b="0" u="none" strike="noStrike">
              <a:solidFill>
                <a:srgbClr val="000000"/>
              </a:solidFill>
              <a:effectLst/>
              <a:uFillTx/>
              <a:latin typeface="Calibri"/>
            </a:endParaRPr>
          </a:p>
        </p:txBody>
      </p:sp>
      <p:sp>
        <p:nvSpPr>
          <p:cNvPr id="283" name="Text 4"/>
          <p:cNvSpPr/>
          <p:nvPr/>
        </p:nvSpPr>
        <p:spPr>
          <a:xfrm>
            <a:off x="762120" y="8636040"/>
            <a:ext cx="507996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8B9AAB"/>
                </a:solidFill>
                <a:effectLst/>
                <a:uFillTx/>
                <a:latin typeface="QuattrocentoSans"/>
                <a:ea typeface="QuattrocentoSans"/>
              </a:rPr>
              <a:t>Chapter 05 · P26-P30</a:t>
            </a:r>
            <a:endParaRPr lang="en-US" sz="1000" b="0" u="none" strike="noStrike">
              <a:solidFill>
                <a:srgbClr val="000000"/>
              </a:solidFill>
              <a:effectLst/>
              <a:uFillTx/>
              <a:latin typeface="Calibri"/>
            </a:endParaRPr>
          </a:p>
        </p:txBody>
      </p:sp>
    </p:spTree>
  </p:cSld>
  <p:transition>
    <p:fade/>
  </p:transition>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284" name="Text 0"/>
          <p:cNvSpPr/>
          <p:nvPr/>
        </p:nvSpPr>
        <p:spPr>
          <a:xfrm>
            <a:off x="762120" y="507960"/>
            <a:ext cx="126997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组织变革：从传统能源巨头到零碳科技平台的架构重塑</a:t>
            </a:r>
            <a:endParaRPr lang="en-US" sz="2800" b="0" u="none" strike="noStrike">
              <a:solidFill>
                <a:srgbClr val="000000"/>
              </a:solidFill>
              <a:effectLst/>
              <a:uFillTx/>
              <a:latin typeface="Calibri"/>
            </a:endParaRPr>
          </a:p>
        </p:txBody>
      </p:sp>
      <p:sp>
        <p:nvSpPr>
          <p:cNvPr id="285"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86" name="Text 2"/>
          <p:cNvSpPr/>
          <p:nvPr/>
        </p:nvSpPr>
        <p:spPr>
          <a:xfrm>
            <a:off x="762120" y="1333440"/>
            <a:ext cx="14731920" cy="127008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泰坦动力将实施</a:t>
            </a:r>
            <a:r>
              <a:rPr lang="en-US" sz="1600" b="1"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双引擎</a:t>
            </a:r>
            <a:r>
              <a:rPr lang="en-US" sz="1600" b="1"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组织架构</a:t>
            </a:r>
            <a:r>
              <a:rPr lang="en-US" sz="1600" b="0" u="none" strike="noStrike">
                <a:solidFill>
                  <a:srgbClr val="1E293B"/>
                </a:solidFill>
                <a:effectLst/>
                <a:uFillTx/>
                <a:latin typeface="QuattrocentoSans"/>
                <a:ea typeface="QuattrocentoSans"/>
              </a:rPr>
              <a:t>：传统能源事业部负责存量资产优化、现金流管理与有序退出；零碳科技事业部负责可再生能源、储能、氢能、碳捕集的新增投资与技术创新。关键变革：（</a:t>
            </a:r>
            <a:r>
              <a:rPr lang="en-US" sz="1600" b="0" u="none" strike="noStrike">
                <a:solidFill>
                  <a:srgbClr val="1E293B"/>
                </a:solidFill>
                <a:effectLst/>
                <a:uFillTx/>
                <a:latin typeface="QuattrocentoSans"/>
                <a:ea typeface="QuattrocentoSans"/>
              </a:rPr>
              <a:t>1</a:t>
            </a:r>
            <a:r>
              <a:rPr lang="en-US" sz="1600" b="0" u="none" strike="noStrike">
                <a:solidFill>
                  <a:srgbClr val="1E293B"/>
                </a:solidFill>
                <a:effectLst/>
                <a:uFillTx/>
                <a:latin typeface="QuattrocentoSans"/>
                <a:ea typeface="QuattrocentoSans"/>
              </a:rPr>
              <a:t>）设立首席零碳官（</a:t>
            </a:r>
            <a:r>
              <a:rPr lang="en-US" sz="1600" b="0" u="none" strike="noStrike">
                <a:solidFill>
                  <a:srgbClr val="1E293B"/>
                </a:solidFill>
                <a:effectLst/>
                <a:uFillTx/>
                <a:latin typeface="QuattrocentoSans"/>
                <a:ea typeface="QuattrocentoSans"/>
              </a:rPr>
              <a:t>CZO</a:t>
            </a:r>
            <a:r>
              <a:rPr lang="en-US" sz="1600" b="0" u="none" strike="noStrike">
                <a:solidFill>
                  <a:srgbClr val="1E293B"/>
                </a:solidFill>
                <a:effectLst/>
                <a:uFillTx/>
                <a:latin typeface="QuattrocentoSans"/>
                <a:ea typeface="QuattrocentoSans"/>
              </a:rPr>
              <a:t>），直接向</a:t>
            </a:r>
            <a:r>
              <a:rPr lang="en-US" sz="1600" b="0" u="none" strike="noStrike">
                <a:solidFill>
                  <a:srgbClr val="1E293B"/>
                </a:solidFill>
                <a:effectLst/>
                <a:uFillTx/>
                <a:latin typeface="QuattrocentoSans"/>
                <a:ea typeface="QuattrocentoSans"/>
              </a:rPr>
              <a:t>CEO</a:t>
            </a:r>
            <a:r>
              <a:rPr lang="en-US" sz="1600" b="0" u="none" strike="noStrike">
                <a:solidFill>
                  <a:srgbClr val="1E293B"/>
                </a:solidFill>
                <a:effectLst/>
                <a:uFillTx/>
                <a:latin typeface="QuattrocentoSans"/>
                <a:ea typeface="QuattrocentoSans"/>
              </a:rPr>
              <a:t>汇报；（</a:t>
            </a:r>
            <a:r>
              <a:rPr lang="en-US" sz="1600" b="0" u="none" strike="noStrike">
                <a:solidFill>
                  <a:srgbClr val="1E293B"/>
                </a:solidFill>
                <a:effectLst/>
                <a:uFillTx/>
                <a:latin typeface="QuattrocentoSans"/>
                <a:ea typeface="QuattrocentoSans"/>
              </a:rPr>
              <a:t>2</a:t>
            </a:r>
            <a:r>
              <a:rPr lang="en-US" sz="1600" b="0" u="none" strike="noStrike">
                <a:solidFill>
                  <a:srgbClr val="1E293B"/>
                </a:solidFill>
                <a:effectLst/>
                <a:uFillTx/>
                <a:latin typeface="QuattrocentoSans"/>
                <a:ea typeface="QuattrocentoSans"/>
              </a:rPr>
              <a:t>）成立泰坦动力研究院，年投入</a:t>
            </a:r>
            <a:r>
              <a:rPr lang="en-US" sz="1600" b="0" u="none" strike="noStrike">
                <a:solidFill>
                  <a:srgbClr val="1E293B"/>
                </a:solidFill>
                <a:effectLst/>
                <a:uFillTx/>
                <a:latin typeface="QuattrocentoSans"/>
                <a:ea typeface="QuattrocentoSans"/>
              </a:rPr>
              <a:t>R&amp;D </a:t>
            </a:r>
            <a:r>
              <a:rPr lang="en-US" sz="1600" b="1" u="none" strike="noStrike">
                <a:solidFill>
                  <a:srgbClr val="1E293B"/>
                </a:solidFill>
                <a:effectLst/>
                <a:uFillTx/>
                <a:latin typeface="QuattrocentoSans"/>
                <a:ea typeface="QuattrocentoSans"/>
              </a:rPr>
              <a:t>8.5</a:t>
            </a:r>
            <a:r>
              <a:rPr lang="en-US" sz="1600" b="1" u="none" strike="noStrike">
                <a:solidFill>
                  <a:srgbClr val="1E293B"/>
                </a:solidFill>
                <a:effectLst/>
                <a:uFillTx/>
                <a:latin typeface="QuattrocentoSans"/>
                <a:ea typeface="QuattrocentoSans"/>
              </a:rPr>
              <a:t>亿美金</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3</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绿色人才计划</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三年内招聘</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培训</a:t>
            </a:r>
            <a:r>
              <a:rPr lang="en-US" sz="1600" b="1" u="none" strike="noStrike">
                <a:solidFill>
                  <a:srgbClr val="1E293B"/>
                </a:solidFill>
                <a:effectLst/>
                <a:uFillTx/>
                <a:latin typeface="QuattrocentoSans"/>
                <a:ea typeface="QuattrocentoSans"/>
              </a:rPr>
              <a:t>5000</a:t>
            </a:r>
            <a:r>
              <a:rPr lang="en-US" sz="1600" b="1" u="none" strike="noStrike">
                <a:solidFill>
                  <a:srgbClr val="1E293B"/>
                </a:solidFill>
                <a:effectLst/>
                <a:uFillTx/>
                <a:latin typeface="QuattrocentoSans"/>
                <a:ea typeface="QuattrocentoSans"/>
              </a:rPr>
              <a:t>名</a:t>
            </a:r>
            <a:r>
              <a:rPr lang="en-US" sz="1600" b="0" u="none" strike="noStrike">
                <a:solidFill>
                  <a:srgbClr val="1E293B"/>
                </a:solidFill>
                <a:effectLst/>
                <a:uFillTx/>
                <a:latin typeface="QuattrocentoSans"/>
                <a:ea typeface="QuattrocentoSans"/>
              </a:rPr>
              <a:t>新能源工程师，同时启动</a:t>
            </a:r>
            <a:r>
              <a:rPr lang="en-US" sz="1600" b="0" u="none" strike="noStrike">
                <a:solidFill>
                  <a:srgbClr val="1E293B"/>
                </a:solidFill>
                <a:effectLst/>
                <a:uFillTx/>
                <a:latin typeface="QuattrocentoSans"/>
                <a:ea typeface="QuattrocentoSans"/>
              </a:rPr>
              <a:t>12,000</a:t>
            </a:r>
            <a:r>
              <a:rPr lang="en-US" sz="1600" b="0" u="none" strike="noStrike">
                <a:solidFill>
                  <a:srgbClr val="1E293B"/>
                </a:solidFill>
                <a:effectLst/>
                <a:uFillTx/>
                <a:latin typeface="QuattrocentoSans"/>
                <a:ea typeface="QuattrocentoSans"/>
              </a:rPr>
              <a:t>名传统能源岗位转岗培训；（</a:t>
            </a:r>
            <a:r>
              <a:rPr lang="en-US" sz="1600" b="0" u="none" strike="noStrike">
                <a:solidFill>
                  <a:srgbClr val="1E293B"/>
                </a:solidFill>
                <a:effectLst/>
                <a:uFillTx/>
                <a:latin typeface="QuattrocentoSans"/>
                <a:ea typeface="QuattrocentoSans"/>
              </a:rPr>
              <a:t>4</a:t>
            </a:r>
            <a:r>
              <a:rPr lang="en-US" sz="1600" b="0" u="none" strike="noStrike">
                <a:solidFill>
                  <a:srgbClr val="1E293B"/>
                </a:solidFill>
                <a:effectLst/>
                <a:uFillTx/>
                <a:latin typeface="QuattrocentoSans"/>
                <a:ea typeface="QuattrocentoSans"/>
              </a:rPr>
              <a:t>）高管奖金的</a:t>
            </a:r>
            <a:r>
              <a:rPr lang="en-US" sz="1600" b="0" u="none" strike="noStrike">
                <a:solidFill>
                  <a:srgbClr val="1E293B"/>
                </a:solidFill>
                <a:effectLst/>
                <a:uFillTx/>
                <a:latin typeface="QuattrocentoSans"/>
                <a:ea typeface="QuattrocentoSans"/>
              </a:rPr>
              <a:t>30%</a:t>
            </a:r>
            <a:r>
              <a:rPr lang="en-US" sz="1600" b="0" u="none" strike="noStrike">
                <a:solidFill>
                  <a:srgbClr val="1E293B"/>
                </a:solidFill>
                <a:effectLst/>
                <a:uFillTx/>
                <a:latin typeface="QuattrocentoSans"/>
                <a:ea typeface="QuattrocentoSans"/>
              </a:rPr>
              <a:t>与</a:t>
            </a:r>
            <a:r>
              <a:rPr lang="en-US" sz="1600" b="0" u="none" strike="noStrike">
                <a:solidFill>
                  <a:srgbClr val="1E293B"/>
                </a:solidFill>
                <a:effectLst/>
                <a:uFillTx/>
                <a:latin typeface="QuattrocentoSans"/>
                <a:ea typeface="QuattrocentoSans"/>
              </a:rPr>
              <a:t>ESG KPI</a:t>
            </a:r>
            <a:r>
              <a:rPr lang="en-US" sz="1600" b="0" u="none" strike="noStrike">
                <a:solidFill>
                  <a:srgbClr val="1E293B"/>
                </a:solidFill>
                <a:effectLst/>
                <a:uFillTx/>
                <a:latin typeface="QuattrocentoSans"/>
                <a:ea typeface="QuattrocentoSans"/>
              </a:rPr>
              <a:t>绑定。</a:t>
            </a:r>
            <a:endParaRPr lang="en-US" sz="1600" b="0" u="none" strike="noStrike">
              <a:solidFill>
                <a:srgbClr val="000000"/>
              </a:solidFill>
              <a:effectLst/>
              <a:uFillTx/>
              <a:latin typeface="Calibri"/>
            </a:endParaRPr>
          </a:p>
        </p:txBody>
      </p:sp>
      <p:sp>
        <p:nvSpPr>
          <p:cNvPr id="287" name="Shape 3"/>
          <p:cNvSpPr/>
          <p:nvPr/>
        </p:nvSpPr>
        <p:spPr>
          <a:xfrm>
            <a:off x="762120" y="2793960"/>
            <a:ext cx="7111800" cy="35560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88" name="Text 4"/>
          <p:cNvSpPr/>
          <p:nvPr/>
        </p:nvSpPr>
        <p:spPr>
          <a:xfrm>
            <a:off x="1015920" y="2921040"/>
            <a:ext cx="660420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5A6D7F"/>
                </a:solidFill>
                <a:effectLst/>
                <a:uFillTx/>
                <a:latin typeface="Liter"/>
                <a:ea typeface="Liter"/>
              </a:rPr>
              <a:t></a:t>
            </a:r>
            <a:r>
              <a:rPr lang="en-US" sz="1800" b="0" u="none" strike="noStrike">
                <a:solidFill>
                  <a:srgbClr val="5A6D7F"/>
                </a:solidFill>
                <a:effectLst/>
                <a:uFillTx/>
                <a:latin typeface="Liter"/>
                <a:ea typeface="Liter"/>
              </a:rPr>
              <a:t>当前架构</a:t>
            </a:r>
            <a:endParaRPr lang="en-US" sz="1800" b="0" u="none" strike="noStrike">
              <a:solidFill>
                <a:srgbClr val="000000"/>
              </a:solidFill>
              <a:effectLst/>
              <a:uFillTx/>
              <a:latin typeface="Calibri"/>
            </a:endParaRPr>
          </a:p>
        </p:txBody>
      </p:sp>
      <p:sp>
        <p:nvSpPr>
          <p:cNvPr id="289" name="Text 5"/>
          <p:cNvSpPr/>
          <p:nvPr/>
        </p:nvSpPr>
        <p:spPr>
          <a:xfrm>
            <a:off x="1015920" y="3429000"/>
            <a:ext cx="6604200" cy="279396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5A6D7F"/>
                </a:solidFill>
                <a:effectLst/>
                <a:uFillTx/>
                <a:latin typeface="Quattrocento Sans"/>
              </a:rPr>
              <a:t>■</a:t>
            </a:r>
            <a:r>
              <a:rPr lang="en-US" sz="1400" b="0" u="none" strike="noStrike">
                <a:solidFill>
                  <a:srgbClr val="1E293B"/>
                </a:solidFill>
                <a:effectLst/>
                <a:uFillTx/>
                <a:latin typeface="Quattrocento Sans"/>
              </a:rPr>
              <a:t> 单一事业部制</a:t>
            </a:r>
            <a:endParaRPr lang="en-US" sz="14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5A6D7F"/>
                </a:solidFill>
                <a:effectLst/>
                <a:uFillTx/>
                <a:latin typeface="Quattrocento Sans"/>
              </a:rPr>
              <a:t>■</a:t>
            </a:r>
            <a:r>
              <a:rPr lang="en-US" sz="1400" b="0" u="none" strike="noStrike">
                <a:solidFill>
                  <a:srgbClr val="1E293B"/>
                </a:solidFill>
                <a:effectLst/>
                <a:uFillTx/>
                <a:latin typeface="Quattrocento Sans"/>
              </a:rPr>
              <a:t> 化石能源占营收</a:t>
            </a:r>
            <a:r>
              <a:rPr lang="en-US" sz="1400" b="0" u="none" strike="noStrike">
                <a:solidFill>
                  <a:srgbClr val="1E293B"/>
                </a:solidFill>
                <a:effectLst/>
                <a:uFillTx/>
                <a:latin typeface="Quattrocento Sans"/>
              </a:rPr>
              <a:t>85%</a:t>
            </a:r>
            <a:endParaRPr lang="en-US" sz="14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5A6D7F"/>
                </a:solidFill>
                <a:effectLst/>
                <a:uFillTx/>
                <a:latin typeface="Quattrocento Sans"/>
              </a:rPr>
              <a:t>■</a:t>
            </a:r>
            <a:r>
              <a:rPr lang="en-US" sz="1400" b="0" u="none" strike="noStrike">
                <a:solidFill>
                  <a:srgbClr val="1E293B"/>
                </a:solidFill>
                <a:effectLst/>
                <a:uFillTx/>
                <a:latin typeface="Quattrocento Sans"/>
              </a:rPr>
              <a:t> R&amp;D</a:t>
            </a:r>
            <a:r>
              <a:rPr lang="en-US" sz="1400" b="0" u="none" strike="noStrike">
                <a:solidFill>
                  <a:srgbClr val="1E293B"/>
                </a:solidFill>
                <a:effectLst/>
                <a:uFillTx/>
                <a:latin typeface="Quattrocento Sans"/>
              </a:rPr>
              <a:t>投入占营收</a:t>
            </a:r>
            <a:r>
              <a:rPr lang="en-US" sz="1400" b="0" u="none" strike="noStrike">
                <a:solidFill>
                  <a:srgbClr val="1E293B"/>
                </a:solidFill>
                <a:effectLst/>
                <a:uFillTx/>
                <a:latin typeface="Quattrocento Sans"/>
              </a:rPr>
              <a:t>1.2%</a:t>
            </a:r>
            <a:endParaRPr lang="en-US" sz="14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5A6D7F"/>
                </a:solidFill>
                <a:effectLst/>
                <a:uFillTx/>
                <a:latin typeface="Quattrocento Sans"/>
              </a:rPr>
              <a:t>■</a:t>
            </a:r>
            <a:r>
              <a:rPr lang="en-US" sz="1400" b="0" u="none" strike="noStrike">
                <a:solidFill>
                  <a:srgbClr val="1E293B"/>
                </a:solidFill>
                <a:effectLst/>
                <a:uFillTx/>
                <a:latin typeface="Quattrocento Sans"/>
              </a:rPr>
              <a:t> 新能源岗位占比</a:t>
            </a:r>
            <a:r>
              <a:rPr lang="en-US" sz="1400" b="0" u="none" strike="noStrike">
                <a:solidFill>
                  <a:srgbClr val="1E293B"/>
                </a:solidFill>
                <a:effectLst/>
                <a:uFillTx/>
                <a:latin typeface="Quattrocento Sans"/>
              </a:rPr>
              <a:t>8%</a:t>
            </a:r>
            <a:endParaRPr lang="en-US" sz="14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5A6D7F"/>
                </a:solidFill>
                <a:effectLst/>
                <a:uFillTx/>
                <a:latin typeface="Quattrocento Sans"/>
              </a:rPr>
              <a:t>■</a:t>
            </a:r>
            <a:r>
              <a:rPr lang="en-US" sz="1400" b="0" u="none" strike="noStrike">
                <a:solidFill>
                  <a:srgbClr val="1E293B"/>
                </a:solidFill>
                <a:effectLst/>
                <a:uFillTx/>
                <a:latin typeface="Quattrocento Sans"/>
              </a:rPr>
              <a:t> 决策链条：</a:t>
            </a:r>
            <a:r>
              <a:rPr lang="en-US" sz="1400" b="0" u="none" strike="noStrike">
                <a:solidFill>
                  <a:srgbClr val="1E293B"/>
                </a:solidFill>
                <a:effectLst/>
                <a:uFillTx/>
                <a:latin typeface="Quattrocento Sans"/>
              </a:rPr>
              <a:t>5-7</a:t>
            </a:r>
            <a:r>
              <a:rPr lang="en-US" sz="1400" b="0" u="none" strike="noStrike">
                <a:solidFill>
                  <a:srgbClr val="1E293B"/>
                </a:solidFill>
                <a:effectLst/>
                <a:uFillTx/>
                <a:latin typeface="Quattrocento Sans"/>
              </a:rPr>
              <a:t>层级</a:t>
            </a:r>
            <a:endParaRPr lang="en-US" sz="14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5A6D7F"/>
                </a:solidFill>
                <a:effectLst/>
                <a:uFillTx/>
                <a:latin typeface="Quattrocento Sans"/>
              </a:rPr>
              <a:t>■</a:t>
            </a:r>
            <a:r>
              <a:rPr lang="en-US" sz="1400" b="0" u="none" strike="noStrike">
                <a:solidFill>
                  <a:srgbClr val="1E293B"/>
                </a:solidFill>
                <a:effectLst/>
                <a:uFillTx/>
                <a:latin typeface="Quattrocento Sans"/>
              </a:rPr>
              <a:t> 薪酬与产量挂钩</a:t>
            </a:r>
            <a:endParaRPr lang="en-US" sz="14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5A6D7F"/>
                </a:solidFill>
                <a:effectLst/>
                <a:uFillTx/>
                <a:latin typeface="Quattrocento Sans"/>
              </a:rPr>
              <a:t>■</a:t>
            </a:r>
            <a:r>
              <a:rPr lang="en-US" sz="1400" b="0" u="none" strike="noStrike">
                <a:solidFill>
                  <a:srgbClr val="1E293B"/>
                </a:solidFill>
                <a:effectLst/>
                <a:uFillTx/>
                <a:latin typeface="Quattrocento Sans"/>
              </a:rPr>
              <a:t> 文化：风险厌恶型</a:t>
            </a:r>
            <a:endParaRPr lang="en-US" sz="1400" b="0" u="none" strike="noStrike">
              <a:solidFill>
                <a:srgbClr val="000000"/>
              </a:solidFill>
              <a:effectLst/>
              <a:uFillTx/>
              <a:latin typeface="Calibri"/>
            </a:endParaRPr>
          </a:p>
        </p:txBody>
      </p:sp>
      <p:sp>
        <p:nvSpPr>
          <p:cNvPr id="290" name="Shape 6"/>
          <p:cNvSpPr/>
          <p:nvPr/>
        </p:nvSpPr>
        <p:spPr>
          <a:xfrm>
            <a:off x="8064360" y="4317840"/>
            <a:ext cx="381240" cy="508320"/>
          </a:xfrm>
          <a:prstGeom prst="rightArrow">
            <a:avLst>
              <a:gd name="adj1" fmla="val 50000"/>
              <a:gd name="adj2" fmla="val 50000"/>
            </a:avLst>
          </a:prstGeom>
          <a:solidFill>
            <a:srgbClr val="C8A265"/>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91" name="Shape 7"/>
          <p:cNvSpPr/>
          <p:nvPr/>
        </p:nvSpPr>
        <p:spPr>
          <a:xfrm>
            <a:off x="8636040" y="2793960"/>
            <a:ext cx="6858000" cy="3556080"/>
          </a:xfrm>
          <a:prstGeom prst="rect">
            <a:avLst/>
          </a:prstGeom>
          <a:solidFill>
            <a:srgbClr val="0A1628"/>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92" name="Text 8"/>
          <p:cNvSpPr/>
          <p:nvPr/>
        </p:nvSpPr>
        <p:spPr>
          <a:xfrm>
            <a:off x="8889840" y="2921040"/>
            <a:ext cx="6350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C8A265"/>
                </a:solidFill>
                <a:effectLst/>
                <a:uFillTx/>
                <a:latin typeface="Liter"/>
                <a:ea typeface="Liter"/>
              </a:rPr>
              <a:t></a:t>
            </a:r>
            <a:r>
              <a:rPr lang="en-US" sz="1800" b="0" u="none" strike="noStrike">
                <a:solidFill>
                  <a:srgbClr val="C8A265"/>
                </a:solidFill>
                <a:effectLst/>
                <a:uFillTx/>
                <a:latin typeface="Liter"/>
                <a:ea typeface="Liter"/>
              </a:rPr>
              <a:t>目标架构</a:t>
            </a:r>
            <a:endParaRPr lang="en-US" sz="1800" b="0" u="none" strike="noStrike">
              <a:solidFill>
                <a:srgbClr val="000000"/>
              </a:solidFill>
              <a:effectLst/>
              <a:uFillTx/>
              <a:latin typeface="Calibri"/>
            </a:endParaRPr>
          </a:p>
        </p:txBody>
      </p:sp>
      <p:sp>
        <p:nvSpPr>
          <p:cNvPr id="293" name="Text 9"/>
          <p:cNvSpPr/>
          <p:nvPr/>
        </p:nvSpPr>
        <p:spPr>
          <a:xfrm>
            <a:off x="8889840" y="3429000"/>
            <a:ext cx="6350040" cy="2793960"/>
          </a:xfrm>
          <a:prstGeom prst="rect">
            <a:avLst/>
          </a:prstGeom>
          <a:noFill/>
          <a:ln w="0">
            <a:noFill/>
          </a:ln>
        </p:spPr>
        <p:style>
          <a:lnRef idx="0"/>
          <a:fillRef idx="0"/>
          <a:effectRef idx="0"/>
          <a:fontRef idx="minor"/>
        </p:style>
        <p:txBody>
          <a:bodyPr lIns="0" tIns="0" rIns="0" bIns="0" anchor="t">
            <a:noAutofit/>
          </a:bodyPr>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C8A265"/>
                </a:solidFill>
                <a:effectLst/>
                <a:uFillTx/>
                <a:latin typeface="Quattrocento Sans"/>
              </a:rPr>
              <a:t>■</a:t>
            </a:r>
            <a:r>
              <a:rPr lang="en-US" sz="1400" b="0" u="none" strike="noStrike">
                <a:solidFill>
                  <a:srgbClr val="FFFFFF"/>
                </a:solidFill>
                <a:effectLst/>
                <a:uFillTx/>
                <a:latin typeface="Quattrocento Sans"/>
              </a:rPr>
              <a:t> 双引擎事业部制</a:t>
            </a:r>
            <a:endParaRPr lang="en-US" sz="14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C8A265"/>
                </a:solidFill>
                <a:effectLst/>
                <a:uFillTx/>
                <a:latin typeface="Quattrocento Sans"/>
              </a:rPr>
              <a:t>■</a:t>
            </a:r>
            <a:r>
              <a:rPr lang="en-US" sz="1400" b="0" u="none" strike="noStrike">
                <a:solidFill>
                  <a:srgbClr val="FFFFFF"/>
                </a:solidFill>
                <a:effectLst/>
                <a:uFillTx/>
                <a:latin typeface="Quattrocento Sans"/>
              </a:rPr>
              <a:t> 零碳业务占营收</a:t>
            </a:r>
            <a:r>
              <a:rPr lang="en-US" sz="1400" b="0" u="none" strike="noStrike">
                <a:solidFill>
                  <a:srgbClr val="FFFFFF"/>
                </a:solidFill>
                <a:effectLst/>
                <a:uFillTx/>
                <a:latin typeface="Quattrocento Sans"/>
              </a:rPr>
              <a:t>60%</a:t>
            </a:r>
            <a:endParaRPr lang="en-US" sz="14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C8A265"/>
                </a:solidFill>
                <a:effectLst/>
                <a:uFillTx/>
                <a:latin typeface="Quattrocento Sans"/>
              </a:rPr>
              <a:t>■</a:t>
            </a:r>
            <a:r>
              <a:rPr lang="en-US" sz="1400" b="0" u="none" strike="noStrike">
                <a:solidFill>
                  <a:srgbClr val="FFFFFF"/>
                </a:solidFill>
                <a:effectLst/>
                <a:uFillTx/>
                <a:latin typeface="Quattrocento Sans"/>
              </a:rPr>
              <a:t> R&amp;D</a:t>
            </a:r>
            <a:r>
              <a:rPr lang="en-US" sz="1400" b="0" u="none" strike="noStrike">
                <a:solidFill>
                  <a:srgbClr val="FFFFFF"/>
                </a:solidFill>
                <a:effectLst/>
                <a:uFillTx/>
                <a:latin typeface="Quattrocento Sans"/>
              </a:rPr>
              <a:t>投入占营收</a:t>
            </a:r>
            <a:r>
              <a:rPr lang="en-US" sz="1400" b="0" u="none" strike="noStrike">
                <a:solidFill>
                  <a:srgbClr val="FFFFFF"/>
                </a:solidFill>
                <a:effectLst/>
                <a:uFillTx/>
                <a:latin typeface="Quattrocento Sans"/>
              </a:rPr>
              <a:t>4.5%</a:t>
            </a:r>
            <a:endParaRPr lang="en-US" sz="14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C8A265"/>
                </a:solidFill>
                <a:effectLst/>
                <a:uFillTx/>
                <a:latin typeface="Quattrocento Sans"/>
              </a:rPr>
              <a:t>■</a:t>
            </a:r>
            <a:r>
              <a:rPr lang="en-US" sz="1400" b="0" u="none" strike="noStrike">
                <a:solidFill>
                  <a:srgbClr val="FFFFFF"/>
                </a:solidFill>
                <a:effectLst/>
                <a:uFillTx/>
                <a:latin typeface="Quattrocento Sans"/>
              </a:rPr>
              <a:t> 新能源岗位占比</a:t>
            </a:r>
            <a:r>
              <a:rPr lang="en-US" sz="1400" b="0" u="none" strike="noStrike">
                <a:solidFill>
                  <a:srgbClr val="FFFFFF"/>
                </a:solidFill>
                <a:effectLst/>
                <a:uFillTx/>
                <a:latin typeface="Quattrocento Sans"/>
              </a:rPr>
              <a:t>55%</a:t>
            </a:r>
            <a:endParaRPr lang="en-US" sz="14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C8A265"/>
                </a:solidFill>
                <a:effectLst/>
                <a:uFillTx/>
                <a:latin typeface="Quattrocento Sans"/>
              </a:rPr>
              <a:t>■</a:t>
            </a:r>
            <a:r>
              <a:rPr lang="en-US" sz="1400" b="0" u="none" strike="noStrike">
                <a:solidFill>
                  <a:srgbClr val="FFFFFF"/>
                </a:solidFill>
                <a:effectLst/>
                <a:uFillTx/>
                <a:latin typeface="Quattrocento Sans"/>
              </a:rPr>
              <a:t> 决策链条：</a:t>
            </a:r>
            <a:r>
              <a:rPr lang="en-US" sz="1400" b="0" u="none" strike="noStrike">
                <a:solidFill>
                  <a:srgbClr val="FFFFFF"/>
                </a:solidFill>
                <a:effectLst/>
                <a:uFillTx/>
                <a:latin typeface="Quattrocento Sans"/>
              </a:rPr>
              <a:t>3-4</a:t>
            </a:r>
            <a:r>
              <a:rPr lang="en-US" sz="1400" b="0" u="none" strike="noStrike">
                <a:solidFill>
                  <a:srgbClr val="FFFFFF"/>
                </a:solidFill>
                <a:effectLst/>
                <a:uFillTx/>
                <a:latin typeface="Quattrocento Sans"/>
              </a:rPr>
              <a:t>层级</a:t>
            </a:r>
            <a:endParaRPr lang="en-US" sz="14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C8A265"/>
                </a:solidFill>
                <a:effectLst/>
                <a:uFillTx/>
                <a:latin typeface="Quattrocento Sans"/>
              </a:rPr>
              <a:t>■</a:t>
            </a:r>
            <a:r>
              <a:rPr lang="en-US" sz="1400" b="0" u="none" strike="noStrike">
                <a:solidFill>
                  <a:srgbClr val="FFFFFF"/>
                </a:solidFill>
                <a:effectLst/>
                <a:uFillTx/>
                <a:latin typeface="Quattrocento Sans"/>
              </a:rPr>
              <a:t> 薪酬与</a:t>
            </a:r>
            <a:r>
              <a:rPr lang="en-US" sz="1400" b="0" u="none" strike="noStrike">
                <a:solidFill>
                  <a:srgbClr val="FFFFFF"/>
                </a:solidFill>
                <a:effectLst/>
                <a:uFillTx/>
                <a:latin typeface="Quattrocento Sans"/>
              </a:rPr>
              <a:t>ESG KPI</a:t>
            </a:r>
            <a:r>
              <a:rPr lang="en-US" sz="1400" b="0" u="none" strike="noStrike">
                <a:solidFill>
                  <a:srgbClr val="FFFFFF"/>
                </a:solidFill>
                <a:effectLst/>
                <a:uFillTx/>
                <a:latin typeface="Quattrocento Sans"/>
              </a:rPr>
              <a:t>挂钩</a:t>
            </a:r>
            <a:endParaRPr lang="en-US" sz="1400" b="0" u="none" strike="noStrike">
              <a:solidFill>
                <a:srgbClr val="000000"/>
              </a:solidFill>
              <a:effectLst/>
              <a:uFillTx/>
              <a:latin typeface="Calibri"/>
            </a:endParaRPr>
          </a:p>
          <a:p>
            <a:pP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C8A265"/>
                </a:solidFill>
                <a:effectLst/>
                <a:uFillTx/>
                <a:latin typeface="Quattrocento Sans"/>
              </a:rPr>
              <a:t>■</a:t>
            </a:r>
            <a:r>
              <a:rPr lang="en-US" sz="1400" b="0" u="none" strike="noStrike">
                <a:solidFill>
                  <a:srgbClr val="FFFFFF"/>
                </a:solidFill>
                <a:effectLst/>
                <a:uFillTx/>
                <a:latin typeface="Quattrocento Sans"/>
              </a:rPr>
              <a:t> 文化：技术冒险型</a:t>
            </a:r>
            <a:endParaRPr lang="en-US" sz="1400" b="0" u="none" strike="noStrike">
              <a:solidFill>
                <a:srgbClr val="000000"/>
              </a:solidFill>
              <a:effectLst/>
              <a:uFillTx/>
              <a:latin typeface="Calibri"/>
            </a:endParaRPr>
          </a:p>
        </p:txBody>
      </p:sp>
      <p:sp>
        <p:nvSpPr>
          <p:cNvPr id="294" name="Shape 10"/>
          <p:cNvSpPr/>
          <p:nvPr/>
        </p:nvSpPr>
        <p:spPr>
          <a:xfrm>
            <a:off x="762120" y="6603840"/>
            <a:ext cx="3429000" cy="12700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95" name="Text 11"/>
          <p:cNvSpPr/>
          <p:nvPr/>
        </p:nvSpPr>
        <p:spPr>
          <a:xfrm>
            <a:off x="1015920" y="6730920"/>
            <a:ext cx="2921040" cy="6350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8A265"/>
                </a:solidFill>
                <a:effectLst/>
                <a:uFillTx/>
                <a:latin typeface="Liter"/>
                <a:ea typeface="Liter"/>
              </a:rPr>
              <a:t>亿</a:t>
            </a:r>
            <a:endParaRPr lang="en-US" sz="3600" b="0" u="none" strike="noStrike">
              <a:solidFill>
                <a:srgbClr val="000000"/>
              </a:solidFill>
              <a:effectLst/>
              <a:uFillTx/>
              <a:latin typeface="Calibri"/>
            </a:endParaRPr>
          </a:p>
        </p:txBody>
      </p:sp>
      <p:sp>
        <p:nvSpPr>
          <p:cNvPr id="296" name="Text 12"/>
          <p:cNvSpPr/>
          <p:nvPr/>
        </p:nvSpPr>
        <p:spPr>
          <a:xfrm>
            <a:off x="1015920" y="7365960"/>
            <a:ext cx="2921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5A6D7F"/>
                </a:solidFill>
                <a:effectLst/>
                <a:uFillTx/>
                <a:latin typeface="Quattrocento Sans"/>
              </a:rPr>
              <a:t>年</a:t>
            </a:r>
            <a:r>
              <a:rPr lang="en-US" sz="1200" b="0" u="none" strike="noStrike">
                <a:solidFill>
                  <a:srgbClr val="5A6D7F"/>
                </a:solidFill>
                <a:effectLst/>
                <a:uFillTx/>
                <a:latin typeface="Quattrocento Sans"/>
              </a:rPr>
              <a:t>R&amp;D</a:t>
            </a:r>
            <a:r>
              <a:rPr lang="en-US" sz="1200" b="0" u="none" strike="noStrike">
                <a:solidFill>
                  <a:srgbClr val="5A6D7F"/>
                </a:solidFill>
                <a:effectLst/>
                <a:uFillTx/>
                <a:latin typeface="Quattrocento Sans"/>
              </a:rPr>
              <a:t>投入 </a:t>
            </a:r>
            <a:r>
              <a:rPr lang="en-US" sz="1200" b="0" u="none" strike="noStrike">
                <a:solidFill>
                  <a:srgbClr val="5A6D7F"/>
                </a:solidFill>
                <a:effectLst/>
                <a:uFillTx/>
                <a:latin typeface="Quattrocento Sans"/>
              </a:rPr>
              <a:t>(USD)</a:t>
            </a:r>
            <a:endParaRPr lang="en-US" sz="1200" b="0" u="none" strike="noStrike">
              <a:solidFill>
                <a:srgbClr val="000000"/>
              </a:solidFill>
              <a:effectLst/>
              <a:uFillTx/>
              <a:latin typeface="Calibri"/>
            </a:endParaRPr>
          </a:p>
        </p:txBody>
      </p:sp>
      <p:sp>
        <p:nvSpPr>
          <p:cNvPr id="297" name="Shape 13"/>
          <p:cNvSpPr/>
          <p:nvPr/>
        </p:nvSpPr>
        <p:spPr>
          <a:xfrm>
            <a:off x="4444920" y="6603840"/>
            <a:ext cx="3429000" cy="12700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98" name="Text 14"/>
          <p:cNvSpPr/>
          <p:nvPr/>
        </p:nvSpPr>
        <p:spPr>
          <a:xfrm>
            <a:off x="4699080" y="6730920"/>
            <a:ext cx="2921040" cy="6350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8A265"/>
                </a:solidFill>
                <a:effectLst/>
                <a:uFillTx/>
                <a:latin typeface="Liter"/>
                <a:ea typeface="Liter"/>
              </a:rPr>
              <a:t></a:t>
            </a:r>
            <a:endParaRPr lang="en-US" sz="3600" b="0" u="none" strike="noStrike">
              <a:solidFill>
                <a:srgbClr val="000000"/>
              </a:solidFill>
              <a:effectLst/>
              <a:uFillTx/>
              <a:latin typeface="Calibri"/>
            </a:endParaRPr>
          </a:p>
        </p:txBody>
      </p:sp>
      <p:sp>
        <p:nvSpPr>
          <p:cNvPr id="299" name="Text 15"/>
          <p:cNvSpPr/>
          <p:nvPr/>
        </p:nvSpPr>
        <p:spPr>
          <a:xfrm>
            <a:off x="4699080" y="7365960"/>
            <a:ext cx="2921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5A6D7F"/>
                </a:solidFill>
                <a:effectLst/>
                <a:uFillTx/>
                <a:latin typeface="Quattrocento Sans"/>
              </a:rPr>
              <a:t>新能源工程师招聘目标</a:t>
            </a:r>
            <a:endParaRPr lang="en-US" sz="1200" b="0" u="none" strike="noStrike">
              <a:solidFill>
                <a:srgbClr val="000000"/>
              </a:solidFill>
              <a:effectLst/>
              <a:uFillTx/>
              <a:latin typeface="Calibri"/>
            </a:endParaRPr>
          </a:p>
        </p:txBody>
      </p:sp>
      <p:sp>
        <p:nvSpPr>
          <p:cNvPr id="300" name="Shape 16"/>
          <p:cNvSpPr/>
          <p:nvPr/>
        </p:nvSpPr>
        <p:spPr>
          <a:xfrm>
            <a:off x="8128080" y="6603840"/>
            <a:ext cx="3429000" cy="12700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01" name="Text 17"/>
          <p:cNvSpPr/>
          <p:nvPr/>
        </p:nvSpPr>
        <p:spPr>
          <a:xfrm>
            <a:off x="8381880" y="6730920"/>
            <a:ext cx="2921040" cy="6350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8A265"/>
                </a:solidFill>
                <a:effectLst/>
                <a:uFillTx/>
                <a:latin typeface="Liter"/>
                <a:ea typeface="Liter"/>
              </a:rPr>
              <a:t></a:t>
            </a:r>
            <a:endParaRPr lang="en-US" sz="3600" b="0" u="none" strike="noStrike">
              <a:solidFill>
                <a:srgbClr val="000000"/>
              </a:solidFill>
              <a:effectLst/>
              <a:uFillTx/>
              <a:latin typeface="Calibri"/>
            </a:endParaRPr>
          </a:p>
        </p:txBody>
      </p:sp>
      <p:sp>
        <p:nvSpPr>
          <p:cNvPr id="302" name="Text 18"/>
          <p:cNvSpPr/>
          <p:nvPr/>
        </p:nvSpPr>
        <p:spPr>
          <a:xfrm>
            <a:off x="8381880" y="7365960"/>
            <a:ext cx="2921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5A6D7F"/>
                </a:solidFill>
                <a:effectLst/>
                <a:uFillTx/>
                <a:latin typeface="Quattrocento Sans"/>
              </a:rPr>
              <a:t>传统岗位转岗培训人数</a:t>
            </a:r>
            <a:endParaRPr lang="en-US" sz="1200" b="0" u="none" strike="noStrike">
              <a:solidFill>
                <a:srgbClr val="000000"/>
              </a:solidFill>
              <a:effectLst/>
              <a:uFillTx/>
              <a:latin typeface="Calibri"/>
            </a:endParaRPr>
          </a:p>
        </p:txBody>
      </p:sp>
      <p:sp>
        <p:nvSpPr>
          <p:cNvPr id="303" name="Shape 19"/>
          <p:cNvSpPr/>
          <p:nvPr/>
        </p:nvSpPr>
        <p:spPr>
          <a:xfrm>
            <a:off x="11810880" y="6603840"/>
            <a:ext cx="3683160" cy="127008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04" name="Text 20"/>
          <p:cNvSpPr/>
          <p:nvPr/>
        </p:nvSpPr>
        <p:spPr>
          <a:xfrm>
            <a:off x="12065040" y="6730920"/>
            <a:ext cx="3174840" cy="63504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8A265"/>
                </a:solidFill>
                <a:effectLst/>
                <a:uFillTx/>
                <a:latin typeface="Liter"/>
                <a:ea typeface="Liter"/>
              </a:rPr>
              <a:t></a:t>
            </a:r>
            <a:endParaRPr lang="en-US" sz="3600" b="0" u="none" strike="noStrike">
              <a:solidFill>
                <a:srgbClr val="000000"/>
              </a:solidFill>
              <a:effectLst/>
              <a:uFillTx/>
              <a:latin typeface="Calibri"/>
            </a:endParaRPr>
          </a:p>
        </p:txBody>
      </p:sp>
      <p:sp>
        <p:nvSpPr>
          <p:cNvPr id="305" name="Text 21"/>
          <p:cNvSpPr/>
          <p:nvPr/>
        </p:nvSpPr>
        <p:spPr>
          <a:xfrm>
            <a:off x="12065040" y="7365960"/>
            <a:ext cx="31748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5A6D7F"/>
                </a:solidFill>
                <a:effectLst/>
                <a:uFillTx/>
                <a:latin typeface="Quattrocento Sans"/>
              </a:rPr>
              <a:t>高管奖金</a:t>
            </a:r>
            <a:r>
              <a:rPr lang="en-US" sz="1200" b="0" u="none" strike="noStrike">
                <a:solidFill>
                  <a:srgbClr val="5A6D7F"/>
                </a:solidFill>
                <a:effectLst/>
                <a:uFillTx/>
                <a:latin typeface="Quattrocento Sans"/>
              </a:rPr>
              <a:t>ESG</a:t>
            </a:r>
            <a:r>
              <a:rPr lang="en-US" sz="1200" b="0" u="none" strike="noStrike">
                <a:solidFill>
                  <a:srgbClr val="5A6D7F"/>
                </a:solidFill>
                <a:effectLst/>
                <a:uFillTx/>
                <a:latin typeface="Quattrocento Sans"/>
              </a:rPr>
              <a:t>挂钩比例</a:t>
            </a:r>
            <a:endParaRPr lang="en-US" sz="1200" b="0" u="none" strike="noStrike">
              <a:solidFill>
                <a:srgbClr val="000000"/>
              </a:solidFill>
              <a:effectLst/>
              <a:uFillTx/>
              <a:latin typeface="Calibri"/>
            </a:endParaRPr>
          </a:p>
        </p:txBody>
      </p:sp>
      <p:sp>
        <p:nvSpPr>
          <p:cNvPr id="306" name="Text 22"/>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Titan HR Transformation Office, McKinsey Organizational Health Index, BCG Future of Energy Workforces 2025 · Slide 27</a:t>
            </a:r>
            <a:endParaRPr lang="en-US" sz="1000" b="0" u="none" strike="noStrike">
              <a:solidFill>
                <a:srgbClr val="000000"/>
              </a:solidFill>
              <a:effectLst/>
              <a:uFillTx/>
              <a:latin typeface="Calibri"/>
            </a:endParaRPr>
          </a:p>
        </p:txBody>
      </p:sp>
    </p:spTree>
  </p:cSld>
  <p:transition>
    <p:fade/>
  </p:transition>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307" name="Text 0"/>
          <p:cNvSpPr/>
          <p:nvPr/>
        </p:nvSpPr>
        <p:spPr>
          <a:xfrm>
            <a:off x="762120" y="507960"/>
            <a:ext cx="126997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风险对冲矩阵：技术监管汇率地缘市场的概率影响分析</a:t>
            </a:r>
            <a:endParaRPr lang="en-US" sz="2800" b="0" u="none" strike="noStrike">
              <a:solidFill>
                <a:srgbClr val="000000"/>
              </a:solidFill>
              <a:effectLst/>
              <a:uFillTx/>
              <a:latin typeface="Calibri"/>
            </a:endParaRPr>
          </a:p>
        </p:txBody>
      </p:sp>
      <p:sp>
        <p:nvSpPr>
          <p:cNvPr id="308"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09" name="Text 2"/>
          <p:cNvSpPr/>
          <p:nvPr/>
        </p:nvSpPr>
        <p:spPr>
          <a:xfrm>
            <a:off x="762120" y="1333440"/>
            <a:ext cx="14731920" cy="76212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泰坦动力建立全面风险对冲框架，覆盖</a:t>
            </a:r>
            <a:r>
              <a:rPr lang="en-US" sz="1600" b="1" u="none" strike="noStrike">
                <a:solidFill>
                  <a:srgbClr val="1E293B"/>
                </a:solidFill>
                <a:effectLst/>
                <a:uFillTx/>
                <a:latin typeface="QuattrocentoSans"/>
                <a:ea typeface="QuattrocentoSans"/>
              </a:rPr>
              <a:t>五大风险类别</a:t>
            </a:r>
            <a:r>
              <a:rPr lang="en-US" sz="1600" b="0" u="none" strike="noStrike">
                <a:solidFill>
                  <a:srgbClr val="1E293B"/>
                </a:solidFill>
                <a:effectLst/>
                <a:uFillTx/>
                <a:latin typeface="QuattrocentoSans"/>
                <a:ea typeface="QuattrocentoSans"/>
              </a:rPr>
              <a:t>、每个类别</a:t>
            </a:r>
            <a:r>
              <a:rPr lang="en-US" sz="1600" b="0" u="none" strike="noStrike">
                <a:solidFill>
                  <a:srgbClr val="1E293B"/>
                </a:solidFill>
                <a:effectLst/>
                <a:uFillTx/>
                <a:latin typeface="QuattrocentoSans"/>
                <a:ea typeface="QuattrocentoSans"/>
              </a:rPr>
              <a:t>5</a:t>
            </a:r>
            <a:r>
              <a:rPr lang="en-US" sz="1600" b="0" u="none" strike="noStrike">
                <a:solidFill>
                  <a:srgbClr val="1E293B"/>
                </a:solidFill>
                <a:effectLst/>
                <a:uFillTx/>
                <a:latin typeface="QuattrocentoSans"/>
                <a:ea typeface="QuattrocentoSans"/>
              </a:rPr>
              <a:t>个细分风险，按发生概率（</a:t>
            </a:r>
            <a:r>
              <a:rPr lang="en-US" sz="1600" b="0" u="none" strike="noStrike">
                <a:solidFill>
                  <a:srgbClr val="1E293B"/>
                </a:solidFill>
                <a:effectLst/>
                <a:uFillTx/>
                <a:latin typeface="QuattrocentoSans"/>
                <a:ea typeface="QuattrocentoSans"/>
              </a:rPr>
              <a:t>1-5</a:t>
            </a:r>
            <a:r>
              <a:rPr lang="en-US" sz="1600" b="0" u="none" strike="noStrike">
                <a:solidFill>
                  <a:srgbClr val="1E293B"/>
                </a:solidFill>
                <a:effectLst/>
                <a:uFillTx/>
                <a:latin typeface="QuattrocentoSans"/>
                <a:ea typeface="QuattrocentoSans"/>
              </a:rPr>
              <a:t>）与影响程度（</a:t>
            </a:r>
            <a:r>
              <a:rPr lang="en-US" sz="1600" b="0" u="none" strike="noStrike">
                <a:solidFill>
                  <a:srgbClr val="1E293B"/>
                </a:solidFill>
                <a:effectLst/>
                <a:uFillTx/>
                <a:latin typeface="QuattrocentoSans"/>
                <a:ea typeface="QuattrocentoSans"/>
              </a:rPr>
              <a:t>1-5</a:t>
            </a:r>
            <a:r>
              <a:rPr lang="en-US" sz="1600" b="0" u="none" strike="noStrike">
                <a:solidFill>
                  <a:srgbClr val="1E293B"/>
                </a:solidFill>
                <a:effectLst/>
                <a:uFillTx/>
                <a:latin typeface="QuattrocentoSans"/>
                <a:ea typeface="QuattrocentoSans"/>
              </a:rPr>
              <a:t>）进行矩阵定位。红色区域（</a:t>
            </a:r>
            <a:r>
              <a:rPr lang="en-US" sz="1600" b="0" u="none" strike="noStrike">
                <a:solidFill>
                  <a:srgbClr val="1E293B"/>
                </a:solidFill>
                <a:effectLst/>
                <a:uFillTx/>
                <a:latin typeface="QuattrocentoSans"/>
                <a:ea typeface="QuattrocentoSans"/>
              </a:rPr>
              <a:t>P≥4, I≥4</a:t>
            </a:r>
            <a:r>
              <a:rPr lang="en-US" sz="1600" b="0" u="none" strike="noStrike">
                <a:solidFill>
                  <a:srgbClr val="1E293B"/>
                </a:solidFill>
                <a:effectLst/>
                <a:uFillTx/>
                <a:latin typeface="QuattrocentoSans"/>
                <a:ea typeface="QuattrocentoSans"/>
              </a:rPr>
              <a:t>）购买政治风险保险</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期权对冲；黄色区域（</a:t>
            </a:r>
            <a:r>
              <a:rPr lang="en-US" sz="1600" b="0" u="none" strike="noStrike">
                <a:solidFill>
                  <a:srgbClr val="1E293B"/>
                </a:solidFill>
                <a:effectLst/>
                <a:uFillTx/>
                <a:latin typeface="QuattrocentoSans"/>
                <a:ea typeface="QuattrocentoSans"/>
              </a:rPr>
              <a:t>P≥3, I≥3</a:t>
            </a:r>
            <a:r>
              <a:rPr lang="en-US" sz="1600" b="0" u="none" strike="noStrike">
                <a:solidFill>
                  <a:srgbClr val="1E293B"/>
                </a:solidFill>
                <a:effectLst/>
                <a:uFillTx/>
                <a:latin typeface="QuattrocentoSans"/>
                <a:ea typeface="QuattrocentoSans"/>
              </a:rPr>
              <a:t>）建立战略储备</a:t>
            </a:r>
            <a:r>
              <a:rPr lang="en-US" sz="1600" b="0" u="none" strike="noStrike">
                <a:solidFill>
                  <a:srgbClr val="1E293B"/>
                </a:solidFill>
                <a:effectLst/>
                <a:uFillTx/>
                <a:latin typeface="QuattrocentoSans"/>
                <a:ea typeface="QuattrocentoSans"/>
              </a:rPr>
              <a:t>+</a:t>
            </a:r>
            <a:r>
              <a:rPr lang="en-US" sz="1600" b="0" u="none" strike="noStrike">
                <a:solidFill>
                  <a:srgbClr val="1E293B"/>
                </a:solidFill>
                <a:effectLst/>
                <a:uFillTx/>
                <a:latin typeface="QuattrocentoSans"/>
                <a:ea typeface="QuattrocentoSans"/>
              </a:rPr>
              <a:t>供应商多元化。</a:t>
            </a:r>
            <a:endParaRPr lang="en-US" sz="1600" b="0" u="none" strike="noStrike">
              <a:solidFill>
                <a:srgbClr val="000000"/>
              </a:solidFill>
              <a:effectLst/>
              <a:uFillTx/>
              <a:latin typeface="Calibri"/>
            </a:endParaRPr>
          </a:p>
        </p:txBody>
      </p:sp>
      <p:graphicFrame>
        <p:nvGraphicFramePr>
          <p:cNvPr id="310" name=""/>
          <p:cNvGraphicFramePr/>
          <p:nvPr/>
        </p:nvGraphicFramePr>
        <p:xfrm>
          <a:off x="762120" y="2286000"/>
          <a:ext cx="14731920" cy="5079960"/>
        </p:xfrm>
        <a:graphic>
          <a:graphicData uri="http://schemas.openxmlformats.org/drawingml/2006/table">
            <a:tbl>
              <a:tblPr/>
              <a:tblGrid>
                <a:gridCol w="2062080"/>
                <a:gridCol w="2946240"/>
                <a:gridCol w="1179720"/>
                <a:gridCol w="1177920"/>
                <a:gridCol w="2946240"/>
                <a:gridCol w="2062080"/>
                <a:gridCol w="2357640"/>
              </a:tblGrid>
              <a:tr h="401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风险类别</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细分风险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概率</a:t>
                      </a:r>
                      <a:r>
                        <a:rPr lang="en-US" sz="1100" b="1" u="none" strike="noStrike">
                          <a:solidFill>
                            <a:srgbClr val="FFFFFF"/>
                          </a:solidFill>
                          <a:effectLst/>
                          <a:uFillTx/>
                          <a:latin typeface="QuattrocentoSans"/>
                          <a:ea typeface="QuattrocentoSans"/>
                        </a:rPr>
                        <a:t>(P)</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影响</a:t>
                      </a:r>
                      <a:r>
                        <a:rPr lang="en-US" sz="1100" b="1" u="none" strike="noStrike">
                          <a:solidFill>
                            <a:srgbClr val="FFFFFF"/>
                          </a:solidFill>
                          <a:effectLst/>
                          <a:uFillTx/>
                          <a:latin typeface="QuattrocentoSans"/>
                          <a:ea typeface="QuattrocentoSans"/>
                        </a:rPr>
                        <a:t>(I)</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风险敞口</a:t>
                      </a:r>
                      <a:r>
                        <a:rPr lang="en-US" sz="1100" b="1" u="none" strike="noStrike">
                          <a:solidFill>
                            <a:srgbClr val="FFFFFF"/>
                          </a:solidFill>
                          <a:effectLst/>
                          <a:uFillTx/>
                          <a:latin typeface="QuattrocentoSans"/>
                          <a:ea typeface="QuattrocentoSans"/>
                        </a:rPr>
                        <a:t>(USD 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矩阵定位</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对冲策略</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r>
              <a:tr h="3902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技术风险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钙钛矿技术延期</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$850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黄色</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技术储备</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备选路线</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3906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技术风险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固态电池替代冲击</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黄色</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专利布局</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合资</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3891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技术风险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电网频率失稳</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$1,200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黄色</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储能调频</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黑启动</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3902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监管风险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CBAM</a:t>
                      </a:r>
                      <a:r>
                        <a:rPr lang="en-US" sz="1100" b="0" u="none" strike="noStrike">
                          <a:solidFill>
                            <a:srgbClr val="1E293B"/>
                          </a:solidFill>
                          <a:effectLst/>
                          <a:uFillTx/>
                          <a:latin typeface="QuattrocentoSans"/>
                          <a:ea typeface="QuattrocentoSans"/>
                        </a:rPr>
                        <a:t>税率超预期上调</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$1,800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红色</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碳期货对冲</a:t>
                      </a:r>
                      <a:r>
                        <a:rPr lang="en-US" sz="1100" b="0" u="none" strike="noStrike">
                          <a:solidFill>
                            <a:srgbClr val="1E293B"/>
                          </a:solidFill>
                          <a:effectLst/>
                          <a:uFillTx/>
                          <a:latin typeface="QuattrocentoSans"/>
                          <a:ea typeface="QuattrocentoSans"/>
                        </a:rPr>
                        <a:t>+CCS</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3891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监管风险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IRA</a:t>
                      </a:r>
                      <a:r>
                        <a:rPr lang="en-US" sz="1100" b="0" u="none" strike="noStrike">
                          <a:solidFill>
                            <a:srgbClr val="1E293B"/>
                          </a:solidFill>
                          <a:effectLst/>
                          <a:uFillTx/>
                          <a:latin typeface="QuattrocentoSans"/>
                          <a:ea typeface="QuattrocentoSans"/>
                        </a:rPr>
                        <a:t>补贴提前终止</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红色</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政治风险保险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3906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汇率风险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美元</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欧元波动</a:t>
                      </a:r>
                      <a:r>
                        <a:rPr lang="en-US" sz="1100" b="0" u="none" strike="noStrike">
                          <a:solidFill>
                            <a:srgbClr val="1E293B"/>
                          </a:solidFill>
                          <a:effectLst/>
                          <a:uFillTx/>
                          <a:latin typeface="QuattrocentoSans"/>
                          <a:ea typeface="QuattrocentoSans"/>
                        </a:rPr>
                        <a:t>&gt;20%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$680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黄色</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外汇远期</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期权</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3888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汇率风险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新兴市场货币贬值</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$920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红色</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本币融资</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自然对冲</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3906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地缘风险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台海冲突影响芯片</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$1,500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黄色</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芯片战略库存</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3888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地缘风险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刚果钴矿中断</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$780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黄色</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供应商多元化</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3906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市场风险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可再生能源电价竞争</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3</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$450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黄色</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长协锁定</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差异化</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3888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市场风险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绿氢需求低于预期</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$1,100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红色</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承购协议</a:t>
                      </a:r>
                      <a:r>
                        <a:rPr lang="en-US" sz="1100" b="0" u="none" strike="noStrike">
                          <a:solidFill>
                            <a:srgbClr val="1E293B"/>
                          </a:solidFill>
                          <a:effectLst/>
                          <a:uFillTx/>
                          <a:latin typeface="QuattrocentoSans"/>
                          <a:ea typeface="QuattrocentoSans"/>
                        </a:rPr>
                        <a:t>+</a:t>
                      </a:r>
                      <a:r>
                        <a:rPr lang="en-US" sz="1100" b="0" u="none" strike="noStrike">
                          <a:solidFill>
                            <a:srgbClr val="1E293B"/>
                          </a:solidFill>
                          <a:effectLst/>
                          <a:uFillTx/>
                          <a:latin typeface="QuattrocentoSans"/>
                          <a:ea typeface="QuattrocentoSans"/>
                        </a:rPr>
                        <a:t>灵活产能</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3906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市场风险</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利率长期高位</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$1,350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红色</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固定利率债务</a:t>
                      </a:r>
                      <a:r>
                        <a:rPr lang="en-US" sz="1100" b="0" u="none" strike="noStrike">
                          <a:solidFill>
                            <a:srgbClr val="1E293B"/>
                          </a:solidFill>
                          <a:effectLst/>
                          <a:uFillTx/>
                          <a:latin typeface="QuattrocentoSans"/>
                          <a:ea typeface="QuattrocentoSans"/>
                        </a:rPr>
                        <a:t>+IRS</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bl>
          </a:graphicData>
        </a:graphic>
      </p:graphicFrame>
      <p:sp>
        <p:nvSpPr>
          <p:cNvPr id="311" name="Text 3"/>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Titan Enterprise Risk Management Framework, Marsh Political Risk Map 2026, IMF World Economic Outlook · Slide 28</a:t>
            </a:r>
            <a:endParaRPr lang="en-US" sz="1000" b="0" u="none" strike="noStrike">
              <a:solidFill>
                <a:srgbClr val="000000"/>
              </a:solidFill>
              <a:effectLst/>
              <a:uFillTx/>
              <a:latin typeface="Calibri"/>
            </a:endParaRPr>
          </a:p>
        </p:txBody>
      </p:sp>
    </p:spTree>
  </p:cSld>
  <p:transition>
    <p:fade/>
  </p:transition>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2EE"/>
        </a:solidFill>
      </p:bgPr>
    </p:bg>
    <p:spTree>
      <p:nvGrpSpPr>
        <p:cNvPr id="1" name=""/>
        <p:cNvGrpSpPr/>
        <p:nvPr/>
      </p:nvGrpSpPr>
      <p:grpSpPr>
        <a:xfrm>
          <a:off x="0" y="0"/>
          <a:ext cx="0" cy="0"/>
          <a:chOff x="0" y="0"/>
          <a:chExt cx="0" cy="0"/>
        </a:xfrm>
      </p:grpSpPr>
      <p:sp>
        <p:nvSpPr>
          <p:cNvPr id="312" name="Text 0"/>
          <p:cNvSpPr/>
          <p:nvPr/>
        </p:nvSpPr>
        <p:spPr>
          <a:xfrm>
            <a:off x="762120" y="507960"/>
            <a:ext cx="12699720" cy="507960"/>
          </a:xfrm>
          <a:prstGeom prst="rect">
            <a:avLst/>
          </a:prstGeom>
          <a:noFill/>
          <a:ln w="0">
            <a:noFill/>
          </a:ln>
        </p:spPr>
        <p:style>
          <a:lnRef idx="0"/>
          <a:fillRef idx="0"/>
          <a:effectRef idx="0"/>
          <a:fontRef idx="minor"/>
        </p:style>
        <p:txBody>
          <a:bodyPr wrap="none" lIns="0" tIns="0" rIns="0" bIns="0" anchor="ctr">
            <a:noAutofit/>
          </a:bodyPr>
          <a:p>
            <a:pP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A1628"/>
                </a:solidFill>
                <a:effectLst/>
                <a:uFillTx/>
                <a:latin typeface="Liter"/>
                <a:ea typeface="Liter"/>
              </a:rPr>
              <a:t>执行里程碑与仪表盘：从决议到落地的闭环管控</a:t>
            </a:r>
            <a:endParaRPr lang="en-US" sz="2800" b="0" u="none" strike="noStrike">
              <a:solidFill>
                <a:srgbClr val="000000"/>
              </a:solidFill>
              <a:effectLst/>
              <a:uFillTx/>
              <a:latin typeface="Calibri"/>
            </a:endParaRPr>
          </a:p>
        </p:txBody>
      </p:sp>
      <p:sp>
        <p:nvSpPr>
          <p:cNvPr id="313" name="Shape 1"/>
          <p:cNvSpPr/>
          <p:nvPr/>
        </p:nvSpPr>
        <p:spPr>
          <a:xfrm>
            <a:off x="762120" y="1079640"/>
            <a:ext cx="761760" cy="37800"/>
          </a:xfrm>
          <a:prstGeom prst="rect">
            <a:avLst/>
          </a:prstGeom>
          <a:solidFill>
            <a:srgbClr val="C8A265"/>
          </a:solidFill>
          <a:ln w="0">
            <a:noFill/>
          </a:ln>
        </p:spPr>
        <p:style>
          <a:lnRef idx="0"/>
          <a:fillRef idx="0"/>
          <a:effectRef idx="0"/>
          <a:fontRef idx="minor"/>
        </p:style>
        <p:txBody>
          <a:bodyPr lIns="90000" tIns="-9000" rIns="90000" bIns="-90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14" name="Text 2"/>
          <p:cNvSpPr/>
          <p:nvPr/>
        </p:nvSpPr>
        <p:spPr>
          <a:xfrm>
            <a:off x="762120" y="1333440"/>
            <a:ext cx="14731920" cy="76212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1E293B"/>
                </a:solidFill>
                <a:effectLst/>
                <a:uFillTx/>
                <a:latin typeface="QuattrocentoSans"/>
                <a:ea typeface="QuattrocentoSans"/>
              </a:rPr>
              <a:t>建立</a:t>
            </a:r>
            <a:r>
              <a:rPr lang="en-US" sz="1600" b="1"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战略</a:t>
            </a:r>
            <a:r>
              <a:rPr lang="en-US" sz="1600" b="1"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战术</a:t>
            </a:r>
            <a:r>
              <a:rPr lang="en-US" sz="1600" b="1"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操作</a:t>
            </a:r>
            <a:r>
              <a:rPr lang="en-US" sz="1600" b="1" u="none" strike="noStrike">
                <a:solidFill>
                  <a:srgbClr val="1E293B"/>
                </a:solidFill>
                <a:effectLst/>
                <a:uFillTx/>
                <a:latin typeface="QuattrocentoSans"/>
                <a:ea typeface="QuattrocentoSans"/>
              </a:rPr>
              <a:t>"</a:t>
            </a:r>
            <a:r>
              <a:rPr lang="en-US" sz="1600" b="1" u="none" strike="noStrike">
                <a:solidFill>
                  <a:srgbClr val="1E293B"/>
                </a:solidFill>
                <a:effectLst/>
                <a:uFillTx/>
                <a:latin typeface="QuattrocentoSans"/>
                <a:ea typeface="QuattrocentoSans"/>
              </a:rPr>
              <a:t>三层</a:t>
            </a:r>
            <a:r>
              <a:rPr lang="en-US" sz="1600" b="1" u="none" strike="noStrike">
                <a:solidFill>
                  <a:srgbClr val="1E293B"/>
                </a:solidFill>
                <a:effectLst/>
                <a:uFillTx/>
                <a:latin typeface="QuattrocentoSans"/>
                <a:ea typeface="QuattrocentoSans"/>
              </a:rPr>
              <a:t>KPI</a:t>
            </a:r>
            <a:r>
              <a:rPr lang="en-US" sz="1600" b="1" u="none" strike="noStrike">
                <a:solidFill>
                  <a:srgbClr val="1E293B"/>
                </a:solidFill>
                <a:effectLst/>
                <a:uFillTx/>
                <a:latin typeface="QuattrocentoSans"/>
                <a:ea typeface="QuattrocentoSans"/>
              </a:rPr>
              <a:t>体系</a:t>
            </a:r>
            <a:r>
              <a:rPr lang="en-US" sz="1600" b="0" u="none" strike="noStrike">
                <a:solidFill>
                  <a:srgbClr val="1E293B"/>
                </a:solidFill>
                <a:effectLst/>
                <a:uFillTx/>
                <a:latin typeface="QuattrocentoSans"/>
                <a:ea typeface="QuattrocentoSans"/>
              </a:rPr>
              <a:t>，确保董事会决议可追踪、可问责、可调整。数字化管控：部署</a:t>
            </a:r>
            <a:r>
              <a:rPr lang="en-US" sz="1600" b="0" u="none" strike="noStrike">
                <a:solidFill>
                  <a:srgbClr val="1E293B"/>
                </a:solidFill>
                <a:effectLst/>
                <a:uFillTx/>
                <a:latin typeface="QuattrocentoSans"/>
                <a:ea typeface="QuattrocentoSans"/>
              </a:rPr>
              <a:t>Titan-OS</a:t>
            </a:r>
            <a:r>
              <a:rPr lang="en-US" sz="1600" b="0" u="none" strike="noStrike">
                <a:solidFill>
                  <a:srgbClr val="1E293B"/>
                </a:solidFill>
                <a:effectLst/>
                <a:uFillTx/>
                <a:latin typeface="QuattrocentoSans"/>
                <a:ea typeface="QuattrocentoSans"/>
              </a:rPr>
              <a:t>战略执行系统，实时汇聚全球项目数据，自动生成董事会级</a:t>
            </a:r>
            <a:r>
              <a:rPr lang="en-US" sz="1600" b="0" u="none" strike="noStrike">
                <a:solidFill>
                  <a:srgbClr val="1E293B"/>
                </a:solidFill>
                <a:effectLst/>
                <a:uFillTx/>
                <a:latin typeface="QuattrocentoSans"/>
                <a:ea typeface="QuattrocentoSans"/>
              </a:rPr>
              <a:t>Dashboard</a:t>
            </a:r>
            <a:r>
              <a:rPr lang="en-US" sz="1600" b="0" u="none" strike="noStrike">
                <a:solidFill>
                  <a:srgbClr val="1E293B"/>
                </a:solidFill>
                <a:effectLst/>
                <a:uFillTx/>
                <a:latin typeface="QuattrocentoSans"/>
                <a:ea typeface="QuattrocentoSans"/>
              </a:rPr>
              <a:t>。</a:t>
            </a:r>
            <a:endParaRPr lang="en-US" sz="1600" b="0" u="none" strike="noStrike">
              <a:solidFill>
                <a:srgbClr val="000000"/>
              </a:solidFill>
              <a:effectLst/>
              <a:uFillTx/>
              <a:latin typeface="Calibri"/>
            </a:endParaRPr>
          </a:p>
        </p:txBody>
      </p:sp>
      <p:graphicFrame>
        <p:nvGraphicFramePr>
          <p:cNvPr id="315" name=""/>
          <p:cNvGraphicFramePr/>
          <p:nvPr/>
        </p:nvGraphicFramePr>
        <p:xfrm>
          <a:off x="762120" y="2286000"/>
          <a:ext cx="14731920" cy="3556080"/>
        </p:xfrm>
        <a:graphic>
          <a:graphicData uri="http://schemas.openxmlformats.org/drawingml/2006/table">
            <a:tbl>
              <a:tblPr/>
              <a:tblGrid>
                <a:gridCol w="2062080"/>
                <a:gridCol w="3241800"/>
                <a:gridCol w="2062080"/>
                <a:gridCol w="2062080"/>
                <a:gridCol w="2652840"/>
                <a:gridCol w="2651040"/>
              </a:tblGrid>
              <a:tr h="36684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KPI</a:t>
                      </a:r>
                      <a:r>
                        <a:rPr lang="en-US" sz="1100" b="1" u="none" strike="noStrike">
                          <a:solidFill>
                            <a:srgbClr val="FFFFFF"/>
                          </a:solidFill>
                          <a:effectLst/>
                          <a:uFillTx/>
                          <a:latin typeface="QuattrocentoSans"/>
                          <a:ea typeface="QuattrocentoSans"/>
                        </a:rPr>
                        <a:t>层级</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核心指标</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2026</a:t>
                      </a:r>
                      <a:r>
                        <a:rPr lang="en-US" sz="1100" b="1" u="none" strike="noStrike">
                          <a:solidFill>
                            <a:srgbClr val="FFFFFF"/>
                          </a:solidFill>
                          <a:effectLst/>
                          <a:uFillTx/>
                          <a:latin typeface="QuattrocentoSans"/>
                          <a:ea typeface="QuattrocentoSans"/>
                        </a:rPr>
                        <a:t>目标</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2030</a:t>
                      </a:r>
                      <a:r>
                        <a:rPr lang="en-US" sz="1100" b="1" u="none" strike="noStrike">
                          <a:solidFill>
                            <a:srgbClr val="FFFFFF"/>
                          </a:solidFill>
                          <a:effectLst/>
                          <a:uFillTx/>
                          <a:latin typeface="QuattrocentoSans"/>
                          <a:ea typeface="QuattrocentoSans"/>
                        </a:rPr>
                        <a:t>目标</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审议频率</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FFFFFF"/>
                          </a:solidFill>
                          <a:effectLst/>
                          <a:uFillTx/>
                          <a:latin typeface="QuattrocentoSans"/>
                          <a:ea typeface="QuattrocentoSans"/>
                        </a:rPr>
                        <a:t>责任主体</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0A1628"/>
                    </a:solidFill>
                  </a:tcPr>
                </a:tc>
              </a:tr>
              <a:tr h="4554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战略层</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范围</a:t>
                      </a:r>
                      <a:r>
                        <a:rPr lang="en-US" sz="1100" b="0" u="none" strike="noStrike">
                          <a:solidFill>
                            <a:srgbClr val="1E293B"/>
                          </a:solidFill>
                          <a:effectLst/>
                          <a:uFillTx/>
                          <a:latin typeface="QuattrocentoSans"/>
                          <a:ea typeface="QuattrocentoSans"/>
                        </a:rPr>
                        <a:t>1+2</a:t>
                      </a:r>
                      <a:r>
                        <a:rPr lang="en-US" sz="1100" b="0" u="none" strike="noStrike">
                          <a:solidFill>
                            <a:srgbClr val="1E293B"/>
                          </a:solidFill>
                          <a:effectLst/>
                          <a:uFillTx/>
                          <a:latin typeface="QuattrocentoSans"/>
                          <a:ea typeface="QuattrocentoSans"/>
                        </a:rPr>
                        <a:t>减排量</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45%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董事会季度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CEO/CZO</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455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战略层</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可再生能源装机</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 GW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25 GW</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董事会季度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CEO/CZO</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4554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战术层</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项目里程碑达成率</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90%</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95%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事业部月度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事业部总裁</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455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战术层</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CAPEX</a:t>
                      </a:r>
                      <a:r>
                        <a:rPr lang="en-US" sz="1100" b="0" u="none" strike="noStrike">
                          <a:solidFill>
                            <a:srgbClr val="1E293B"/>
                          </a:solidFill>
                          <a:effectLst/>
                          <a:uFillTx/>
                          <a:latin typeface="QuattrocentoSans"/>
                          <a:ea typeface="QuattrocentoSans"/>
                        </a:rPr>
                        <a:t>执行偏差</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事业部月度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CFO/PMO</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455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操作层</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工程进度</a:t>
                      </a:r>
                      <a:r>
                        <a:rPr lang="en-US" sz="1100" b="0" u="none" strike="noStrike">
                          <a:solidFill>
                            <a:srgbClr val="1E293B"/>
                          </a:solidFill>
                          <a:effectLst/>
                          <a:uFillTx/>
                          <a:latin typeface="QuattrocentoSans"/>
                          <a:ea typeface="QuattrocentoSans"/>
                        </a:rPr>
                        <a:t>(EVM)</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SPI&gt;0.95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SPI&gt;0.98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项目周度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项目经理</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r h="45540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操作层</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安全事故率</a:t>
                      </a:r>
                      <a:r>
                        <a:rPr lang="en-US" sz="1100" b="0" u="none" strike="noStrike">
                          <a:solidFill>
                            <a:srgbClr val="1E293B"/>
                          </a:solidFill>
                          <a:effectLst/>
                          <a:uFillTx/>
                          <a:latin typeface="QuattrocentoSans"/>
                          <a:ea typeface="QuattrocentoSans"/>
                        </a:rPr>
                        <a:t>(TRIR)</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&lt;0.8</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&lt;0.5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项目周度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HSE</a:t>
                      </a:r>
                      <a:r>
                        <a:rPr lang="en-US" sz="1100" b="0" u="none" strike="noStrike">
                          <a:solidFill>
                            <a:srgbClr val="1E293B"/>
                          </a:solidFill>
                          <a:effectLst/>
                          <a:uFillTx/>
                          <a:latin typeface="QuattrocentoSans"/>
                          <a:ea typeface="QuattrocentoSans"/>
                        </a:rPr>
                        <a:t>总监</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4F2EE"/>
                    </a:solidFill>
                  </a:tcPr>
                </a:tc>
              </a:tr>
              <a:tr h="455760">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操作层</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AI</a:t>
                      </a:r>
                      <a:r>
                        <a:rPr lang="en-US" sz="1100" b="0" u="none" strike="noStrike">
                          <a:solidFill>
                            <a:srgbClr val="1E293B"/>
                          </a:solidFill>
                          <a:effectLst/>
                          <a:uFillTx/>
                          <a:latin typeface="QuattrocentoSans"/>
                          <a:ea typeface="QuattrocentoSans"/>
                        </a:rPr>
                        <a:t>调度准确率</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&gt;95%</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&gt;96%</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项目周度</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c>
                  <a:txBody>
                    <a:bodyPr lIns="90000" tIns="0" rIns="9000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Sans"/>
                          <a:ea typeface="QuattrocentoSans"/>
                        </a:rPr>
                        <a:t>CTO</a:t>
                      </a:r>
                      <a:endParaRPr lang="en-US" sz="1100" b="0" u="none" strike="noStrike">
                        <a:solidFill>
                          <a:srgbClr val="000000"/>
                        </a:solidFill>
                        <a:effectLst/>
                        <a:uFillTx/>
                        <a:latin typeface="Calibri"/>
                      </a:endParaRPr>
                    </a:p>
                  </a:txBody>
                  <a:tcPr anchor="ctr" marL="90000" marR="90000" marT="0" marB="0">
                    <a:lnL w="5760">
                      <a:solidFill>
                        <a:srgbClr val="D1D5DB"/>
                      </a:solidFill>
                      <a:prstDash val="solid"/>
                    </a:lnL>
                    <a:lnR w="5760">
                      <a:solidFill>
                        <a:srgbClr val="D1D5DB"/>
                      </a:solidFill>
                      <a:prstDash val="solid"/>
                    </a:lnR>
                    <a:lnT w="5760">
                      <a:solidFill>
                        <a:srgbClr val="D1D5DB"/>
                      </a:solidFill>
                      <a:prstDash val="solid"/>
                    </a:lnT>
                    <a:lnB w="5760">
                      <a:solidFill>
                        <a:srgbClr val="D1D5DB"/>
                      </a:solidFill>
                      <a:prstDash val="solid"/>
                    </a:lnB>
                    <a:solidFill>
                      <a:srgbClr val="FFFFFF"/>
                    </a:solidFill>
                  </a:tcPr>
                </a:tc>
              </a:tr>
            </a:tbl>
          </a:graphicData>
        </a:graphic>
      </p:graphicFrame>
      <p:sp>
        <p:nvSpPr>
          <p:cNvPr id="316" name="Shape 3"/>
          <p:cNvSpPr/>
          <p:nvPr/>
        </p:nvSpPr>
        <p:spPr>
          <a:xfrm>
            <a:off x="762120" y="6095880"/>
            <a:ext cx="14731920" cy="2032200"/>
          </a:xfrm>
          <a:prstGeom prst="rect">
            <a:avLst/>
          </a:prstGeom>
          <a:solidFill>
            <a:srgbClr val="FFFFFF"/>
          </a:solidFill>
          <a:ln w="12600">
            <a:solidFill>
              <a:srgbClr val="D1D5DB"/>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17" name="Text 4"/>
          <p:cNvSpPr/>
          <p:nvPr/>
        </p:nvSpPr>
        <p:spPr>
          <a:xfrm>
            <a:off x="1015920" y="6222960"/>
            <a:ext cx="3810240" cy="30492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A1628"/>
                </a:solidFill>
                <a:effectLst/>
                <a:uFillTx/>
                <a:latin typeface="Liter"/>
                <a:ea typeface="Liter"/>
              </a:rPr>
              <a:t>关键里程碑时间轴</a:t>
            </a:r>
            <a:endParaRPr lang="en-US" sz="1400" b="0" u="none" strike="noStrike">
              <a:solidFill>
                <a:srgbClr val="000000"/>
              </a:solidFill>
              <a:effectLst/>
              <a:uFillTx/>
              <a:latin typeface="Calibri"/>
            </a:endParaRPr>
          </a:p>
        </p:txBody>
      </p:sp>
      <p:sp>
        <p:nvSpPr>
          <p:cNvPr id="318" name="Shape 5"/>
          <p:cNvSpPr/>
          <p:nvPr/>
        </p:nvSpPr>
        <p:spPr>
          <a:xfrm>
            <a:off x="1015920" y="6730920"/>
            <a:ext cx="14223960" cy="25560"/>
          </a:xfrm>
          <a:prstGeom prst="rect">
            <a:avLst/>
          </a:prstGeom>
          <a:solidFill>
            <a:srgbClr val="D1D5DB"/>
          </a:solidFill>
          <a:ln w="0">
            <a:noFill/>
          </a:ln>
        </p:spPr>
        <p:style>
          <a:lnRef idx="0"/>
          <a:fillRef idx="0"/>
          <a:effectRef idx="0"/>
          <a:fontRef idx="minor"/>
        </p:style>
        <p:txBody>
          <a:bodyPr lIns="90000" tIns="-21240" rIns="90000" bIns="-212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19" name="Shape 6"/>
          <p:cNvSpPr/>
          <p:nvPr/>
        </p:nvSpPr>
        <p:spPr>
          <a:xfrm>
            <a:off x="1523880" y="6667560"/>
            <a:ext cx="152640" cy="152280"/>
          </a:xfrm>
          <a:prstGeom prst="ellipse">
            <a:avLst/>
          </a:prstGeom>
          <a:solidFill>
            <a:srgbClr val="C8A265"/>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20" name="Text 7"/>
          <p:cNvSpPr/>
          <p:nvPr/>
        </p:nvSpPr>
        <p:spPr>
          <a:xfrm>
            <a:off x="1270080" y="6921360"/>
            <a:ext cx="1270080" cy="1016280"/>
          </a:xfrm>
          <a:prstGeom prst="rect">
            <a:avLst/>
          </a:prstGeom>
          <a:noFill/>
          <a:ln w="0">
            <a:noFill/>
          </a:ln>
        </p:spPr>
        <p:style>
          <a:lnRef idx="0"/>
          <a:fillRef idx="0"/>
          <a:effectRef idx="0"/>
          <a:fontRef idx="minor"/>
        </p:style>
        <p:txBody>
          <a:bodyPr lIns="0" tIns="0" rIns="0" bIns="0" anchor="t">
            <a:noAutofit/>
          </a:bodyPr>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1E293B"/>
                </a:solidFill>
                <a:effectLst/>
                <a:uFillTx/>
                <a:latin typeface="Quattrocento Sans"/>
              </a:rPr>
              <a:t>2026 Q3</a:t>
            </a:r>
            <a:endParaRPr lang="en-US" sz="1100" b="0" u="none" strike="noStrike">
              <a:solidFill>
                <a:srgbClr val="000000"/>
              </a:solidFill>
              <a:effectLst/>
              <a:uFillTx/>
              <a:latin typeface="Calibri"/>
            </a:endParaRPr>
          </a:p>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 Sans"/>
              </a:rPr>
              <a:t>董事会决议</a:t>
            </a:r>
            <a:endParaRPr lang="en-US" sz="1100" b="0" u="none" strike="noStrike">
              <a:solidFill>
                <a:srgbClr val="000000"/>
              </a:solidFill>
              <a:effectLst/>
              <a:uFillTx/>
              <a:latin typeface="Calibri"/>
            </a:endParaRPr>
          </a:p>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 Sans"/>
              </a:rPr>
              <a:t>首批</a:t>
            </a:r>
            <a:r>
              <a:rPr lang="en-US" sz="1100" b="0" u="none" strike="noStrike">
                <a:solidFill>
                  <a:srgbClr val="1E293B"/>
                </a:solidFill>
                <a:effectLst/>
                <a:uFillTx/>
                <a:latin typeface="Quattrocento Sans"/>
              </a:rPr>
              <a:t>FID</a:t>
            </a:r>
            <a:endParaRPr lang="en-US" sz="1100" b="0" u="none" strike="noStrike">
              <a:solidFill>
                <a:srgbClr val="000000"/>
              </a:solidFill>
              <a:effectLst/>
              <a:uFillTx/>
              <a:latin typeface="Calibri"/>
            </a:endParaRPr>
          </a:p>
        </p:txBody>
      </p:sp>
      <p:sp>
        <p:nvSpPr>
          <p:cNvPr id="321" name="Shape 8"/>
          <p:cNvSpPr/>
          <p:nvPr/>
        </p:nvSpPr>
        <p:spPr>
          <a:xfrm>
            <a:off x="3556080" y="6667560"/>
            <a:ext cx="152280" cy="152280"/>
          </a:xfrm>
          <a:prstGeom prst="ellipse">
            <a:avLst/>
          </a:prstGeom>
          <a:solidFill>
            <a:srgbClr val="C8A265"/>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22" name="Text 9"/>
          <p:cNvSpPr/>
          <p:nvPr/>
        </p:nvSpPr>
        <p:spPr>
          <a:xfrm>
            <a:off x="3301920" y="6921360"/>
            <a:ext cx="1270080" cy="1016280"/>
          </a:xfrm>
          <a:prstGeom prst="rect">
            <a:avLst/>
          </a:prstGeom>
          <a:noFill/>
          <a:ln w="0">
            <a:noFill/>
          </a:ln>
        </p:spPr>
        <p:style>
          <a:lnRef idx="0"/>
          <a:fillRef idx="0"/>
          <a:effectRef idx="0"/>
          <a:fontRef idx="minor"/>
        </p:style>
        <p:txBody>
          <a:bodyPr lIns="0" tIns="0" rIns="0" bIns="0" anchor="t">
            <a:noAutofit/>
          </a:bodyPr>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1E293B"/>
                </a:solidFill>
                <a:effectLst/>
                <a:uFillTx/>
                <a:latin typeface="Quattrocento Sans"/>
              </a:rPr>
              <a:t>2027 Q2</a:t>
            </a:r>
            <a:endParaRPr lang="en-US" sz="1100" b="0" u="none" strike="noStrike">
              <a:solidFill>
                <a:srgbClr val="000000"/>
              </a:solidFill>
              <a:effectLst/>
              <a:uFillTx/>
              <a:latin typeface="Calibri"/>
            </a:endParaRPr>
          </a:p>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 Sans"/>
              </a:rPr>
              <a:t>东南亚基地</a:t>
            </a:r>
            <a:endParaRPr lang="en-US" sz="1100" b="0" u="none" strike="noStrike">
              <a:solidFill>
                <a:srgbClr val="000000"/>
              </a:solidFill>
              <a:effectLst/>
              <a:uFillTx/>
              <a:latin typeface="Calibri"/>
            </a:endParaRPr>
          </a:p>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 Sans"/>
              </a:rPr>
              <a:t>投产</a:t>
            </a:r>
            <a:endParaRPr lang="en-US" sz="1100" b="0" u="none" strike="noStrike">
              <a:solidFill>
                <a:srgbClr val="000000"/>
              </a:solidFill>
              <a:effectLst/>
              <a:uFillTx/>
              <a:latin typeface="Calibri"/>
            </a:endParaRPr>
          </a:p>
        </p:txBody>
      </p:sp>
      <p:sp>
        <p:nvSpPr>
          <p:cNvPr id="323" name="Shape 10"/>
          <p:cNvSpPr/>
          <p:nvPr/>
        </p:nvSpPr>
        <p:spPr>
          <a:xfrm>
            <a:off x="5587920" y="6667560"/>
            <a:ext cx="152640" cy="152280"/>
          </a:xfrm>
          <a:prstGeom prst="ellipse">
            <a:avLst/>
          </a:prstGeom>
          <a:solidFill>
            <a:srgbClr val="C8A265"/>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24" name="Text 11"/>
          <p:cNvSpPr/>
          <p:nvPr/>
        </p:nvSpPr>
        <p:spPr>
          <a:xfrm>
            <a:off x="5334120" y="6921360"/>
            <a:ext cx="1269720" cy="1016280"/>
          </a:xfrm>
          <a:prstGeom prst="rect">
            <a:avLst/>
          </a:prstGeom>
          <a:noFill/>
          <a:ln w="0">
            <a:noFill/>
          </a:ln>
        </p:spPr>
        <p:style>
          <a:lnRef idx="0"/>
          <a:fillRef idx="0"/>
          <a:effectRef idx="0"/>
          <a:fontRef idx="minor"/>
        </p:style>
        <p:txBody>
          <a:bodyPr lIns="0" tIns="0" rIns="0" bIns="0" anchor="t">
            <a:noAutofit/>
          </a:bodyPr>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1E293B"/>
                </a:solidFill>
                <a:effectLst/>
                <a:uFillTx/>
                <a:latin typeface="Quattrocento Sans"/>
              </a:rPr>
              <a:t>2028 Q1</a:t>
            </a:r>
            <a:endParaRPr lang="en-US" sz="1100" b="0" u="none" strike="noStrike">
              <a:solidFill>
                <a:srgbClr val="000000"/>
              </a:solidFill>
              <a:effectLst/>
              <a:uFillTx/>
              <a:latin typeface="Calibri"/>
            </a:endParaRPr>
          </a:p>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 Sans"/>
              </a:rPr>
              <a:t>绿氢</a:t>
            </a:r>
            <a:r>
              <a:rPr lang="en-US" sz="1100" b="0" u="none" strike="noStrike">
                <a:solidFill>
                  <a:srgbClr val="1E293B"/>
                </a:solidFill>
                <a:effectLst/>
                <a:uFillTx/>
                <a:latin typeface="Quattrocento Sans"/>
              </a:rPr>
              <a:t>ALK</a:t>
            </a:r>
            <a:endParaRPr lang="en-US" sz="1100" b="0" u="none" strike="noStrike">
              <a:solidFill>
                <a:srgbClr val="000000"/>
              </a:solidFill>
              <a:effectLst/>
              <a:uFillTx/>
              <a:latin typeface="Calibri"/>
            </a:endParaRPr>
          </a:p>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 Sans"/>
              </a:rPr>
              <a:t>TRL 9</a:t>
            </a:r>
            <a:r>
              <a:rPr lang="en-US" sz="1100" b="0" u="none" strike="noStrike">
                <a:solidFill>
                  <a:srgbClr val="1E293B"/>
                </a:solidFill>
                <a:effectLst/>
                <a:uFillTx/>
                <a:latin typeface="Quattrocento Sans"/>
              </a:rPr>
              <a:t>达成</a:t>
            </a:r>
            <a:endParaRPr lang="en-US" sz="1100" b="0" u="none" strike="noStrike">
              <a:solidFill>
                <a:srgbClr val="000000"/>
              </a:solidFill>
              <a:effectLst/>
              <a:uFillTx/>
              <a:latin typeface="Calibri"/>
            </a:endParaRPr>
          </a:p>
        </p:txBody>
      </p:sp>
      <p:sp>
        <p:nvSpPr>
          <p:cNvPr id="325" name="Shape 12"/>
          <p:cNvSpPr/>
          <p:nvPr/>
        </p:nvSpPr>
        <p:spPr>
          <a:xfrm>
            <a:off x="7620120" y="6667560"/>
            <a:ext cx="152280" cy="152280"/>
          </a:xfrm>
          <a:prstGeom prst="ellipse">
            <a:avLst/>
          </a:prstGeom>
          <a:solidFill>
            <a:srgbClr val="C8A265"/>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26" name="Text 13"/>
          <p:cNvSpPr/>
          <p:nvPr/>
        </p:nvSpPr>
        <p:spPr>
          <a:xfrm>
            <a:off x="7365960" y="6921360"/>
            <a:ext cx="1270080" cy="1016280"/>
          </a:xfrm>
          <a:prstGeom prst="rect">
            <a:avLst/>
          </a:prstGeom>
          <a:noFill/>
          <a:ln w="0">
            <a:noFill/>
          </a:ln>
        </p:spPr>
        <p:style>
          <a:lnRef idx="0"/>
          <a:fillRef idx="0"/>
          <a:effectRef idx="0"/>
          <a:fontRef idx="minor"/>
        </p:style>
        <p:txBody>
          <a:bodyPr lIns="0" tIns="0" rIns="0" bIns="0" anchor="t">
            <a:noAutofit/>
          </a:bodyPr>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1E293B"/>
                </a:solidFill>
                <a:effectLst/>
                <a:uFillTx/>
                <a:latin typeface="Quattrocento Sans"/>
              </a:rPr>
              <a:t>2028 Q4</a:t>
            </a:r>
            <a:endParaRPr lang="en-US" sz="1100" b="0" u="none" strike="noStrike">
              <a:solidFill>
                <a:srgbClr val="000000"/>
              </a:solidFill>
              <a:effectLst/>
              <a:uFillTx/>
              <a:latin typeface="Calibri"/>
            </a:endParaRPr>
          </a:p>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 Sans"/>
              </a:rPr>
              <a:t>装机量</a:t>
            </a:r>
            <a:endParaRPr lang="en-US" sz="1100" b="0" u="none" strike="noStrike">
              <a:solidFill>
                <a:srgbClr val="000000"/>
              </a:solidFill>
              <a:effectLst/>
              <a:uFillTx/>
              <a:latin typeface="Calibri"/>
            </a:endParaRPr>
          </a:p>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 Sans"/>
              </a:rPr>
              <a:t>突破</a:t>
            </a:r>
            <a:r>
              <a:rPr lang="en-US" sz="1100" b="0" u="none" strike="noStrike">
                <a:solidFill>
                  <a:srgbClr val="1E293B"/>
                </a:solidFill>
                <a:effectLst/>
                <a:uFillTx/>
                <a:latin typeface="Quattrocento Sans"/>
              </a:rPr>
              <a:t>15GW</a:t>
            </a:r>
            <a:endParaRPr lang="en-US" sz="1100" b="0" u="none" strike="noStrike">
              <a:solidFill>
                <a:srgbClr val="000000"/>
              </a:solidFill>
              <a:effectLst/>
              <a:uFillTx/>
              <a:latin typeface="Calibri"/>
            </a:endParaRPr>
          </a:p>
        </p:txBody>
      </p:sp>
      <p:sp>
        <p:nvSpPr>
          <p:cNvPr id="327" name="Shape 14"/>
          <p:cNvSpPr/>
          <p:nvPr/>
        </p:nvSpPr>
        <p:spPr>
          <a:xfrm>
            <a:off x="9651960" y="6667560"/>
            <a:ext cx="152280" cy="152280"/>
          </a:xfrm>
          <a:prstGeom prst="ellipse">
            <a:avLst/>
          </a:prstGeom>
          <a:solidFill>
            <a:srgbClr val="C8A265"/>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28" name="Text 15"/>
          <p:cNvSpPr/>
          <p:nvPr/>
        </p:nvSpPr>
        <p:spPr>
          <a:xfrm>
            <a:off x="9398160" y="6921360"/>
            <a:ext cx="1269720" cy="1016280"/>
          </a:xfrm>
          <a:prstGeom prst="rect">
            <a:avLst/>
          </a:prstGeom>
          <a:noFill/>
          <a:ln w="0">
            <a:noFill/>
          </a:ln>
        </p:spPr>
        <p:style>
          <a:lnRef idx="0"/>
          <a:fillRef idx="0"/>
          <a:effectRef idx="0"/>
          <a:fontRef idx="minor"/>
        </p:style>
        <p:txBody>
          <a:bodyPr lIns="0" tIns="0" rIns="0" bIns="0" anchor="t">
            <a:noAutofit/>
          </a:bodyPr>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1E293B"/>
                </a:solidFill>
                <a:effectLst/>
                <a:uFillTx/>
                <a:latin typeface="Quattrocento Sans"/>
              </a:rPr>
              <a:t>2029 Q2</a:t>
            </a:r>
            <a:endParaRPr lang="en-US" sz="1100" b="0" u="none" strike="noStrike">
              <a:solidFill>
                <a:srgbClr val="000000"/>
              </a:solidFill>
              <a:effectLst/>
              <a:uFillTx/>
              <a:latin typeface="Calibri"/>
            </a:endParaRPr>
          </a:p>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 Sans"/>
              </a:rPr>
              <a:t>北美基地</a:t>
            </a:r>
            <a:endParaRPr lang="en-US" sz="1100" b="0" u="none" strike="noStrike">
              <a:solidFill>
                <a:srgbClr val="000000"/>
              </a:solidFill>
              <a:effectLst/>
              <a:uFillTx/>
              <a:latin typeface="Calibri"/>
            </a:endParaRPr>
          </a:p>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 Sans"/>
              </a:rPr>
              <a:t>CCS</a:t>
            </a:r>
            <a:r>
              <a:rPr lang="en-US" sz="1100" b="0" u="none" strike="noStrike">
                <a:solidFill>
                  <a:srgbClr val="1E293B"/>
                </a:solidFill>
                <a:effectLst/>
                <a:uFillTx/>
                <a:latin typeface="Quattrocento Sans"/>
              </a:rPr>
              <a:t>投产</a:t>
            </a:r>
            <a:endParaRPr lang="en-US" sz="1100" b="0" u="none" strike="noStrike">
              <a:solidFill>
                <a:srgbClr val="000000"/>
              </a:solidFill>
              <a:effectLst/>
              <a:uFillTx/>
              <a:latin typeface="Calibri"/>
            </a:endParaRPr>
          </a:p>
        </p:txBody>
      </p:sp>
      <p:sp>
        <p:nvSpPr>
          <p:cNvPr id="329" name="Shape 16"/>
          <p:cNvSpPr/>
          <p:nvPr/>
        </p:nvSpPr>
        <p:spPr>
          <a:xfrm>
            <a:off x="11684160" y="6667560"/>
            <a:ext cx="152280" cy="152280"/>
          </a:xfrm>
          <a:prstGeom prst="ellipse">
            <a:avLst/>
          </a:prstGeom>
          <a:solidFill>
            <a:srgbClr val="C8A265"/>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30" name="Text 17"/>
          <p:cNvSpPr/>
          <p:nvPr/>
        </p:nvSpPr>
        <p:spPr>
          <a:xfrm>
            <a:off x="11430000" y="6921360"/>
            <a:ext cx="1270080" cy="1016280"/>
          </a:xfrm>
          <a:prstGeom prst="rect">
            <a:avLst/>
          </a:prstGeom>
          <a:noFill/>
          <a:ln w="0">
            <a:noFill/>
          </a:ln>
        </p:spPr>
        <p:style>
          <a:lnRef idx="0"/>
          <a:fillRef idx="0"/>
          <a:effectRef idx="0"/>
          <a:fontRef idx="minor"/>
        </p:style>
        <p:txBody>
          <a:bodyPr lIns="0" tIns="0" rIns="0" bIns="0" anchor="t">
            <a:noAutofit/>
          </a:bodyPr>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1E293B"/>
                </a:solidFill>
                <a:effectLst/>
                <a:uFillTx/>
                <a:latin typeface="Quattrocento Sans"/>
              </a:rPr>
              <a:t>2029 Q4</a:t>
            </a:r>
            <a:endParaRPr lang="en-US" sz="1100" b="0" u="none" strike="noStrike">
              <a:solidFill>
                <a:srgbClr val="000000"/>
              </a:solidFill>
              <a:effectLst/>
              <a:uFillTx/>
              <a:latin typeface="Calibri"/>
            </a:endParaRPr>
          </a:p>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 Sans"/>
              </a:rPr>
              <a:t>减排</a:t>
            </a:r>
            <a:r>
              <a:rPr lang="en-US" sz="1100" b="0" u="none" strike="noStrike">
                <a:solidFill>
                  <a:srgbClr val="1E293B"/>
                </a:solidFill>
                <a:effectLst/>
                <a:uFillTx/>
                <a:latin typeface="Quattrocento Sans"/>
              </a:rPr>
              <a:t>35%</a:t>
            </a:r>
            <a:endParaRPr lang="en-US" sz="1100" b="0" u="none" strike="noStrike">
              <a:solidFill>
                <a:srgbClr val="000000"/>
              </a:solidFill>
              <a:effectLst/>
              <a:uFillTx/>
              <a:latin typeface="Calibri"/>
            </a:endParaRPr>
          </a:p>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 Sans"/>
              </a:rPr>
              <a:t>中期目标</a:t>
            </a:r>
            <a:endParaRPr lang="en-US" sz="1100" b="0" u="none" strike="noStrike">
              <a:solidFill>
                <a:srgbClr val="000000"/>
              </a:solidFill>
              <a:effectLst/>
              <a:uFillTx/>
              <a:latin typeface="Calibri"/>
            </a:endParaRPr>
          </a:p>
        </p:txBody>
      </p:sp>
      <p:sp>
        <p:nvSpPr>
          <p:cNvPr id="331" name="Shape 18"/>
          <p:cNvSpPr/>
          <p:nvPr/>
        </p:nvSpPr>
        <p:spPr>
          <a:xfrm>
            <a:off x="13716000" y="6667560"/>
            <a:ext cx="152280" cy="152280"/>
          </a:xfrm>
          <a:prstGeom prst="ellipse">
            <a:avLst/>
          </a:prstGeom>
          <a:solidFill>
            <a:srgbClr val="C8A265"/>
          </a:solidFill>
          <a:ln w="0">
            <a:noFill/>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32" name="Text 19"/>
          <p:cNvSpPr/>
          <p:nvPr/>
        </p:nvSpPr>
        <p:spPr>
          <a:xfrm>
            <a:off x="13461840" y="6921360"/>
            <a:ext cx="1270080" cy="1016280"/>
          </a:xfrm>
          <a:prstGeom prst="rect">
            <a:avLst/>
          </a:prstGeom>
          <a:noFill/>
          <a:ln w="0">
            <a:noFill/>
          </a:ln>
        </p:spPr>
        <p:style>
          <a:lnRef idx="0"/>
          <a:fillRef idx="0"/>
          <a:effectRef idx="0"/>
          <a:fontRef idx="minor"/>
        </p:style>
        <p:txBody>
          <a:bodyPr lIns="0" tIns="0" rIns="0" bIns="0" anchor="t">
            <a:noAutofit/>
          </a:bodyPr>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1" u="none" strike="noStrike">
                <a:solidFill>
                  <a:srgbClr val="1E293B"/>
                </a:solidFill>
                <a:effectLst/>
                <a:uFillTx/>
                <a:latin typeface="Quattrocento Sans"/>
              </a:rPr>
              <a:t>2030 Q4</a:t>
            </a:r>
            <a:endParaRPr lang="en-US" sz="1100" b="0" u="none" strike="noStrike">
              <a:solidFill>
                <a:srgbClr val="000000"/>
              </a:solidFill>
              <a:effectLst/>
              <a:uFillTx/>
              <a:latin typeface="Calibri"/>
            </a:endParaRPr>
          </a:p>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 Sans"/>
              </a:rPr>
              <a:t>减排</a:t>
            </a:r>
            <a:r>
              <a:rPr lang="en-US" sz="1100" b="0" u="none" strike="noStrike">
                <a:solidFill>
                  <a:srgbClr val="1E293B"/>
                </a:solidFill>
                <a:effectLst/>
                <a:uFillTx/>
                <a:latin typeface="Quattrocento Sans"/>
              </a:rPr>
              <a:t>45%</a:t>
            </a:r>
            <a:endParaRPr lang="en-US" sz="1100" b="0" u="none" strike="noStrike">
              <a:solidFill>
                <a:srgbClr val="000000"/>
              </a:solidFill>
              <a:effectLst/>
              <a:uFillTx/>
              <a:latin typeface="Calibri"/>
            </a:endParaRPr>
          </a:p>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100" b="0" u="none" strike="noStrike">
                <a:solidFill>
                  <a:srgbClr val="1E293B"/>
                </a:solidFill>
                <a:effectLst/>
                <a:uFillTx/>
                <a:latin typeface="Quattrocento Sans"/>
              </a:rPr>
              <a:t>终极目标</a:t>
            </a:r>
            <a:endParaRPr lang="en-US" sz="1100" b="0" u="none" strike="noStrike">
              <a:solidFill>
                <a:srgbClr val="000000"/>
              </a:solidFill>
              <a:effectLst/>
              <a:uFillTx/>
              <a:latin typeface="Calibri"/>
            </a:endParaRPr>
          </a:p>
        </p:txBody>
      </p:sp>
      <p:sp>
        <p:nvSpPr>
          <p:cNvPr id="333" name="Text 20"/>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5A6D7F"/>
                </a:solidFill>
                <a:effectLst/>
                <a:uFillTx/>
                <a:latin typeface="QuattrocentoSans"/>
                <a:ea typeface="QuattrocentoSans"/>
              </a:rPr>
              <a:t>数据来源：</a:t>
            </a:r>
            <a:r>
              <a:rPr lang="en-US" sz="1000" b="0" u="none" strike="noStrike">
                <a:solidFill>
                  <a:srgbClr val="5A6D7F"/>
                </a:solidFill>
                <a:effectLst/>
                <a:uFillTx/>
                <a:latin typeface="QuattrocentoSans"/>
                <a:ea typeface="QuattrocentoSans"/>
              </a:rPr>
              <a:t>Titan Strategy Execution Office, Kaplan-Norton Strategy Map Framework, Project Management Institute (PMI) Best Practices · Slide 29</a:t>
            </a:r>
            <a:endParaRPr lang="en-US" sz="1000" b="0" u="none" strike="noStrike">
              <a:solidFill>
                <a:srgbClr val="000000"/>
              </a:solidFill>
              <a:effectLst/>
              <a:uFillTx/>
              <a:latin typeface="Calibri"/>
            </a:endParaRPr>
          </a:p>
        </p:txBody>
      </p:sp>
    </p:spTree>
  </p:cSld>
  <p:transition>
    <p:fade/>
  </p:transition>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334" name="Text 0"/>
          <p:cNvSpPr/>
          <p:nvPr/>
        </p:nvSpPr>
        <p:spPr>
          <a:xfrm>
            <a:off x="1778040" y="1270080"/>
            <a:ext cx="12700080" cy="1523880"/>
          </a:xfrm>
          <a:prstGeom prst="rect">
            <a:avLst/>
          </a:prstGeom>
          <a:noFill/>
          <a:ln w="0">
            <a:noFill/>
          </a:ln>
        </p:spPr>
        <p:style>
          <a:lnRef idx="0"/>
          <a:fillRef idx="0"/>
          <a:effectRef idx="0"/>
          <a:fontRef idx="minor"/>
        </p:style>
        <p:txBody>
          <a:bodyPr lIns="0" tIns="0" rIns="0" bIns="0" anchor="ctr">
            <a:noAutofit/>
          </a:bodyPr>
          <a:p>
            <a:pPr algn="ct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0" u="none" strike="noStrike">
                <a:solidFill>
                  <a:srgbClr val="FFFFFF"/>
                </a:solidFill>
                <a:effectLst/>
                <a:uFillTx/>
                <a:latin typeface="Liter"/>
                <a:ea typeface="Liter"/>
              </a:rPr>
              <a:t>战略决议呼吁</a:t>
            </a:r>
            <a:endParaRPr lang="en-US" sz="4000" b="0" u="none" strike="noStrike">
              <a:solidFill>
                <a:srgbClr val="000000"/>
              </a:solidFill>
              <a:effectLst/>
              <a:uFillTx/>
              <a:latin typeface="Calibri"/>
            </a:endParaRPr>
          </a:p>
          <a:p>
            <a:pPr algn="ctr">
              <a:lnSpc>
                <a:spcPct val="13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0" u="none" strike="noStrike">
                <a:solidFill>
                  <a:srgbClr val="FFFFFF"/>
                </a:solidFill>
                <a:effectLst/>
                <a:uFillTx/>
                <a:latin typeface="Liter"/>
                <a:ea typeface="Liter"/>
              </a:rPr>
              <a:t>立即行动，锁定零碳未来</a:t>
            </a:r>
            <a:endParaRPr lang="en-US" sz="4000" b="0" u="none" strike="noStrike">
              <a:solidFill>
                <a:srgbClr val="000000"/>
              </a:solidFill>
              <a:effectLst/>
              <a:uFillTx/>
              <a:latin typeface="Calibri"/>
            </a:endParaRPr>
          </a:p>
        </p:txBody>
      </p:sp>
      <p:sp>
        <p:nvSpPr>
          <p:cNvPr id="335" name="Shape 1"/>
          <p:cNvSpPr/>
          <p:nvPr/>
        </p:nvSpPr>
        <p:spPr>
          <a:xfrm>
            <a:off x="6858000" y="2984400"/>
            <a:ext cx="2540160" cy="38160"/>
          </a:xfrm>
          <a:prstGeom prst="rect">
            <a:avLst/>
          </a:prstGeom>
          <a:solidFill>
            <a:srgbClr val="C8A265"/>
          </a:solidFill>
          <a:ln w="0">
            <a:noFill/>
          </a:ln>
        </p:spPr>
        <p:style>
          <a:lnRef idx="0"/>
          <a:fillRef idx="0"/>
          <a:effectRef idx="0"/>
          <a:fontRef idx="minor"/>
        </p:style>
        <p:txBody>
          <a:bodyPr lIns="90000" tIns="-8640" rIns="90000" bIns="-864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36" name="Text 2"/>
          <p:cNvSpPr/>
          <p:nvPr/>
        </p:nvSpPr>
        <p:spPr>
          <a:xfrm>
            <a:off x="1778040" y="3301920"/>
            <a:ext cx="12700080" cy="1524240"/>
          </a:xfrm>
          <a:prstGeom prst="rect">
            <a:avLst/>
          </a:prstGeom>
          <a:noFill/>
          <a:ln w="0">
            <a:noFill/>
          </a:ln>
        </p:spPr>
        <p:style>
          <a:lnRef idx="0"/>
          <a:fillRef idx="0"/>
          <a:effectRef idx="0"/>
          <a:fontRef idx="minor"/>
        </p:style>
        <p:txBody>
          <a:bodyPr lIns="0" tIns="0" rIns="0" bIns="0" anchor="t">
            <a:noAutofit/>
          </a:bodyPr>
          <a:p>
            <a:pPr algn="ct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D1D5DB"/>
                </a:solidFill>
                <a:effectLst/>
                <a:uFillTx/>
                <a:latin typeface="Quattrocento Sans"/>
              </a:rPr>
              <a:t>泰坦动力正站在能源史上最深刻的转型十字路口。延迟决策的代价远超行动的风险——</a:t>
            </a:r>
            <a:endParaRPr lang="en-US" sz="1600" b="0" u="none" strike="noStrike">
              <a:solidFill>
                <a:srgbClr val="000000"/>
              </a:solidFill>
              <a:effectLst/>
              <a:uFillTx/>
              <a:latin typeface="Calibri"/>
            </a:endParaRPr>
          </a:p>
          <a:p>
            <a:pPr algn="ct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D1D5DB"/>
                </a:solidFill>
                <a:effectLst/>
                <a:uFillTx/>
                <a:latin typeface="Quattrocento Sans"/>
              </a:rPr>
              <a:t>每推迟一年，</a:t>
            </a:r>
            <a:r>
              <a:rPr lang="en-US" sz="1600" b="0" u="none" strike="noStrike">
                <a:solidFill>
                  <a:srgbClr val="D1D5DB"/>
                </a:solidFill>
                <a:effectLst/>
                <a:uFillTx/>
                <a:latin typeface="Quattrocento Sans"/>
              </a:rPr>
              <a:t>CBAM</a:t>
            </a:r>
            <a:r>
              <a:rPr lang="en-US" sz="1600" b="0" u="none" strike="noStrike">
                <a:solidFill>
                  <a:srgbClr val="D1D5DB"/>
                </a:solidFill>
                <a:effectLst/>
                <a:uFillTx/>
                <a:latin typeface="Quattrocento Sans"/>
              </a:rPr>
              <a:t>合规成本增加</a:t>
            </a:r>
            <a:r>
              <a:rPr lang="en-US" sz="1600" b="0" u="none" strike="noStrike">
                <a:solidFill>
                  <a:srgbClr val="D1D5DB"/>
                </a:solidFill>
                <a:effectLst/>
                <a:uFillTx/>
                <a:latin typeface="Quattrocento Sans"/>
              </a:rPr>
              <a:t>6.2</a:t>
            </a:r>
            <a:r>
              <a:rPr lang="en-US" sz="1600" b="0" u="none" strike="noStrike">
                <a:solidFill>
                  <a:srgbClr val="D1D5DB"/>
                </a:solidFill>
                <a:effectLst/>
                <a:uFillTx/>
                <a:latin typeface="Quattrocento Sans"/>
              </a:rPr>
              <a:t>亿美金，绿色债券融资成本上升</a:t>
            </a:r>
            <a:r>
              <a:rPr lang="en-US" sz="1600" b="0" u="none" strike="noStrike">
                <a:solidFill>
                  <a:srgbClr val="D1D5DB"/>
                </a:solidFill>
                <a:effectLst/>
                <a:uFillTx/>
                <a:latin typeface="Quattrocento Sans"/>
              </a:rPr>
              <a:t>80-120bps</a:t>
            </a:r>
            <a:r>
              <a:rPr lang="en-US" sz="1600" b="0" u="none" strike="noStrike">
                <a:solidFill>
                  <a:srgbClr val="D1D5DB"/>
                </a:solidFill>
                <a:effectLst/>
                <a:uFillTx/>
                <a:latin typeface="Quattrocento Sans"/>
              </a:rPr>
              <a:t>。</a:t>
            </a:r>
            <a:endParaRPr lang="en-US" sz="1600" b="0" u="none" strike="noStrike">
              <a:solidFill>
                <a:srgbClr val="000000"/>
              </a:solidFill>
              <a:effectLst/>
              <a:uFillTx/>
              <a:latin typeface="Calibri"/>
            </a:endParaRPr>
          </a:p>
          <a:p>
            <a:pPr algn="ctr">
              <a:lnSpc>
                <a:spcPct val="16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D1D5DB"/>
                </a:solidFill>
                <a:effectLst/>
                <a:uFillTx/>
                <a:latin typeface="Quattrocento Sans"/>
              </a:rPr>
              <a:t>250</a:t>
            </a:r>
            <a:r>
              <a:rPr lang="en-US" sz="1600" b="0" u="none" strike="noStrike">
                <a:solidFill>
                  <a:srgbClr val="D1D5DB"/>
                </a:solidFill>
                <a:effectLst/>
                <a:uFillTx/>
                <a:latin typeface="Quattrocento Sans"/>
              </a:rPr>
              <a:t>亿美金战略投资是泰坦动力从传统能源巨头跃升为零碳科技平台的唯一路径。</a:t>
            </a:r>
            <a:endParaRPr lang="en-US" sz="1600" b="0" u="none" strike="noStrike">
              <a:solidFill>
                <a:srgbClr val="000000"/>
              </a:solidFill>
              <a:effectLst/>
              <a:uFillTx/>
              <a:latin typeface="Calibri"/>
            </a:endParaRPr>
          </a:p>
        </p:txBody>
      </p:sp>
      <p:sp>
        <p:nvSpPr>
          <p:cNvPr id="337" name="Shape 3"/>
          <p:cNvSpPr/>
          <p:nvPr/>
        </p:nvSpPr>
        <p:spPr>
          <a:xfrm>
            <a:off x="762120" y="5079960"/>
            <a:ext cx="3429000" cy="1778040"/>
          </a:xfrm>
          <a:prstGeom prst="rect">
            <a:avLst/>
          </a:prstGeom>
          <a:solidFill>
            <a:srgbClr val="FFFFFF">
              <a:alpha val="6000"/>
            </a:srgbClr>
          </a:solidFill>
          <a:ln w="12600">
            <a:solidFill>
              <a:srgbClr val="C8A265"/>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38" name="Text 4"/>
          <p:cNvSpPr/>
          <p:nvPr/>
        </p:nvSpPr>
        <p:spPr>
          <a:xfrm>
            <a:off x="1015920" y="5207040"/>
            <a:ext cx="2921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C8A265"/>
                </a:solidFill>
                <a:effectLst/>
                <a:uFillTx/>
                <a:latin typeface="Liter"/>
                <a:ea typeface="Liter"/>
              </a:rPr>
              <a:t></a:t>
            </a:r>
            <a:endParaRPr lang="en-US" sz="1400" b="0" u="none" strike="noStrike">
              <a:solidFill>
                <a:srgbClr val="000000"/>
              </a:solidFill>
              <a:effectLst/>
              <a:uFillTx/>
              <a:latin typeface="Calibri"/>
            </a:endParaRPr>
          </a:p>
        </p:txBody>
      </p:sp>
      <p:sp>
        <p:nvSpPr>
          <p:cNvPr id="339" name="Text 5"/>
          <p:cNvSpPr/>
          <p:nvPr/>
        </p:nvSpPr>
        <p:spPr>
          <a:xfrm>
            <a:off x="1015920" y="5651640"/>
            <a:ext cx="2921040" cy="107928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FFFFFF"/>
                </a:solidFill>
                <a:effectLst/>
                <a:uFillTx/>
                <a:latin typeface="Quattrocento Sans"/>
              </a:rPr>
              <a:t>批准</a:t>
            </a:r>
            <a:r>
              <a:rPr lang="en-US" sz="1300" b="0" u="none" strike="noStrike">
                <a:solidFill>
                  <a:srgbClr val="FFFFFF"/>
                </a:solidFill>
                <a:effectLst/>
                <a:uFillTx/>
                <a:latin typeface="Quattrocento Sans"/>
              </a:rPr>
              <a:t>250</a:t>
            </a:r>
            <a:r>
              <a:rPr lang="en-US" sz="1300" b="0" u="none" strike="noStrike">
                <a:solidFill>
                  <a:srgbClr val="FFFFFF"/>
                </a:solidFill>
                <a:effectLst/>
                <a:uFillTx/>
                <a:latin typeface="Quattrocento Sans"/>
              </a:rPr>
              <a:t>亿美金五年</a:t>
            </a:r>
            <a:r>
              <a:rPr lang="en-US" sz="1300" b="0" u="none" strike="noStrike">
                <a:solidFill>
                  <a:srgbClr val="FFFFFF"/>
                </a:solidFill>
                <a:effectLst/>
                <a:uFillTx/>
                <a:latin typeface="Quattrocento Sans"/>
              </a:rPr>
              <a:t>CAPEX</a:t>
            </a:r>
            <a:r>
              <a:rPr lang="en-US" sz="1300" b="0" u="none" strike="noStrike">
                <a:solidFill>
                  <a:srgbClr val="FFFFFF"/>
                </a:solidFill>
                <a:effectLst/>
                <a:uFillTx/>
                <a:latin typeface="Quattrocento Sans"/>
              </a:rPr>
              <a:t>计划，授权管理层在</a:t>
            </a:r>
            <a:r>
              <a:rPr lang="en-US" sz="1300" b="0" u="none" strike="noStrike">
                <a:solidFill>
                  <a:srgbClr val="FFFFFF"/>
                </a:solidFill>
                <a:effectLst/>
                <a:uFillTx/>
                <a:latin typeface="Quattrocento Sans"/>
              </a:rPr>
              <a:t>2026</a:t>
            </a:r>
            <a:r>
              <a:rPr lang="en-US" sz="1300" b="0" u="none" strike="noStrike">
                <a:solidFill>
                  <a:srgbClr val="FFFFFF"/>
                </a:solidFill>
                <a:effectLst/>
                <a:uFillTx/>
                <a:latin typeface="Quattrocento Sans"/>
              </a:rPr>
              <a:t>年</a:t>
            </a:r>
            <a:r>
              <a:rPr lang="en-US" sz="1300" b="0" u="none" strike="noStrike">
                <a:solidFill>
                  <a:srgbClr val="FFFFFF"/>
                </a:solidFill>
                <a:effectLst/>
                <a:uFillTx/>
                <a:latin typeface="Quattrocento Sans"/>
              </a:rPr>
              <a:t>Q3</a:t>
            </a:r>
            <a:r>
              <a:rPr lang="en-US" sz="1300" b="0" u="none" strike="noStrike">
                <a:solidFill>
                  <a:srgbClr val="FFFFFF"/>
                </a:solidFill>
                <a:effectLst/>
                <a:uFillTx/>
                <a:latin typeface="Quattrocento Sans"/>
              </a:rPr>
              <a:t>前完成首批</a:t>
            </a:r>
            <a:r>
              <a:rPr lang="en-US" sz="1300" b="0" u="none" strike="noStrike">
                <a:solidFill>
                  <a:srgbClr val="FFFFFF"/>
                </a:solidFill>
                <a:effectLst/>
                <a:uFillTx/>
                <a:latin typeface="Quattrocento Sans"/>
              </a:rPr>
              <a:t>80</a:t>
            </a:r>
            <a:r>
              <a:rPr lang="en-US" sz="1300" b="0" u="none" strike="noStrike">
                <a:solidFill>
                  <a:srgbClr val="FFFFFF"/>
                </a:solidFill>
                <a:effectLst/>
                <a:uFillTx/>
                <a:latin typeface="Quattrocento Sans"/>
              </a:rPr>
              <a:t>亿美金项目</a:t>
            </a:r>
            <a:r>
              <a:rPr lang="en-US" sz="1300" b="0" u="none" strike="noStrike">
                <a:solidFill>
                  <a:srgbClr val="FFFFFF"/>
                </a:solidFill>
                <a:effectLst/>
                <a:uFillTx/>
                <a:latin typeface="Quattrocento Sans"/>
              </a:rPr>
              <a:t>FID</a:t>
            </a:r>
            <a:endParaRPr lang="en-US" sz="1300" b="0" u="none" strike="noStrike">
              <a:solidFill>
                <a:srgbClr val="000000"/>
              </a:solidFill>
              <a:effectLst/>
              <a:uFillTx/>
              <a:latin typeface="Calibri"/>
            </a:endParaRPr>
          </a:p>
        </p:txBody>
      </p:sp>
      <p:sp>
        <p:nvSpPr>
          <p:cNvPr id="340" name="Shape 6"/>
          <p:cNvSpPr/>
          <p:nvPr/>
        </p:nvSpPr>
        <p:spPr>
          <a:xfrm>
            <a:off x="4444920" y="5079960"/>
            <a:ext cx="3429000" cy="1778040"/>
          </a:xfrm>
          <a:prstGeom prst="rect">
            <a:avLst/>
          </a:prstGeom>
          <a:solidFill>
            <a:srgbClr val="FFFFFF">
              <a:alpha val="6000"/>
            </a:srgbClr>
          </a:solidFill>
          <a:ln w="12600">
            <a:solidFill>
              <a:srgbClr val="C8A265"/>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41" name="Text 7"/>
          <p:cNvSpPr/>
          <p:nvPr/>
        </p:nvSpPr>
        <p:spPr>
          <a:xfrm>
            <a:off x="4699080" y="5207040"/>
            <a:ext cx="2921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C8A265"/>
                </a:solidFill>
                <a:effectLst/>
                <a:uFillTx/>
                <a:latin typeface="Liter"/>
                <a:ea typeface="Liter"/>
              </a:rPr>
              <a:t></a:t>
            </a:r>
            <a:endParaRPr lang="en-US" sz="1400" b="0" u="none" strike="noStrike">
              <a:solidFill>
                <a:srgbClr val="000000"/>
              </a:solidFill>
              <a:effectLst/>
              <a:uFillTx/>
              <a:latin typeface="Calibri"/>
            </a:endParaRPr>
          </a:p>
        </p:txBody>
      </p:sp>
      <p:sp>
        <p:nvSpPr>
          <p:cNvPr id="342" name="Text 8"/>
          <p:cNvSpPr/>
          <p:nvPr/>
        </p:nvSpPr>
        <p:spPr>
          <a:xfrm>
            <a:off x="4699080" y="5651640"/>
            <a:ext cx="2921040" cy="107928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FFFFFF"/>
                </a:solidFill>
                <a:effectLst/>
                <a:uFillTx/>
                <a:latin typeface="Quattrocento Sans"/>
              </a:rPr>
              <a:t>批准组织架构重塑方案，设立首席零碳官（</a:t>
            </a:r>
            <a:r>
              <a:rPr lang="en-US" sz="1300" b="0" u="none" strike="noStrike">
                <a:solidFill>
                  <a:srgbClr val="FFFFFF"/>
                </a:solidFill>
                <a:effectLst/>
                <a:uFillTx/>
                <a:latin typeface="Quattrocento Sans"/>
              </a:rPr>
              <a:t>CZO</a:t>
            </a:r>
            <a:r>
              <a:rPr lang="en-US" sz="1300" b="0" u="none" strike="noStrike">
                <a:solidFill>
                  <a:srgbClr val="FFFFFF"/>
                </a:solidFill>
                <a:effectLst/>
                <a:uFillTx/>
                <a:latin typeface="Quattrocento Sans"/>
              </a:rPr>
              <a:t>）与泰坦动力研究院</a:t>
            </a:r>
            <a:endParaRPr lang="en-US" sz="1300" b="0" u="none" strike="noStrike">
              <a:solidFill>
                <a:srgbClr val="000000"/>
              </a:solidFill>
              <a:effectLst/>
              <a:uFillTx/>
              <a:latin typeface="Calibri"/>
            </a:endParaRPr>
          </a:p>
        </p:txBody>
      </p:sp>
      <p:sp>
        <p:nvSpPr>
          <p:cNvPr id="343" name="Shape 9"/>
          <p:cNvSpPr/>
          <p:nvPr/>
        </p:nvSpPr>
        <p:spPr>
          <a:xfrm>
            <a:off x="8128080" y="5079960"/>
            <a:ext cx="3429000" cy="1778040"/>
          </a:xfrm>
          <a:prstGeom prst="rect">
            <a:avLst/>
          </a:prstGeom>
          <a:solidFill>
            <a:srgbClr val="FFFFFF">
              <a:alpha val="6000"/>
            </a:srgbClr>
          </a:solidFill>
          <a:ln w="12600">
            <a:solidFill>
              <a:srgbClr val="C8A265"/>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44" name="Text 10"/>
          <p:cNvSpPr/>
          <p:nvPr/>
        </p:nvSpPr>
        <p:spPr>
          <a:xfrm>
            <a:off x="8381880" y="5207040"/>
            <a:ext cx="29210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C8A265"/>
                </a:solidFill>
                <a:effectLst/>
                <a:uFillTx/>
                <a:latin typeface="Liter"/>
                <a:ea typeface="Liter"/>
              </a:rPr>
              <a:t></a:t>
            </a:r>
            <a:endParaRPr lang="en-US" sz="1400" b="0" u="none" strike="noStrike">
              <a:solidFill>
                <a:srgbClr val="000000"/>
              </a:solidFill>
              <a:effectLst/>
              <a:uFillTx/>
              <a:latin typeface="Calibri"/>
            </a:endParaRPr>
          </a:p>
        </p:txBody>
      </p:sp>
      <p:sp>
        <p:nvSpPr>
          <p:cNvPr id="345" name="Text 11"/>
          <p:cNvSpPr/>
          <p:nvPr/>
        </p:nvSpPr>
        <p:spPr>
          <a:xfrm>
            <a:off x="8381880" y="5651640"/>
            <a:ext cx="2921040" cy="107928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FFFFFF"/>
                </a:solidFill>
                <a:effectLst/>
                <a:uFillTx/>
                <a:latin typeface="Quattrocento Sans"/>
              </a:rPr>
              <a:t>批准</a:t>
            </a:r>
            <a:r>
              <a:rPr lang="en-US" sz="1300" b="0" u="none" strike="noStrike">
                <a:solidFill>
                  <a:srgbClr val="FFFFFF"/>
                </a:solidFill>
                <a:effectLst/>
                <a:uFillTx/>
                <a:latin typeface="Quattrocento Sans"/>
              </a:rPr>
              <a:t>2030</a:t>
            </a:r>
            <a:r>
              <a:rPr lang="en-US" sz="1300" b="0" u="none" strike="noStrike">
                <a:solidFill>
                  <a:srgbClr val="FFFFFF"/>
                </a:solidFill>
                <a:effectLst/>
                <a:uFillTx/>
                <a:latin typeface="Quattrocento Sans"/>
              </a:rPr>
              <a:t>年减排</a:t>
            </a:r>
            <a:r>
              <a:rPr lang="en-US" sz="1300" b="0" u="none" strike="noStrike">
                <a:solidFill>
                  <a:srgbClr val="FFFFFF"/>
                </a:solidFill>
                <a:effectLst/>
                <a:uFillTx/>
                <a:latin typeface="Quattrocento Sans"/>
              </a:rPr>
              <a:t>45%</a:t>
            </a:r>
            <a:r>
              <a:rPr lang="en-US" sz="1300" b="0" u="none" strike="noStrike">
                <a:solidFill>
                  <a:srgbClr val="FFFFFF"/>
                </a:solidFill>
                <a:effectLst/>
                <a:uFillTx/>
                <a:latin typeface="Quattrocento Sans"/>
              </a:rPr>
              <a:t>目标为具有约束力的公司级</a:t>
            </a:r>
            <a:r>
              <a:rPr lang="en-US" sz="1300" b="0" u="none" strike="noStrike">
                <a:solidFill>
                  <a:srgbClr val="FFFFFF"/>
                </a:solidFill>
                <a:effectLst/>
                <a:uFillTx/>
                <a:latin typeface="Quattrocento Sans"/>
              </a:rPr>
              <a:t>KPI</a:t>
            </a:r>
            <a:r>
              <a:rPr lang="en-US" sz="1300" b="0" u="none" strike="noStrike">
                <a:solidFill>
                  <a:srgbClr val="FFFFFF"/>
                </a:solidFill>
                <a:effectLst/>
                <a:uFillTx/>
                <a:latin typeface="Quattrocento Sans"/>
              </a:rPr>
              <a:t>，与高管薪酬全面挂钩</a:t>
            </a:r>
            <a:endParaRPr lang="en-US" sz="1300" b="0" u="none" strike="noStrike">
              <a:solidFill>
                <a:srgbClr val="000000"/>
              </a:solidFill>
              <a:effectLst/>
              <a:uFillTx/>
              <a:latin typeface="Calibri"/>
            </a:endParaRPr>
          </a:p>
        </p:txBody>
      </p:sp>
      <p:sp>
        <p:nvSpPr>
          <p:cNvPr id="346" name="Shape 12"/>
          <p:cNvSpPr/>
          <p:nvPr/>
        </p:nvSpPr>
        <p:spPr>
          <a:xfrm>
            <a:off x="11810880" y="5079960"/>
            <a:ext cx="3683160" cy="1778040"/>
          </a:xfrm>
          <a:prstGeom prst="rect">
            <a:avLst/>
          </a:prstGeom>
          <a:solidFill>
            <a:srgbClr val="FFFFFF">
              <a:alpha val="6000"/>
            </a:srgbClr>
          </a:solidFill>
          <a:ln w="12600">
            <a:solidFill>
              <a:srgbClr val="C8A265"/>
            </a:solidFill>
            <a:miter/>
          </a:ln>
        </p:spPr>
        <p:style>
          <a:lnRef idx="0"/>
          <a:fillRef idx="0"/>
          <a:effectRef idx="0"/>
          <a:fontRef idx="minor"/>
        </p:style>
        <p:txBody>
          <a:bodyPr lIns="90000" tIns="46800" rIns="90000" bIns="46800" anchor="t">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47" name="Text 13"/>
          <p:cNvSpPr/>
          <p:nvPr/>
        </p:nvSpPr>
        <p:spPr>
          <a:xfrm>
            <a:off x="12065040" y="5207040"/>
            <a:ext cx="3174840" cy="380880"/>
          </a:xfrm>
          <a:prstGeom prst="rect">
            <a:avLst/>
          </a:prstGeom>
          <a:noFill/>
          <a:ln w="0">
            <a:noFill/>
          </a:ln>
        </p:spPr>
        <p:style>
          <a:lnRef idx="0"/>
          <a:fillRef idx="0"/>
          <a:effectRef idx="0"/>
          <a:fontRef idx="minor"/>
        </p:style>
        <p:txBody>
          <a:bodyPr wrap="none" lIns="0" tIns="0" rIns="0" bIns="0" anchor="ctr">
            <a:no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C8A265"/>
                </a:solidFill>
                <a:effectLst/>
                <a:uFillTx/>
                <a:latin typeface="Liter"/>
                <a:ea typeface="Liter"/>
              </a:rPr>
              <a:t></a:t>
            </a:r>
            <a:endParaRPr lang="en-US" sz="1400" b="0" u="none" strike="noStrike">
              <a:solidFill>
                <a:srgbClr val="000000"/>
              </a:solidFill>
              <a:effectLst/>
              <a:uFillTx/>
              <a:latin typeface="Calibri"/>
            </a:endParaRPr>
          </a:p>
        </p:txBody>
      </p:sp>
      <p:sp>
        <p:nvSpPr>
          <p:cNvPr id="348" name="Text 14"/>
          <p:cNvSpPr/>
          <p:nvPr/>
        </p:nvSpPr>
        <p:spPr>
          <a:xfrm>
            <a:off x="12065040" y="5651640"/>
            <a:ext cx="3174840" cy="1079280"/>
          </a:xfrm>
          <a:prstGeom prst="rect">
            <a:avLst/>
          </a:prstGeom>
          <a:noFill/>
          <a:ln w="0">
            <a:noFill/>
          </a:ln>
        </p:spPr>
        <p:style>
          <a:lnRef idx="0"/>
          <a:fillRef idx="0"/>
          <a:effectRef idx="0"/>
          <a:fontRef idx="minor"/>
        </p:style>
        <p:txBody>
          <a:bodyPr lIns="0" tIns="0" rIns="0" bIns="0" anchor="t">
            <a:noAutofit/>
          </a:bodyPr>
          <a:p>
            <a:pPr>
              <a:lnSpc>
                <a:spcPct val="15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300" b="0" u="none" strike="noStrike">
                <a:solidFill>
                  <a:srgbClr val="FFFFFF"/>
                </a:solidFill>
                <a:effectLst/>
                <a:uFillTx/>
                <a:latin typeface="Quattrocento Sans"/>
              </a:rPr>
              <a:t>授权风险管理委员会建立</a:t>
            </a:r>
            <a:r>
              <a:rPr lang="en-US" sz="1300" b="0" u="none" strike="noStrike">
                <a:solidFill>
                  <a:srgbClr val="FFFFFF"/>
                </a:solidFill>
                <a:effectLst/>
                <a:uFillTx/>
                <a:latin typeface="Quattrocento Sans"/>
              </a:rPr>
              <a:t>2.5</a:t>
            </a:r>
            <a:r>
              <a:rPr lang="en-US" sz="1300" b="0" u="none" strike="noStrike">
                <a:solidFill>
                  <a:srgbClr val="FFFFFF"/>
                </a:solidFill>
                <a:effectLst/>
                <a:uFillTx/>
                <a:latin typeface="Quattrocento Sans"/>
              </a:rPr>
              <a:t>亿美金专项风险对冲基金</a:t>
            </a:r>
            <a:endParaRPr lang="en-US" sz="1300" b="0" u="none" strike="noStrike">
              <a:solidFill>
                <a:srgbClr val="000000"/>
              </a:solidFill>
              <a:effectLst/>
              <a:uFillTx/>
              <a:latin typeface="Calibri"/>
            </a:endParaRPr>
          </a:p>
        </p:txBody>
      </p:sp>
      <p:sp>
        <p:nvSpPr>
          <p:cNvPr id="349" name="Text 15"/>
          <p:cNvSpPr/>
          <p:nvPr/>
        </p:nvSpPr>
        <p:spPr>
          <a:xfrm>
            <a:off x="762120" y="7238880"/>
            <a:ext cx="2921040" cy="101628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8A265"/>
                </a:solidFill>
                <a:effectLst/>
                <a:uFillTx/>
                <a:latin typeface="Liter"/>
                <a:ea typeface="Liter"/>
              </a:rPr>
              <a:t></a:t>
            </a:r>
            <a:endParaRPr lang="en-US" sz="3600" b="0" u="none" strike="noStrike">
              <a:solidFill>
                <a:srgbClr val="000000"/>
              </a:solidFill>
              <a:effectLst/>
              <a:uFillTx/>
              <a:latin typeface="Calibri"/>
            </a:endParaRPr>
          </a:p>
        </p:txBody>
      </p:sp>
      <p:sp>
        <p:nvSpPr>
          <p:cNvPr id="350" name="Text 16"/>
          <p:cNvSpPr/>
          <p:nvPr/>
        </p:nvSpPr>
        <p:spPr>
          <a:xfrm>
            <a:off x="762120" y="8255160"/>
            <a:ext cx="2921040" cy="30456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1D5DB"/>
                </a:solidFill>
                <a:effectLst/>
                <a:uFillTx/>
                <a:latin typeface="Quattrocento Sans"/>
              </a:rPr>
              <a:t>2030</a:t>
            </a:r>
            <a:r>
              <a:rPr lang="en-US" sz="1200" b="0" u="none" strike="noStrike">
                <a:solidFill>
                  <a:srgbClr val="D1D5DB"/>
                </a:solidFill>
                <a:effectLst/>
                <a:uFillTx/>
                <a:latin typeface="Quattrocento Sans"/>
              </a:rPr>
              <a:t>可再生装机目标</a:t>
            </a:r>
            <a:endParaRPr lang="en-US" sz="1200" b="0" u="none" strike="noStrike">
              <a:solidFill>
                <a:srgbClr val="000000"/>
              </a:solidFill>
              <a:effectLst/>
              <a:uFillTx/>
              <a:latin typeface="Calibri"/>
            </a:endParaRPr>
          </a:p>
        </p:txBody>
      </p:sp>
      <p:sp>
        <p:nvSpPr>
          <p:cNvPr id="351" name="Text 17"/>
          <p:cNvSpPr/>
          <p:nvPr/>
        </p:nvSpPr>
        <p:spPr>
          <a:xfrm>
            <a:off x="3936960" y="7238880"/>
            <a:ext cx="2921040" cy="101628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8A265"/>
                </a:solidFill>
                <a:effectLst/>
                <a:uFillTx/>
                <a:latin typeface="Liter"/>
                <a:ea typeface="Liter"/>
              </a:rPr>
              <a:t>万吨</a:t>
            </a:r>
            <a:endParaRPr lang="en-US" sz="3600" b="0" u="none" strike="noStrike">
              <a:solidFill>
                <a:srgbClr val="000000"/>
              </a:solidFill>
              <a:effectLst/>
              <a:uFillTx/>
              <a:latin typeface="Calibri"/>
            </a:endParaRPr>
          </a:p>
        </p:txBody>
      </p:sp>
      <p:sp>
        <p:nvSpPr>
          <p:cNvPr id="352" name="Text 18"/>
          <p:cNvSpPr/>
          <p:nvPr/>
        </p:nvSpPr>
        <p:spPr>
          <a:xfrm>
            <a:off x="3936960" y="8255160"/>
            <a:ext cx="2921040" cy="30456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1D5DB"/>
                </a:solidFill>
                <a:effectLst/>
                <a:uFillTx/>
                <a:latin typeface="Quattrocento Sans"/>
              </a:rPr>
              <a:t>2030</a:t>
            </a:r>
            <a:r>
              <a:rPr lang="en-US" sz="1200" b="0" u="none" strike="noStrike">
                <a:solidFill>
                  <a:srgbClr val="D1D5DB"/>
                </a:solidFill>
                <a:effectLst/>
                <a:uFillTx/>
                <a:latin typeface="Quattrocento Sans"/>
              </a:rPr>
              <a:t>绿氢年产量</a:t>
            </a:r>
            <a:endParaRPr lang="en-US" sz="1200" b="0" u="none" strike="noStrike">
              <a:solidFill>
                <a:srgbClr val="000000"/>
              </a:solidFill>
              <a:effectLst/>
              <a:uFillTx/>
              <a:latin typeface="Calibri"/>
            </a:endParaRPr>
          </a:p>
        </p:txBody>
      </p:sp>
      <p:sp>
        <p:nvSpPr>
          <p:cNvPr id="353" name="Text 19"/>
          <p:cNvSpPr/>
          <p:nvPr/>
        </p:nvSpPr>
        <p:spPr>
          <a:xfrm>
            <a:off x="7112160" y="7238880"/>
            <a:ext cx="2920680" cy="101628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8A265"/>
                </a:solidFill>
                <a:effectLst/>
                <a:uFillTx/>
                <a:latin typeface="Liter"/>
                <a:ea typeface="Liter"/>
              </a:rPr>
              <a:t></a:t>
            </a:r>
            <a:endParaRPr lang="en-US" sz="3600" b="0" u="none" strike="noStrike">
              <a:solidFill>
                <a:srgbClr val="000000"/>
              </a:solidFill>
              <a:effectLst/>
              <a:uFillTx/>
              <a:latin typeface="Calibri"/>
            </a:endParaRPr>
          </a:p>
        </p:txBody>
      </p:sp>
      <p:sp>
        <p:nvSpPr>
          <p:cNvPr id="354" name="Text 20"/>
          <p:cNvSpPr/>
          <p:nvPr/>
        </p:nvSpPr>
        <p:spPr>
          <a:xfrm>
            <a:off x="7112160" y="8255160"/>
            <a:ext cx="2920680" cy="30456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1D5DB"/>
                </a:solidFill>
                <a:effectLst/>
                <a:uFillTx/>
                <a:latin typeface="Quattrocento Sans"/>
              </a:rPr>
              <a:t>TSR</a:t>
            </a:r>
            <a:r>
              <a:rPr lang="en-US" sz="1200" b="0" u="none" strike="noStrike">
                <a:solidFill>
                  <a:srgbClr val="D1D5DB"/>
                </a:solidFill>
                <a:effectLst/>
                <a:uFillTx/>
                <a:latin typeface="Quattrocento Sans"/>
              </a:rPr>
              <a:t>年均目标</a:t>
            </a:r>
            <a:endParaRPr lang="en-US" sz="1200" b="0" u="none" strike="noStrike">
              <a:solidFill>
                <a:srgbClr val="000000"/>
              </a:solidFill>
              <a:effectLst/>
              <a:uFillTx/>
              <a:latin typeface="Calibri"/>
            </a:endParaRPr>
          </a:p>
        </p:txBody>
      </p:sp>
      <p:sp>
        <p:nvSpPr>
          <p:cNvPr id="355" name="Text 21"/>
          <p:cNvSpPr/>
          <p:nvPr/>
        </p:nvSpPr>
        <p:spPr>
          <a:xfrm>
            <a:off x="10287000" y="7238880"/>
            <a:ext cx="2921040" cy="101628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8A265"/>
                </a:solidFill>
                <a:effectLst/>
                <a:uFillTx/>
                <a:latin typeface="Liter"/>
                <a:ea typeface="Liter"/>
              </a:rPr>
              <a:t></a:t>
            </a:r>
            <a:endParaRPr lang="en-US" sz="3600" b="0" u="none" strike="noStrike">
              <a:solidFill>
                <a:srgbClr val="000000"/>
              </a:solidFill>
              <a:effectLst/>
              <a:uFillTx/>
              <a:latin typeface="Calibri"/>
            </a:endParaRPr>
          </a:p>
        </p:txBody>
      </p:sp>
      <p:sp>
        <p:nvSpPr>
          <p:cNvPr id="356" name="Text 22"/>
          <p:cNvSpPr/>
          <p:nvPr/>
        </p:nvSpPr>
        <p:spPr>
          <a:xfrm>
            <a:off x="10287000" y="8255160"/>
            <a:ext cx="2921040" cy="30456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1D5DB"/>
                </a:solidFill>
                <a:effectLst/>
                <a:uFillTx/>
                <a:latin typeface="Quattrocento Sans"/>
              </a:rPr>
              <a:t>全球零碳能源排名</a:t>
            </a:r>
            <a:endParaRPr lang="en-US" sz="1200" b="0" u="none" strike="noStrike">
              <a:solidFill>
                <a:srgbClr val="000000"/>
              </a:solidFill>
              <a:effectLst/>
              <a:uFillTx/>
              <a:latin typeface="Calibri"/>
            </a:endParaRPr>
          </a:p>
        </p:txBody>
      </p:sp>
      <p:sp>
        <p:nvSpPr>
          <p:cNvPr id="357" name="Text 23"/>
          <p:cNvSpPr/>
          <p:nvPr/>
        </p:nvSpPr>
        <p:spPr>
          <a:xfrm>
            <a:off x="13461840" y="7238880"/>
            <a:ext cx="2540160" cy="101628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0" u="none" strike="noStrike">
                <a:solidFill>
                  <a:srgbClr val="C8A265"/>
                </a:solidFill>
                <a:effectLst/>
                <a:uFillTx/>
                <a:latin typeface="Liter"/>
                <a:ea typeface="Liter"/>
              </a:rPr>
              <a:t></a:t>
            </a:r>
            <a:endParaRPr lang="en-US" sz="3600" b="0" u="none" strike="noStrike">
              <a:solidFill>
                <a:srgbClr val="000000"/>
              </a:solidFill>
              <a:effectLst/>
              <a:uFillTx/>
              <a:latin typeface="Calibri"/>
            </a:endParaRPr>
          </a:p>
        </p:txBody>
      </p:sp>
      <p:sp>
        <p:nvSpPr>
          <p:cNvPr id="358" name="Text 24"/>
          <p:cNvSpPr/>
          <p:nvPr/>
        </p:nvSpPr>
        <p:spPr>
          <a:xfrm>
            <a:off x="13461840" y="8255160"/>
            <a:ext cx="2540160" cy="304560"/>
          </a:xfrm>
          <a:prstGeom prst="rect">
            <a:avLst/>
          </a:prstGeom>
          <a:noFill/>
          <a:ln w="0">
            <a:noFill/>
          </a:ln>
        </p:spPr>
        <p:style>
          <a:lnRef idx="0"/>
          <a:fillRef idx="0"/>
          <a:effectRef idx="0"/>
          <a:fontRef idx="minor"/>
        </p:style>
        <p:txBody>
          <a:bodyPr wrap="none" lIns="0" tIns="0" rIns="0" bIns="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D1D5DB"/>
                </a:solidFill>
                <a:effectLst/>
                <a:uFillTx/>
                <a:latin typeface="Quattrocento Sans"/>
              </a:rPr>
              <a:t>2030</a:t>
            </a:r>
            <a:r>
              <a:rPr lang="en-US" sz="1200" b="0" u="none" strike="noStrike">
                <a:solidFill>
                  <a:srgbClr val="D1D5DB"/>
                </a:solidFill>
                <a:effectLst/>
                <a:uFillTx/>
                <a:latin typeface="Quattrocento Sans"/>
              </a:rPr>
              <a:t>减排目标</a:t>
            </a:r>
            <a:endParaRPr lang="en-US" sz="1200" b="0" u="none" strike="noStrike">
              <a:solidFill>
                <a:srgbClr val="000000"/>
              </a:solidFill>
              <a:effectLst/>
              <a:uFillTx/>
              <a:latin typeface="Calibri"/>
            </a:endParaRPr>
          </a:p>
        </p:txBody>
      </p:sp>
      <p:sp>
        <p:nvSpPr>
          <p:cNvPr id="359" name="Text 25"/>
          <p:cNvSpPr/>
          <p:nvPr/>
        </p:nvSpPr>
        <p:spPr>
          <a:xfrm>
            <a:off x="762120" y="8699400"/>
            <a:ext cx="14731920" cy="304920"/>
          </a:xfrm>
          <a:prstGeom prst="rect">
            <a:avLst/>
          </a:prstGeom>
          <a:noFill/>
          <a:ln w="0">
            <a:noFill/>
          </a:ln>
        </p:spPr>
        <p:style>
          <a:lnRef idx="0"/>
          <a:fillRef idx="0"/>
          <a:effectRef idx="0"/>
          <a:fontRef idx="minor"/>
        </p:style>
        <p:txBody>
          <a:bodyPr wrap="none" lIns="0" tIns="0" rIns="0" bIns="0" anchor="ctr">
            <a:noAutofit/>
          </a:bodyPr>
          <a:p>
            <a:pPr algn="ctr">
              <a:lnSpc>
                <a:spcPct val="14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0" u="none" strike="noStrike">
                <a:solidFill>
                  <a:srgbClr val="8B9AAB"/>
                </a:solidFill>
                <a:effectLst/>
                <a:uFillTx/>
                <a:latin typeface="QuattrocentoSans"/>
                <a:ea typeface="QuattrocentoSans"/>
              </a:rPr>
              <a:t>数据来源：</a:t>
            </a:r>
            <a:r>
              <a:rPr lang="en-US" sz="1000" b="0" u="none" strike="noStrike">
                <a:solidFill>
                  <a:srgbClr val="8B9AAB"/>
                </a:solidFill>
                <a:effectLst/>
                <a:uFillTx/>
                <a:latin typeface="QuattrocentoSans"/>
                <a:ea typeface="QuattrocentoSans"/>
              </a:rPr>
              <a:t>Titan Board Strategy Committee, Chairman's Office, Titan 2030 Vision Statement · Slide 30</a:t>
            </a:r>
            <a:endParaRPr lang="en-US" sz="1000" b="0" u="none" strike="noStrike">
              <a:solidFill>
                <a:srgbClr val="000000"/>
              </a:solidFill>
              <a:effectLst/>
              <a:uFillTx/>
              <a:latin typeface="Calibri"/>
            </a:endParaRPr>
          </a:p>
        </p:txBody>
      </p:sp>
    </p:spTree>
  </p:cSld>
  <p:transition>
    <p:fade/>
  </p:transition>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LibreOffice/26.2.3.2$Windows_X86_64 LibreOffice_project/70e089b17412e4cb7773e41413306b17a2328c34</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2026-04-29T18:52:53Z</dcterms:created>
  <dc:creator>Kimi</dc:creator>
  <dc:description/>
  <dc:language>zh-CN</dc:language>
  <cp:lastModifiedBy>Provence Jake</cp:lastModifiedBy>
  <dcterms:modified xsi:type="dcterms:W3CDTF">2026-05-10T14:54:17Z</dcterms:modified>
  <cp:revision>3</cp:revision>
  <dc:subject>泰坦动力 ESG 与能源转型战略董事会决策汇报</dc:subject>
  <dc:title>泰坦动力 ESG 与能源转型战略董事会决策汇报</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{"Label":"泰坦动力 ESG 与能源转型战略董事会决策汇报","ContentProducer":"001191110108MACG2KBH8F10000","ProduceID":"19dd8c21-b122-81a7-8000-0000352e3e29","ReservedCode1":"","ContentPropagator":"001191110108MACG2KBH8F20000","PropagateID":"19dd8c21-b122-81a7-8000-0000352e3e29","ReservedCode2":""}</vt:lpwstr>
  </property>
</Properties>
</file>