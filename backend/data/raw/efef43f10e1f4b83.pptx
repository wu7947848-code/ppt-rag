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3097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8C5E3C"/>
          </a:solidFill>
          <a:ln w="12700">
            <a:solidFill>
              <a:srgbClr val="8C5E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84048" y="0"/>
            <a:ext cx="82296" cy="6858000"/>
          </a:xfrm>
          <a:prstGeom prst="rect">
            <a:avLst/>
          </a:prstGeom>
          <a:solidFill>
            <a:srgbClr val="28666E"/>
          </a:solidFill>
          <a:ln w="12700">
            <a:solidFill>
              <a:srgbClr val="286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685800"/>
            <a:ext cx="5120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8C5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教育学 / 社会分层研究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13232" y="1234440"/>
            <a:ext cx="78638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教育公平与社会流动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749808" y="2139696"/>
            <a:ext cx="7406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dirty="0">
                <a:solidFill>
                  <a:srgbClr val="756C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资源配置、家庭资本与机会结构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68096" y="2834640"/>
            <a:ext cx="1920240" cy="0"/>
          </a:xfrm>
          <a:prstGeom prst="line">
            <a:avLst/>
          </a:prstGeom>
          <a:noFill/>
          <a:ln w="31750">
            <a:solidFill>
              <a:srgbClr val="286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63550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教育扩张提高了整体受教育水平，但家庭资本、地区资源和制度通道仍深刻影响流动机会。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0" y="1051560"/>
            <a:ext cx="144475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8C5E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863840" y="1143000"/>
            <a:ext cx="12618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教育机会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646920" y="1051560"/>
            <a:ext cx="1444752" cy="384048"/>
          </a:xfrm>
          <a:prstGeom prst="roundRect">
            <a:avLst>
              <a:gd name="adj" fmla="val 14286"/>
            </a:avLst>
          </a:prstGeom>
          <a:solidFill>
            <a:srgbClr val="EFE4D7"/>
          </a:solidFill>
          <a:ln w="10160">
            <a:solidFill>
              <a:srgbClr val="8C5E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738360" y="1143000"/>
            <a:ext cx="12618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文化资本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72400" y="1764792"/>
            <a:ext cx="144475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8C5E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863840" y="1856232"/>
            <a:ext cx="12618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城乡差异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646920" y="1764792"/>
            <a:ext cx="1444752" cy="384048"/>
          </a:xfrm>
          <a:prstGeom prst="roundRect">
            <a:avLst>
              <a:gd name="adj" fmla="val 14286"/>
            </a:avLst>
          </a:prstGeom>
          <a:solidFill>
            <a:srgbClr val="EFE4D7"/>
          </a:solidFill>
          <a:ln w="10160">
            <a:solidFill>
              <a:srgbClr val="8C5E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738360" y="1856232"/>
            <a:ext cx="12618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社会流动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26680" y="320040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973568" y="3456432"/>
            <a:ext cx="1188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286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73568" y="3767328"/>
            <a:ext cx="28346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教育如何既可能促进流动，又可能复制不平等？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FE4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756C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教育学 / 社会分层研究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756C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8C5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教育公平与社会流动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问题意识：从现象到解释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286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52120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教育扩张提高了整体受教育水平，但家庭资本、地区资源和制度通道仍深刻影响流动机会。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78408" y="2962656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C5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社会现象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3273552"/>
            <a:ext cx="1783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可见的行为、制度或叙事变化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81528" y="3118104"/>
            <a:ext cx="320040" cy="292608"/>
          </a:xfrm>
          <a:prstGeom prst="chevron">
            <a:avLst/>
          </a:prstGeom>
          <a:solidFill>
            <a:srgbClr val="28666E"/>
          </a:solidFill>
          <a:ln w="12700">
            <a:solidFill>
              <a:srgbClr val="286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611880" y="27889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EFE4D7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767328" y="2962656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C5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关键概念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67328" y="3273552"/>
            <a:ext cx="1783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教育机会 / 文化资本 / 城乡差异 / 社会流动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70448" y="3118104"/>
            <a:ext cx="320040" cy="292608"/>
          </a:xfrm>
          <a:prstGeom prst="chevron">
            <a:avLst/>
          </a:prstGeom>
          <a:solidFill>
            <a:srgbClr val="28666E"/>
          </a:solidFill>
          <a:ln w="12700">
            <a:solidFill>
              <a:srgbClr val="286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400800" y="27889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556248" y="2962656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C5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解释机制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56248" y="3273552"/>
            <a:ext cx="1783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资源、规则、关系与技术共同作用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659368" y="3118104"/>
            <a:ext cx="320040" cy="292608"/>
          </a:xfrm>
          <a:prstGeom prst="chevron">
            <a:avLst/>
          </a:prstGeom>
          <a:solidFill>
            <a:srgbClr val="28666E"/>
          </a:solidFill>
          <a:ln w="12700">
            <a:solidFill>
              <a:srgbClr val="286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9189720" y="27889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345168" y="2962656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C5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公共意义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45168" y="3273552"/>
            <a:ext cx="1783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个体经验如何连接到社会结构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92240" y="1353312"/>
            <a:ext cx="4709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748272" y="1554480"/>
            <a:ext cx="960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286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研究判断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26680" y="1517904"/>
            <a:ext cx="3154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教育如何既可能促进流动，又可能复制不平等？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FE4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756C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教育学 / 社会分层研究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756C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8C5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教育公平与社会流动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分析框架：四个观察维度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286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881360" cy="425196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影响因素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表现形式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不平等路径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干预方向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经济资本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课外培训、居住地选择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把资源差异转化为成绩差异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公共资源均衡与精准资助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文化资本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阅读习惯、表达方式、升学信息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学校评价更偏好特定家庭经验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家庭支持与学校补偿机制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制度通道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升学政策、分流机制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选择节点过早锁定路径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透明规则与多元评价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地域条件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师资、课程与数字基础设施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地区差异影响长期发展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区域协作与远程优质课程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1417320"/>
            <a:ext cx="10881360" cy="475488"/>
          </a:xfrm>
          <a:prstGeom prst="rect">
            <a:avLst/>
          </a:prstGeom>
          <a:solidFill>
            <a:srgbClr val="8C5E3C">
              <a:alpha val="95000"/>
            </a:srgbClr>
          </a:solidFill>
          <a:ln w="12700">
            <a:solidFill>
              <a:srgbClr val="8C5E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749808" y="5806440"/>
            <a:ext cx="57607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756C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表格为 PowerPoint 原生表格，可直接修改单元格文字、列宽与填色。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FE4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756C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教育学 / 社会分层研究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756C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8C5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教育公平与社会流动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案例切入：把抽象概念落到场景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286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29718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60120" y="1783080"/>
            <a:ext cx="402336" cy="402336"/>
          </a:xfrm>
          <a:prstGeom prst="arc">
            <a:avLst/>
          </a:prstGeom>
          <a:solidFill>
            <a:srgbClr val="FFFFFF">
              <a:alpha val="0"/>
            </a:srgbClr>
          </a:solidFill>
          <a:ln w="26670">
            <a:solidFill>
              <a:srgbClr val="286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490472" y="1810512"/>
            <a:ext cx="822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86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33272" y="2240280"/>
            <a:ext cx="2423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县域高中发展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063240"/>
            <a:ext cx="22860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20" dirty="0">
                <a:solidFill>
                  <a:srgbClr val="756C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观察它如何呈现结构性问题，并避免只停留在单个事件描述。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507992" y="1554480"/>
            <a:ext cx="29718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690872" y="1783080"/>
            <a:ext cx="402336" cy="402336"/>
          </a:xfrm>
          <a:prstGeom prst="arc">
            <a:avLst/>
          </a:prstGeom>
          <a:solidFill>
            <a:srgbClr val="FFFFFF">
              <a:alpha val="0"/>
            </a:srgbClr>
          </a:solidFill>
          <a:ln w="26670">
            <a:solidFill>
              <a:srgbClr val="286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221224" y="1810512"/>
            <a:ext cx="822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86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64024" y="2240280"/>
            <a:ext cx="2423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随迁子女入学政策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28032" y="3063240"/>
            <a:ext cx="22860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20" dirty="0">
                <a:solidFill>
                  <a:srgbClr val="756C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观察它如何呈现结构性问题，并避免只停留在单个事件描述。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238744" y="1554480"/>
            <a:ext cx="29718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421624" y="1783080"/>
            <a:ext cx="402336" cy="402336"/>
          </a:xfrm>
          <a:prstGeom prst="arc">
            <a:avLst/>
          </a:prstGeom>
          <a:solidFill>
            <a:srgbClr val="FFFFFF">
              <a:alpha val="0"/>
            </a:srgbClr>
          </a:solidFill>
          <a:ln w="26670">
            <a:solidFill>
              <a:srgbClr val="286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951976" y="1810512"/>
            <a:ext cx="822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86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94776" y="2240280"/>
            <a:ext cx="2423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职业教育分流与再流动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58784" y="3063240"/>
            <a:ext cx="22860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20" dirty="0">
                <a:solidFill>
                  <a:srgbClr val="756C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观察它如何呈现结构性问题，并避免只停留在单个事件描述。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2212848" y="4709160"/>
            <a:ext cx="7680960" cy="0"/>
          </a:xfrm>
          <a:prstGeom prst="line">
            <a:avLst/>
          </a:prstGeom>
          <a:noFill/>
          <a:ln w="20320">
            <a:solidFill>
              <a:srgbClr val="8C5E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51560" y="4983480"/>
            <a:ext cx="1188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756C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个案描述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21808" y="4983480"/>
            <a:ext cx="1188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756C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机制解释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0" y="4983480"/>
            <a:ext cx="1188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756C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公共讨论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FE4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756C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教育学 / 社会分层研究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756C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8C5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教育公平与社会流动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研究设计：多方法互证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286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5486400" cy="28346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采集内容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问卷调查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家庭背景、学习支持与升学期待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政策分析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比较不同地区资源配置与录取规则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纵向访谈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追踪学生在关键节点的选择与压力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777240" y="1417320"/>
            <a:ext cx="5486400" cy="475488"/>
          </a:xfrm>
          <a:prstGeom prst="rect">
            <a:avLst/>
          </a:prstGeom>
          <a:solidFill>
            <a:srgbClr val="8C5E3C"/>
          </a:solidFill>
          <a:ln w="12700">
            <a:solidFill>
              <a:srgbClr val="8C5E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7315200" y="1508760"/>
            <a:ext cx="347472" cy="347472"/>
          </a:xfrm>
          <a:prstGeom prst="ellipse">
            <a:avLst/>
          </a:prstGeom>
          <a:solidFill>
            <a:srgbClr val="28666E"/>
          </a:solidFill>
          <a:ln w="12700">
            <a:solidFill>
              <a:srgbClr val="286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7818120" y="1527048"/>
            <a:ext cx="2560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提出问题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88936" y="1892808"/>
            <a:ext cx="0" cy="411480"/>
          </a:xfrm>
          <a:prstGeom prst="line">
            <a:avLst/>
          </a:prstGeom>
          <a:noFill/>
          <a:ln w="19050">
            <a:solidFill>
              <a:srgbClr val="EFE4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7315200" y="2313432"/>
            <a:ext cx="347472" cy="347472"/>
          </a:xfrm>
          <a:prstGeom prst="ellipse">
            <a:avLst/>
          </a:prstGeom>
          <a:solidFill>
            <a:srgbClr val="8C5E3C"/>
          </a:solidFill>
          <a:ln w="12700">
            <a:solidFill>
              <a:srgbClr val="8C5E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7818120" y="2331720"/>
            <a:ext cx="2560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采集材料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88936" y="2697480"/>
            <a:ext cx="0" cy="411480"/>
          </a:xfrm>
          <a:prstGeom prst="line">
            <a:avLst/>
          </a:prstGeom>
          <a:noFill/>
          <a:ln w="19050">
            <a:solidFill>
              <a:srgbClr val="EFE4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7315200" y="3118104"/>
            <a:ext cx="347472" cy="347472"/>
          </a:xfrm>
          <a:prstGeom prst="ellipse">
            <a:avLst/>
          </a:prstGeom>
          <a:solidFill>
            <a:srgbClr val="8C5E3C"/>
          </a:solidFill>
          <a:ln w="12700">
            <a:solidFill>
              <a:srgbClr val="8C5E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7818120" y="3136392"/>
            <a:ext cx="2560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编码比较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488936" y="3502152"/>
            <a:ext cx="0" cy="411480"/>
          </a:xfrm>
          <a:prstGeom prst="line">
            <a:avLst/>
          </a:prstGeom>
          <a:noFill/>
          <a:ln w="19050">
            <a:solidFill>
              <a:srgbClr val="EFE4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7315200" y="3922776"/>
            <a:ext cx="347472" cy="347472"/>
          </a:xfrm>
          <a:prstGeom prst="ellipse">
            <a:avLst/>
          </a:prstGeom>
          <a:solidFill>
            <a:srgbClr val="8C5E3C"/>
          </a:solidFill>
          <a:ln w="12700">
            <a:solidFill>
              <a:srgbClr val="8C5E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7818120" y="3941064"/>
            <a:ext cx="2560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形成解释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040880" y="4892040"/>
            <a:ext cx="3794760" cy="685800"/>
          </a:xfrm>
          <a:prstGeom prst="roundRect">
            <a:avLst>
              <a:gd name="adj" fmla="val 10667"/>
            </a:avLst>
          </a:prstGeom>
          <a:solidFill>
            <a:srgbClr val="EFE4D7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7269480" y="5074920"/>
            <a:ext cx="3337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方法选择原则：用材料之间的差异来检验解释，而不是只寻找支持性例子。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FE4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756C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教育学 / 社会分层研究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756C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8C5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教育公平与社会流动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课堂讨论：争议点与判断标准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286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6949440" cy="27889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讨论位置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核心观点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立场 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强调效率、创新与治理能力提升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立场 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强调不平等、权力集中与个体处境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评价标准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是否能解释经验材料，并回应受影响群体的声音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1417320"/>
            <a:ext cx="6949440" cy="475488"/>
          </a:xfrm>
          <a:prstGeom prst="rect">
            <a:avLst/>
          </a:prstGeom>
          <a:solidFill>
            <a:srgbClr val="28666E"/>
          </a:solidFill>
          <a:ln w="12700">
            <a:solidFill>
              <a:srgbClr val="286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4"/>
          <p:cNvSpPr/>
          <p:nvPr/>
        </p:nvSpPr>
        <p:spPr>
          <a:xfrm>
            <a:off x="8229600" y="146304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8549640" y="1783080"/>
            <a:ext cx="822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86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讨论题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549640" y="2212848"/>
            <a:ext cx="18745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教育如何既可能促进流动，又可能复制不平等？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549640" y="3520440"/>
            <a:ext cx="1874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20" dirty="0">
                <a:solidFill>
                  <a:srgbClr val="756C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要求：每个判断都要说明材料依据。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FE4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756C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教育学 / 社会分层研究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756C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8C5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教育公平与社会流动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结论：三条可带走的判断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286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68680" y="1508760"/>
            <a:ext cx="118872" cy="713232"/>
          </a:xfrm>
          <a:prstGeom prst="rect">
            <a:avLst/>
          </a:prstGeom>
          <a:solidFill>
            <a:srgbClr val="8C5E3C"/>
          </a:solidFill>
          <a:ln w="12700">
            <a:solidFill>
              <a:srgbClr val="8C5E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88720" y="152704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8C5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481328"/>
            <a:ext cx="87782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教育公平不能只看入学机会，还要看学习过程和结果机会。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691640" y="2167128"/>
            <a:ext cx="8869680" cy="0"/>
          </a:xfrm>
          <a:prstGeom prst="line">
            <a:avLst/>
          </a:prstGeom>
          <a:noFill/>
          <a:ln w="1016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118872" cy="713232"/>
          </a:xfrm>
          <a:prstGeom prst="rect">
            <a:avLst/>
          </a:prstGeom>
          <a:solidFill>
            <a:srgbClr val="28666E"/>
          </a:solidFill>
          <a:ln w="12700">
            <a:solidFill>
              <a:srgbClr val="286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188720" y="2825496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86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91640" y="2779776"/>
            <a:ext cx="87782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家庭资本差异需要学校和公共政策共同补偿。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691640" y="3465576"/>
            <a:ext cx="8869680" cy="0"/>
          </a:xfrm>
          <a:prstGeom prst="line">
            <a:avLst/>
          </a:prstGeom>
          <a:noFill/>
          <a:ln w="1016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68680" y="4105656"/>
            <a:ext cx="118872" cy="713232"/>
          </a:xfrm>
          <a:prstGeom prst="rect">
            <a:avLst/>
          </a:prstGeom>
          <a:solidFill>
            <a:srgbClr val="D9B44A"/>
          </a:solidFill>
          <a:ln w="12700">
            <a:solidFill>
              <a:srgbClr val="D9B4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188720" y="4123944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D9B4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4078224"/>
            <a:ext cx="87782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社会流动研究应关注关键节点上的真实选择空间。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691640" y="4764024"/>
            <a:ext cx="8869680" cy="0"/>
          </a:xfrm>
          <a:prstGeom prst="line">
            <a:avLst/>
          </a:prstGeom>
          <a:noFill/>
          <a:ln w="1016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FE4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756C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教育学 / 社会分层研究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756C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8C5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教育公平与社会流动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延伸任务：把主题转化为小研究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286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515600" cy="30632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建议篇幅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选定对象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一个具体场景、群体或事件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 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提出问题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用“为什么 / 如何”组织研究问题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 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收集材料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访谈、文本、观察记录或政策资料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类以上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形成解释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用概念说明材料之间的关系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02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 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1417320"/>
            <a:ext cx="10515600" cy="475488"/>
          </a:xfrm>
          <a:prstGeom prst="rect">
            <a:avLst/>
          </a:prstGeom>
          <a:solidFill>
            <a:srgbClr val="8C5E3C"/>
          </a:solidFill>
          <a:ln w="12700">
            <a:solidFill>
              <a:srgbClr val="8C5E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777240" y="4983480"/>
            <a:ext cx="10515600" cy="594360"/>
          </a:xfrm>
          <a:prstGeom prst="roundRect">
            <a:avLst>
              <a:gd name="adj" fmla="val 12308"/>
            </a:avLst>
          </a:prstGeom>
          <a:solidFill>
            <a:srgbClr val="EFE4D7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987552" y="5148072"/>
            <a:ext cx="9829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0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建议题目：围绕“教育如何既可能促进流动，又可能复制不平等？”写一份 3 分钟课堂汇报提纲。</a:t>
            </a:r>
            <a:endParaRPr lang="en-US" sz="1050" dirty="0"/>
          </a:p>
        </p:txBody>
      </p:sp>
      <p:sp>
        <p:nvSpPr>
          <p:cNvPr id="5" name="Shape 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FE4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756C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教育学 / 社会分层研究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756C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</Words>
  <Application>Microsoft Macintosh PowerPoint</Application>
  <PresentationFormat>宽屏</PresentationFormat>
  <Paragraphs>138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教育公平与社会流动</dc:title>
  <dc:subject>教育学 / 社会分层研究</dc:subject>
  <dc:creator>OpenAI Codex</dc:creator>
  <cp:lastModifiedBy>Provence Jake</cp:lastModifiedBy>
  <cp:revision>2</cp:revision>
  <dcterms:created xsi:type="dcterms:W3CDTF">2026-05-10T06:45:21Z</dcterms:created>
  <dcterms:modified xsi:type="dcterms:W3CDTF">2026-05-10T07:58:44Z</dcterms:modified>
</cp:coreProperties>
</file>